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테스트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김수완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2026-09-11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KimSuWan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>
              <a:lnSpc>
                <a:spcPct val="140000"/>
              </a:lnSpc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17_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빅데이터플랫폼테스트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성함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zip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플랫폼 테스트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2001020908_24v3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지식 확인 체크리스트  (1~2 / 10)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51560"/>
          <a:ext cx="113842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5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질문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답변 (4점)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73152" marR="73152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</a:rPr>
                        <a:t>소프트웨어 테스트를 수행하는 근본적인 목적은?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배포 전 결함을 사전에 발견해 품질을 보증하고, 사용자 요구사항 충족 여부를 검증하며, 출시 후 발생할 수 있는 위험(Risk)을 최소화하는 것.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5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3152" marR="73152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</a:rPr>
                        <a:t>단위 테스트와 통합 테스트의 개념 차이는?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단위 테스트는 함수·클래스 등 최소 단위를 독립적으로 검증하는 테스트이고, 통합 테스트는 여러 모듈이 결합되었을 때 상호작용·인터페이스를 검증하는 테스트이다.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지식 확인 체크리스트  (3~4 / 10)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897541"/>
              </p:ext>
            </p:extLst>
          </p:nvPr>
        </p:nvGraphicFramePr>
        <p:xfrm>
          <a:off x="411480" y="1051560"/>
          <a:ext cx="113842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5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질문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답변 (4점)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73152" marR="73152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</a:rPr>
                        <a:t>성능 테스트는 무엇을 확인하기 위한 테스트인가?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다수 사용자·대량 데이터 등 특정 부하 조건에서 응답시간, 처리량, 자원 사용률, 안정성이 요구 수준을 만족하는지 확인하는 테스트.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5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73152" marR="73152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</a:rPr>
                        <a:t>Python 테스트 코드 작성에 사용하는 대표 프레임워크는?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pytes</a:t>
                      </a:r>
                      <a:r>
                        <a:rPr lang="en-US"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t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지식 확인 체크리스트  (5~6 / 10)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51560"/>
          <a:ext cx="113842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5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질문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답변 (4점)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73152" marR="73152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</a:rPr>
                        <a:t>FastAPI 엔드포인트를 서버 구동 없이 테스트하는 방법(도구)은?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FastAPI(Starlette)가 제공하는 TestClient를 사용해 ASGI 앱을 직접 호출한다.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5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73152" marR="73152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</a:rPr>
                        <a:t>요청 성공 / 리소스 없음에 해당하는 HTTP 상태 코드는?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요청 성공 = 200 OK,  리소스 없음 = 404 Not Found.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지식 확인 체크리스트  (7~8 / 10)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51560"/>
          <a:ext cx="113842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5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질문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답변 (4점)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73152" marR="73152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</a:rPr>
                        <a:t>테스트 케이스에 반드시 포함되어야 하는 3가지 구성요소는?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입력값(Input), 실행 절차, 기대 결과(Expected Result).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5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73152" marR="73152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</a:rPr>
                        <a:t>결함보고서에 포함되어야 할 항목 3가지 이상은?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결함 ID, 결함 제목, 재현 절차, 기대 결과, 실제 결과, 심각도, 우선순위 등.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지식 확인 체크리스트  (9~10 / 10)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51560"/>
          <a:ext cx="113842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5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질문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답변 (4점)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73152" marR="73152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</a:rPr>
                        <a:t>CI(지속적 통합)의 개념은?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코드 변경 사항을 공유 저장소에 자주 병합하고, 그때마다 자동으로 빌드·테스트를 수행하여 통합 문제를 조기에 발견하는 개발 방법론.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5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73152" marR="73152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</a:rPr>
                        <a:t>블랙박스 테스트란?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내부 코드 구조를 보지 않고 입력과 출력(명세)만을 기준으로 기능이 올바르게 동작하는지 검증하는 테스트 기법.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solidFill>
                  <a:srgbClr val="1F3864"/>
                </a:solidFill>
                <a:latin typeface="맑은 고딕"/>
              </a:rPr>
              <a:t>실습</a:t>
            </a:r>
            <a:r>
              <a:rPr sz="24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F3864"/>
                </a:solidFill>
                <a:latin typeface="맑은 고딕"/>
              </a:rPr>
              <a:t>개요</a:t>
            </a:r>
            <a:r>
              <a:rPr sz="2400" b="1" dirty="0">
                <a:solidFill>
                  <a:srgbClr val="1F3864"/>
                </a:solidFill>
                <a:latin typeface="맑은 고딕"/>
              </a:rPr>
              <a:t> — </a:t>
            </a:r>
            <a:r>
              <a:rPr sz="2400" b="1" dirty="0" err="1">
                <a:solidFill>
                  <a:srgbClr val="1F3864"/>
                </a:solidFill>
                <a:latin typeface="맑은 고딕"/>
              </a:rPr>
              <a:t>대상</a:t>
            </a:r>
            <a:r>
              <a:rPr sz="2400" b="1" dirty="0">
                <a:solidFill>
                  <a:srgbClr val="1F3864"/>
                </a:solidFill>
                <a:latin typeface="맑은 고딕"/>
              </a:rPr>
              <a:t>: </a:t>
            </a:r>
            <a:r>
              <a:rPr sz="2400" b="1" dirty="0" err="1">
                <a:solidFill>
                  <a:srgbClr val="1F3864"/>
                </a:solidFill>
                <a:latin typeface="맑은 고딕"/>
              </a:rPr>
              <a:t>도서</a:t>
            </a:r>
            <a:r>
              <a:rPr sz="24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F3864"/>
                </a:solidFill>
                <a:latin typeface="맑은 고딕"/>
              </a:rPr>
              <a:t>검색</a:t>
            </a:r>
            <a:r>
              <a:rPr sz="2400" b="1" dirty="0">
                <a:solidFill>
                  <a:srgbClr val="1F3864"/>
                </a:solidFill>
                <a:latin typeface="맑은 고딕"/>
              </a:rPr>
              <a:t>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0"/>
            <a:ext cx="11384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i="1">
                <a:solidFill>
                  <a:srgbClr val="555555"/>
                </a:solidFill>
                <a:latin typeface="맑은 고딕"/>
              </a:rPr>
              <a:t>책 데이터: 파이썬 프로그래밍 / 파이썬으로 배우는 자료구조 / 자바의 정석  (제목에 모두 띄어쓰기 포함)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8834732-6A63-4AE8-98F1-106994670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45" y="976652"/>
            <a:ext cx="10424248" cy="22195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실습 1. pytest 테스트 코드 작성   (20점)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51560"/>
            <a:ext cx="113842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lang="en-US" altLang="ko-KR" sz="1600" i="0" dirty="0">
                <a:solidFill>
                  <a:srgbClr val="222222"/>
                </a:solidFill>
                <a:latin typeface="맑은 고딕"/>
              </a:rPr>
              <a:t>•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test_search_books_success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정상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검색어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→ 200,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일치하는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결과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반환</a:t>
            </a:r>
            <a:endParaRPr lang="en-US" sz="1600" dirty="0">
              <a:solidFill>
                <a:srgbClr val="222222"/>
              </a:solidFill>
              <a:latin typeface="맑은 고딕"/>
            </a:endParaRPr>
          </a:p>
          <a:p>
            <a:pPr>
              <a:spcAft>
                <a:spcPts val="600"/>
              </a:spcAft>
            </a:pPr>
            <a:r>
              <a:rPr lang="en-US" altLang="ko-KR" sz="1600" i="0" dirty="0">
                <a:solidFill>
                  <a:srgbClr val="222222"/>
                </a:solidFill>
                <a:latin typeface="맑은 고딕"/>
              </a:rPr>
              <a:t> •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test_search_books_no_match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검색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결과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없음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→ 200, count 0</a:t>
            </a:r>
          </a:p>
          <a:p>
            <a:pPr>
              <a:spcAft>
                <a:spcPts val="600"/>
              </a:spcAft>
            </a:pPr>
            <a:r>
              <a:rPr lang="en-US" altLang="ko-KR" sz="1600" i="0" dirty="0">
                <a:solidFill>
                  <a:srgbClr val="222222"/>
                </a:solidFill>
                <a:latin typeface="맑은 고딕"/>
              </a:rPr>
              <a:t> •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test_search_books_empty_keyword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— 빈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문자열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("") → 400</a:t>
            </a:r>
          </a:p>
          <a:p>
            <a:pPr>
              <a:spcAft>
                <a:spcPts val="600"/>
              </a:spcAft>
            </a:pPr>
            <a:r>
              <a:rPr lang="en-US" altLang="ko-KR" sz="1600" i="0" dirty="0">
                <a:solidFill>
                  <a:srgbClr val="222222"/>
                </a:solidFill>
                <a:latin typeface="맑은 고딕"/>
              </a:rPr>
              <a:t> •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test_search_books_missing_keyword_param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파라미터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누락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→ 422</a:t>
            </a:r>
          </a:p>
          <a:p>
            <a:pPr>
              <a:spcAft>
                <a:spcPts val="600"/>
              </a:spcAft>
            </a:pPr>
            <a:r>
              <a:rPr lang="en-US" altLang="ko-KR" sz="1600" i="0" dirty="0">
                <a:solidFill>
                  <a:srgbClr val="222222"/>
                </a:solidFill>
                <a:latin typeface="맑은 고딕"/>
              </a:rPr>
              <a:t> •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test_search_books_whitespace_keyword_reveals_defect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공백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(" ")만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입력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→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발견된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결함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i="0" dirty="0" err="1">
                <a:solidFill>
                  <a:srgbClr val="222222"/>
                </a:solidFill>
                <a:latin typeface="맑은 고딕"/>
              </a:rPr>
              <a:t>재현</a:t>
            </a:r>
            <a:r>
              <a:rPr sz="1600" i="0" dirty="0">
                <a:solidFill>
                  <a:srgbClr val="222222"/>
                </a:solidFill>
                <a:latin typeface="맑은 고딕"/>
              </a:rPr>
              <a:t> (XFAIL)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0"/>
            <a:ext cx="11384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i="1" dirty="0">
                <a:solidFill>
                  <a:srgbClr val="555555"/>
                </a:solidFill>
                <a:latin typeface="맑은 고딕"/>
              </a:rPr>
              <a:t>→ </a:t>
            </a:r>
            <a:r>
              <a:rPr sz="1400" i="1" dirty="0" err="1">
                <a:solidFill>
                  <a:srgbClr val="555555"/>
                </a:solidFill>
                <a:latin typeface="맑은 고딕"/>
              </a:rPr>
              <a:t>다섯</a:t>
            </a:r>
            <a:r>
              <a:rPr sz="14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i="1" dirty="0" err="1">
                <a:solidFill>
                  <a:srgbClr val="555555"/>
                </a:solidFill>
                <a:latin typeface="맑은 고딕"/>
              </a:rPr>
              <a:t>번째</a:t>
            </a:r>
            <a:r>
              <a:rPr sz="14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i="1" dirty="0" err="1">
                <a:solidFill>
                  <a:srgbClr val="555555"/>
                </a:solidFill>
                <a:latin typeface="맑은 고딕"/>
              </a:rPr>
              <a:t>테스트를</a:t>
            </a:r>
            <a:r>
              <a:rPr sz="14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i="1" dirty="0" err="1">
                <a:solidFill>
                  <a:srgbClr val="555555"/>
                </a:solidFill>
                <a:latin typeface="맑은 고딕"/>
              </a:rPr>
              <a:t>설계하며</a:t>
            </a:r>
            <a:r>
              <a:rPr sz="14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i="1" dirty="0" err="1">
                <a:solidFill>
                  <a:srgbClr val="555555"/>
                </a:solidFill>
                <a:latin typeface="맑은 고딕"/>
              </a:rPr>
              <a:t>검색어</a:t>
            </a:r>
            <a:r>
              <a:rPr sz="14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i="1" dirty="0" err="1">
                <a:solidFill>
                  <a:srgbClr val="555555"/>
                </a:solidFill>
                <a:latin typeface="맑은 고딕"/>
              </a:rPr>
              <a:t>입력</a:t>
            </a:r>
            <a:r>
              <a:rPr sz="14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i="1" dirty="0" err="1">
                <a:solidFill>
                  <a:srgbClr val="555555"/>
                </a:solidFill>
                <a:latin typeface="맑은 고딕"/>
              </a:rPr>
              <a:t>검증의</a:t>
            </a:r>
            <a:r>
              <a:rPr sz="14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i="1" dirty="0" err="1">
                <a:solidFill>
                  <a:srgbClr val="555555"/>
                </a:solidFill>
                <a:latin typeface="맑은 고딕"/>
              </a:rPr>
              <a:t>허점을</a:t>
            </a:r>
            <a:r>
              <a:rPr sz="14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i="1" dirty="0" err="1">
                <a:solidFill>
                  <a:srgbClr val="555555"/>
                </a:solidFill>
                <a:latin typeface="맑은 고딕"/>
              </a:rPr>
              <a:t>발견했다</a:t>
            </a:r>
            <a:r>
              <a:rPr sz="1400" i="1" dirty="0">
                <a:solidFill>
                  <a:srgbClr val="555555"/>
                </a:solidFill>
                <a:latin typeface="맑은 고딕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CCA40C2-ED63-408A-9312-C9AE37F16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28" y="3364992"/>
            <a:ext cx="11138462" cy="19315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실습 2. 결함보고서 작성 (1/2)   (20점)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51560"/>
          <a:ext cx="11384280" cy="4937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4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결함 ID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DEF-2024-003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결함 제목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도서 검색 API — 공백(스페이스) 문자열을 검색어로 보내면 입력 검증을 우회하여 전체 도서 목록이 노출됨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재현 절차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1. GET /books/search?keyword=%20 (공백 한 칸) 요청을 보낸다.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2. if not keyword 조건이 공백 문자열을 '값 있음'으로 판단해 통과시킨다.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3. keyword in b["title"] 비교 시, 모든 도서 제목에 포함된 띄어쓰기와 매치된다.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4. 응답 상태 코드와 본문(count, results)을 확인한다.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실습 2. 결함보고서 작성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771458"/>
              </p:ext>
            </p:extLst>
          </p:nvPr>
        </p:nvGraphicFramePr>
        <p:xfrm>
          <a:off x="411480" y="1051560"/>
          <a:ext cx="11384280" cy="5212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4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기대 결과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공백만 있는 검색어는 '검색어 없음'과 동일하게 처리되어야 한다. 즉 400과 "검색어를 입력하세요"가 반환되거나, 최소한 count: 0 이어야 한다.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실제 결과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HTTP 200과 함께 등록된 도서 3건이 모두 반환된다 (count: 3). 사용자가 실수로 스페이스바만 입력해도 전체 카탈로그가 그대로 노출된다.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원인 분석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AutoNum type="arabicPeriod"/>
                      </a:pP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if not keyword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검증이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빈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문자열만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걸러낼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뿐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공백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문자열은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통과시킴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. </a:t>
                      </a:r>
                      <a:endParaRPr lang="en-US" sz="13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  <a:p>
                      <a:pPr marL="342900" indent="-342900" algn="l">
                        <a:buAutoNum type="arabicPeriod"/>
                      </a:pP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단순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포함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연산자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(in)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특성상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통과된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공백이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제목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속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띄어쓰기와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그대로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매치됨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.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심각도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중 </a:t>
                      </a:r>
                      <a:r>
                        <a:rPr lang="en-US"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: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서비스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장애로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이어지진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않으나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입력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검증의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의도가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무력화되고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의도치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않게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전체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데이터가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노출됨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.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우선순위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중 </a:t>
                      </a:r>
                      <a:r>
                        <a:rPr lang="en-US"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: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지금은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공개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데이터라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위험이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크지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않지만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검증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로직을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신뢰할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수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없다는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신호이며</a:t>
                      </a:r>
                      <a:r>
                        <a:rPr lang="en-US"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실제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서비스에서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더 큰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문제로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이어질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수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있음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.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실습 3. 테스트 케이스 설계   (20점)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11384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i="1">
                <a:solidFill>
                  <a:srgbClr val="222222"/>
                </a:solidFill>
                <a:latin typeface="맑은 고딕"/>
              </a:rPr>
              <a:t>요구사항: 회원가입 시 비밀번호는 8자 이상이어야 하며, 8자 미만이면 "비밀번호는 8자 이상이어야 합니다" 오류 메시지를 반환한다.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691640"/>
          <a:ext cx="11384280" cy="4114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입력값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기대 결과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Pass/Fail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정상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"password123" (11자)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회원가입 성공 처리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Pass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경계값(하한 포함)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"abcd1234" (정확히 8자)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8자 이상 조건 충족 → 회원가입 성공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Pass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경계값(하한 미만)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"abcd123" (7자)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"비밀번호는 8자 이상이어야 합니다" 반환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Pass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예외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"" (빈 문자열)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"비밀번호는 8자 이상이어야 합니다" 반환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Pass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943600"/>
            <a:ext cx="11384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i="1" dirty="0" err="1">
                <a:solidFill>
                  <a:srgbClr val="555555"/>
                </a:solidFill>
                <a:latin typeface="맑은 고딕"/>
              </a:rPr>
              <a:t>설계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근거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 —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정상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: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충분한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길이로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핵심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기능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확인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 /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경계값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: 8자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기준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포함·미포함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양쪽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검증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(off-by-one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방지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) /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예외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: 빈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문자열도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오류가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일관되게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반환되는지</a:t>
            </a:r>
            <a:r>
              <a:rPr sz="130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555555"/>
                </a:solidFill>
                <a:latin typeface="맑은 고딕"/>
              </a:rPr>
              <a:t>확인</a:t>
            </a:r>
            <a:endParaRPr sz="1300" i="1" dirty="0">
              <a:solidFill>
                <a:srgbClr val="5555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946</Words>
  <Application>Microsoft Office PowerPoint</Application>
  <PresentationFormat>와이드스크린</PresentationFormat>
  <Paragraphs>119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37</cp:revision>
  <dcterms:created xsi:type="dcterms:W3CDTF">2026-03-10T17:23:29Z</dcterms:created>
  <dcterms:modified xsi:type="dcterms:W3CDTF">2026-09-11T02:16:07Z</dcterms:modified>
</cp:coreProperties>
</file>