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66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2026-07-20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 err="1"/>
              <a:t>KimDonguk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빅데이터처리시스템개발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_이름.pptx(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config.py, database.py, batch_processor.py, event_processor.py, pipeline.py, README.md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verify-processing.py(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선택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있으면 가산점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2B5210-99F3-4F9F-94AA-6FB8D8EF8675}"/>
              </a:ext>
            </a:extLst>
          </p:cNvPr>
          <p:cNvSpPr txBox="1"/>
          <p:nvPr/>
        </p:nvSpPr>
        <p:spPr>
          <a:xfrm>
            <a:off x="2445001" y="478173"/>
            <a:ext cx="7301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입력 데이터 소개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: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저장시스템에서 만든 테이블명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,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주요 컬럼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,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전체 건수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43415F1-09A4-44D1-B79E-C01F29949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21855"/>
            <a:ext cx="4534533" cy="267908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8D2A0B7-4391-444E-B305-552961149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521" y="3293201"/>
            <a:ext cx="3820058" cy="297221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C9226E4-EAA7-419E-8D26-0A8149C67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529" y="3969571"/>
            <a:ext cx="2896004" cy="2295845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E4CBB76-FB10-41F4-B816-15023A19167C}"/>
              </a:ext>
            </a:extLst>
          </p:cNvPr>
          <p:cNvCxnSpPr>
            <a:cxnSpLocks/>
          </p:cNvCxnSpPr>
          <p:nvPr/>
        </p:nvCxnSpPr>
        <p:spPr>
          <a:xfrm>
            <a:off x="5270579" y="4538849"/>
            <a:ext cx="2463950" cy="629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3289241-F962-448F-AB81-15A4D1984201}"/>
              </a:ext>
            </a:extLst>
          </p:cNvPr>
          <p:cNvCxnSpPr/>
          <p:nvPr/>
        </p:nvCxnSpPr>
        <p:spPr>
          <a:xfrm flipH="1" flipV="1">
            <a:off x="5270579" y="4460081"/>
            <a:ext cx="72946" cy="97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832C7C6-9F20-40AE-92A8-741F3BBB3972}"/>
              </a:ext>
            </a:extLst>
          </p:cNvPr>
          <p:cNvCxnSpPr/>
          <p:nvPr/>
        </p:nvCxnSpPr>
        <p:spPr>
          <a:xfrm flipH="1">
            <a:off x="5270579" y="4557712"/>
            <a:ext cx="72946" cy="30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1EC509-7706-46D1-A921-65C2D7EF68AE}"/>
              </a:ext>
            </a:extLst>
          </p:cNvPr>
          <p:cNvCxnSpPr>
            <a:cxnSpLocks/>
          </p:cNvCxnSpPr>
          <p:nvPr/>
        </p:nvCxnSpPr>
        <p:spPr>
          <a:xfrm>
            <a:off x="7641431" y="5143500"/>
            <a:ext cx="93098" cy="116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A0021A2-3E11-4E53-AD55-0F3FE03757C3}"/>
              </a:ext>
            </a:extLst>
          </p:cNvPr>
          <p:cNvCxnSpPr>
            <a:stCxn id="18" idx="1"/>
          </p:cNvCxnSpPr>
          <p:nvPr/>
        </p:nvCxnSpPr>
        <p:spPr>
          <a:xfrm flipH="1">
            <a:off x="7641431" y="5117494"/>
            <a:ext cx="93098" cy="26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7A0446-6DFC-4B93-86A5-5B0FA8E6F88D}"/>
              </a:ext>
            </a:extLst>
          </p:cNvPr>
          <p:cNvSpPr txBox="1"/>
          <p:nvPr/>
        </p:nvSpPr>
        <p:spPr>
          <a:xfrm>
            <a:off x="151002" y="2274838"/>
            <a:ext cx="12040998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effectLst/>
                <a:latin typeface="Consolas" panose="020B0609020204030204" pitchFamily="49" charset="0"/>
              </a:rPr>
              <a:t>요구사항에 대한 방향</a:t>
            </a:r>
            <a:endParaRPr lang="ko-KR" altLang="en-US" sz="2400" b="0" dirty="0"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dirty="0">
                <a:effectLst/>
                <a:latin typeface="Consolas" panose="020B0609020204030204" pitchFamily="49" charset="0"/>
              </a:rPr>
              <a:t>한계</a:t>
            </a:r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데이터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모든 데이터가 이상치 조건을 매우 높은 수치로 통과하고 각 값들의 편차가 크지 않다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테이블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이 과제에서는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water 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테이블만 사용한다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. area 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테이블은 이 과제에서는 사용하지 않는다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배치 처리 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정수장</a:t>
            </a:r>
            <a:r>
              <a:rPr lang="ko-KR" alt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및 구분별로 분기별 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가지 값의 평균값을 정리한다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1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ko-KR" altLang="en-US" dirty="0">
                <a:effectLst/>
                <a:latin typeface="Consolas" panose="020B0609020204030204" pitchFamily="49" charset="0"/>
              </a:rPr>
              <a:t>이벤트 처리 </a:t>
            </a:r>
            <a:r>
              <a:rPr lang="en-US" altLang="ko-KR" dirty="0">
                <a:effectLst/>
                <a:latin typeface="Consolas" panose="020B0609020204030204" pitchFamily="49" charset="0"/>
              </a:rPr>
              <a:t>: </a:t>
            </a:r>
            <a:r>
              <a:rPr lang="ko-KR" altLang="en-US" dirty="0">
                <a:effectLst/>
                <a:latin typeface="Consolas" panose="020B0609020204030204" pitchFamily="49" charset="0"/>
              </a:rPr>
              <a:t>잔류염소가 </a:t>
            </a:r>
            <a:r>
              <a:rPr lang="en-US" altLang="ko-KR" dirty="0">
                <a:effectLst/>
                <a:latin typeface="Consolas" panose="020B0609020204030204" pitchFamily="49" charset="0"/>
              </a:rPr>
              <a:t>0.74 </a:t>
            </a:r>
            <a:r>
              <a:rPr lang="ko-KR" altLang="en-US" dirty="0">
                <a:effectLst/>
                <a:latin typeface="Consolas" panose="020B0609020204030204" pitchFamily="49" charset="0"/>
              </a:rPr>
              <a:t>초과인 값들을 탐지하는 것으로 한다</a:t>
            </a:r>
            <a:r>
              <a:rPr lang="en-US" altLang="ko-KR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설명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이벤트 처리 데이터도 수질 기준의 상한을 매우 여유 있게 통과하는 값이라는 것을 명시한다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69ABBB-DA22-4DF9-8F08-95F1FAA5CD9C}"/>
              </a:ext>
            </a:extLst>
          </p:cNvPr>
          <p:cNvSpPr txBox="1"/>
          <p:nvPr/>
        </p:nvSpPr>
        <p:spPr>
          <a:xfrm>
            <a:off x="3878085" y="478173"/>
            <a:ext cx="4435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배치 처리 설계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: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어떤 컬럼으로 집계했는지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474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7A0446-6DFC-4B93-86A5-5B0FA8E6F88D}"/>
              </a:ext>
            </a:extLst>
          </p:cNvPr>
          <p:cNvSpPr txBox="1"/>
          <p:nvPr/>
        </p:nvSpPr>
        <p:spPr>
          <a:xfrm>
            <a:off x="151002" y="2274838"/>
            <a:ext cx="12040998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effectLst/>
                <a:latin typeface="Consolas" panose="020B0609020204030204" pitchFamily="49" charset="0"/>
              </a:rPr>
              <a:t>요구사항에 대한 방향</a:t>
            </a:r>
            <a:endParaRPr lang="ko-KR" altLang="en-US" sz="2400" b="0" dirty="0"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dirty="0">
                <a:effectLst/>
                <a:latin typeface="Consolas" panose="020B0609020204030204" pitchFamily="49" charset="0"/>
              </a:rPr>
              <a:t>한계</a:t>
            </a:r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데이터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모든 데이터가 이상치 조건을 매우 높은 수치로 통과하고 각 값들의 편차가 크지 않다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테이블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이 과제에서는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water 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테이블만 사용한다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. area 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테이블은 이 과제에서는 사용하지 않는다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배치 처리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 err="1">
                <a:effectLst/>
                <a:latin typeface="Consolas" panose="020B0609020204030204" pitchFamily="49" charset="0"/>
              </a:rPr>
              <a:t>정수장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및 구분별로 분기별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3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가지 값의 평균값을 정리한다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이벤트 처리 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잔류염소가 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0.74 </a:t>
            </a:r>
            <a:r>
              <a:rPr lang="ko-KR" alt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초과인 값들을 탐지하는 것으로 한다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설명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이벤트 처리 데이터도 수질 기준의 상한을 매우 여유 있게 통과하는 값이라는 것을 명시한다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69ABBB-DA22-4DF9-8F08-95F1FAA5CD9C}"/>
              </a:ext>
            </a:extLst>
          </p:cNvPr>
          <p:cNvSpPr txBox="1"/>
          <p:nvPr/>
        </p:nvSpPr>
        <p:spPr>
          <a:xfrm>
            <a:off x="3103834" y="478173"/>
            <a:ext cx="598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이벤트 처리 설계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: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어떤 컬럼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,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어떤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기준값으로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 탐지했는지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8781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493185E-D55D-47CD-9479-0502CD82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5" y="1355242"/>
            <a:ext cx="12017158" cy="41475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F7E6DE-04E7-479D-8B79-2A10C6CE1454}"/>
              </a:ext>
            </a:extLst>
          </p:cNvPr>
          <p:cNvSpPr txBox="1"/>
          <p:nvPr/>
        </p:nvSpPr>
        <p:spPr>
          <a:xfrm>
            <a:off x="4628290" y="478173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배치 처리 코드와 실행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400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5CE5439-82DD-44CD-84D1-DC94E801F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5" y="1355242"/>
            <a:ext cx="12017158" cy="41475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053D4-F320-48F1-92FC-9CD3DA92C336}"/>
              </a:ext>
            </a:extLst>
          </p:cNvPr>
          <p:cNvSpPr txBox="1"/>
          <p:nvPr/>
        </p:nvSpPr>
        <p:spPr>
          <a:xfrm>
            <a:off x="4512874" y="478173"/>
            <a:ext cx="316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이벤트 처리 코드와 실행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97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BBC8A1-FF48-4D88-8AFA-7A5A609709AE}"/>
              </a:ext>
            </a:extLst>
          </p:cNvPr>
          <p:cNvSpPr txBox="1"/>
          <p:nvPr/>
        </p:nvSpPr>
        <p:spPr>
          <a:xfrm>
            <a:off x="3294881" y="478173"/>
            <a:ext cx="5602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PostgreSQL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결과 테이블 캡처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(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ChosunGu"/>
              </a:rPr>
              <a:t>pgAdmin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직접 검증 포함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)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75970F-E1E1-4AB8-B5F5-C8C1A9614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19" y="847505"/>
            <a:ext cx="3829584" cy="20481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EAA50A1-1F0E-4D25-B3AB-00AE273A8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082" y="837979"/>
            <a:ext cx="4363059" cy="205768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DFE846B-AD97-468E-A818-388DCEF81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19" y="2987113"/>
            <a:ext cx="4852203" cy="348663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5A5191-E052-476E-B8AB-CBAB72076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082" y="2987113"/>
            <a:ext cx="6372877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822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08077E-7302-4086-BB6A-D48A6E2D163B}"/>
              </a:ext>
            </a:extLst>
          </p:cNvPr>
          <p:cNvSpPr txBox="1"/>
          <p:nvPr/>
        </p:nvSpPr>
        <p:spPr>
          <a:xfrm>
            <a:off x="5336465" y="478173"/>
            <a:ext cx="1519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README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요약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F33C3-9B5B-43A9-9DD9-D50E4E3CE14F}"/>
              </a:ext>
            </a:extLst>
          </p:cNvPr>
          <p:cNvSpPr txBox="1"/>
          <p:nvPr/>
        </p:nvSpPr>
        <p:spPr>
          <a:xfrm>
            <a:off x="3044505" y="1166842"/>
            <a:ext cx="61029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빅데이터 처리시스템 개발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latin typeface="Consolas" panose="020B0609020204030204" pitchFamily="49" charset="0"/>
              </a:rPr>
              <a:t>  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 PostgreSQL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에 저장된 테이블 설명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### water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정보 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전체 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행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### area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정보 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전체 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155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행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###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테이블 관계</a:t>
            </a:r>
            <a:endParaRPr lang="en-US" altLang="ko-KR" b="1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###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이상치 검증</a:t>
            </a:r>
            <a:endParaRPr lang="en-US" altLang="ko-KR" b="1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##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환경 변수</a:t>
            </a:r>
            <a:endParaRPr lang="en-US" altLang="ko-KR" b="1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##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요구사항에 대한 방향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###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한계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파일 설명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실행 방법</a:t>
            </a:r>
            <a:endParaRPr lang="en-US" altLang="ko-KR" b="1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##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결과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###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테이블</a:t>
            </a:r>
            <a:endParaRPr lang="en-US" altLang="ko-KR" b="1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### </a:t>
            </a:r>
            <a:r>
              <a:rPr lang="en-US" altLang="ko-KR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batch_water_summary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테이블 구조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### </a:t>
            </a:r>
            <a:r>
              <a:rPr lang="en-US" altLang="ko-KR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event_water_chlorine_alert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테이블</a:t>
            </a:r>
            <a:endParaRPr lang="en-US" altLang="ko-KR" b="1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## </a:t>
            </a:r>
            <a:r>
              <a:rPr lang="ko-KR" alt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확인 </a:t>
            </a:r>
            <a:r>
              <a:rPr lang="en-US" altLang="ko-KR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SQL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691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E01A5E-7AE3-4A4B-8F76-86587461049F}"/>
              </a:ext>
            </a:extLst>
          </p:cNvPr>
          <p:cNvSpPr txBox="1"/>
          <p:nvPr/>
        </p:nvSpPr>
        <p:spPr>
          <a:xfrm>
            <a:off x="4830269" y="478173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느낀 점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,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오류 해결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095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428</Words>
  <Application>Microsoft Office PowerPoint</Application>
  <PresentationFormat>와이드스크린</PresentationFormat>
  <Paragraphs>51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ChosunGu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24</cp:revision>
  <dcterms:created xsi:type="dcterms:W3CDTF">2026-03-10T17:23:29Z</dcterms:created>
  <dcterms:modified xsi:type="dcterms:W3CDTF">2026-07-20T07:44:33Z</dcterms:modified>
</cp:coreProperties>
</file>