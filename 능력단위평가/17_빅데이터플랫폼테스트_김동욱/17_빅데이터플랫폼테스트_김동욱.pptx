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C9D2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/>
              <a:t>2026-09-11</a:t>
            </a: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7ECA4-B8A0-495C-98D3-0C4345405A16}"/>
              </a:ext>
            </a:extLst>
          </p:cNvPr>
          <p:cNvSpPr txBox="1"/>
          <p:nvPr/>
        </p:nvSpPr>
        <p:spPr>
          <a:xfrm>
            <a:off x="385894" y="739235"/>
            <a:ext cx="1142580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1. 소프트웨어 테스트를 수행하는 근본적인 목적을 설명할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소프트웨어가 의도한대로 잘 구동되는지 확인하고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결함이나 오류가 발생하는지 확인하기 위함입니다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2. 단위 테스트와 통합 테스트의 개념 차이를 구분하여 설명할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단위 테스트는 함수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클래스 등 특정 부분만 격리하여 테스트하는 것이고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통합 테스트는 여러 모듈이 잘 연동되는지 테스트하는 것입니다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3. 성능 테스트가 무엇을 확인하기 위한 테스트인지 설명할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동시 사용자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연속 가동 시간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 시간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등 특정 조건 내에서 프로그램이 빠르고 안정적으로 구동되는지 확인하는 테스트입니다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4. Python 테스트 코드 작성에 사용하는 대표 프레임워크 이름을 말할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pytest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5. FastAPI 엔드포인트를 서버 구동 없이 테스트하는 방법(도구)을 말할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TestClient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6. 요청 성공/리소스 없음에 해당하는 HTTP 상태 코드를 각각 말할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요청 성공 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200,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리소스 없음 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404</a:t>
            </a: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7. 테스트 케이스에 반드시 포함되어야 하는 3가지 구성요소를 말할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입력값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실행 절차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기대값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8. 결함보고서에 포함되어야 할 항목을 3가지 이상 말할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실제 결과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재현 절차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심각도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9. CI(지속적 통합)의 개념을 설명할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여러 개발자가 협업할 때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수정한 코드를 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main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브랜치로 합치기 전 자동화 테스트를 실행하여 검증 후 병합하고</a:t>
            </a:r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main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브랜치로 합친 후 다시 자동화 테스트를 실행하여 재검증하여 문제를 조기에 발견하고 수정하는 방법입니다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20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10. 블랙박스 테스트가 무엇인지 설명할 수 있다. (4점)</a:t>
            </a:r>
            <a:endParaRPr lang="en-US" altLang="ko-KR" sz="120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사용자 관점에서 시행하는 테스트로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로직이나 코드를 고려하지 않고 입력과 출력으로 진행하는 테스트입니다</a:t>
            </a:r>
            <a:r>
              <a:rPr lang="en-US" altLang="ko-KR"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ko-KR" altLang="en-US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C5820-7008-48A2-AD67-5821555811BE}"/>
              </a:ext>
            </a:extLst>
          </p:cNvPr>
          <p:cNvSpPr txBox="1"/>
          <p:nvPr/>
        </p:nvSpPr>
        <p:spPr>
          <a:xfrm>
            <a:off x="385894" y="125835"/>
            <a:ext cx="5391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지식 확인 체크리스트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(40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항목당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2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777A6-C185-4C33-96A2-CD6CA6CCA5E5}"/>
              </a:ext>
            </a:extLst>
          </p:cNvPr>
          <p:cNvSpPr txBox="1"/>
          <p:nvPr/>
        </p:nvSpPr>
        <p:spPr>
          <a:xfrm>
            <a:off x="385894" y="125835"/>
            <a:ext cx="5078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수행 체크리스트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(60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항목당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2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848D8-580D-4D0F-9901-1D2162022FA0}"/>
              </a:ext>
            </a:extLst>
          </p:cNvPr>
          <p:cNvSpPr txBox="1"/>
          <p:nvPr/>
        </p:nvSpPr>
        <p:spPr>
          <a:xfrm>
            <a:off x="645952" y="629066"/>
            <a:ext cx="361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2-1. pytest 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테스트 코드 작성 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(20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2DCC9-2F02-4E26-9E15-622981563ABE}"/>
              </a:ext>
            </a:extLst>
          </p:cNvPr>
          <p:cNvSpPr txBox="1"/>
          <p:nvPr/>
        </p:nvSpPr>
        <p:spPr>
          <a:xfrm>
            <a:off x="1098958" y="1048353"/>
            <a:ext cx="772038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다음은 도서 검색 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API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전체 코드이다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 코드를 보고 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pytest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기반 테스트 코드를 작성하시오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en-US" altLang="ko-KR" sz="12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확인 항목</a:t>
            </a: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정상적으로 검색어가 주어졌을 때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(200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테스트 케이스를 작성하였다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(7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검색어가 비어 있을 때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(400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테스트 케이스를 작성하였다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(7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TestClient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사용하여 실제 요청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응답을 검증하였다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(6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F60C6B-3ADF-4244-8FB2-5CC698FEB0E8}"/>
              </a:ext>
            </a:extLst>
          </p:cNvPr>
          <p:cNvSpPr/>
          <p:nvPr/>
        </p:nvSpPr>
        <p:spPr>
          <a:xfrm>
            <a:off x="1179908" y="2608235"/>
            <a:ext cx="7441035" cy="3796018"/>
          </a:xfrm>
          <a:prstGeom prst="rect">
            <a:avLst/>
          </a:prstGeom>
          <a:solidFill>
            <a:srgbClr val="E8E8E8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from fastapi.testclient import TestClient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from main import app</a:t>
            </a:r>
          </a:p>
          <a:p>
            <a:endParaRPr lang="en-US" altLang="ko-KR" sz="1200">
              <a:solidFill>
                <a:schemeClr val="tx1"/>
              </a:solidFill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client = TestClient(app)</a:t>
            </a:r>
          </a:p>
          <a:p>
            <a:endParaRPr lang="en-US" altLang="ko-KR" sz="1200">
              <a:solidFill>
                <a:schemeClr val="tx1"/>
              </a:solidFill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def test_search_books_with_valid_keyword():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"""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정상적으로 검색어가 주어졌을 때 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200 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응답을 반환하는지 검증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"""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response = client.get("/books/search", params={"keyword": "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"})</a:t>
            </a:r>
          </a:p>
          <a:p>
            <a:endParaRPr lang="en-US" altLang="ko-KR" sz="1200">
              <a:solidFill>
                <a:schemeClr val="tx1"/>
              </a:solidFill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assert response.status_code == 200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data = response.json()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assert "count" in data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assert "results" in data</a:t>
            </a:r>
          </a:p>
          <a:p>
            <a:endParaRPr lang="en-US" altLang="ko-KR" sz="1200">
              <a:solidFill>
                <a:schemeClr val="tx1"/>
              </a:solidFill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def test_search_books_with_empty_keyword():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"""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검색어가 비어 있을 때 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400 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응답을 반환하는지 검증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"""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response = client.get("/books/search", params={"keyword": ""})</a:t>
            </a:r>
          </a:p>
          <a:p>
            <a:endParaRPr lang="en-US" altLang="ko-KR" sz="1200">
              <a:solidFill>
                <a:schemeClr val="tx1"/>
              </a:solidFill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assert response.status_code == 400</a:t>
            </a:r>
          </a:p>
          <a:p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assert response.json()["detail"] == "</a:t>
            </a:r>
            <a:r>
              <a:rPr lang="ko-KR" altLang="en-US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검색어를 입력하세요</a:t>
            </a:r>
            <a:r>
              <a:rPr lang="en-US" altLang="ko-KR" sz="120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</a:t>
            </a:r>
            <a:endParaRPr lang="ko-KR" altLang="en-US" sz="120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777A6-C185-4C33-96A2-CD6CA6CCA5E5}"/>
              </a:ext>
            </a:extLst>
          </p:cNvPr>
          <p:cNvSpPr txBox="1"/>
          <p:nvPr/>
        </p:nvSpPr>
        <p:spPr>
          <a:xfrm>
            <a:off x="385894" y="125835"/>
            <a:ext cx="5078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수행 체크리스트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(60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항목당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2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848D8-580D-4D0F-9901-1D2162022FA0}"/>
              </a:ext>
            </a:extLst>
          </p:cNvPr>
          <p:cNvSpPr txBox="1"/>
          <p:nvPr/>
        </p:nvSpPr>
        <p:spPr>
          <a:xfrm>
            <a:off x="645952" y="629066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2-2. 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결함보고서 작성 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(20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ADE686-58D5-4F9C-BC58-65886B704BF6}"/>
              </a:ext>
            </a:extLst>
          </p:cNvPr>
          <p:cNvSpPr/>
          <p:nvPr/>
        </p:nvSpPr>
        <p:spPr>
          <a:xfrm>
            <a:off x="1208016" y="1367405"/>
            <a:ext cx="6216242" cy="830511"/>
          </a:xfrm>
          <a:prstGeom prst="rect">
            <a:avLst/>
          </a:prstGeom>
          <a:solidFill>
            <a:srgbClr val="E8E8E8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2DCC9-2F02-4E26-9E15-622981563ABE}"/>
              </a:ext>
            </a:extLst>
          </p:cNvPr>
          <p:cNvSpPr txBox="1"/>
          <p:nvPr/>
        </p:nvSpPr>
        <p:spPr>
          <a:xfrm>
            <a:off x="1098958" y="1048353"/>
            <a:ext cx="6442789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다음 상황을 읽고 결함보고서를 작성하시오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[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상황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]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도서 등록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API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 이미 등록된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ISBN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으로 다시 등록 요청을 보내면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서버가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500 Internal Server </a:t>
            </a:r>
          </a:p>
          <a:p>
            <a:pPr>
              <a:lnSpc>
                <a:spcPct val="150000"/>
              </a:lnSpc>
            </a:pP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Error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반환한다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원래는 중복 등록 시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409 Conflict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와 함께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이미 등록된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ISBN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입니다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메시지를 </a:t>
            </a:r>
          </a:p>
          <a:p>
            <a:pPr>
              <a:lnSpc>
                <a:spcPct val="150000"/>
              </a:lnSpc>
            </a:pP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반환해야 한다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en-US" altLang="ko-KR" sz="1600" i="1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확인 항목</a:t>
            </a: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결함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ID·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재현절차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기대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실제 결과가 모두 작성되었다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(10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심각도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우선순위가 상황에 맞게 합리적으로 기재되었다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(10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7A999C65-A696-465E-A4FF-8F52D6BC5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189692"/>
              </p:ext>
            </p:extLst>
          </p:nvPr>
        </p:nvGraphicFramePr>
        <p:xfrm>
          <a:off x="1208016" y="2468880"/>
          <a:ext cx="6216242" cy="1920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01628">
                  <a:extLst>
                    <a:ext uri="{9D8B030D-6E8A-4147-A177-3AD203B41FA5}">
                      <a16:colId xmlns:a16="http://schemas.microsoft.com/office/drawing/2014/main" val="4141997218"/>
                    </a:ext>
                  </a:extLst>
                </a:gridCol>
                <a:gridCol w="4714614">
                  <a:extLst>
                    <a:ext uri="{9D8B030D-6E8A-4147-A177-3AD203B41FA5}">
                      <a16:colId xmlns:a16="http://schemas.microsoft.com/office/drawing/2014/main" val="733163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결함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ID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ISBN-ERR-0001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764597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결함 제목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ISBN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중복 요청시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500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반환 에러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260319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재현 절차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(3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단계 이상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1. ISBN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도서 등록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, 2.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이미 등록된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ISBN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도서 등록 시도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, 3.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응답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755554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기대 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409 Conflict, “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이미 등록된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ISBN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입니다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.”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77151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 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500 Internal Server Error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100404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심각도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상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중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6507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우선순위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상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중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D2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89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777A6-C185-4C33-96A2-CD6CA6CCA5E5}"/>
              </a:ext>
            </a:extLst>
          </p:cNvPr>
          <p:cNvSpPr txBox="1"/>
          <p:nvPr/>
        </p:nvSpPr>
        <p:spPr>
          <a:xfrm>
            <a:off x="385894" y="125835"/>
            <a:ext cx="5078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수행 체크리스트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(60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항목당 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20</a:t>
            </a: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2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848D8-580D-4D0F-9901-1D2162022FA0}"/>
              </a:ext>
            </a:extLst>
          </p:cNvPr>
          <p:cNvSpPr txBox="1"/>
          <p:nvPr/>
        </p:nvSpPr>
        <p:spPr>
          <a:xfrm>
            <a:off x="645952" y="629066"/>
            <a:ext cx="308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2-3. 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테스트 케이스 설계 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(20</a:t>
            </a:r>
            <a:r>
              <a:rPr lang="ko-KR" altLang="en-US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ADE686-58D5-4F9C-BC58-65886B704BF6}"/>
              </a:ext>
            </a:extLst>
          </p:cNvPr>
          <p:cNvSpPr/>
          <p:nvPr/>
        </p:nvSpPr>
        <p:spPr>
          <a:xfrm>
            <a:off x="1208016" y="1367406"/>
            <a:ext cx="6216242" cy="553674"/>
          </a:xfrm>
          <a:prstGeom prst="rect">
            <a:avLst/>
          </a:prstGeom>
          <a:solidFill>
            <a:srgbClr val="E8E8E8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2DCC9-2F02-4E26-9E15-622981563ABE}"/>
              </a:ext>
            </a:extLst>
          </p:cNvPr>
          <p:cNvSpPr txBox="1"/>
          <p:nvPr/>
        </p:nvSpPr>
        <p:spPr>
          <a:xfrm>
            <a:off x="1098958" y="1048353"/>
            <a:ext cx="6519734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다음 요구사항에 대한 테스트 케이스를 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 이상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정상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경계값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예외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작성하시오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[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요구사항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]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회원가입 시 비밀번호는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8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 이상이어야 하며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8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 미만이면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비밀번호는 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8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 </a:t>
            </a:r>
          </a:p>
          <a:p>
            <a:pPr>
              <a:lnSpc>
                <a:spcPct val="150000"/>
              </a:lnSpc>
            </a:pP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이상이어야 합니다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" </a:t>
            </a:r>
            <a:r>
              <a:rPr lang="ko-KR" altLang="en-US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오류 메시지를 반환한다</a:t>
            </a:r>
            <a:r>
              <a:rPr lang="en-US" altLang="ko-KR" sz="1200" i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확인 항목</a:t>
            </a:r>
          </a:p>
          <a:p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정상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경계값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예외 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가지 유형의 테스트 케이스를 모두 작성하였다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(12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□ 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입력값과 기대 결과가 논리적으로 타당하게 짝지어졌다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(8</a:t>
            </a:r>
            <a:r>
              <a:rPr lang="ko-KR" altLang="en-US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</a:t>
            </a:r>
            <a:r>
              <a:rPr lang="en-US" altLang="ko-KR"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endParaRPr lang="ko-KR" altLang="en-US" sz="16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D3031F2-07A3-418B-88DE-4E357520E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32548"/>
              </p:ext>
            </p:extLst>
          </p:nvPr>
        </p:nvGraphicFramePr>
        <p:xfrm>
          <a:off x="1208016" y="2107166"/>
          <a:ext cx="62162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169">
                  <a:extLst>
                    <a:ext uri="{9D8B030D-6E8A-4147-A177-3AD203B41FA5}">
                      <a16:colId xmlns:a16="http://schemas.microsoft.com/office/drawing/2014/main" val="174116583"/>
                    </a:ext>
                  </a:extLst>
                </a:gridCol>
                <a:gridCol w="1006679">
                  <a:extLst>
                    <a:ext uri="{9D8B030D-6E8A-4147-A177-3AD203B41FA5}">
                      <a16:colId xmlns:a16="http://schemas.microsoft.com/office/drawing/2014/main" val="849713383"/>
                    </a:ext>
                  </a:extLst>
                </a:gridCol>
                <a:gridCol w="2038525">
                  <a:extLst>
                    <a:ext uri="{9D8B030D-6E8A-4147-A177-3AD203B41FA5}">
                      <a16:colId xmlns:a16="http://schemas.microsoft.com/office/drawing/2014/main" val="2410005487"/>
                    </a:ext>
                  </a:extLst>
                </a:gridCol>
                <a:gridCol w="2038525">
                  <a:extLst>
                    <a:ext uri="{9D8B030D-6E8A-4147-A177-3AD203B41FA5}">
                      <a16:colId xmlns:a16="http://schemas.microsoft.com/office/drawing/2014/main" val="3702631362"/>
                    </a:ext>
                  </a:extLst>
                </a:gridCol>
                <a:gridCol w="805342">
                  <a:extLst>
                    <a:ext uri="{9D8B030D-6E8A-4147-A177-3AD203B41FA5}">
                      <a16:colId xmlns:a16="http://schemas.microsoft.com/office/drawing/2014/main" val="408402955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기대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실제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Pass/Fail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7271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python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비밀번호는 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8</a:t>
                      </a:r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자 이상이어야 합니다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.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비밀번호는 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8</a:t>
                      </a:r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자 이상이어야 합니다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.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Pass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1108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password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회원 가입 성공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비밀번호는 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8</a:t>
                      </a:r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자 이상이어야 합니다</a:t>
                      </a:r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.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Fail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714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powerpoint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회원 가입 성공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회원 가입 성공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Pass</a:t>
                      </a:r>
                      <a:endParaRPr lang="ko-KR" altLang="en-US" sz="1200" b="0"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60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77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951</Words>
  <Application>Microsoft Office PowerPoint</Application>
  <PresentationFormat>와이드스크린</PresentationFormat>
  <Paragraphs>140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Pretendard Medium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41</cp:revision>
  <dcterms:created xsi:type="dcterms:W3CDTF">2026-03-10T17:23:29Z</dcterms:created>
  <dcterms:modified xsi:type="dcterms:W3CDTF">2026-09-11T02:00:07Z</dcterms:modified>
</cp:coreProperties>
</file>