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052E5CA-853C-A79F-A4D0-01EEBA239A09}">
          <p14:sldIdLst>
            <p14:sldId id="256"/>
          </p14:sldIdLst>
        </p14:section>
        <p14:section name="개요" id="{53764C60-490D-BDCF-8D83-7810A0B5D3BA}">
          <p14:sldIdLst>
            <p14:sldId id="257"/>
          </p14:sldIdLst>
        </p14:section>
        <p14:section name="화면" id="{36C41A8E-5DF6-DBB2-81F4-5CDF6C266F5B}">
          <p14:sldIdLst>
            <p14:sldId id="258"/>
            <p14:sldId id="259"/>
          </p14:sldIdLst>
        </p14:section>
        <p14:section name="구조와 설계" id="{AF6A53BB-7EDD-E517-1BB7-EFB889B1CA53}">
          <p14:sldIdLst>
            <p14:sldId id="260"/>
            <p14:sldId id="266"/>
            <p14:sldId id="261"/>
          </p14:sldIdLst>
        </p14:section>
        <p14:section name="AI 테스트플레이" id="{50F1ECD4-5DFD-0D63-1FE1-107CAEB0B7E9}">
          <p14:sldIdLst>
            <p14:sldId id="262"/>
          </p14:sldIdLst>
        </p14:section>
        <p14:section name="문제 해결" id="{A513FF5C-FCE1-989B-8A4B-221B239BC450}">
          <p14:sldIdLst>
            <p14:sldId id="263"/>
          </p14:sldIdLst>
        </p14:section>
        <p14:section name="마무리" id="{EA8274A4-CC25-9A86-6148-3F3037642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16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P1] 게임 진행 중 화면 한 장. 4명이 플레이하며 채팅이 오가는 장면이 좋음. 이름·이메일·API 키가 보이지 않게 확인.
[입력] 이름, 이메일, GitHub 주소.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[입력] 기간, 링크, 배경(만들게 된 계기 1~2문장).
숫자는 저장소 기준 집계(테이블 35, 엔드포인트 50, 테스트 통과 수는 실행 결과).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P2] 작품 작업공간(인물·장소·단서 입력 중 한 탭). 샘플 작품 「동짓날 마을회관」을 연 상태.
[캡처 P3] 진행 단계(페이즈) 흐름 또는 카드 설정 편집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P4] 대기실(방장 화면: 입장코드·참가자·관전자·시작 버튼).
[캡처 P5] 조사 단계(장소 선택 + 획득 단서 목록).
[캡처 P6] 채팅 패널(전체 + 밀담 A/B 위치 표시, 인물별 색). 가능하면 '크게 보기' 상태.
[캡처 P7] 최종 투표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P8] ERD(핵심 테이블 위주: 작품·인물·방·참여·진행·투표결과·대화·대화수신). 구조도는 PPT 도형이라 캡처 불필요.
수치(35 테이블, 50 API)는 갱신 시 같이 고칠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ERD는 PPT 도형으로 그려져 있어 캡처가 필요 없음. 핵심 14개 테이블만 표시. 컬럼은 대표 컬럼만 적었고 전체는 저장소 docs/SCHEMA_REFERENCE.md. 증언·조합·미디어·엔딩 등은 생략.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카드는 '결정 / 이유 / 한계' 구조. 면접에서 이유와 한계를 직접 설명할 수 있는 항목만 남길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[캡처 P9] 터미널의 테스트플레이 로그와 게임 화면을 나란히 놓은 한 장(화면 분할 캡처). 로그에 API 키가 찍히지 않는지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겪은 사례. 본인이 겪은 순서·표현으로 고쳐 쓸 것. 필요하면 스크린샷(로그)을 넣을 자리를 따로 만들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역할은 본인이 실제로 한 범위에 맞게 고칠 것(면접에서 근거를 댈 수 있는 항목만 '직접 한 일'에). 결정 기록은 저장소 docs/(BACKLOG, ENGINE_DESIGN 등).
[입력] GitHub 주소, 이름, 이메일.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머더미스터리 제작·플레이 플랫폼 · 포트폴리오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guk-Kim-kr/murdermystery.g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guk-Kim-kr/PTD1-PROJECT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PORTFOLIO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머더미스터리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제작·플레이 플랫폼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시나리오를 만들고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온라인으로 함께 플레이하는 웹 서비스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AI 테스트플레이로 작품을 검증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[이름]  ·  [이메일]  ·  GitHub [주소]</a:t>
            </a:r>
            <a:endParaRPr lang="en-US" sz="1400" dirty="0"/>
          </a:p>
        </p:txBody>
      </p:sp>
      <p:sp>
        <p:nvSpPr>
          <p:cNvPr id="6" name="이미지 자리 P1"/>
          <p:cNvSpPr/>
          <p:nvPr/>
        </p:nvSpPr>
        <p:spPr>
          <a:xfrm>
            <a:off x="6766560" y="822960"/>
            <a:ext cx="4873752" cy="5394960"/>
          </a:xfrm>
          <a:prstGeom prst="roundRect">
            <a:avLst>
              <a:gd name="adj" fmla="val 1501"/>
            </a:avLst>
          </a:prstGeom>
          <a:solidFill>
            <a:schemeClr val="tx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7" name="이미지 설명 P1"/>
          <p:cNvSpPr txBox="1"/>
          <p:nvPr/>
        </p:nvSpPr>
        <p:spPr>
          <a:xfrm>
            <a:off x="6949440" y="822960"/>
            <a:ext cx="4507992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[이미지 P1]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대표 화면 (게임 진행 중)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게임 화면 전체 캡처, 세로로 길게 잘라도 됨 · 권장 1200×1350</a:t>
            </a:r>
            <a:endParaRPr lang="en-US" sz="1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F16492-8598-464A-AC3F-AD9DC900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822960"/>
            <a:ext cx="48737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개요와 한눈에 보기</a:t>
            </a:r>
            <a:endParaRPr lang="en-US" sz="3200" dirty="0"/>
          </a:p>
        </p:txBody>
      </p:sp>
      <p:graphicFrame>
        <p:nvGraphicFramePr>
          <p:cNvPr id="3" name="개요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86444"/>
              </p:ext>
            </p:extLst>
          </p:nvPr>
        </p:nvGraphicFramePr>
        <p:xfrm>
          <a:off x="548640" y="1371600"/>
          <a:ext cx="6766560" cy="3108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프로젝트명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머더미스터리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제작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플레이 플랫폼 프로젝트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기간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[2026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 현재]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인원·역할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1인 · 기획, 규칙·DB 구조 결정, 검증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구현은 AI 코딩 도구와 협업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· FastAPI · PostgreSQL 16 · React 19 · TypeScript · Vite · Docker Compose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hlinkClick r:id="rId3"/>
                        </a:rPr>
                        <a:t>https://github.com/Donguk-Kim-kr/murdermystery.git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통계 카드 1"/>
          <p:cNvSpPr/>
          <p:nvPr/>
        </p:nvSpPr>
        <p:spPr>
          <a:xfrm>
            <a:off x="758952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26680" y="14447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35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7726680" y="2084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DB 테이블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한글 식별자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마이그레이션 29개</a:t>
            </a:r>
            <a:endParaRPr lang="en-US" sz="1100" dirty="0"/>
          </a:p>
        </p:txBody>
      </p:sp>
      <p:sp>
        <p:nvSpPr>
          <p:cNvPr id="9" name="통계 카드 2"/>
          <p:cNvSpPr/>
          <p:nvPr/>
        </p:nvSpPr>
        <p:spPr>
          <a:xfrm>
            <a:off x="9674352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811512" y="14447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9811512" y="20848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 엔드포인트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811512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FastAPI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소스 정의 기준</a:t>
            </a:r>
            <a:endParaRPr lang="en-US" sz="1100" dirty="0"/>
          </a:p>
        </p:txBody>
      </p:sp>
      <p:sp>
        <p:nvSpPr>
          <p:cNvPr id="13" name="통계 카드 3"/>
          <p:cNvSpPr/>
          <p:nvPr/>
        </p:nvSpPr>
        <p:spPr>
          <a:xfrm>
            <a:off x="7589520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26680" y="30449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991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자동 테스트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977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통과 · pytest 748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vitest 243</a:t>
            </a:r>
            <a:endParaRPr lang="en-US" sz="1100" dirty="0"/>
          </a:p>
        </p:txBody>
      </p:sp>
      <p:sp>
        <p:nvSpPr>
          <p:cNvPr id="17" name="통계 카드 4"/>
          <p:cNvSpPr/>
          <p:nvPr/>
        </p:nvSpPr>
        <p:spPr>
          <a:xfrm>
            <a:off x="9674352" y="2971800"/>
            <a:ext cx="1965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11512" y="304495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9" name="Text 15"/>
          <p:cNvSpPr txBox="1"/>
          <p:nvPr/>
        </p:nvSpPr>
        <p:spPr>
          <a:xfrm>
            <a:off x="9811512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E2E 시나리오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811512" y="3977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Playwright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브라우저 흐름</a:t>
            </a:r>
            <a:endParaRPr lang="en-US" sz="1100" dirty="0"/>
          </a:p>
        </p:txBody>
      </p:sp>
      <p:sp>
        <p:nvSpPr>
          <p:cNvPr id="21" name="실행 방법 상자"/>
          <p:cNvSpPr/>
          <p:nvPr/>
        </p:nvSpPr>
        <p:spPr>
          <a:xfrm>
            <a:off x="548640" y="4800600"/>
            <a:ext cx="11094415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2960" y="4873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명령 두 줄로 재현 (서버 실행 · AI 테스트플레이 입장)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52120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55504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app python backend/scripts/ai_players.py --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</a:t>
            </a:r>
            <a:r>
              <a:rPr lang="ko-KR" alt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입력코드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--count 4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※ 테스트 수는 2026-10-19 로컬 실행에서 통과한 개수(pytest 748 = 백엔드 693 + DB 55, vitest 243). 엔드포인트는 소스의 라우터 정의 개수.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화면 ① 시나리오 제작</a:t>
            </a:r>
            <a:endParaRPr lang="en-US" sz="3200" dirty="0"/>
          </a:p>
        </p:txBody>
      </p:sp>
      <p:sp>
        <p:nvSpPr>
          <p:cNvPr id="4" name="이미지 자리 P2"/>
          <p:cNvSpPr/>
          <p:nvPr/>
        </p:nvSpPr>
        <p:spPr>
          <a:xfrm>
            <a:off x="548640" y="1371600"/>
            <a:ext cx="69494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이미지 설명 P2"/>
          <p:cNvSpPr txBox="1"/>
          <p:nvPr/>
        </p:nvSpPr>
        <p:spPr>
          <a:xfrm>
            <a:off x="731520" y="1371600"/>
            <a:ext cx="6583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[이미지 P2]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작업공간 화면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샘플 작품을 연 상태 · 권장 1600×1040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37160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작품 · 인물 · 장소 · 단서를 입력한다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진행 단계(페이즈)와 카드를 쌓아 게임 흐름을 만든다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확정하면 스냅샷(버전)으로 고정되고, 플레이는 확정본으로만 한다</a:t>
            </a:r>
            <a:endParaRPr lang="en-US" sz="1400" dirty="0"/>
          </a:p>
        </p:txBody>
      </p:sp>
      <p:sp>
        <p:nvSpPr>
          <p:cNvPr id="7" name="이미지 자리 P3"/>
          <p:cNvSpPr/>
          <p:nvPr/>
        </p:nvSpPr>
        <p:spPr>
          <a:xfrm>
            <a:off x="7772400" y="3931920"/>
            <a:ext cx="386791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8" name="이미지 설명 P3"/>
          <p:cNvSpPr txBox="1"/>
          <p:nvPr/>
        </p:nvSpPr>
        <p:spPr>
          <a:xfrm>
            <a:off x="7955280" y="3931920"/>
            <a:ext cx="35021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[이미지 P3]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흐름·카드 편집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진행 단계 목록 · 권장 1000×500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973F98-81A7-4B92-97E3-0C307D7D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599"/>
            <a:ext cx="6949440" cy="45199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85E7C2-C863-4F5C-864C-F3F2A2EA3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774" y="3931920"/>
            <a:ext cx="3871537" cy="19596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화면 ② 플레이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입장코드 대기실 → 캐릭터 선택 → 조사 → 전체·밀담 채팅 → 1인 1표 비공개 동시 투표.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관전자는 읽기 전용이며, GM 관전은 모든 인물의 개인 탭과 밀담까지 볼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2FA3237-85C2-45DA-990F-7443E5CA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553" y="1211580"/>
            <a:ext cx="4222225" cy="39319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D1EBF5-5DDF-4528-8FD8-AFEE96BC9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11580"/>
            <a:ext cx="2439019" cy="39319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210F342-CAB1-4A81-960D-D2125097A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623" y="1211580"/>
            <a:ext cx="417996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구조와 DB</a:t>
            </a:r>
            <a:endParaRPr lang="en-US" sz="3200" dirty="0"/>
          </a:p>
        </p:txBody>
      </p:sp>
      <p:sp>
        <p:nvSpPr>
          <p:cNvPr id="4" name="브라우저"/>
          <p:cNvSpPr/>
          <p:nvPr/>
        </p:nvSpPr>
        <p:spPr>
          <a:xfrm>
            <a:off x="548640" y="2194560"/>
            <a:ext cx="1737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브라우저 글"/>
          <p:cNvSpPr txBox="1"/>
          <p:nvPr/>
        </p:nvSpPr>
        <p:spPr>
          <a:xfrm>
            <a:off x="640080" y="2194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브라우저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React 19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TypeScript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Vite</a:t>
            </a:r>
            <a:endParaRPr lang="en-US" sz="1400" dirty="0"/>
          </a:p>
        </p:txBody>
      </p:sp>
      <p:sp>
        <p:nvSpPr>
          <p:cNvPr id="6" name="서버 상자"/>
          <p:cNvSpPr/>
          <p:nvPr/>
        </p:nvSpPr>
        <p:spPr>
          <a:xfrm>
            <a:off x="3108960" y="1371600"/>
            <a:ext cx="2926080" cy="365760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FastAPI 서버 (프로세스 1개)</a:t>
            </a:r>
            <a:endParaRPr lang="en-US" sz="1300" dirty="0"/>
          </a:p>
        </p:txBody>
      </p:sp>
      <p:sp>
        <p:nvSpPr>
          <p:cNvPr id="8" name="엔진"/>
          <p:cNvSpPr/>
          <p:nvPr/>
        </p:nvSpPr>
        <p:spPr>
          <a:xfrm>
            <a:off x="3246120" y="19202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9" name="엔진 글"/>
          <p:cNvSpPr txBox="1"/>
          <p:nvPr/>
        </p:nvSpPr>
        <p:spPr>
          <a:xfrm>
            <a:off x="333756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게임 엔진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스크립트 VM · 진행 단계</a:t>
            </a:r>
            <a:endParaRPr lang="en-US" sz="1400" dirty="0"/>
          </a:p>
        </p:txBody>
      </p:sp>
      <p:sp>
        <p:nvSpPr>
          <p:cNvPr id="10" name="메모리"/>
          <p:cNvSpPr/>
          <p:nvPr/>
        </p:nvSpPr>
        <p:spPr>
          <a:xfrm>
            <a:off x="3246120" y="28803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1" name="메모리 글"/>
          <p:cNvSpPr txBox="1"/>
          <p:nvPr/>
        </p:nvSpPr>
        <p:spPr>
          <a:xfrm>
            <a:off x="3337560" y="2880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메모리 상태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게임·방 레지스트리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(진행 중인 상태)</a:t>
            </a:r>
            <a:endParaRPr lang="en-US" sz="1400" dirty="0"/>
          </a:p>
        </p:txBody>
      </p:sp>
      <p:sp>
        <p:nvSpPr>
          <p:cNvPr id="12" name="API"/>
          <p:cNvSpPr/>
          <p:nvPr/>
        </p:nvSpPr>
        <p:spPr>
          <a:xfrm>
            <a:off x="3246120" y="384048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3" name="API 글"/>
          <p:cNvSpPr txBox="1"/>
          <p:nvPr/>
        </p:nvSpPr>
        <p:spPr>
          <a:xfrm>
            <a:off x="333756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REST API · SSE 알림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인증 · 채팅 · 투표 · 단서</a:t>
            </a:r>
            <a:endParaRPr lang="en-US" sz="1400" dirty="0"/>
          </a:p>
        </p:txBody>
      </p:sp>
      <p:sp>
        <p:nvSpPr>
          <p:cNvPr id="14" name="DB"/>
          <p:cNvSpPr/>
          <p:nvPr/>
        </p:nvSpPr>
        <p:spPr>
          <a:xfrm>
            <a:off x="6858000" y="2194560"/>
            <a:ext cx="1463040" cy="15544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5" name="DB 글"/>
          <p:cNvSpPr txBox="1"/>
          <p:nvPr/>
        </p:nvSpPr>
        <p:spPr>
          <a:xfrm>
            <a:off x="6949440" y="219456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16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35 테이블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투표 · 단서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채팅 · 엔딩</a:t>
            </a:r>
            <a:endParaRPr lang="en-US" sz="1400" dirty="0"/>
          </a:p>
        </p:txBody>
      </p:sp>
      <p:sp>
        <p:nvSpPr>
          <p:cNvPr id="16" name="AI 플레이어"/>
          <p:cNvSpPr/>
          <p:nvPr/>
        </p:nvSpPr>
        <p:spPr>
          <a:xfrm>
            <a:off x="3108960" y="5349240"/>
            <a:ext cx="2926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AI 플레이어 글"/>
          <p:cNvSpPr txBox="1"/>
          <p:nvPr/>
        </p:nvSpPr>
        <p:spPr>
          <a:xfrm>
            <a:off x="3200400" y="5349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AI 테스트 플레이어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별도 프로세스 · 사람과 같은 API</a:t>
            </a:r>
            <a:endParaRPr lang="en-US" sz="1400" dirty="0"/>
          </a:p>
        </p:txBody>
      </p:sp>
      <p:sp>
        <p:nvSpPr>
          <p:cNvPr id="18" name="Claude API"/>
          <p:cNvSpPr/>
          <p:nvPr/>
        </p:nvSpPr>
        <p:spPr>
          <a:xfrm>
            <a:off x="548640" y="534924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9" name="Claude API 글"/>
          <p:cNvSpPr txBox="1"/>
          <p:nvPr/>
        </p:nvSpPr>
        <p:spPr>
          <a:xfrm>
            <a:off x="640080" y="53492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API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Haiku 5.5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286000" y="2697480"/>
            <a:ext cx="8229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228600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H="1">
            <a:off x="2286000" y="3337560"/>
            <a:ext cx="8229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228600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35040" y="2971800"/>
            <a:ext cx="8229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603504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SQL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V="1">
            <a:off x="4572000" y="5029200"/>
            <a:ext cx="0" cy="3200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2286000" y="5760720"/>
            <a:ext cx="8229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286000" y="5440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호출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137160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테이블 35개, 이름과 컬럼에 한글 도메인 용어를 사용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마이그레이션 29개와 스키마 명세(xlsx)·테스트로 구조를 대조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작품은 확정 시 스냅샷으로 고정, 진행 중 상태는 메모리·기록은 DB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chemeClr val="tx1"/>
                </a:solidFill>
              </a:rPr>
              <a:t>DB 설</a:t>
            </a:r>
            <a:r>
              <a:rPr lang="ko-KR" altLang="en-US" sz="3200" b="1">
                <a:solidFill>
                  <a:schemeClr val="tx1"/>
                </a:solidFill>
              </a:rPr>
              <a:t>계 </a:t>
            </a:r>
            <a:r>
              <a:rPr lang="en-US" altLang="ko-KR" sz="3200" b="1">
                <a:solidFill>
                  <a:schemeClr val="tx1"/>
                </a:solidFill>
              </a:rPr>
              <a:t>(</a:t>
            </a:r>
            <a:r>
              <a:rPr lang="ko-KR" altLang="en-US" sz="3200" b="1">
                <a:solidFill>
                  <a:schemeClr val="tx1"/>
                </a:solidFill>
              </a:rPr>
              <a:t>일부만 표시</a:t>
            </a:r>
            <a:r>
              <a:rPr lang="en-US" altLang="ko-KR" sz="3200" b="1">
                <a:solidFill>
                  <a:schemeClr val="tx1"/>
                </a:solidFill>
              </a:rPr>
              <a:t>)</a:t>
            </a:r>
            <a:endParaRPr lang="en-US" sz="3200" dirty="0"/>
          </a:p>
        </p:txBody>
      </p:sp>
      <p:sp>
        <p:nvSpPr>
          <p:cNvPr id="4" name="테이블 계정"/>
          <p:cNvSpPr/>
          <p:nvPr/>
        </p:nvSpPr>
        <p:spPr>
          <a:xfrm>
            <a:off x="548640" y="128016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머리 계정"/>
          <p:cNvSpPr/>
          <p:nvPr/>
        </p:nvSpPr>
        <p:spPr>
          <a:xfrm>
            <a:off x="548640" y="1280160"/>
            <a:ext cx="1371600" cy="292608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80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계정</a:t>
            </a:r>
            <a:endParaRPr lang="en-US" sz="1200" dirty="0"/>
          </a:p>
        </p:txBody>
      </p:sp>
      <p:sp>
        <p:nvSpPr>
          <p:cNvPr id="7" name="컬럼 계정"/>
          <p:cNvSpPr txBox="1"/>
          <p:nvPr/>
        </p:nvSpPr>
        <p:spPr>
          <a:xfrm>
            <a:off x="640080" y="16276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아이디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닉네임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권한</a:t>
            </a:r>
            <a:endParaRPr lang="en-US" sz="1100" dirty="0"/>
          </a:p>
        </p:txBody>
      </p:sp>
      <p:sp>
        <p:nvSpPr>
          <p:cNvPr id="8" name="테이블 작품"/>
          <p:cNvSpPr/>
          <p:nvPr/>
        </p:nvSpPr>
        <p:spPr>
          <a:xfrm>
            <a:off x="5409590" y="128016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머리 작품"/>
          <p:cNvSpPr/>
          <p:nvPr/>
        </p:nvSpPr>
        <p:spPr>
          <a:xfrm>
            <a:off x="5409590" y="128016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09590" y="1280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작품</a:t>
            </a:r>
            <a:endParaRPr lang="en-US" sz="1200" dirty="0"/>
          </a:p>
        </p:txBody>
      </p:sp>
      <p:sp>
        <p:nvSpPr>
          <p:cNvPr id="11" name="컬럼 작품"/>
          <p:cNvSpPr txBox="1"/>
          <p:nvPr/>
        </p:nvSpPr>
        <p:spPr>
          <a:xfrm>
            <a:off x="5501030" y="162763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제목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상태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최신버전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계정_번호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</p:txBody>
      </p:sp>
      <p:sp>
        <p:nvSpPr>
          <p:cNvPr id="12" name="테이블 버전"/>
          <p:cNvSpPr/>
          <p:nvPr/>
        </p:nvSpPr>
        <p:spPr>
          <a:xfrm>
            <a:off x="2168957" y="278892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머리 버전"/>
          <p:cNvSpPr/>
          <p:nvPr/>
        </p:nvSpPr>
        <p:spPr>
          <a:xfrm>
            <a:off x="2168957" y="278892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68957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버전</a:t>
            </a:r>
            <a:endParaRPr lang="en-US" sz="1200" dirty="0"/>
          </a:p>
        </p:txBody>
      </p:sp>
      <p:sp>
        <p:nvSpPr>
          <p:cNvPr id="15" name="컬럼 버전"/>
          <p:cNvSpPr txBox="1"/>
          <p:nvPr/>
        </p:nvSpPr>
        <p:spPr>
          <a:xfrm>
            <a:off x="2260397" y="313639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버전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시나리오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변경사항</a:t>
            </a:r>
            <a:endParaRPr lang="en-US" sz="1100" dirty="0"/>
          </a:p>
        </p:txBody>
      </p:sp>
      <p:sp>
        <p:nvSpPr>
          <p:cNvPr id="16" name="테이블 인물"/>
          <p:cNvSpPr/>
          <p:nvPr/>
        </p:nvSpPr>
        <p:spPr>
          <a:xfrm>
            <a:off x="3789274" y="278892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머리 인물"/>
          <p:cNvSpPr/>
          <p:nvPr/>
        </p:nvSpPr>
        <p:spPr>
          <a:xfrm>
            <a:off x="3789274" y="278892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89274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인물</a:t>
            </a:r>
            <a:endParaRPr lang="en-US" sz="1200" dirty="0"/>
          </a:p>
        </p:txBody>
      </p:sp>
      <p:sp>
        <p:nvSpPr>
          <p:cNvPr id="19" name="컬럼 인물"/>
          <p:cNvSpPr txBox="1"/>
          <p:nvPr/>
        </p:nvSpPr>
        <p:spPr>
          <a:xfrm>
            <a:off x="3880714" y="313639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이름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직업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범인</a:t>
            </a:r>
            <a:endParaRPr lang="en-US" sz="1100" dirty="0"/>
          </a:p>
        </p:txBody>
      </p:sp>
      <p:sp>
        <p:nvSpPr>
          <p:cNvPr id="20" name="테이블 장소"/>
          <p:cNvSpPr/>
          <p:nvPr/>
        </p:nvSpPr>
        <p:spPr>
          <a:xfrm>
            <a:off x="5409590" y="278892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머리 장소"/>
          <p:cNvSpPr/>
          <p:nvPr/>
        </p:nvSpPr>
        <p:spPr>
          <a:xfrm>
            <a:off x="5409590" y="278892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0959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장소</a:t>
            </a:r>
            <a:endParaRPr lang="en-US" sz="1200" dirty="0"/>
          </a:p>
        </p:txBody>
      </p:sp>
      <p:sp>
        <p:nvSpPr>
          <p:cNvPr id="23" name="컬럼 장소"/>
          <p:cNvSpPr txBox="1"/>
          <p:nvPr/>
        </p:nvSpPr>
        <p:spPr>
          <a:xfrm>
            <a:off x="5501030" y="313639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이름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상위_장소_순서</a:t>
            </a:r>
            <a:endParaRPr lang="en-US" sz="1100" dirty="0"/>
          </a:p>
        </p:txBody>
      </p:sp>
      <p:sp>
        <p:nvSpPr>
          <p:cNvPr id="24" name="테이블 단서"/>
          <p:cNvSpPr/>
          <p:nvPr/>
        </p:nvSpPr>
        <p:spPr>
          <a:xfrm>
            <a:off x="7029907" y="278892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머리 단서"/>
          <p:cNvSpPr/>
          <p:nvPr/>
        </p:nvSpPr>
        <p:spPr>
          <a:xfrm>
            <a:off x="7029907" y="278892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29907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단서</a:t>
            </a:r>
            <a:endParaRPr lang="en-US" sz="1200" dirty="0"/>
          </a:p>
        </p:txBody>
      </p:sp>
      <p:sp>
        <p:nvSpPr>
          <p:cNvPr id="27" name="컬럼 단서"/>
          <p:cNvSpPr txBox="1"/>
          <p:nvPr/>
        </p:nvSpPr>
        <p:spPr>
          <a:xfrm>
            <a:off x="7121347" y="313639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이름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인물_순서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장소_순서</a:t>
            </a:r>
            <a:endParaRPr lang="en-US" sz="1100" dirty="0"/>
          </a:p>
        </p:txBody>
      </p:sp>
      <p:sp>
        <p:nvSpPr>
          <p:cNvPr id="28" name="테이블 진행순서"/>
          <p:cNvSpPr/>
          <p:nvPr/>
        </p:nvSpPr>
        <p:spPr>
          <a:xfrm>
            <a:off x="8650224" y="278892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머리 진행순서"/>
          <p:cNvSpPr/>
          <p:nvPr/>
        </p:nvSpPr>
        <p:spPr>
          <a:xfrm>
            <a:off x="8650224" y="2788920"/>
            <a:ext cx="1371600" cy="29260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50224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진행순서</a:t>
            </a:r>
            <a:endParaRPr lang="en-US" sz="1200" dirty="0"/>
          </a:p>
        </p:txBody>
      </p:sp>
      <p:sp>
        <p:nvSpPr>
          <p:cNvPr id="31" name="컬럼 진행순서"/>
          <p:cNvSpPr txBox="1"/>
          <p:nvPr/>
        </p:nvSpPr>
        <p:spPr>
          <a:xfrm>
            <a:off x="8741664" y="313639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이름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진행시간</a:t>
            </a:r>
            <a:endParaRPr lang="en-US" sz="1100" dirty="0"/>
          </a:p>
        </p:txBody>
      </p:sp>
      <p:sp>
        <p:nvSpPr>
          <p:cNvPr id="32" name="테이블 방"/>
          <p:cNvSpPr/>
          <p:nvPr/>
        </p:nvSpPr>
        <p:spPr>
          <a:xfrm>
            <a:off x="548640" y="425196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머리 방"/>
          <p:cNvSpPr/>
          <p:nvPr/>
        </p:nvSpPr>
        <p:spPr>
          <a:xfrm>
            <a:off x="548640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방</a:t>
            </a:r>
            <a:endParaRPr lang="en-US" sz="1200" dirty="0"/>
          </a:p>
        </p:txBody>
      </p:sp>
      <p:sp>
        <p:nvSpPr>
          <p:cNvPr id="35" name="컬럼 방"/>
          <p:cNvSpPr txBox="1"/>
          <p:nvPr/>
        </p:nvSpPr>
        <p:spPr>
          <a:xfrm>
            <a:off x="640080" y="459943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계정_번호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작품·버전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입장코드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상태</a:t>
            </a:r>
            <a:endParaRPr lang="en-US" sz="1100" dirty="0"/>
          </a:p>
        </p:txBody>
      </p:sp>
      <p:sp>
        <p:nvSpPr>
          <p:cNvPr id="36" name="테이블 진행"/>
          <p:cNvSpPr/>
          <p:nvPr/>
        </p:nvSpPr>
        <p:spPr>
          <a:xfrm>
            <a:off x="2168957" y="425196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머리 진행"/>
          <p:cNvSpPr/>
          <p:nvPr/>
        </p:nvSpPr>
        <p:spPr>
          <a:xfrm>
            <a:off x="2168957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68957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진행</a:t>
            </a:r>
            <a:endParaRPr lang="en-US" sz="1200" dirty="0"/>
          </a:p>
        </p:txBody>
      </p:sp>
      <p:sp>
        <p:nvSpPr>
          <p:cNvPr id="39" name="컬럼 진행"/>
          <p:cNvSpPr txBox="1"/>
          <p:nvPr/>
        </p:nvSpPr>
        <p:spPr>
          <a:xfrm>
            <a:off x="2260397" y="45994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방_번호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진행순서_순서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상태</a:t>
            </a:r>
            <a:endParaRPr lang="en-US" sz="1100" dirty="0"/>
          </a:p>
        </p:txBody>
      </p:sp>
      <p:sp>
        <p:nvSpPr>
          <p:cNvPr id="40" name="테이블 참여"/>
          <p:cNvSpPr/>
          <p:nvPr/>
        </p:nvSpPr>
        <p:spPr>
          <a:xfrm>
            <a:off x="3789274" y="425196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머리 참여"/>
          <p:cNvSpPr/>
          <p:nvPr/>
        </p:nvSpPr>
        <p:spPr>
          <a:xfrm>
            <a:off x="3789274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789274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참여</a:t>
            </a:r>
            <a:endParaRPr lang="en-US" sz="1200" dirty="0"/>
          </a:p>
        </p:txBody>
      </p:sp>
      <p:sp>
        <p:nvSpPr>
          <p:cNvPr id="43" name="컬럼 참여"/>
          <p:cNvSpPr txBox="1"/>
          <p:nvPr/>
        </p:nvSpPr>
        <p:spPr>
          <a:xfrm>
            <a:off x="3880714" y="45994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진행_번호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계정_번호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인물_순서</a:t>
            </a:r>
            <a:endParaRPr lang="en-US" sz="1100" dirty="0"/>
          </a:p>
        </p:txBody>
      </p:sp>
      <p:sp>
        <p:nvSpPr>
          <p:cNvPr id="44" name="테이블 획득"/>
          <p:cNvSpPr/>
          <p:nvPr/>
        </p:nvSpPr>
        <p:spPr>
          <a:xfrm>
            <a:off x="5409590" y="425196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머리 획득"/>
          <p:cNvSpPr/>
          <p:nvPr/>
        </p:nvSpPr>
        <p:spPr>
          <a:xfrm>
            <a:off x="5409590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09590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획득</a:t>
            </a:r>
            <a:endParaRPr lang="en-US" sz="1200" dirty="0"/>
          </a:p>
        </p:txBody>
      </p:sp>
      <p:sp>
        <p:nvSpPr>
          <p:cNvPr id="47" name="컬럼 획득"/>
          <p:cNvSpPr txBox="1"/>
          <p:nvPr/>
        </p:nvSpPr>
        <p:spPr>
          <a:xfrm>
            <a:off x="5501030" y="459943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참여_번호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단서_순서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증언_순서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획득방법</a:t>
            </a:r>
            <a:endParaRPr lang="en-US" sz="1100" dirty="0"/>
          </a:p>
        </p:txBody>
      </p:sp>
      <p:sp>
        <p:nvSpPr>
          <p:cNvPr id="48" name="테이블 투표결과"/>
          <p:cNvSpPr/>
          <p:nvPr/>
        </p:nvSpPr>
        <p:spPr>
          <a:xfrm>
            <a:off x="7029907" y="4251960"/>
            <a:ext cx="1371600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머리 투표결과"/>
          <p:cNvSpPr/>
          <p:nvPr/>
        </p:nvSpPr>
        <p:spPr>
          <a:xfrm>
            <a:off x="7029907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29907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투표결과</a:t>
            </a:r>
            <a:endParaRPr lang="en-US" sz="1200" dirty="0"/>
          </a:p>
        </p:txBody>
      </p:sp>
      <p:sp>
        <p:nvSpPr>
          <p:cNvPr id="51" name="컬럼 투표결과"/>
          <p:cNvSpPr txBox="1"/>
          <p:nvPr/>
        </p:nvSpPr>
        <p:spPr>
          <a:xfrm>
            <a:off x="7121347" y="45994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참여_번호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투표이름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선택</a:t>
            </a:r>
            <a:endParaRPr lang="en-US" sz="1100" dirty="0"/>
          </a:p>
        </p:txBody>
      </p:sp>
      <p:sp>
        <p:nvSpPr>
          <p:cNvPr id="52" name="테이블 대화"/>
          <p:cNvSpPr/>
          <p:nvPr/>
        </p:nvSpPr>
        <p:spPr>
          <a:xfrm>
            <a:off x="8650224" y="4251960"/>
            <a:ext cx="1371600" cy="12710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3" name="머리 대화"/>
          <p:cNvSpPr/>
          <p:nvPr/>
        </p:nvSpPr>
        <p:spPr>
          <a:xfrm>
            <a:off x="8650224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650224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대화</a:t>
            </a:r>
            <a:endParaRPr lang="en-US" sz="1200" dirty="0"/>
          </a:p>
        </p:txBody>
      </p:sp>
      <p:sp>
        <p:nvSpPr>
          <p:cNvPr id="55" name="컬럼 대화"/>
          <p:cNvSpPr txBox="1"/>
          <p:nvPr/>
        </p:nvSpPr>
        <p:spPr>
          <a:xfrm>
            <a:off x="8741664" y="459943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진행_번호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계정_번호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장소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내용</a:t>
            </a:r>
            <a:endParaRPr lang="en-US" sz="1100" dirty="0"/>
          </a:p>
        </p:txBody>
      </p:sp>
      <p:sp>
        <p:nvSpPr>
          <p:cNvPr id="56" name="테이블 대화수신"/>
          <p:cNvSpPr/>
          <p:nvPr/>
        </p:nvSpPr>
        <p:spPr>
          <a:xfrm>
            <a:off x="10270541" y="4251960"/>
            <a:ext cx="1371600" cy="92354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7" name="머리 대화수신"/>
          <p:cNvSpPr/>
          <p:nvPr/>
        </p:nvSpPr>
        <p:spPr>
          <a:xfrm>
            <a:off x="10270541" y="4251960"/>
            <a:ext cx="1371600" cy="29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270541" y="4251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대화수신</a:t>
            </a:r>
            <a:endParaRPr lang="en-US" sz="1200" dirty="0"/>
          </a:p>
        </p:txBody>
      </p:sp>
      <p:sp>
        <p:nvSpPr>
          <p:cNvPr id="59" name="컬럼 대화수신"/>
          <p:cNvSpPr txBox="1"/>
          <p:nvPr/>
        </p:nvSpPr>
        <p:spPr>
          <a:xfrm>
            <a:off x="10361981" y="4599432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번호</a:t>
            </a:r>
            <a:r>
              <a:rPr lang="en-US" sz="1000" b="1" dirty="0">
                <a:solidFill>
                  <a:schemeClr val="accent2"/>
                </a:solidFill>
              </a:rPr>
              <a:t> PK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대화_번호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  <a:p>
            <a:pPr marL="0" indent="0">
              <a:lnSpc>
                <a:spcPts val="137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계정_번호</a:t>
            </a:r>
            <a:r>
              <a:rPr lang="en-US" sz="1000" b="1" dirty="0">
                <a:solidFill>
                  <a:schemeClr val="accent1"/>
                </a:solidFill>
              </a:rPr>
              <a:t> FK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 flipH="1">
            <a:off x="1920240" y="1874520"/>
            <a:ext cx="348935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H="1">
            <a:off x="1920240" y="1874520"/>
            <a:ext cx="91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 flipV="1">
            <a:off x="6095390" y="2551176"/>
            <a:ext cx="0" cy="10058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2854757" y="2651760"/>
            <a:ext cx="648126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854757" y="265176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475074" y="265176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095390" y="265176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715707" y="265176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336024" y="265176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48640" y="2532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작품_번호로 연결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 flipV="1">
            <a:off x="914400" y="2377440"/>
            <a:ext cx="0" cy="18745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 flipV="1">
            <a:off x="1554480" y="411480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554480" y="4114800"/>
            <a:ext cx="130027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 flipV="1">
            <a:off x="2854757" y="38862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4" name="Shape 71"/>
          <p:cNvSpPr/>
          <p:nvPr/>
        </p:nvSpPr>
        <p:spPr>
          <a:xfrm flipH="1">
            <a:off x="1920240" y="4709160"/>
            <a:ext cx="2487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5" name="Shape 72"/>
          <p:cNvSpPr/>
          <p:nvPr/>
        </p:nvSpPr>
        <p:spPr>
          <a:xfrm flipH="1">
            <a:off x="3540557" y="4709160"/>
            <a:ext cx="2487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 flipH="1">
            <a:off x="5160874" y="4709160"/>
            <a:ext cx="2487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7" name="Shape 74"/>
          <p:cNvSpPr/>
          <p:nvPr/>
        </p:nvSpPr>
        <p:spPr>
          <a:xfrm flipH="1">
            <a:off x="10021824" y="4709160"/>
            <a:ext cx="2487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7715707" y="5349240"/>
            <a:ext cx="0" cy="24688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 flipH="1">
            <a:off x="4475074" y="5596128"/>
            <a:ext cx="324063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 flipV="1">
            <a:off x="4475074" y="5349240"/>
            <a:ext cx="0" cy="24688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9336024" y="5522976"/>
            <a:ext cx="0" cy="21031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 flipH="1">
            <a:off x="2854757" y="5733288"/>
            <a:ext cx="648126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 flipV="1">
            <a:off x="2854757" y="5349240"/>
            <a:ext cx="0" cy="38404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4" name="Text 81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파랑 = 제작 · 빨강 = 플레이 · 회색 = 계정 · 화살표는 외래키(참조하는 쪽 → 참조되는 쪽)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핵심 14개 테이블의 대표 컬럼만 표시(전체 35개는 저장소 docs/SCHEMA_REFERENCE.md). 참여·대화·대화수신도 계정을 참조한다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핵심 설계 결정</a:t>
            </a:r>
            <a:endParaRPr lang="en-US" sz="3200" dirty="0"/>
          </a:p>
        </p:txBody>
      </p:sp>
      <p:sp>
        <p:nvSpPr>
          <p:cNvPr id="4" name="결정 카드 1"/>
          <p:cNvSpPr/>
          <p:nvPr/>
        </p:nvSpPr>
        <p:spPr>
          <a:xfrm>
            <a:off x="548640" y="1417320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진행 중 상태는 메모리, 기록은 DB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8842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이유  </a:t>
            </a:r>
            <a:r>
              <a:rPr lang="en-US" sz="1600" dirty="0">
                <a:solidFill>
                  <a:schemeClr val="tx1"/>
                </a:solidFill>
              </a:rPr>
              <a:t>1초 단위 진행 판정과 빠른 응답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한계  </a:t>
            </a:r>
            <a:r>
              <a:rPr lang="en-US" sz="1600" dirty="0">
                <a:solidFill>
                  <a:schemeClr val="tx1"/>
                </a:solidFill>
              </a:rPr>
              <a:t>서버 프로세스 1개를 전제로 함</a:t>
            </a:r>
            <a:endParaRPr lang="en-US" sz="1600" dirty="0"/>
          </a:p>
        </p:txBody>
      </p:sp>
      <p:sp>
        <p:nvSpPr>
          <p:cNvPr id="7" name="결정 카드 2"/>
          <p:cNvSpPr/>
          <p:nvPr/>
        </p:nvSpPr>
        <p:spPr>
          <a:xfrm>
            <a:off x="6210148" y="1417320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84468" y="160020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선착순 선택은 잠금 + 유일 제약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84468" y="2148840"/>
            <a:ext cx="48842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이유  </a:t>
            </a:r>
            <a:r>
              <a:rPr lang="en-US" sz="1600" dirty="0">
                <a:solidFill>
                  <a:schemeClr val="tx1"/>
                </a:solidFill>
              </a:rPr>
              <a:t>동시에 눌러도 한 명만 배정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한계  </a:t>
            </a:r>
            <a:r>
              <a:rPr lang="en-US" sz="1600" dirty="0">
                <a:solidFill>
                  <a:schemeClr val="tx1"/>
                </a:solidFill>
              </a:rPr>
              <a:t>서버를 늘리면 잠금을 공유할 수 없음</a:t>
            </a:r>
            <a:endParaRPr lang="en-US" sz="1600" dirty="0"/>
          </a:p>
        </p:txBody>
      </p:sp>
      <p:sp>
        <p:nvSpPr>
          <p:cNvPr id="10" name="결정 카드 3"/>
          <p:cNvSpPr/>
          <p:nvPr/>
        </p:nvSpPr>
        <p:spPr>
          <a:xfrm>
            <a:off x="548640" y="3886200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406908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상태 버전 번호 + SSE 알림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617720"/>
            <a:ext cx="48842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이유  </a:t>
            </a:r>
            <a:r>
              <a:rPr lang="en-US" sz="1600" dirty="0">
                <a:solidFill>
                  <a:schemeClr val="tx1"/>
                </a:solidFill>
              </a:rPr>
              <a:t>알림엔 버전만 싣고 상태는 재조회 → 재접속해도 놓침 없음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한계  </a:t>
            </a:r>
            <a:r>
              <a:rPr lang="en-US" sz="1600" dirty="0">
                <a:solidFill>
                  <a:schemeClr val="tx1"/>
                </a:solidFill>
              </a:rPr>
              <a:t>알림마다 조회가 한 번 더 발생</a:t>
            </a:r>
            <a:endParaRPr lang="en-US" sz="1600" dirty="0"/>
          </a:p>
        </p:txBody>
      </p:sp>
      <p:sp>
        <p:nvSpPr>
          <p:cNvPr id="13" name="결정 카드 4"/>
          <p:cNvSpPr/>
          <p:nvPr/>
        </p:nvSpPr>
        <p:spPr>
          <a:xfrm>
            <a:off x="6210148" y="3886200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84468" y="406908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채팅은 장소 모델 + 수신자 저장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84468" y="4617720"/>
            <a:ext cx="48842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이유  </a:t>
            </a:r>
            <a:r>
              <a:rPr lang="en-US" sz="1600" dirty="0">
                <a:solidFill>
                  <a:schemeClr val="tx1"/>
                </a:solidFill>
              </a:rPr>
              <a:t>밀담에 없던 사람은 내용을 볼 수 없도록 DB에서 보장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한계  </a:t>
            </a:r>
            <a:r>
              <a:rPr lang="en-US" sz="1600" dirty="0">
                <a:solidFill>
                  <a:schemeClr val="tx1"/>
                </a:solidFill>
              </a:rPr>
              <a:t>1.5초 간격 폴링이라 완전 실시간은 아님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AI 테스트플레이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사람을 모으지 않고 작품을 끝까지 돌려 막히는 곳을 찾는 검증 도구</a:t>
            </a:r>
            <a:endParaRPr lang="en-US" sz="1600" dirty="0"/>
          </a:p>
        </p:txBody>
      </p:sp>
      <p:sp>
        <p:nvSpPr>
          <p:cNvPr id="5" name="단계 번호 1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상태 조회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671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지금 단계 · 내 인물 · 단서 · 채팅을 API로 읽는다</a:t>
            </a:r>
            <a:endParaRPr lang="en-US" sz="1500" dirty="0"/>
          </a:p>
        </p:txBody>
      </p:sp>
      <p:sp>
        <p:nvSpPr>
          <p:cNvPr id="9" name="단계 번호 2"/>
          <p:cNvSpPr/>
          <p:nvPr/>
        </p:nvSpPr>
        <p:spPr>
          <a:xfrm>
            <a:off x="548640" y="2907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7706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판단 요청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154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상태를 담은 새 프롬프트로 Claude에게 도구 선택을 요청한다</a:t>
            </a:r>
            <a:endParaRPr lang="en-US" sz="1500" dirty="0"/>
          </a:p>
        </p:txBody>
      </p:sp>
      <p:sp>
        <p:nvSpPr>
          <p:cNvPr id="13" name="단계 번호 3"/>
          <p:cNvSpPr/>
          <p:nvPr/>
        </p:nvSpPr>
        <p:spPr>
          <a:xfrm>
            <a:off x="548640" y="38953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7581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행동 실행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1422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choose · share_clue · say · go · wait 중 하나를 호출한다</a:t>
            </a:r>
            <a:endParaRPr lang="en-US" sz="1500" dirty="0"/>
          </a:p>
        </p:txBody>
      </p:sp>
      <p:sp>
        <p:nvSpPr>
          <p:cNvPr id="17" name="단계 번호 4"/>
          <p:cNvSpPr/>
          <p:nvPr/>
        </p:nvSpPr>
        <p:spPr>
          <a:xfrm>
            <a:off x="548640" y="488289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745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 확인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51297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거부되면 사유를 기록하고, 실패하면 간격을 늘려 재시도한다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60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확인하는 것: 진행 단계가 끝까지 돌아가는지, 단서·채팅·투표 규칙이 동작하는지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확인하지 못하는 것: 재미와 난이도 (사람 테스트가 필요)</a:t>
            </a:r>
            <a:endParaRPr lang="en-US" sz="1300" dirty="0"/>
          </a:p>
        </p:txBody>
      </p:sp>
      <p:sp>
        <p:nvSpPr>
          <p:cNvPr id="22" name="이미지 자리 P9"/>
          <p:cNvSpPr/>
          <p:nvPr/>
        </p:nvSpPr>
        <p:spPr>
          <a:xfrm>
            <a:off x="7223760" y="1371600"/>
            <a:ext cx="4416552" cy="4572000"/>
          </a:xfrm>
          <a:prstGeom prst="roundRect">
            <a:avLst>
              <a:gd name="adj" fmla="val 165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3" name="이미지 설명 P9"/>
          <p:cNvSpPr txBox="1"/>
          <p:nvPr/>
        </p:nvSpPr>
        <p:spPr>
          <a:xfrm>
            <a:off x="7406640" y="1371600"/>
            <a:ext cx="4050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[이미지 P9]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테스트플레이 로그 + 게임 화면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터미널 로그와 게임 화면을 나란히 · 권장 1200×1250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CD98DFD-1210-4977-B10A-43AD31A5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809702"/>
            <a:ext cx="4419295" cy="213389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3F96E0B-E2C2-4F75-886E-8E18FE226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017" y="1382844"/>
            <a:ext cx="4416552" cy="2426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트러블슈팅</a:t>
            </a:r>
            <a:endParaRPr lang="en-US" sz="3200" dirty="0"/>
          </a:p>
        </p:txBody>
      </p:sp>
      <p:graphicFrame>
        <p:nvGraphicFramePr>
          <p:cNvPr id="9" name="트러블슈팅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7548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증상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테스트 AI가 인물을 고르지 않고 "성공"만 기록됨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서버가 HTTP 200으로 응답했지만 실제 배정은 거부된 상태였고, 이를 성공으로 기록함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응답 내용을 해석해 "받아들여지지 않음 → 사유"를 기록하고, 도구 입력 단순화 · 값 보정 · 8초 뒤 재시도 추가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400 오류가 반복되며 테스트가 멈춤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 오류가 아니라 API 크레딧 부족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실패 후 대기 시간을 늘리는 백오프와 안내 문구, 기본 모델을 Haiku로 변경, 시스템 프롬프트 캐시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모두 확인·선택·투표해도 다음 단계로 안 넘어감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자동 진행이 시간 만료만 판정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단계별 완료 조건(읽기 · 인물 선택 · 투표)을 판정하는 로직과 테스트 추가</a:t>
                      </a:r>
                      <a:endParaRPr lang="en-US" sz="1400" dirty="0"/>
                    </a:p>
                  </a:txBody>
                  <a:tcPr marL="109728" marR="109728" marT="73152" marB="73152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역할 · 한계 · 링크</a:t>
            </a:r>
            <a:endParaRPr lang="en-US" sz="3200" dirty="0"/>
          </a:p>
        </p:txBody>
      </p:sp>
      <p:sp>
        <p:nvSpPr>
          <p:cNvPr id="4" name="역할 카드"/>
          <p:cNvSpPr/>
          <p:nvPr/>
        </p:nvSpPr>
        <p:spPr>
          <a:xfrm>
            <a:off x="548640" y="1371600"/>
            <a:ext cx="58521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직접 한 일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기획: 작품 구조, 게임 규칙, 진행 흐름 결정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화면 구성·세부 규칙 결정 (예: 밀담 정원 2명, 관전 방식)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 테이블 구조 초안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직접 실행·플레이로 문제를 찾아 수정 지시, 결정은 날짜와 함께 문서화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AI와 협업한 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· React 코드 구현, 테스트 작성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문서 초안, AI 테스트 플레이어의 프롬프트·도구 구현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257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코드를 모두 직접 작성한 것은 아니며, 무엇을 만들지 정하고 결과를 검증하는 역할을 맡았습니다.</a:t>
            </a:r>
            <a:endParaRPr lang="en-US" sz="1400" dirty="0"/>
          </a:p>
        </p:txBody>
      </p:sp>
      <p:sp>
        <p:nvSpPr>
          <p:cNvPr id="10" name="한계 카드"/>
          <p:cNvSpPr/>
          <p:nvPr/>
        </p:nvSpPr>
        <p:spPr>
          <a:xfrm>
            <a:off x="6629400" y="1371600"/>
            <a:ext cx="5013655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150876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한계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1965960"/>
            <a:ext cx="44650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공개 배포 보류: 개발용 설정, 서버 프로세스 1개 전제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모바일 배치·시나리오 이미지 미지원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테스트플레이는 소규모(4인) 확인만 했고 재미·난이도는 판단 못 함</a:t>
            </a:r>
            <a:endParaRPr lang="en-US" sz="1400" dirty="0"/>
          </a:p>
        </p:txBody>
      </p:sp>
      <p:sp>
        <p:nvSpPr>
          <p:cNvPr id="13" name="링크 카드"/>
          <p:cNvSpPr/>
          <p:nvPr/>
        </p:nvSpPr>
        <p:spPr>
          <a:xfrm>
            <a:off x="6629400" y="3886200"/>
            <a:ext cx="5013655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25CEFAA-7347-42BB-A89A-5A71EFD71110}"/>
              </a:ext>
            </a:extLst>
          </p:cNvPr>
          <p:cNvSpPr txBox="1"/>
          <p:nvPr/>
        </p:nvSpPr>
        <p:spPr>
          <a:xfrm>
            <a:off x="6903719" y="429222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GitHub</a:t>
            </a:r>
            <a:endParaRPr lang="en-US" sz="13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D6AEB65-7C08-4AEF-8044-17C1BDC3244B}"/>
              </a:ext>
            </a:extLst>
          </p:cNvPr>
          <p:cNvSpPr txBox="1"/>
          <p:nvPr/>
        </p:nvSpPr>
        <p:spPr>
          <a:xfrm>
            <a:off x="6903718" y="4566547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30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https://github.com/Donguk-Kim-kr/murdermystery.git</a:t>
            </a:r>
            <a:endParaRPr lang="en-US" altLang="ko-KR" sz="1300">
              <a:solidFill>
                <a:schemeClr val="tx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15143BFF-5676-4A0D-BCCD-8F2B1EF9A1D9}"/>
              </a:ext>
            </a:extLst>
          </p:cNvPr>
          <p:cNvSpPr txBox="1"/>
          <p:nvPr/>
        </p:nvSpPr>
        <p:spPr>
          <a:xfrm>
            <a:off x="6903718" y="510973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연락처</a:t>
            </a:r>
            <a:endParaRPr lang="en-US" sz="13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03F17C4-15A0-4F4F-9BE6-F598850C5FF0}"/>
              </a:ext>
            </a:extLst>
          </p:cNvPr>
          <p:cNvSpPr txBox="1"/>
          <p:nvPr/>
        </p:nvSpPr>
        <p:spPr>
          <a:xfrm>
            <a:off x="6903718" y="536576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>
                <a:solidFill>
                  <a:schemeClr val="bg1"/>
                </a:solidFill>
              </a:rPr>
              <a:t>김동욱</a:t>
            </a:r>
            <a:r>
              <a:rPr lang="en-US" sz="1300">
                <a:solidFill>
                  <a:schemeClr val="bg1"/>
                </a:solidFill>
              </a:rPr>
              <a:t> · loveyouduk@naver.com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ery Ink">
  <a:themeElements>
    <a:clrScheme name="Mystery Ink">
      <a:dk1>
        <a:srgbClr val="1B1A2E"/>
      </a:dk1>
      <a:lt1>
        <a:srgbClr val="FFFFFF"/>
      </a:lt1>
      <a:dk2>
        <a:srgbClr val="3A3552"/>
      </a:dk2>
      <a:lt2>
        <a:srgbClr val="F1EFF6"/>
      </a:lt2>
      <a:accent1>
        <a:srgbClr val="B3263E"/>
      </a:accent1>
      <a:accent2>
        <a:srgbClr val="B8902F"/>
      </a:accent2>
      <a:accent3>
        <a:srgbClr val="4A6FA5"/>
      </a:accent3>
      <a:accent4>
        <a:srgbClr val="4F7F63"/>
      </a:accent4>
      <a:accent5>
        <a:srgbClr val="7A5C99"/>
      </a:accent5>
      <a:accent6>
        <a:srgbClr val="8A8A9A"/>
      </a:accent6>
      <a:hlink>
        <a:srgbClr val="4A6FA5"/>
      </a:hlink>
      <a:folHlink>
        <a:srgbClr val="7A5C99"/>
      </a:folHlink>
    </a:clrScheme>
    <a:fontScheme name="Mystery In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1505</Words>
  <Application>Microsoft Office PowerPoint</Application>
  <PresentationFormat>와이드스크린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</vt:lpstr>
      <vt:lpstr>Arial</vt:lpstr>
      <vt:lpstr>Courier New</vt:lpstr>
      <vt:lpstr>Mystery Ink</vt:lpstr>
      <vt:lpstr>PowerPoint 프레젠테이션</vt:lpstr>
      <vt:lpstr>개요와 한눈에 보기</vt:lpstr>
      <vt:lpstr>화면 ① 시나리오 제작</vt:lpstr>
      <vt:lpstr>화면 ② 플레이</vt:lpstr>
      <vt:lpstr>구조와 DB</vt:lpstr>
      <vt:lpstr>DB 설계 (일부만 표시)</vt:lpstr>
      <vt:lpstr>핵심 설계 결정</vt:lpstr>
      <vt:lpstr>AI 테스트플레이</vt:lpstr>
      <vt:lpstr>트러블슈팅</vt:lpstr>
      <vt:lpstr>역할 · 한계 · 링크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머더미스터리 제작·플레이 플랫폼 포트폴리오</dc:title>
  <dc:subject>PptxGenJS Presentation</dc:subject>
  <dc:creator>[이름]</dc:creator>
  <cp:lastModifiedBy>FullName</cp:lastModifiedBy>
  <cp:revision>6</cp:revision>
  <dcterms:created xsi:type="dcterms:W3CDTF">2026-10-19T03:35:53Z</dcterms:created>
  <dcterms:modified xsi:type="dcterms:W3CDTF">2026-10-19T05:49:53Z</dcterms:modified>
</cp:coreProperties>
</file>