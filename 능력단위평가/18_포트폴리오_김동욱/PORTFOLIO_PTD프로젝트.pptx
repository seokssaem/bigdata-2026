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547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[캡처 P1] ptd1.pe.kr 홈 화면, 또는 한국어 게임을 플레이 중인 화면 한 장. 세로로 길게 잘라도 됨. 이메일·닉네임 등 개인정보가 보이지 않게 확인.
[입력] 이름, 이메일, GitHub 주소.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[입력] GitHub 주소(저장소가 있다면).
숫자는 소스 기준 집계: CREATE TABLE 18개, FastAPI 라우터 정의 44개, HTML 17개(관리자 페이지 1개 포함).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[캡처 P2] 한국어 게임 플레이 화면(세로로 잘라도 됨). [캡처 P3] 포켓몬 센터 홈 또는 인벤토리. [캡처 P4] 트레이드 마켓. [캡처 P5] 게임 코너(슬롯머신·찌리리공 뒤집기·얼음길 중 하나).
이메일·닉네임·토큰이 보이지 않게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구조도는 PPT 도형이라 캡처 불필요. 라우터별 엔드포인트 수: swf 3 / web 9 / trade 9 / casino 10 / master 13 = 44.
CORS는 https://ptd1.pe.kr 한 곳만 허용.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ERD는 PPT 도형으로 그렸고 캡처 불필요. 컬럼은 대표 컬럼만 표시. 대부분의 참조는 (계정_번호, 프로필_슬롯) 논리 참조이며, FOREIGN KEY 선언은 카지노 테이블 1곳.
구조를 바꾸면 수치(18)도 같이 갱신할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카드는 '결정 / 이유 / 한계' 구조. 한계 문구는 코드에서 확인되는 범위로 적은 초안이므로, 면접에서 직접 설명할 수 있는 표현으로 고칠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겪은 사례. 본인이 겪은 순서·표현으로 고쳐 쓸 것. 시간 수치(120초 → 5초대, 평균 0.2초)는 소개서 기준.
필요하면 FFDec P-code 편집 화면 캡처를 넣을 자리를 따로 만들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역할은 본인이 실제로 한 범위에 맞게 고칠 것(면접에서 근거를 댈 수 있는 항목만 '직접 한 일'에).
[입력] GitHub 주소, 이름, 이메일.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포켓몬 타워 디펜스 한국어화 · 포트폴리오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td1.pe.kr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Donguk-Kim-kr/PTD1-PROJECT.git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nguk-Kim-kr/PTD1-PROJECT.g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2"/>
                </a:solidFill>
              </a:rPr>
              <a:t>PORTFOLIO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포켓몬 타워 디펜스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한국어화 프로젝트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팬 제작 Flash 게임을 한국어로 번역·패치하고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웹사이트(포켓몬 센터)와 서버까지 직접 만든 프로젝트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ptd1.pe.kr 운영 중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39" y="5852160"/>
            <a:ext cx="60913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>
                <a:solidFill>
                  <a:schemeClr val="accent6"/>
                </a:solidFill>
              </a:rPr>
              <a:t>김동욱 </a:t>
            </a:r>
            <a:r>
              <a:rPr lang="en-US" sz="1200">
                <a:solidFill>
                  <a:schemeClr val="accent6"/>
                </a:solidFill>
              </a:rPr>
              <a:t>· loveyouduk@naver.com · https://github.com/Donguk-Kim-kr/PTD1-PROJECT.git</a:t>
            </a:r>
            <a:endParaRPr lang="en-US" sz="1200" dirty="0"/>
          </a:p>
        </p:txBody>
      </p:sp>
      <p:sp>
        <p:nvSpPr>
          <p:cNvPr id="6" name="이미지 자리 P1"/>
          <p:cNvSpPr/>
          <p:nvPr/>
        </p:nvSpPr>
        <p:spPr>
          <a:xfrm>
            <a:off x="6766560" y="822960"/>
            <a:ext cx="4873752" cy="53949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7" name="이미지 설명 P1"/>
          <p:cNvSpPr txBox="1"/>
          <p:nvPr/>
        </p:nvSpPr>
        <p:spPr>
          <a:xfrm>
            <a:off x="6903720" y="822960"/>
            <a:ext cx="4599432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[이미지 P1]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대표 화면 (웹사이트 홈 또는 게임 플레이 중)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게임 화면이 보이는 한 장 · 권장 1200×1350</a:t>
            </a:r>
            <a:endParaRPr lang="en-US" sz="13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190C4D3-AA6F-47F2-9C0C-EB90E7948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115" y="810377"/>
            <a:ext cx="48737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개요와 한눈에 보기</a:t>
            </a:r>
            <a:endParaRPr lang="en-US" sz="3200" dirty="0"/>
          </a:p>
        </p:txBody>
      </p:sp>
      <p:graphicFrame>
        <p:nvGraphicFramePr>
          <p:cNvPr id="3" name="개요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258190"/>
              </p:ext>
            </p:extLst>
          </p:nvPr>
        </p:nvGraphicFramePr>
        <p:xfrm>
          <a:off x="548640" y="1371600"/>
          <a:ext cx="6766560" cy="32918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포켓몬 타워 디펜스(PTD) 한국어화 프로젝트 (ptd1.pe.kr 운영 중)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5월 ~ 현재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인원·역할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 · 기획·설계·개발. 기능 정의와 구조 설계는 직접 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작성은 AI와 협업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 3.11 · FastAPI · PostgreSQL · HTML/CSS/JavaScript · Docker · Nginx · FFDec · Ruffle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게임 번역 · 편의성 패치 · 한국어 웹사이트(포켓몬 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센터).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비공식 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팬 게임이 원본이라 비영리로 진행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링크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3"/>
                        </a:rPr>
                        <a:t>https://ptd1.pe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3"/>
                        </a:rPr>
                        <a:t>.kr</a:t>
                      </a:r>
                      <a:endParaRPr lang="en-US" sz="1300">
                        <a:solidFill>
                          <a:schemeClr val="tx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4"/>
                        </a:rPr>
                        <a:t>https://github.com/Donguk-Kim-kr/PTD1-PROJECT.git</a:t>
                      </a:r>
                      <a:endParaRPr lang="en-US" sz="1300">
                        <a:solidFill>
                          <a:schemeClr val="tx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통계 카드 1"/>
          <p:cNvSpPr/>
          <p:nvPr/>
        </p:nvSpPr>
        <p:spPr>
          <a:xfrm>
            <a:off x="7589520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726680" y="144475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18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7726680" y="20848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DB 테이블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726680" y="2359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PostgreSQL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한글 식별자</a:t>
            </a:r>
            <a:endParaRPr lang="en-US" sz="1000" dirty="0"/>
          </a:p>
        </p:txBody>
      </p:sp>
      <p:sp>
        <p:nvSpPr>
          <p:cNvPr id="9" name="통계 카드 2"/>
          <p:cNvSpPr/>
          <p:nvPr/>
        </p:nvSpPr>
        <p:spPr>
          <a:xfrm>
            <a:off x="9674352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9811512" y="144475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44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9811512" y="20848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API 엔드포인트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811512" y="2359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FastAPI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소스 정의 기준</a:t>
            </a:r>
            <a:endParaRPr lang="en-US" sz="1000" dirty="0"/>
          </a:p>
        </p:txBody>
      </p:sp>
      <p:sp>
        <p:nvSpPr>
          <p:cNvPr id="13" name="통계 카드 3"/>
          <p:cNvSpPr/>
          <p:nvPr/>
        </p:nvSpPr>
        <p:spPr>
          <a:xfrm>
            <a:off x="7589520" y="2971800"/>
            <a:ext cx="1965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726680" y="304495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17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7726680" y="3685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웹 페이지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726680" y="39593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정적 HTML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관리자 1개 포함</a:t>
            </a:r>
            <a:endParaRPr lang="en-US" sz="1000" dirty="0"/>
          </a:p>
        </p:txBody>
      </p:sp>
      <p:sp>
        <p:nvSpPr>
          <p:cNvPr id="17" name="통계 카드 4"/>
          <p:cNvSpPr/>
          <p:nvPr/>
        </p:nvSpPr>
        <p:spPr>
          <a:xfrm>
            <a:off x="9674352" y="2971800"/>
            <a:ext cx="1965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811512" y="304495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</p:txBody>
      </p:sp>
      <p:sp>
        <p:nvSpPr>
          <p:cNvPr id="19" name="Text 15"/>
          <p:cNvSpPr txBox="1"/>
          <p:nvPr/>
        </p:nvSpPr>
        <p:spPr>
          <a:xfrm>
            <a:off x="9811512" y="3685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미니 게임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9811512" y="39593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슬롯머신 · 찌리리공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뒤집기 · 얼음길</a:t>
            </a:r>
            <a:endParaRPr lang="en-US" sz="1000" dirty="0"/>
          </a:p>
        </p:txBody>
      </p:sp>
      <p:sp>
        <p:nvSpPr>
          <p:cNvPr id="21" name="실행 방법 상자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22960" y="5047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Docker 이미지 2개로 구성 (각 폴더에서 build 후 실행)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22960" y="5349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-p 8000:8000 --env-file .env ptd-api        # 백엔드  PTD_API (FastAPI)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22960" y="5650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-p 8080:80 ptd-center                         # 프론트  PTD_CENTER (Nginx)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1264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※ 테이블·엔드포인트·페이지 수는 소스 정의 기준 (CREATE TABLE 18 · 라우터 44 · HTML 17).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주요 화면</a:t>
            </a:r>
            <a:endParaRPr lang="en-US" sz="3200" dirty="0"/>
          </a:p>
        </p:txBody>
      </p:sp>
      <p:sp>
        <p:nvSpPr>
          <p:cNvPr id="4" name="이미지 자리 P2"/>
          <p:cNvSpPr/>
          <p:nvPr/>
        </p:nvSpPr>
        <p:spPr>
          <a:xfrm>
            <a:off x="548640" y="1371600"/>
            <a:ext cx="2651760" cy="3749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" name="이미지 설명 P2"/>
          <p:cNvSpPr txBox="1"/>
          <p:nvPr/>
        </p:nvSpPr>
        <p:spPr>
          <a:xfrm>
            <a:off x="685800" y="1371600"/>
            <a:ext cx="2377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[이미지 P2]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한국어 게임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권장 700×900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30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한국어 게임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22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번역·패치 적용 화면</a:t>
            </a:r>
            <a:endParaRPr lang="en-US" sz="1200" dirty="0"/>
          </a:p>
        </p:txBody>
      </p:sp>
      <p:sp>
        <p:nvSpPr>
          <p:cNvPr id="8" name="이미지 자리 P3"/>
          <p:cNvSpPr/>
          <p:nvPr/>
        </p:nvSpPr>
        <p:spPr>
          <a:xfrm>
            <a:off x="3362249" y="1371600"/>
            <a:ext cx="2651760" cy="3749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9" name="이미지 설명 P3"/>
          <p:cNvSpPr txBox="1"/>
          <p:nvPr/>
        </p:nvSpPr>
        <p:spPr>
          <a:xfrm>
            <a:off x="3499409" y="1371600"/>
            <a:ext cx="2377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[이미지 P3]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포켓몬 센터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권장 700×900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362249" y="5230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포켓몬 센터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362249" y="5522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홈 · 인벤토리</a:t>
            </a:r>
            <a:endParaRPr lang="en-US" sz="1200" dirty="0"/>
          </a:p>
        </p:txBody>
      </p:sp>
      <p:sp>
        <p:nvSpPr>
          <p:cNvPr id="12" name="이미지 자리 P4"/>
          <p:cNvSpPr/>
          <p:nvPr/>
        </p:nvSpPr>
        <p:spPr>
          <a:xfrm>
            <a:off x="6175858" y="1371600"/>
            <a:ext cx="2651760" cy="3749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13" name="이미지 설명 P4"/>
          <p:cNvSpPr txBox="1"/>
          <p:nvPr/>
        </p:nvSpPr>
        <p:spPr>
          <a:xfrm>
            <a:off x="6313018" y="1371600"/>
            <a:ext cx="2377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[이미지 P4]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트레이드 마켓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권장 700×900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175858" y="5230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트레이드 마켓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175858" y="5522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조건에 맞으면 즉시 교환</a:t>
            </a:r>
            <a:endParaRPr lang="en-US" sz="1200" dirty="0"/>
          </a:p>
        </p:txBody>
      </p:sp>
      <p:sp>
        <p:nvSpPr>
          <p:cNvPr id="16" name="이미지 자리 P5"/>
          <p:cNvSpPr/>
          <p:nvPr/>
        </p:nvSpPr>
        <p:spPr>
          <a:xfrm>
            <a:off x="8989466" y="1371600"/>
            <a:ext cx="2651760" cy="3749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17" name="이미지 설명 P5"/>
          <p:cNvSpPr txBox="1"/>
          <p:nvPr/>
        </p:nvSpPr>
        <p:spPr>
          <a:xfrm>
            <a:off x="9126626" y="1371600"/>
            <a:ext cx="2377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[이미지 P5]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게임 코너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권장 700×900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989466" y="5230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게임 코너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989466" y="5522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슬롯 · 찌리리공 · 얼음길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Ruffle로 브라우저에서 바로 실행 · 저장/불러오기는 직접 만든 FastAPI 서버와 연동 · 이메일 로그인(Argon2, 계정당 토큰 1개)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755D6AA-8C5C-41BE-A599-8C0B2F3A3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64" y="3342961"/>
            <a:ext cx="2698329" cy="177767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8E9CAE1-BBF4-4DD6-930E-500160FE2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17" y="1371600"/>
            <a:ext cx="2666284" cy="186163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0F8E72D-EA8F-4899-8440-6E31C1D43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8001" y="2213192"/>
            <a:ext cx="2640256" cy="204008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27BA552-BB84-4B3D-BB20-DD471E6F3E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9466" y="1371601"/>
            <a:ext cx="2650846" cy="115045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937CFB8-E387-44DA-94F0-7E881CB4FF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0015" y="2540347"/>
            <a:ext cx="2653721" cy="1150458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839CFF2-DCC2-42F4-8F46-8B81F51F75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0015" y="3690805"/>
            <a:ext cx="2650846" cy="142983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F58DF4F2-7EBC-4A80-A7DE-DD0A860C51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5858" y="2484201"/>
            <a:ext cx="2651760" cy="14889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구조와 배포</a:t>
            </a:r>
            <a:endParaRPr lang="en-US" sz="3200" dirty="0"/>
          </a:p>
        </p:txBody>
      </p:sp>
      <p:sp>
        <p:nvSpPr>
          <p:cNvPr id="4" name="브라우저"/>
          <p:cNvSpPr/>
          <p:nvPr/>
        </p:nvSpPr>
        <p:spPr>
          <a:xfrm>
            <a:off x="548640" y="1371600"/>
            <a:ext cx="2011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브라우저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Ruffle 0.6.0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PTD1_KOR.swf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HTML · CSS · JS</a:t>
            </a:r>
            <a:endParaRPr lang="en-US" sz="1000" dirty="0"/>
          </a:p>
        </p:txBody>
      </p:sp>
      <p:sp>
        <p:nvSpPr>
          <p:cNvPr id="7" name="Nginx"/>
          <p:cNvSpPr/>
          <p:nvPr/>
        </p:nvSpPr>
        <p:spPr>
          <a:xfrm>
            <a:off x="548640" y="3520440"/>
            <a:ext cx="20116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Nginx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931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PTD_CENTER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정적 파일 서빙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(Docker)</a:t>
            </a:r>
            <a:endParaRPr lang="en-US" sz="1000" dirty="0"/>
          </a:p>
        </p:txBody>
      </p:sp>
      <p:sp>
        <p:nvSpPr>
          <p:cNvPr id="10" name="FastAPI 서버"/>
          <p:cNvSpPr/>
          <p:nvPr/>
        </p:nvSpPr>
        <p:spPr>
          <a:xfrm>
            <a:off x="3383280" y="1371600"/>
            <a:ext cx="3931920" cy="3337560"/>
          </a:xfrm>
          <a:prstGeom prst="roundRect">
            <a:avLst>
              <a:gd name="adj" fmla="val 2192"/>
            </a:avLst>
          </a:prstGeom>
          <a:solidFill>
            <a:schemeClr val="tx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7472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FastAPI 서버 (PTD_API · Docker)</a:t>
            </a:r>
            <a:endParaRPr lang="en-US" sz="1200" dirty="0"/>
          </a:p>
        </p:txBody>
      </p:sp>
      <p:sp>
        <p:nvSpPr>
          <p:cNvPr id="12" name="swf_routes"/>
          <p:cNvSpPr/>
          <p:nvPr/>
        </p:nvSpPr>
        <p:spPr>
          <a:xfrm>
            <a:off x="3566160" y="1828800"/>
            <a:ext cx="3566160" cy="475488"/>
          </a:xfrm>
          <a:prstGeom prst="roundRect">
            <a:avLst>
              <a:gd name="adj" fmla="val 9615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57600" y="18653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swf_routes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20756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</a:rPr>
              <a:t>게임 호환 API · /php/*.php  (3)</a:t>
            </a:r>
            <a:endParaRPr lang="en-US" sz="900" dirty="0"/>
          </a:p>
        </p:txBody>
      </p:sp>
      <p:sp>
        <p:nvSpPr>
          <p:cNvPr id="15" name="web_routes"/>
          <p:cNvSpPr/>
          <p:nvPr/>
        </p:nvSpPr>
        <p:spPr>
          <a:xfrm>
            <a:off x="3566160" y="2395728"/>
            <a:ext cx="3566160" cy="475488"/>
          </a:xfrm>
          <a:prstGeom prst="roundRect">
            <a:avLst>
              <a:gd name="adj" fmla="val 9615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57600" y="2432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web_routes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0" y="26426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</a:rPr>
              <a:t>웹사이트 API · 프로필·닉네임·비밀번호  (9)</a:t>
            </a:r>
            <a:endParaRPr lang="en-US" sz="900" dirty="0"/>
          </a:p>
        </p:txBody>
      </p:sp>
      <p:sp>
        <p:nvSpPr>
          <p:cNvPr id="18" name="trade_routes"/>
          <p:cNvSpPr/>
          <p:nvPr/>
        </p:nvSpPr>
        <p:spPr>
          <a:xfrm>
            <a:off x="3566160" y="2962656"/>
            <a:ext cx="3566160" cy="475488"/>
          </a:xfrm>
          <a:prstGeom prst="roundRect">
            <a:avLst>
              <a:gd name="adj" fmla="val 9615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657600" y="2999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trade_routes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3209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</a:rPr>
              <a:t>트레이드 · 등록·조건·성사·수령  (9)</a:t>
            </a:r>
            <a:endParaRPr lang="en-US" sz="900" dirty="0"/>
          </a:p>
        </p:txBody>
      </p:sp>
      <p:sp>
        <p:nvSpPr>
          <p:cNvPr id="21" name="casino_routes"/>
          <p:cNvSpPr/>
          <p:nvPr/>
        </p:nvSpPr>
        <p:spPr>
          <a:xfrm>
            <a:off x="3566160" y="3529584"/>
            <a:ext cx="3566160" cy="475488"/>
          </a:xfrm>
          <a:prstGeom prst="roundRect">
            <a:avLst>
              <a:gd name="adj" fmla="val 9615"/>
            </a:avLst>
          </a:prstGeom>
          <a:solidFill>
            <a:schemeClr val="tx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657600" y="3566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casino_routes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3657600" y="37764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</a:rPr>
              <a:t>게임 코너 · 상점·슬롯·퍼즐 결과  (10)</a:t>
            </a:r>
            <a:endParaRPr lang="en-US" sz="900" dirty="0"/>
          </a:p>
        </p:txBody>
      </p:sp>
      <p:sp>
        <p:nvSpPr>
          <p:cNvPr id="24" name="master_routes"/>
          <p:cNvSpPr/>
          <p:nvPr/>
        </p:nvSpPr>
        <p:spPr>
          <a:xfrm>
            <a:off x="3566160" y="4096512"/>
            <a:ext cx="3566160" cy="475488"/>
          </a:xfrm>
          <a:prstGeom prst="roundRect">
            <a:avLst>
              <a:gd name="adj" fmla="val 9615"/>
            </a:avLst>
          </a:prstGeom>
          <a:solidFill>
            <a:schemeClr val="tx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657600" y="4133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master_routes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3657600" y="4343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</a:rPr>
              <a:t>관리자 · 토큰+역할 검증  (13)</a:t>
            </a:r>
            <a:endParaRPr lang="en-US" sz="900" dirty="0"/>
          </a:p>
        </p:txBody>
      </p:sp>
      <p:sp>
        <p:nvSpPr>
          <p:cNvPr id="27" name="PostgreSQL"/>
          <p:cNvSpPr/>
          <p:nvPr/>
        </p:nvSpPr>
        <p:spPr>
          <a:xfrm>
            <a:off x="8138160" y="2011680"/>
            <a:ext cx="21031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22960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0" y="2423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테이블 18개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계정 · 세이브 · 트레이드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이상한소포 · 패치노트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560320" y="2011680"/>
            <a:ext cx="8229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2560320" y="1755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/>
                </a:solidFill>
              </a:rPr>
              <a:t>POST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 flipV="1">
            <a:off x="1554480" y="2743200"/>
            <a:ext cx="0" cy="77724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1645920" y="2999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HTML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315200" y="2697480"/>
            <a:ext cx="8229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7315200" y="24414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/>
                </a:solidFill>
              </a:rPr>
              <a:t>SQL</a:t>
            </a:r>
            <a:endParaRPr lang="en-US" sz="900" dirty="0"/>
          </a:p>
        </p:txBody>
      </p:sp>
      <p:sp>
        <p:nvSpPr>
          <p:cNvPr id="36" name="배포 카드"/>
          <p:cNvSpPr/>
          <p:nvPr/>
        </p:nvSpPr>
        <p:spPr>
          <a:xfrm>
            <a:off x="548640" y="5029200"/>
            <a:ext cx="67665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7724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배포 · 운영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777240" y="54406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프론트(Nginx)와 API를 각각 Docker 컨테이너로 만들어 Northflank에 배포 · 도메인 Gabia(ptd1.pe.kr) · Git/GitHub로 형상관리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138160" y="3611880"/>
            <a:ext cx="3502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게임(SWF)은 서버와 호환되는 /php/*.php API로 로그인·저장·불러오기를 한다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관리자 API는 서버에서 토큰과 역할을 검증한다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무료 호스팅의 정책(슬립, DB 만료 등)을 비교해 선택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DB 설계 (전체 18개 테이블)</a:t>
            </a:r>
            <a:endParaRPr lang="en-US" sz="3200" dirty="0"/>
          </a:p>
        </p:txBody>
      </p:sp>
      <p:sp>
        <p:nvSpPr>
          <p:cNvPr id="4" name="테이블 토큰"/>
          <p:cNvSpPr/>
          <p:nvPr/>
        </p:nvSpPr>
        <p:spPr>
          <a:xfrm>
            <a:off x="548640" y="1325880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헤더 토큰"/>
          <p:cNvSpPr/>
          <p:nvPr/>
        </p:nvSpPr>
        <p:spPr>
          <a:xfrm>
            <a:off x="548640" y="1325880"/>
            <a:ext cx="1554480" cy="2377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토큰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600200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계정_번호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토큰값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만료시각</a:t>
            </a:r>
            <a:endParaRPr lang="en-US" sz="900" dirty="0"/>
          </a:p>
        </p:txBody>
      </p:sp>
      <p:sp>
        <p:nvSpPr>
          <p:cNvPr id="8" name="테이블 계정"/>
          <p:cNvSpPr/>
          <p:nvPr/>
        </p:nvSpPr>
        <p:spPr>
          <a:xfrm>
            <a:off x="2240280" y="1325880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헤더 계정"/>
          <p:cNvSpPr/>
          <p:nvPr/>
        </p:nvSpPr>
        <p:spPr>
          <a:xfrm>
            <a:off x="2240280" y="1325880"/>
            <a:ext cx="1554480" cy="2377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40280" y="13258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계정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313432" y="1600200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번호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이메일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비밀번호해시코드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역할</a:t>
            </a:r>
            <a:endParaRPr lang="en-US" sz="900" dirty="0"/>
          </a:p>
        </p:txBody>
      </p:sp>
      <p:sp>
        <p:nvSpPr>
          <p:cNvPr id="12" name="테이블 카지노"/>
          <p:cNvSpPr/>
          <p:nvPr/>
        </p:nvSpPr>
        <p:spPr>
          <a:xfrm>
            <a:off x="3931920" y="1325880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헤더 카지노"/>
          <p:cNvSpPr/>
          <p:nvPr/>
        </p:nvSpPr>
        <p:spPr>
          <a:xfrm>
            <a:off x="3931920" y="1325880"/>
            <a:ext cx="1554480" cy="2377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31920" y="13258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카지노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005072" y="1600200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계정_번호 PK FK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카지노코인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마지막슬롯플레이일시</a:t>
            </a:r>
            <a:endParaRPr lang="en-US" sz="900" dirty="0"/>
          </a:p>
        </p:txBody>
      </p:sp>
      <p:sp>
        <p:nvSpPr>
          <p:cNvPr id="16" name="테이블 포켓몬"/>
          <p:cNvSpPr/>
          <p:nvPr/>
        </p:nvSpPr>
        <p:spPr>
          <a:xfrm>
            <a:off x="548640" y="2441448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헤더 포켓몬"/>
          <p:cNvSpPr/>
          <p:nvPr/>
        </p:nvSpPr>
        <p:spPr>
          <a:xfrm>
            <a:off x="548640" y="2441448"/>
            <a:ext cx="1554480" cy="2377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24414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포켓몬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" y="271576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번호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계정_번호 · 프로필_슬롯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도감_번호 · 레벨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모습 · 획득경로</a:t>
            </a:r>
            <a:endParaRPr lang="en-US" sz="900" dirty="0"/>
          </a:p>
        </p:txBody>
      </p:sp>
      <p:sp>
        <p:nvSpPr>
          <p:cNvPr id="20" name="테이블 프로필"/>
          <p:cNvSpPr/>
          <p:nvPr/>
        </p:nvSpPr>
        <p:spPr>
          <a:xfrm>
            <a:off x="2240280" y="2441448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헤더 프로필"/>
          <p:cNvSpPr/>
          <p:nvPr/>
        </p:nvSpPr>
        <p:spPr>
          <a:xfrm>
            <a:off x="2240280" y="2441448"/>
            <a:ext cx="1554480" cy="2377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240280" y="24414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프로필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2313432" y="271576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계정_번호 · 슬롯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이름 · 소지금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스토리진행도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챌린지달성도</a:t>
            </a:r>
            <a:endParaRPr lang="en-US" sz="900" dirty="0"/>
          </a:p>
        </p:txBody>
      </p:sp>
      <p:sp>
        <p:nvSpPr>
          <p:cNvPr id="24" name="테이블 소지품"/>
          <p:cNvSpPr/>
          <p:nvPr/>
        </p:nvSpPr>
        <p:spPr>
          <a:xfrm>
            <a:off x="3931920" y="2441448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헤더 소지품"/>
          <p:cNvSpPr/>
          <p:nvPr/>
        </p:nvSpPr>
        <p:spPr>
          <a:xfrm>
            <a:off x="3931920" y="2441448"/>
            <a:ext cx="1554480" cy="2377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931920" y="24414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소지품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005072" y="271576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계정_번호 · 슬롯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달의돌 · 천둥의돌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낡은낚싯대 …</a:t>
            </a:r>
            <a:endParaRPr lang="en-US" sz="900" dirty="0"/>
          </a:p>
        </p:txBody>
      </p:sp>
      <p:sp>
        <p:nvSpPr>
          <p:cNvPr id="28" name="테이블 수집"/>
          <p:cNvSpPr/>
          <p:nvPr/>
        </p:nvSpPr>
        <p:spPr>
          <a:xfrm>
            <a:off x="548640" y="3557016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헤더 수집"/>
          <p:cNvSpPr/>
          <p:nvPr/>
        </p:nvSpPr>
        <p:spPr>
          <a:xfrm>
            <a:off x="548640" y="3557016"/>
            <a:ext cx="1554480" cy="2377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5570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수집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21792" y="3831336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계정_번호 · 슬롯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dex1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dex1shiny · shadow</a:t>
            </a:r>
            <a:endParaRPr lang="en-US" sz="900" dirty="0"/>
          </a:p>
        </p:txBody>
      </p:sp>
      <p:sp>
        <p:nvSpPr>
          <p:cNvPr id="32" name="테이블 업적"/>
          <p:cNvSpPr/>
          <p:nvPr/>
        </p:nvSpPr>
        <p:spPr>
          <a:xfrm>
            <a:off x="2240280" y="3557016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헤더 업적"/>
          <p:cNvSpPr/>
          <p:nvPr/>
        </p:nvSpPr>
        <p:spPr>
          <a:xfrm>
            <a:off x="2240280" y="3557016"/>
            <a:ext cx="1554480" cy="2377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240280" y="35570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업적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2313432" y="3831336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계정_번호 · 슬롯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번호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조건1~4 · 수령여부</a:t>
            </a:r>
            <a:endParaRPr lang="en-US" sz="900" dirty="0"/>
          </a:p>
        </p:txBody>
      </p:sp>
      <p:sp>
        <p:nvSpPr>
          <p:cNvPr id="36" name="테이블 놓아준포켓몬"/>
          <p:cNvSpPr/>
          <p:nvPr/>
        </p:nvSpPr>
        <p:spPr>
          <a:xfrm>
            <a:off x="3931920" y="3557016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헤더 놓아준포켓몬"/>
          <p:cNvSpPr/>
          <p:nvPr/>
        </p:nvSpPr>
        <p:spPr>
          <a:xfrm>
            <a:off x="3931920" y="3557016"/>
            <a:ext cx="1554480" cy="2377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931920" y="35570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놓아준포켓몬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005072" y="3831336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번호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계정_번호 · 슬롯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도감_번호 · 레벨</a:t>
            </a:r>
            <a:endParaRPr lang="en-US" sz="900" dirty="0"/>
          </a:p>
        </p:txBody>
      </p:sp>
      <p:sp>
        <p:nvSpPr>
          <p:cNvPr id="40" name="테이블 아바타"/>
          <p:cNvSpPr/>
          <p:nvPr/>
        </p:nvSpPr>
        <p:spPr>
          <a:xfrm>
            <a:off x="2240280" y="4672584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1" name="헤더 아바타"/>
          <p:cNvSpPr/>
          <p:nvPr/>
        </p:nvSpPr>
        <p:spPr>
          <a:xfrm>
            <a:off x="2240280" y="4672584"/>
            <a:ext cx="1554480" cy="2377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240280" y="46725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아바타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2313432" y="4946904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계정_번호 · 슬롯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아바타1 ~ 아바타12 …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 flipH="1">
            <a:off x="2103120" y="1801368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3794760" y="1801368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3017520" y="2286000"/>
            <a:ext cx="0" cy="155448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 flipH="1">
            <a:off x="2103120" y="2916936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3794760" y="2916936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9" name="테이블 교환등록"/>
          <p:cNvSpPr/>
          <p:nvPr/>
        </p:nvSpPr>
        <p:spPr>
          <a:xfrm>
            <a:off x="5897880" y="1325880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헤더 교환등록"/>
          <p:cNvSpPr/>
          <p:nvPr/>
        </p:nvSpPr>
        <p:spPr>
          <a:xfrm>
            <a:off x="5897880" y="1325880"/>
            <a:ext cx="155448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897880" y="13258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교환등록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5971032" y="1600200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번호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계정_번호 · 포켓몬_번호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도감_번호 · 레벨 · 모습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상태 · 등록일시</a:t>
            </a:r>
            <a:endParaRPr lang="en-US" sz="900" dirty="0"/>
          </a:p>
        </p:txBody>
      </p:sp>
      <p:sp>
        <p:nvSpPr>
          <p:cNvPr id="53" name="테이블 교환조건"/>
          <p:cNvSpPr/>
          <p:nvPr/>
        </p:nvSpPr>
        <p:spPr>
          <a:xfrm>
            <a:off x="7589520" y="1325880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4" name="헤더 교환조건"/>
          <p:cNvSpPr/>
          <p:nvPr/>
        </p:nvSpPr>
        <p:spPr>
          <a:xfrm>
            <a:off x="7589520" y="1325880"/>
            <a:ext cx="155448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589520" y="13258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교환조건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7662672" y="1600200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번호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교환등록_번호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도감_번호 · 모습조건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레벨값 · 레벨조건</a:t>
            </a:r>
            <a:endParaRPr lang="en-US" sz="900" dirty="0"/>
          </a:p>
        </p:txBody>
      </p:sp>
      <p:sp>
        <p:nvSpPr>
          <p:cNvPr id="57" name="테이블 교환완료"/>
          <p:cNvSpPr/>
          <p:nvPr/>
        </p:nvSpPr>
        <p:spPr>
          <a:xfrm>
            <a:off x="5897880" y="2441448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8" name="헤더 교환완료"/>
          <p:cNvSpPr/>
          <p:nvPr/>
        </p:nvSpPr>
        <p:spPr>
          <a:xfrm>
            <a:off x="5897880" y="2441448"/>
            <a:ext cx="155448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897880" y="24414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교환완료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5971032" y="271576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번호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A_ · B_ 계정/포켓몬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A_ · B_ 도감/레벨/모습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교환일시</a:t>
            </a:r>
            <a:endParaRPr lang="en-US" sz="900" dirty="0"/>
          </a:p>
        </p:txBody>
      </p:sp>
      <p:sp>
        <p:nvSpPr>
          <p:cNvPr id="61" name="테이블 수령대기"/>
          <p:cNvSpPr/>
          <p:nvPr/>
        </p:nvSpPr>
        <p:spPr>
          <a:xfrm>
            <a:off x="7589520" y="2441448"/>
            <a:ext cx="155448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2" name="헤더 수령대기"/>
          <p:cNvSpPr/>
          <p:nvPr/>
        </p:nvSpPr>
        <p:spPr>
          <a:xfrm>
            <a:off x="7589520" y="2441448"/>
            <a:ext cx="155448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7589520" y="24414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수령대기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7662672" y="271576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번호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계정_번호 · 포켓몬_번호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상태 · 출처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교환완료_번호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 flipH="1">
            <a:off x="7452360" y="1801368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6" name="참조 방식 카드"/>
          <p:cNvSpPr/>
          <p:nvPr/>
        </p:nvSpPr>
        <p:spPr>
          <a:xfrm>
            <a:off x="5897880" y="3557016"/>
            <a:ext cx="3246120" cy="2075688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608076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참조 방식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6080760" y="397764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대부분 계정_번호와 프로필_슬롯으로 논리 참조 (FK 선언은 카지노 1곳)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교환에 등록한 포켓몬은 프로필_슬롯 = -1로 보관해 중복 사용을 막음</a:t>
            </a:r>
            <a:endParaRPr lang="en-US" sz="1000" dirty="0"/>
          </a:p>
        </p:txBody>
      </p:sp>
      <p:sp>
        <p:nvSpPr>
          <p:cNvPr id="69" name="테이블 도감"/>
          <p:cNvSpPr/>
          <p:nvPr/>
        </p:nvSpPr>
        <p:spPr>
          <a:xfrm>
            <a:off x="9509760" y="1325880"/>
            <a:ext cx="2130552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0" name="헤더 도감"/>
          <p:cNvSpPr/>
          <p:nvPr/>
        </p:nvSpPr>
        <p:spPr>
          <a:xfrm>
            <a:off x="9509760" y="1325880"/>
            <a:ext cx="2130552" cy="23774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9509760" y="1325880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도감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9582912" y="1600200"/>
            <a:ext cx="2002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번호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이름 · 타입1 · 타입2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HP · 공격 · 방어 …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현상금 · 획득경험치</a:t>
            </a:r>
            <a:endParaRPr lang="en-US" sz="900" dirty="0"/>
          </a:p>
        </p:txBody>
      </p:sp>
      <p:sp>
        <p:nvSpPr>
          <p:cNvPr id="73" name="테이블 이상한소포"/>
          <p:cNvSpPr/>
          <p:nvPr/>
        </p:nvSpPr>
        <p:spPr>
          <a:xfrm>
            <a:off x="9509760" y="2441448"/>
            <a:ext cx="2130552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4" name="헤더 이상한소포"/>
          <p:cNvSpPr/>
          <p:nvPr/>
        </p:nvSpPr>
        <p:spPr>
          <a:xfrm>
            <a:off x="9509760" y="2441448"/>
            <a:ext cx="2130552" cy="23774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9509760" y="2441448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이상한소포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9582912" y="2715768"/>
            <a:ext cx="2002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번호 PK · 코드 UNIQUE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도감_번호 · 모습 · 레벨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기술1~4 · 지급액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사용가능 · 활성여부</a:t>
            </a:r>
            <a:endParaRPr lang="en-US" sz="900" dirty="0"/>
          </a:p>
        </p:txBody>
      </p:sp>
      <p:sp>
        <p:nvSpPr>
          <p:cNvPr id="77" name="테이블 코드사용기록"/>
          <p:cNvSpPr/>
          <p:nvPr/>
        </p:nvSpPr>
        <p:spPr>
          <a:xfrm>
            <a:off x="9509760" y="3557016"/>
            <a:ext cx="2130552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8" name="헤더 코드사용기록"/>
          <p:cNvSpPr/>
          <p:nvPr/>
        </p:nvSpPr>
        <p:spPr>
          <a:xfrm>
            <a:off x="9509760" y="3557016"/>
            <a:ext cx="2130552" cy="23774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509760" y="355701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코드사용기록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9582912" y="3831336"/>
            <a:ext cx="2002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계정_번호 · 프로필_슬롯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이상한소포_코드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지급액_누적 · 사용</a:t>
            </a:r>
            <a:endParaRPr lang="en-US" sz="900" dirty="0"/>
          </a:p>
        </p:txBody>
      </p:sp>
      <p:sp>
        <p:nvSpPr>
          <p:cNvPr id="81" name="테이블 패치노트"/>
          <p:cNvSpPr/>
          <p:nvPr/>
        </p:nvSpPr>
        <p:spPr>
          <a:xfrm>
            <a:off x="9509760" y="4672584"/>
            <a:ext cx="2130552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2" name="헤더 패치노트"/>
          <p:cNvSpPr/>
          <p:nvPr/>
        </p:nvSpPr>
        <p:spPr>
          <a:xfrm>
            <a:off x="9509760" y="4672584"/>
            <a:ext cx="2130552" cy="23774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9509760" y="4672584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패치노트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9582912" y="4946904"/>
            <a:ext cx="2002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날짜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수정내역</a:t>
            </a:r>
            <a:endParaRPr lang="en-US" sz="900" dirty="0"/>
          </a:p>
        </p:txBody>
      </p:sp>
      <p:sp>
        <p:nvSpPr>
          <p:cNvPr id="85" name="Text 82"/>
          <p:cNvSpPr txBox="1"/>
          <p:nvPr/>
        </p:nvSpPr>
        <p:spPr>
          <a:xfrm>
            <a:off x="548640" y="5852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파랑 = 계정·게임 저장  ·  빨강 = 트레이드  ·  회색 = 마스터·운영  ·  화살표는 참조(계정 → 하위 테이블)</a:t>
            </a:r>
            <a:endParaRPr lang="en-US" sz="1000" dirty="0"/>
          </a:p>
        </p:txBody>
      </p:sp>
      <p:sp>
        <p:nvSpPr>
          <p:cNvPr id="86" name="Text 83"/>
          <p:cNvSpPr txBox="1"/>
          <p:nvPr/>
        </p:nvSpPr>
        <p:spPr>
          <a:xfrm>
            <a:off x="548640" y="61081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전체 18개 중 대표 컬럼만 표시.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핵심 설계 결정</a:t>
            </a:r>
            <a:endParaRPr lang="en-US" sz="3200" dirty="0"/>
          </a:p>
        </p:txBody>
      </p:sp>
      <p:sp>
        <p:nvSpPr>
          <p:cNvPr id="4" name="결정 카드 1"/>
          <p:cNvSpPr/>
          <p:nvPr/>
        </p:nvSpPr>
        <p:spPr>
          <a:xfrm>
            <a:off x="548640" y="1371600"/>
            <a:ext cx="5431536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536192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교환 이중 지급은 조건부 UPDATE로 차단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5740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이유  </a:t>
            </a:r>
            <a:r>
              <a:rPr lang="en-US" sz="1400" dirty="0">
                <a:solidFill>
                  <a:schemeClr val="tx1"/>
                </a:solidFill>
              </a:rPr>
              <a:t>UPDATE ... WHERE 상태='대기'로 먼저 처리된 요청만 반영하고, 등록된 포켓몬(슬롯 -1)만 교환 가능. 전체를 단일 트랜잭션으로 처리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한계  </a:t>
            </a:r>
            <a:r>
              <a:rPr lang="en-US" sz="1400" dirty="0">
                <a:solidFill>
                  <a:schemeClr val="tx1"/>
                </a:solidFill>
              </a:rPr>
              <a:t>오퍼·승인 단계 없이 조건이 맞으면 즉시 성사</a:t>
            </a:r>
            <a:endParaRPr lang="en-US" sz="1400" dirty="0"/>
          </a:p>
        </p:txBody>
      </p:sp>
      <p:sp>
        <p:nvSpPr>
          <p:cNvPr id="7" name="결정 카드 2"/>
          <p:cNvSpPr/>
          <p:nvPr/>
        </p:nvSpPr>
        <p:spPr>
          <a:xfrm>
            <a:off x="6208776" y="1371600"/>
            <a:ext cx="5431536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83096" y="1536192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이상한소포는 advisory lock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83096" y="205740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이유  </a:t>
            </a:r>
            <a:r>
              <a:rPr lang="en-US" sz="1400" dirty="0">
                <a:solidFill>
                  <a:schemeClr val="tx1"/>
                </a:solidFill>
              </a:rPr>
              <a:t>같은 코드를 여러 슬롯에서 동시에 써도 사용 횟수 판정이 꼬이지 않음. 슬롯별 행은 서로 달라 행 잠금(FOR UPDATE)으로는 막을 수 없음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한계  </a:t>
            </a:r>
            <a:r>
              <a:rPr lang="en-US" sz="1400" dirty="0">
                <a:solidFill>
                  <a:schemeClr val="tx1"/>
                </a:solidFill>
              </a:rPr>
              <a:t>기록은 슬롯별로 남기지만 사용 제한은 계정 합산으로만 판정</a:t>
            </a:r>
            <a:endParaRPr lang="en-US" sz="1400" dirty="0"/>
          </a:p>
        </p:txBody>
      </p:sp>
      <p:sp>
        <p:nvSpPr>
          <p:cNvPr id="10" name="결정 카드 3"/>
          <p:cNvSpPr/>
          <p:nvPr/>
        </p:nvSpPr>
        <p:spPr>
          <a:xfrm>
            <a:off x="548640" y="3840480"/>
            <a:ext cx="5431536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4005072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토큰 로그인 + 서버 역할 검증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52628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이유  </a:t>
            </a:r>
            <a:r>
              <a:rPr lang="en-US" sz="1400" dirty="0">
                <a:solidFill>
                  <a:schemeClr val="tx1"/>
                </a:solidFill>
              </a:rPr>
              <a:t>계정당 토큰 1개(재로그인 시 덮어씀), 만료시각 저장, 비밀번호는 Argon2 해싱. 관리자 API는 서버에서 역할이 '관리자'일 때만 허용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한계  </a:t>
            </a:r>
            <a:r>
              <a:rPr lang="en-US" sz="1400" dirty="0">
                <a:solidFill>
                  <a:schemeClr val="tx1"/>
                </a:solidFill>
              </a:rPr>
              <a:t>동시에 여러 기기에서 로그인 상태를 유지할 수 없음</a:t>
            </a:r>
            <a:endParaRPr lang="en-US" sz="1400" dirty="0"/>
          </a:p>
        </p:txBody>
      </p:sp>
      <p:sp>
        <p:nvSpPr>
          <p:cNvPr id="13" name="결정 카드 4"/>
          <p:cNvSpPr/>
          <p:nvPr/>
        </p:nvSpPr>
        <p:spPr>
          <a:xfrm>
            <a:off x="6208776" y="3840480"/>
            <a:ext cx="5431536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83096" y="4005072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게임(SWF) 호환 API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83096" y="452628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이유  </a:t>
            </a:r>
            <a:r>
              <a:rPr lang="en-US" sz="1400" dirty="0">
                <a:solidFill>
                  <a:schemeClr val="tx1"/>
                </a:solidFill>
              </a:rPr>
              <a:t>SWF의 ActionScript를 분석해 게임이 기대하는 응답 형식(Result=Failure&amp;Reason=…)에 맞춰 구현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한계  </a:t>
            </a:r>
            <a:r>
              <a:rPr lang="en-US" sz="1400" dirty="0">
                <a:solidFill>
                  <a:schemeClr val="tx1"/>
                </a:solidFill>
              </a:rPr>
              <a:t>SWF가 처리하지 못하는 분기는 다른 응답으로 대체해야 함 (예: 비활성 코드 → 미인식 코드)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게임 수정과 트러블슈팅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FFDec로 분석 → 클래스 단위 재컴파일(번역·편의 기능·버그 수정) → Ruffle·바이트코드로 검증 → 서버 호환 API 연동</a:t>
            </a:r>
            <a:endParaRPr lang="en-US" sz="1400" dirty="0"/>
          </a:p>
        </p:txBody>
      </p:sp>
      <p:graphicFrame>
        <p:nvGraphicFramePr>
          <p:cNvPr id="8" name="트러블슈팅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2452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포켓몬 획득 후 저장하면 게임이 멈춤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class_878 재컴파일로 save_Profile() 안의 class_17 참조 네임스페이스가 오염됨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P-code 285·306행을 직접 복구하고 바이트코드 검사와 실제 플레이로 검증. AI의 '원본 롤백'안 대신 재현 실험·기준선 검증을 직접 설계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스테이지에서 웨이브가 진행되지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 class_7 재컴파일로 protected 네임스페이스가 원본과 달라져 하위 클래스가 함수를 찾지 못함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class_7은 원본으로 롤백. 기준 수립: 하위 클래스가 있는 protected 부모는 재컴파일 금지, 말단 클래스만 허용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색이 다른 포켓몬이 저장 후 일반 포켓몬으로 바뀜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획득경로 값이 저장 시 모습을 결정하는데 값 체계가 직관적이지 않았음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획득경로 값과 모습의 매핑을 전면 재정리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얼음길 최소 이동수 계산이 최대 120초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알고리즘이 아닌 구현 비효율: slide() 매번 재계산, 로봇 4개를 모두 다른 개체로 계산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로봇 순서 중복 제거 + slide() 사전계산 → 최대 5초대(평균 0.2초), 전후 결과 불일치 0건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역할 · 한계 · 링크</a:t>
            </a:r>
            <a:endParaRPr lang="en-US" sz="3200" dirty="0"/>
          </a:p>
        </p:txBody>
      </p:sp>
      <p:sp>
        <p:nvSpPr>
          <p:cNvPr id="4" name="직접 한 일 카드"/>
          <p:cNvSpPr/>
          <p:nvPr/>
        </p:nvSpPr>
        <p:spPr>
          <a:xfrm>
            <a:off x="548640" y="1371600"/>
            <a:ext cx="658368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직접 한 일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202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기획·설계: 기능 정의, 서버·DB 구조, 게임 연동 방식 결정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번역: AI 1차 번역 후 정식 용어·포켓몬위키로 직접 검증·수정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게임 수정: FFDec로 번역 적용·편의 기능·버그 수정, 원인 분석과 재컴파일 기준 수립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HTML 뼈대와 세부 CSS 조정, 관리자 페이지와 배포(Docker · Northflank)</a:t>
            </a:r>
            <a:endParaRPr lang="en-US" sz="1500" dirty="0"/>
          </a:p>
        </p:txBody>
      </p:sp>
      <p:sp>
        <p:nvSpPr>
          <p:cNvPr id="7" name="AI와 협업한 일 카드"/>
          <p:cNvSpPr/>
          <p:nvPr/>
        </p:nvSpPr>
        <p:spPr>
          <a:xfrm>
            <a:off x="548640" y="4526280"/>
            <a:ext cx="6583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6451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AI와 협업한 일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029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서버(FastAPI) 코드와 JavaScript 구현 (결과를 보고 수정 지시), 번역 1차본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406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코드를 모두 직접 작성한 것은 아니며, 무엇을 만들지 정하고 결과를 검증하는 역할을 맡았습니다.</a:t>
            </a:r>
            <a:endParaRPr lang="en-US" sz="1400" dirty="0"/>
          </a:p>
        </p:txBody>
      </p:sp>
      <p:sp>
        <p:nvSpPr>
          <p:cNvPr id="11" name="한계 카드"/>
          <p:cNvSpPr/>
          <p:nvPr/>
        </p:nvSpPr>
        <p:spPr>
          <a:xfrm>
            <a:off x="7360920" y="1371600"/>
            <a:ext cx="4279392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3524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한계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19202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원본이 비공식 팬 게임이라 비영리로만 운영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SWF 재컴파일에 제약이 있어 일부 클래스는 원본을 유지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무료 호스팅의 슬립·DB 만료 정책을 감수</a:t>
            </a:r>
            <a:endParaRPr lang="en-US" sz="1400" dirty="0"/>
          </a:p>
        </p:txBody>
      </p:sp>
      <p:sp>
        <p:nvSpPr>
          <p:cNvPr id="14" name="링크 상자"/>
          <p:cNvSpPr/>
          <p:nvPr/>
        </p:nvSpPr>
        <p:spPr>
          <a:xfrm>
            <a:off x="7360920" y="4160520"/>
            <a:ext cx="4279392" cy="196596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35240" y="4297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사이트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72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https://ptd1.pe.kr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4937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GitHub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635240" y="521208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30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https://github.com/Donguk-Kim-kr/PTD1-PROJECT.git</a:t>
            </a:r>
            <a:endParaRPr lang="en-US" altLang="ko-KR" sz="1300">
              <a:solidFill>
                <a:schemeClr val="tx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7635240" y="5532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연락처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635240" y="5788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>
                <a:solidFill>
                  <a:schemeClr val="bg1"/>
                </a:solidFill>
              </a:rPr>
              <a:t>김동욱</a:t>
            </a:r>
            <a:r>
              <a:rPr lang="en-US" sz="1300">
                <a:solidFill>
                  <a:schemeClr val="bg1"/>
                </a:solidFill>
              </a:rPr>
              <a:t> · loveyouduk@naver.com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TD Portfolio">
  <a:themeElements>
    <a:clrScheme name="PTD Portfolio">
      <a:dk1>
        <a:srgbClr val="1B1A2E"/>
      </a:dk1>
      <a:lt1>
        <a:srgbClr val="FFFFFF"/>
      </a:lt1>
      <a:dk2>
        <a:srgbClr val="3A3552"/>
      </a:dk2>
      <a:lt2>
        <a:srgbClr val="F1EFF6"/>
      </a:lt2>
      <a:accent1>
        <a:srgbClr val="B3263E"/>
      </a:accent1>
      <a:accent2>
        <a:srgbClr val="B8902F"/>
      </a:accent2>
      <a:accent3>
        <a:srgbClr val="4A6FA5"/>
      </a:accent3>
      <a:accent4>
        <a:srgbClr val="4F7F63"/>
      </a:accent4>
      <a:accent5>
        <a:srgbClr val="7A5C99"/>
      </a:accent5>
      <a:accent6>
        <a:srgbClr val="8A8A9A"/>
      </a:accent6>
      <a:hlink>
        <a:srgbClr val="4A6FA5"/>
      </a:hlink>
      <a:folHlink>
        <a:srgbClr val="7A5C99"/>
      </a:folHlink>
    </a:clrScheme>
    <a:fontScheme name="PTD Portfolio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1741</Words>
  <Application>Microsoft Office PowerPoint</Application>
  <PresentationFormat>와이드스크린</PresentationFormat>
  <Paragraphs>257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Malgun Gothic</vt:lpstr>
      <vt:lpstr>Malgun Gothic</vt:lpstr>
      <vt:lpstr>Arial</vt:lpstr>
      <vt:lpstr>Courier New</vt:lpstr>
      <vt:lpstr>PTD Portfolio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4</cp:revision>
  <dcterms:created xsi:type="dcterms:W3CDTF">2026-10-19T05:35:07Z</dcterms:created>
  <dcterms:modified xsi:type="dcterms:W3CDTF">2026-10-19T05:46:45Z</dcterms:modified>
</cp:coreProperties>
</file>