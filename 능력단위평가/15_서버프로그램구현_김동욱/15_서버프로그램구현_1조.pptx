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70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프로그램 구현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/>
              <a:t>김동욱 </a:t>
            </a:r>
            <a:r>
              <a:rPr lang="en-US" altLang="ko-KR" sz="1800"/>
              <a:t>(1</a:t>
            </a:r>
            <a:r>
              <a:rPr lang="ko-KR" altLang="en-US" sz="1800"/>
              <a:t>조 </a:t>
            </a:r>
            <a:r>
              <a:rPr lang="en-US" altLang="ko-KR" sz="1800"/>
              <a:t>: </a:t>
            </a:r>
            <a:r>
              <a:rPr lang="ko-KR" altLang="en-US" sz="1800"/>
              <a:t>김기완</a:t>
            </a:r>
            <a:r>
              <a:rPr lang="en-US" altLang="ko-KR" sz="1800"/>
              <a:t>, </a:t>
            </a:r>
            <a:r>
              <a:rPr lang="ko-KR" altLang="en-US" sz="1800"/>
              <a:t>김나현</a:t>
            </a:r>
            <a:r>
              <a:rPr lang="en-US" altLang="ko-KR" sz="1800"/>
              <a:t>, </a:t>
            </a:r>
            <a:r>
              <a:rPr lang="ko-KR" altLang="en-US" sz="1800"/>
              <a:t>김동욱</a:t>
            </a:r>
            <a:r>
              <a:rPr lang="en-US" altLang="ko-KR" sz="1800"/>
              <a:t>)</a:t>
            </a: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800"/>
              <a:t>2026-08-28</a:t>
            </a: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800"/>
              <a:t>KimDonguk</a:t>
            </a: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15_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서버프로그램구현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팀명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서버 프로그램 구현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b="0" i="0" dirty="0">
                  <a:solidFill>
                    <a:srgbClr val="000000"/>
                  </a:solidFill>
                  <a:effectLst/>
                  <a:latin typeface="-apple-system"/>
                </a:rPr>
                <a:t>2001020211_23v6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9CA8DA-04E4-4830-BEB6-EC21B25D0CDE}"/>
              </a:ext>
            </a:extLst>
          </p:cNvPr>
          <p:cNvSpPr txBox="1"/>
          <p:nvPr/>
        </p:nvSpPr>
        <p:spPr>
          <a:xfrm>
            <a:off x="333463" y="819104"/>
            <a:ext cx="1024505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1. 프로젝트 개요</a:t>
            </a:r>
          </a:p>
          <a:p>
            <a:endParaRPr lang="en-US" altLang="ko-KR" dirty="0"/>
          </a:p>
          <a:p>
            <a:r>
              <a:rPr lang="en-US" altLang="ko-KR" dirty="0"/>
              <a:t>&gt; </a:t>
            </a:r>
            <a:r>
              <a:rPr lang="ko-KR" altLang="en-US" dirty="0"/>
              <a:t>KOBIS API 기반 영화 정보 및 즐겨찾기 서비스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영화진흥위원회 KOBIS </a:t>
            </a:r>
            <a:r>
              <a:rPr lang="ko-KR" altLang="en-US" dirty="0" err="1"/>
              <a:t>Open</a:t>
            </a:r>
            <a:r>
              <a:rPr lang="ko-KR" altLang="en-US" dirty="0"/>
              <a:t> </a:t>
            </a:r>
            <a:r>
              <a:rPr lang="ko-KR" altLang="en-US" dirty="0" err="1"/>
              <a:t>API를</a:t>
            </a:r>
            <a:r>
              <a:rPr lang="ko-KR" altLang="en-US" dirty="0"/>
              <a:t> 활용하여 영화 정보를 조회하였다.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FastAPI로</a:t>
            </a:r>
            <a:r>
              <a:rPr lang="ko-KR" altLang="en-US" dirty="0"/>
              <a:t> 영화 데이터와 </a:t>
            </a:r>
            <a:r>
              <a:rPr lang="ko-KR" altLang="en-US" dirty="0" err="1"/>
              <a:t>즐겨찾기를</a:t>
            </a:r>
            <a:r>
              <a:rPr lang="ko-KR" altLang="en-US" dirty="0"/>
              <a:t> 관리하는 REST </a:t>
            </a:r>
            <a:r>
              <a:rPr lang="ko-KR" altLang="en-US" dirty="0" err="1"/>
              <a:t>API를</a:t>
            </a:r>
            <a:r>
              <a:rPr lang="ko-KR" altLang="en-US" dirty="0"/>
              <a:t> 구현하였다.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Streamlit을</a:t>
            </a:r>
            <a:r>
              <a:rPr lang="ko-KR" altLang="en-US" dirty="0"/>
              <a:t> 활용하여 영화 검색 및 즐겨찾기 관리 화면을 구성하였다.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핵심 기능을 검증하는 프로토타입에서 시작하여 영화 서비스에 적합한 구조로 발전시켰다.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9EED1-DF1A-4BCC-B170-AEB49C671497}"/>
              </a:ext>
            </a:extLst>
          </p:cNvPr>
          <p:cNvSpPr txBox="1"/>
          <p:nvPr/>
        </p:nvSpPr>
        <p:spPr>
          <a:xfrm>
            <a:off x="333463" y="201228"/>
            <a:ext cx="6102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영화 정보 서비스 발전 과정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510321-B963-482F-AFDF-D7374DB3E894}"/>
              </a:ext>
            </a:extLst>
          </p:cNvPr>
          <p:cNvSpPr txBox="1"/>
          <p:nvPr/>
        </p:nvSpPr>
        <p:spPr>
          <a:xfrm>
            <a:off x="333463" y="819104"/>
            <a:ext cx="1024505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2. 초기 프로토타입의 목표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</a:t>
            </a:r>
            <a:r>
              <a:rPr lang="ko-KR" altLang="en-US" dirty="0" err="1"/>
              <a:t>Todo</a:t>
            </a:r>
            <a:r>
              <a:rPr lang="ko-KR" altLang="en-US" dirty="0"/>
              <a:t> 구조를 활용해 핵심 기능을 빠르게 검증하였다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</a:t>
            </a:r>
            <a:r>
              <a:rPr lang="ko-KR" altLang="en-US" dirty="0" err="1"/>
              <a:t>Todo</a:t>
            </a:r>
            <a:r>
              <a:rPr lang="ko-KR" altLang="en-US" dirty="0"/>
              <a:t> CRUD 프로젝트를 영화 리뷰 서비스 형태로 변경하였다.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KOBIS </a:t>
            </a:r>
            <a:r>
              <a:rPr lang="ko-KR" altLang="en-US" dirty="0" err="1"/>
              <a:t>API에서</a:t>
            </a:r>
            <a:r>
              <a:rPr lang="ko-KR" altLang="en-US" dirty="0"/>
              <a:t> 영화 목록을 가져와 데이터프레임으로 출력하였다.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사용자가 영화를 선택하고 리뷰를 작성할 수 있도록 구성하였다.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</a:t>
            </a:r>
            <a:r>
              <a:rPr lang="ko-KR" altLang="en-US" dirty="0" err="1"/>
              <a:t>Todo.title</a:t>
            </a:r>
            <a:r>
              <a:rPr lang="ko-KR" altLang="en-US" dirty="0"/>
              <a:t> 컬럼에 영화 제목과 리뷰 내용을 함께 저장하였다.</a:t>
            </a:r>
          </a:p>
          <a:p>
            <a:endParaRPr lang="en-US" altLang="ko-KR" dirty="0"/>
          </a:p>
          <a:p>
            <a:r>
              <a:rPr lang="ko-KR" altLang="en-US" dirty="0"/>
              <a:t>저장 형태</a:t>
            </a:r>
          </a:p>
          <a:p>
            <a:r>
              <a:rPr lang="ko-KR" altLang="en-US" dirty="0"/>
              <a:t>영화 제목 | 리뷰 내용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한 컬럼에 전부 저장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프로토타입에서 구현한 기능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목록 조회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선택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리뷰 등록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리뷰 목록 조회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리뷰 삭제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EA9E41-B456-4952-8076-DC028BE50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285" y="2984519"/>
            <a:ext cx="3268241" cy="8889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E7F89D-BEE5-4541-B2A2-4877515D37A3}"/>
              </a:ext>
            </a:extLst>
          </p:cNvPr>
          <p:cNvSpPr txBox="1"/>
          <p:nvPr/>
        </p:nvSpPr>
        <p:spPr>
          <a:xfrm>
            <a:off x="469783" y="3523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E44D82-1346-4F41-B5BB-598A49EDC3C6}"/>
              </a:ext>
            </a:extLst>
          </p:cNvPr>
          <p:cNvSpPr txBox="1"/>
          <p:nvPr/>
        </p:nvSpPr>
        <p:spPr>
          <a:xfrm>
            <a:off x="333463" y="819104"/>
            <a:ext cx="1024505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3. 프로토타입을 통해 서비스 가능성을 확인하였다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빠른 구현을 통해 전체 서비스 흐름을 검증하였다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KOBIS 영화 조회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영화 선택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리뷰 작성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FastAPI를</a:t>
            </a:r>
            <a:r>
              <a:rPr lang="ko-KR" altLang="en-US" dirty="0"/>
              <a:t> 통한 DB 저장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리뷰 조회 및 삭제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890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7E0A4-197E-4A62-8C37-D57697AF0B74}"/>
              </a:ext>
            </a:extLst>
          </p:cNvPr>
          <p:cNvSpPr txBox="1"/>
          <p:nvPr/>
        </p:nvSpPr>
        <p:spPr>
          <a:xfrm>
            <a:off x="375408" y="375127"/>
            <a:ext cx="50606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외부 </a:t>
            </a:r>
            <a:r>
              <a:rPr lang="ko-KR" altLang="en-US" dirty="0" err="1"/>
              <a:t>API의</a:t>
            </a:r>
            <a:r>
              <a:rPr lang="ko-KR" altLang="en-US" dirty="0"/>
              <a:t> JSON 데이터를 </a:t>
            </a:r>
            <a:r>
              <a:rPr lang="ko-KR" altLang="en-US" dirty="0" err="1"/>
              <a:t>Streamlit</a:t>
            </a:r>
            <a:r>
              <a:rPr lang="ko-KR" altLang="en-US" dirty="0"/>
              <a:t> 화면에 출력할 수 있었다.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Streamlit과</a:t>
            </a:r>
            <a:r>
              <a:rPr lang="ko-KR" altLang="en-US" dirty="0"/>
              <a:t> </a:t>
            </a:r>
            <a:r>
              <a:rPr lang="ko-KR" altLang="en-US" dirty="0" err="1"/>
              <a:t>FastAPI</a:t>
            </a:r>
            <a:r>
              <a:rPr lang="ko-KR" altLang="en-US" dirty="0"/>
              <a:t> 간의 데이터 전달 과정을 확인하였다.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사용자가 영화를 선택하고 내용을 저장하는 기본 흐름을 구현하였다.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복잡한 데이터베이스 설계 전에 핵심 기능의 동작 여부를 검증하였다.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1FAE63-DC80-40A3-AA32-374026B8B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26" y="2878920"/>
            <a:ext cx="4934823" cy="33827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F872ED1-80A3-4AC3-ADEE-31740495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936" y="469782"/>
            <a:ext cx="4978824" cy="52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6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A7F296-57FD-4BE0-AF58-267CBD7B49E3}"/>
              </a:ext>
            </a:extLst>
          </p:cNvPr>
          <p:cNvSpPr txBox="1"/>
          <p:nvPr/>
        </p:nvSpPr>
        <p:spPr>
          <a:xfrm>
            <a:off x="333463" y="819104"/>
            <a:ext cx="1024505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4. 프로토타입의 한계</a:t>
            </a:r>
          </a:p>
          <a:p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/>
              <a:t>Todo</a:t>
            </a:r>
            <a:r>
              <a:rPr lang="ko-KR" altLang="en-US" dirty="0"/>
              <a:t> 구조만으로는 영화 정보를 체계적으로 관리하기 어려웠다</a:t>
            </a:r>
            <a:endParaRPr lang="en-US" altLang="ko-KR" dirty="0"/>
          </a:p>
          <a:p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제목과 리뷰가 하나의 컬럼에 함께 저장되었다.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코드, 감독, 배우, 장르 등의 정보를 구분하여 관리할 수 없었다.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같은 영화가 여러 번 저장될 가능성이 있었다.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검색과 상세정보 조회 기능이 부족하였다.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Todo의</a:t>
            </a:r>
            <a:r>
              <a:rPr lang="ko-KR" altLang="en-US" dirty="0"/>
              <a:t> 완료 여부인 </a:t>
            </a:r>
            <a:r>
              <a:rPr lang="ko-KR" altLang="en-US" dirty="0" err="1"/>
              <a:t>is_done은</a:t>
            </a:r>
            <a:r>
              <a:rPr lang="ko-KR" altLang="en-US" dirty="0"/>
              <a:t> 영화 서비스와 관련성이 낮았다.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기능이 늘어날수록 하나의 파일에서 화면과 로직을 관리하기 어려웠다.</a:t>
            </a:r>
          </a:p>
          <a:p>
            <a:endParaRPr lang="en-US" altLang="ko-KR" dirty="0"/>
          </a:p>
          <a:p>
            <a:r>
              <a:rPr lang="ko-KR" altLang="en-US" dirty="0"/>
              <a:t>개선 필요 사항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서비스에 맞는 데이터 모델 설계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영화와 즐겨찾기 데이터 분리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코드 기반 중복 방지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검색 및 </a:t>
            </a:r>
            <a:r>
              <a:rPr lang="ko-KR" altLang="en-US" dirty="0" err="1"/>
              <a:t>페이지네이션</a:t>
            </a:r>
            <a:r>
              <a:rPr lang="ko-KR" altLang="en-US" dirty="0"/>
              <a:t> 기능 추가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기능별 계층 분리를 통한 유지보수성 개선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6672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1D326-FFE4-49A9-A3FD-5B5A2701CD2C}"/>
              </a:ext>
            </a:extLst>
          </p:cNvPr>
          <p:cNvSpPr txBox="1"/>
          <p:nvPr/>
        </p:nvSpPr>
        <p:spPr>
          <a:xfrm>
            <a:off x="333463" y="819104"/>
            <a:ext cx="102450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5. 발전 방향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/>
              <a:t>Todo</a:t>
            </a:r>
            <a:r>
              <a:rPr lang="ko-KR" altLang="en-US" dirty="0"/>
              <a:t> 기반 구조를 영화 카탈로그와 즐겨찾기 구조로 재설계하였다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168DACA-DA82-4ECC-B390-3DA49E196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448713"/>
              </p:ext>
            </p:extLst>
          </p:nvPr>
        </p:nvGraphicFramePr>
        <p:xfrm>
          <a:off x="928381" y="1866375"/>
          <a:ext cx="1033523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5079">
                  <a:extLst>
                    <a:ext uri="{9D8B030D-6E8A-4147-A177-3AD203B41FA5}">
                      <a16:colId xmlns:a16="http://schemas.microsoft.com/office/drawing/2014/main" val="735767527"/>
                    </a:ext>
                  </a:extLst>
                </a:gridCol>
                <a:gridCol w="3445079">
                  <a:extLst>
                    <a:ext uri="{9D8B030D-6E8A-4147-A177-3AD203B41FA5}">
                      <a16:colId xmlns:a16="http://schemas.microsoft.com/office/drawing/2014/main" val="1902831449"/>
                    </a:ext>
                  </a:extLst>
                </a:gridCol>
                <a:gridCol w="3445079">
                  <a:extLst>
                    <a:ext uri="{9D8B030D-6E8A-4147-A177-3AD203B41FA5}">
                      <a16:colId xmlns:a16="http://schemas.microsoft.com/office/drawing/2014/main" val="1600879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개선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프로토타입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발전 버전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414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Todo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Movie</a:t>
                      </a:r>
                      <a:r>
                        <a:rPr lang="ko-KR" altLang="en-US" dirty="0"/>
                        <a:t>, </a:t>
                      </a:r>
                      <a:r>
                        <a:rPr lang="ko-KR" altLang="en-US" dirty="0" err="1"/>
                        <a:t>Actor</a:t>
                      </a:r>
                      <a:r>
                        <a:rPr lang="ko-KR" altLang="en-US" dirty="0"/>
                        <a:t>, </a:t>
                      </a:r>
                      <a:r>
                        <a:rPr lang="ko-KR" altLang="en-US" dirty="0" err="1"/>
                        <a:t>Director</a:t>
                      </a:r>
                      <a:r>
                        <a:rPr lang="ko-KR" altLang="en-US" dirty="0"/>
                        <a:t>, </a:t>
                      </a:r>
                      <a:r>
                        <a:rPr lang="ko-KR" altLang="en-US" dirty="0" err="1"/>
                        <a:t>Favorite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05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영화 식별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영화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KOBIS 영화 코드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87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저장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제목과 리뷰 통합 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영화와 즐겨찾기 분리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82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영화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목록 데이터 일부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상세정보까지 조회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5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검색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단순 목록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영화명·감독·개봉연도</a:t>
                      </a:r>
                      <a:r>
                        <a:rPr lang="ko-KR" altLang="en-US" dirty="0"/>
                        <a:t> 검색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19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화면 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단일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카탈로그·즐겨찾기</a:t>
                      </a:r>
                      <a:r>
                        <a:rPr lang="ko-KR" altLang="en-US" dirty="0"/>
                        <a:t> 관리 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79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프로그램 구조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단순 CRUD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Router</a:t>
                      </a:r>
                      <a:r>
                        <a:rPr lang="ko-KR" altLang="en-US" dirty="0"/>
                        <a:t>–Service–</a:t>
                      </a:r>
                      <a:r>
                        <a:rPr lang="ko-KR" altLang="en-US" dirty="0" err="1"/>
                        <a:t>Repository</a:t>
                      </a:r>
                      <a:r>
                        <a:rPr lang="ko-KR" altLang="en-US" dirty="0"/>
                        <a:t> 구조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607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API 키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코드 내부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환경변수 .</a:t>
                      </a:r>
                      <a:r>
                        <a:rPr lang="ko-KR" altLang="en-US" dirty="0" err="1"/>
                        <a:t>env로</a:t>
                      </a:r>
                      <a:r>
                        <a:rPr lang="ko-KR" altLang="en-US" dirty="0"/>
                        <a:t> 관리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73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09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63F67D-6044-4991-889F-7A294A8A0F94}"/>
              </a:ext>
            </a:extLst>
          </p:cNvPr>
          <p:cNvSpPr txBox="1"/>
          <p:nvPr/>
        </p:nvSpPr>
        <p:spPr>
          <a:xfrm>
            <a:off x="333463" y="213545"/>
            <a:ext cx="6813957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6. 발전 버전의 데이터 구조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영화 정보를 목적에 따라 여러 테이블로 분리하였다</a:t>
            </a:r>
          </a:p>
          <a:p>
            <a:r>
              <a:rPr lang="ko-KR" altLang="en-US" dirty="0" err="1"/>
              <a:t>Movie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KOBIS 영화 코드를 기본키로 사용한다.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영화명</a:t>
            </a:r>
            <a:r>
              <a:rPr lang="ko-KR" altLang="en-US" dirty="0"/>
              <a:t>, 개봉일, 상영시간, 장르, 국가, 관람등급 등을 저장한다.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Actor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영화별</a:t>
            </a:r>
            <a:r>
              <a:rPr lang="ko-KR" altLang="en-US" dirty="0"/>
              <a:t> 배우 정보를 저장한다.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movie_cd를</a:t>
            </a:r>
            <a:r>
              <a:rPr lang="ko-KR" altLang="en-US" dirty="0"/>
              <a:t> 통해 </a:t>
            </a:r>
            <a:r>
              <a:rPr lang="ko-KR" altLang="en-US" dirty="0" err="1"/>
              <a:t>Movie</a:t>
            </a:r>
            <a:r>
              <a:rPr lang="ko-KR" altLang="en-US" dirty="0"/>
              <a:t> 테이블과 연결한다.</a:t>
            </a:r>
          </a:p>
          <a:p>
            <a:endParaRPr lang="en-US" altLang="ko-KR" dirty="0"/>
          </a:p>
          <a:p>
            <a:r>
              <a:rPr lang="ko-KR" altLang="en-US" dirty="0" err="1"/>
              <a:t>Director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영화별</a:t>
            </a:r>
            <a:r>
              <a:rPr lang="ko-KR" altLang="en-US" dirty="0"/>
              <a:t> 감독 정보를 저장한다.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movie_cd를</a:t>
            </a:r>
            <a:r>
              <a:rPr lang="ko-KR" altLang="en-US" dirty="0"/>
              <a:t> 통해 </a:t>
            </a:r>
            <a:r>
              <a:rPr lang="ko-KR" altLang="en-US" dirty="0" err="1"/>
              <a:t>Movie</a:t>
            </a:r>
            <a:r>
              <a:rPr lang="ko-KR" altLang="en-US" dirty="0"/>
              <a:t> 테이블과 연결한다.</a:t>
            </a:r>
          </a:p>
          <a:p>
            <a:endParaRPr lang="en-US" altLang="ko-KR" dirty="0"/>
          </a:p>
          <a:p>
            <a:r>
              <a:rPr lang="ko-KR" altLang="en-US" dirty="0" err="1"/>
              <a:t>Favorite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사용자가 선택한 영화의 즐겨찾기 정보를 저장한다.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코드와 메모를 저장하고 </a:t>
            </a:r>
            <a:r>
              <a:rPr lang="ko-KR" altLang="en-US" dirty="0" err="1"/>
              <a:t>Movie</a:t>
            </a:r>
            <a:r>
              <a:rPr lang="ko-KR" altLang="en-US" dirty="0"/>
              <a:t> 테이블을 참조한다.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A0D7AD8-C2FD-4711-9DDB-6A4D389D49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917"/>
          <a:stretch/>
        </p:blipFill>
        <p:spPr>
          <a:xfrm>
            <a:off x="7373923" y="5513066"/>
            <a:ext cx="4191000" cy="8406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ED4B524-D301-412E-B4F6-2F1F9A1E00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248"/>
          <a:stretch/>
        </p:blipFill>
        <p:spPr>
          <a:xfrm>
            <a:off x="7354873" y="4511748"/>
            <a:ext cx="4210050" cy="8406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4159C60-98D0-49F8-AAD4-A0226DF7B6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9248"/>
          <a:stretch/>
        </p:blipFill>
        <p:spPr>
          <a:xfrm>
            <a:off x="7373923" y="3510430"/>
            <a:ext cx="4171950" cy="8406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195A9F8-0D25-452F-B3EF-36C6255DBB2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1982"/>
          <a:stretch/>
        </p:blipFill>
        <p:spPr>
          <a:xfrm>
            <a:off x="333463" y="1790043"/>
            <a:ext cx="9909495" cy="69966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08C5D34-B5F4-4E84-B523-6E61BA77DEB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71982"/>
          <a:stretch/>
        </p:blipFill>
        <p:spPr>
          <a:xfrm>
            <a:off x="692267" y="2489709"/>
            <a:ext cx="3854566" cy="73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8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F2A483-CF37-4CDA-B5E6-6DECBC28C476}"/>
              </a:ext>
            </a:extLst>
          </p:cNvPr>
          <p:cNvSpPr txBox="1"/>
          <p:nvPr/>
        </p:nvSpPr>
        <p:spPr>
          <a:xfrm>
            <a:off x="333463" y="313953"/>
            <a:ext cx="1024505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7. 발전 버전의 시스템 구조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/>
              <a:t>화면·업무</a:t>
            </a:r>
            <a:r>
              <a:rPr lang="ko-KR" altLang="en-US" dirty="0"/>
              <a:t> </a:t>
            </a:r>
            <a:r>
              <a:rPr lang="ko-KR" altLang="en-US" dirty="0" err="1"/>
              <a:t>로직·데이터</a:t>
            </a:r>
            <a:r>
              <a:rPr lang="ko-KR" altLang="en-US" dirty="0"/>
              <a:t> 접근 역할을 분리하였다</a:t>
            </a:r>
          </a:p>
          <a:p>
            <a:endParaRPr lang="en-US" altLang="ko-KR" dirty="0"/>
          </a:p>
          <a:p>
            <a:r>
              <a:rPr lang="ko-KR" altLang="en-US" dirty="0" err="1"/>
              <a:t>Streamlit</a:t>
            </a:r>
            <a:endParaRPr lang="ko-KR" altLang="en-US" dirty="0"/>
          </a:p>
          <a:p>
            <a:r>
              <a:rPr lang="ko-KR" altLang="en-US" dirty="0"/>
              <a:t>사용자 화면 및 KOBIS API 호출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FastAPI</a:t>
            </a:r>
            <a:r>
              <a:rPr lang="ko-KR" altLang="en-US" dirty="0"/>
              <a:t> </a:t>
            </a:r>
            <a:r>
              <a:rPr lang="ko-KR" altLang="en-US" dirty="0" err="1"/>
              <a:t>Router</a:t>
            </a:r>
            <a:endParaRPr lang="ko-KR" altLang="en-US" dirty="0"/>
          </a:p>
          <a:p>
            <a:r>
              <a:rPr lang="ko-KR" altLang="en-US" dirty="0"/>
              <a:t>HTTP 요청과 응답 처리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Service</a:t>
            </a:r>
          </a:p>
          <a:p>
            <a:r>
              <a:rPr lang="ko-KR" altLang="en-US" dirty="0"/>
              <a:t>중복 확인 및 예외 처리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Repository</a:t>
            </a:r>
            <a:endParaRPr lang="ko-KR" altLang="en-US" dirty="0"/>
          </a:p>
          <a:p>
            <a:r>
              <a:rPr lang="ko-KR" altLang="en-US" dirty="0" err="1"/>
              <a:t>SQLAlchemy를</a:t>
            </a:r>
            <a:r>
              <a:rPr lang="ko-KR" altLang="en-US" dirty="0"/>
              <a:t> 이용한 DB 접근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PostgreSQL</a:t>
            </a:r>
            <a:endParaRPr lang="ko-KR" altLang="en-US" dirty="0"/>
          </a:p>
          <a:p>
            <a:r>
              <a:rPr lang="ko-KR" altLang="en-US" dirty="0"/>
              <a:t>영화 및 즐겨찾기 데이터 저장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0DB85-6297-40F1-870E-446A93395299}"/>
              </a:ext>
            </a:extLst>
          </p:cNvPr>
          <p:cNvSpPr txBox="1"/>
          <p:nvPr/>
        </p:nvSpPr>
        <p:spPr>
          <a:xfrm>
            <a:off x="6095999" y="1555643"/>
            <a:ext cx="57625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계층별 역할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Router</a:t>
            </a:r>
            <a:r>
              <a:rPr lang="ko-KR" altLang="en-US" dirty="0"/>
              <a:t>: 요청 데이터를 받고 응답을 반환한다.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Service: 중복 즐겨찾기 방지와 데이터 존재 여부를 판단한다.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Repository</a:t>
            </a:r>
            <a:r>
              <a:rPr lang="ko-KR" altLang="en-US" dirty="0"/>
              <a:t>: 영화 및 즐겨찾기 테이블의 </a:t>
            </a:r>
            <a:r>
              <a:rPr lang="ko-KR" altLang="en-US" dirty="0" err="1"/>
              <a:t>조회·저장·수정·삭제를</a:t>
            </a:r>
            <a:r>
              <a:rPr lang="ko-KR" altLang="en-US" dirty="0"/>
              <a:t> 처리한다.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Model</a:t>
            </a:r>
            <a:r>
              <a:rPr lang="ko-KR" altLang="en-US" dirty="0"/>
              <a:t>: 데이터베이스 테이블과 관계를 정의한다.</a:t>
            </a:r>
          </a:p>
        </p:txBody>
      </p:sp>
    </p:spTree>
    <p:extLst>
      <p:ext uri="{BB962C8B-B14F-4D97-AF65-F5344CB8AC3E}">
        <p14:creationId xmlns:p14="http://schemas.microsoft.com/office/powerpoint/2010/main" val="4101824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F10A2E-F7D0-453A-A5F6-DECA765C6FEA}"/>
              </a:ext>
            </a:extLst>
          </p:cNvPr>
          <p:cNvSpPr txBox="1"/>
          <p:nvPr/>
        </p:nvSpPr>
        <p:spPr>
          <a:xfrm>
            <a:off x="333463" y="819104"/>
            <a:ext cx="1024505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8. 발전 버전의 주요 기능</a:t>
            </a:r>
          </a:p>
          <a:p>
            <a:endParaRPr lang="en-US" altLang="ko-KR" dirty="0"/>
          </a:p>
          <a:p>
            <a:r>
              <a:rPr lang="ko-KR" altLang="en-US" dirty="0"/>
              <a:t>① 영화 카탈로그 검색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영화명</a:t>
            </a:r>
            <a:r>
              <a:rPr lang="ko-KR" altLang="en-US" dirty="0"/>
              <a:t> 검색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감독명</a:t>
            </a:r>
            <a:r>
              <a:rPr lang="ko-KR" altLang="en-US" dirty="0"/>
              <a:t> 검색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개봉연도 범위 검색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페이지 단위 영화 목록 조회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영화별</a:t>
            </a:r>
            <a:r>
              <a:rPr lang="ko-KR" altLang="en-US" dirty="0"/>
              <a:t> </a:t>
            </a:r>
            <a:r>
              <a:rPr lang="ko-KR" altLang="en-US" dirty="0" err="1"/>
              <a:t>개봉일·장르·국가</a:t>
            </a:r>
            <a:r>
              <a:rPr lang="ko-KR" altLang="en-US" dirty="0"/>
              <a:t> 표시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  <a:p>
            <a:r>
              <a:rPr lang="ko-KR" altLang="en-US" dirty="0"/>
              <a:t>② 영화 상세정보 저장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사용자가 즐겨찾기 버튼을 누르면 KOBIS 상세정보 </a:t>
            </a:r>
            <a:r>
              <a:rPr lang="ko-KR" altLang="en-US" dirty="0" err="1"/>
              <a:t>API를</a:t>
            </a:r>
            <a:r>
              <a:rPr lang="ko-KR" altLang="en-US" dirty="0"/>
              <a:t> 호출한다.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영화가 </a:t>
            </a:r>
            <a:r>
              <a:rPr lang="ko-KR" altLang="en-US" dirty="0" err="1"/>
              <a:t>DB에</a:t>
            </a:r>
            <a:r>
              <a:rPr lang="ko-KR" altLang="en-US" dirty="0"/>
              <a:t> 없는 경우 </a:t>
            </a:r>
            <a:r>
              <a:rPr lang="ko-KR" altLang="en-US" dirty="0" err="1"/>
              <a:t>Movie</a:t>
            </a:r>
            <a:r>
              <a:rPr lang="ko-KR" altLang="en-US" dirty="0"/>
              <a:t> 테이블에 먼저 등록한다.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감독과 배우 정보도 각각의 테이블에 저장한다.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이미 등록된 영화라면 중복 저장하지 않는다.</a:t>
            </a:r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097578-409B-4D1E-91D0-F05DFCE3F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248" y="201335"/>
            <a:ext cx="4206803" cy="594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5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083EA7-0D00-4724-99C3-4B1E50C75770}"/>
              </a:ext>
            </a:extLst>
          </p:cNvPr>
          <p:cNvSpPr txBox="1"/>
          <p:nvPr/>
        </p:nvSpPr>
        <p:spPr>
          <a:xfrm>
            <a:off x="506660" y="381186"/>
            <a:ext cx="61029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③ 즐겨찾기 관리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즐겨찾기 등록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동일 영화의 중복 즐겨찾기 방지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즐겨찾기 목록 조회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영화별</a:t>
            </a:r>
            <a:r>
              <a:rPr lang="ko-KR" altLang="en-US" dirty="0"/>
              <a:t> 메모 작성 및 수정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즐겨찾기 삭제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2ED25C-0665-42EC-8EA2-14BD53239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649" y="301916"/>
            <a:ext cx="575310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00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A45C8B-E28A-4037-99BB-38928F2BFDF1}"/>
              </a:ext>
            </a:extLst>
          </p:cNvPr>
          <p:cNvSpPr txBox="1"/>
          <p:nvPr/>
        </p:nvSpPr>
        <p:spPr>
          <a:xfrm>
            <a:off x="333463" y="819104"/>
            <a:ext cx="1024505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9. 영화 즐겨찾기 등록 과정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외부 API 데이터와 내부 </a:t>
            </a:r>
            <a:r>
              <a:rPr lang="ko-KR" altLang="en-US" dirty="0" err="1"/>
              <a:t>DB를</a:t>
            </a:r>
            <a:r>
              <a:rPr lang="ko-KR" altLang="en-US" dirty="0"/>
              <a:t> 연결하였다</a:t>
            </a:r>
          </a:p>
          <a:p>
            <a:endParaRPr lang="en-US" altLang="ko-KR" dirty="0"/>
          </a:p>
          <a:p>
            <a:r>
              <a:rPr lang="ko-KR" altLang="en-US" dirty="0"/>
              <a:t>1. 사용자가 KOBIS 영화 목록을 검색한다.</a:t>
            </a:r>
          </a:p>
          <a:p>
            <a:r>
              <a:rPr lang="ko-KR" altLang="en-US" dirty="0"/>
              <a:t>2. 원하는 영화의 즐겨찾기 버튼을 선택한다.</a:t>
            </a:r>
          </a:p>
          <a:p>
            <a:r>
              <a:rPr lang="ko-KR" altLang="en-US" dirty="0"/>
              <a:t>3. KOBIS 영화 상세정보 </a:t>
            </a:r>
            <a:r>
              <a:rPr lang="ko-KR" altLang="en-US" dirty="0" err="1"/>
              <a:t>API를</a:t>
            </a:r>
            <a:r>
              <a:rPr lang="ko-KR" altLang="en-US" dirty="0"/>
              <a:t> 호출한다.</a:t>
            </a:r>
          </a:p>
          <a:p>
            <a:r>
              <a:rPr lang="ko-KR" altLang="en-US" dirty="0"/>
              <a:t>4. 영화가 </a:t>
            </a:r>
            <a:r>
              <a:rPr lang="ko-KR" altLang="en-US" dirty="0" err="1"/>
              <a:t>DB에</a:t>
            </a:r>
            <a:r>
              <a:rPr lang="ko-KR" altLang="en-US" dirty="0"/>
              <a:t> 존재하는지 확인한다.</a:t>
            </a:r>
          </a:p>
          <a:p>
            <a:r>
              <a:rPr lang="ko-KR" altLang="en-US" dirty="0"/>
              <a:t>5. </a:t>
            </a:r>
            <a:r>
              <a:rPr lang="ko-KR" altLang="en-US" dirty="0" err="1"/>
              <a:t>DB에</a:t>
            </a:r>
            <a:r>
              <a:rPr lang="ko-KR" altLang="en-US" dirty="0"/>
              <a:t> 없다면 </a:t>
            </a:r>
            <a:r>
              <a:rPr lang="ko-KR" altLang="en-US" dirty="0" err="1"/>
              <a:t>영화·감독·배우</a:t>
            </a:r>
            <a:r>
              <a:rPr lang="ko-KR" altLang="en-US" dirty="0"/>
              <a:t> 정보를 저장한다.</a:t>
            </a:r>
          </a:p>
          <a:p>
            <a:r>
              <a:rPr lang="ko-KR" altLang="en-US" dirty="0"/>
              <a:t>6. </a:t>
            </a:r>
            <a:r>
              <a:rPr lang="ko-KR" altLang="en-US" dirty="0" err="1"/>
              <a:t>Favorite</a:t>
            </a:r>
            <a:r>
              <a:rPr lang="ko-KR" altLang="en-US" dirty="0"/>
              <a:t> 테이블에 영화 코드를 등록한다.</a:t>
            </a:r>
          </a:p>
          <a:p>
            <a:r>
              <a:rPr lang="ko-KR" altLang="en-US" dirty="0"/>
              <a:t>7. 즐겨찾기 관리 화면에서 결과를 확인한다.</a:t>
            </a:r>
          </a:p>
          <a:p>
            <a:endParaRPr lang="en-US" altLang="ko-KR" dirty="0"/>
          </a:p>
          <a:p>
            <a:r>
              <a:rPr lang="ko-KR" altLang="en-US" dirty="0"/>
              <a:t>예외 처리</a:t>
            </a:r>
          </a:p>
          <a:p>
            <a:r>
              <a:rPr lang="ko-KR" altLang="en-US" dirty="0"/>
              <a:t>카탈로그에 없는 영화의 즐겨찾기 등록을 방지하였다.</a:t>
            </a:r>
          </a:p>
          <a:p>
            <a:r>
              <a:rPr lang="ko-KR" altLang="en-US" dirty="0"/>
              <a:t>이미 </a:t>
            </a:r>
            <a:r>
              <a:rPr lang="ko-KR" altLang="en-US" dirty="0" err="1"/>
              <a:t>즐겨찾기한</a:t>
            </a:r>
            <a:r>
              <a:rPr lang="ko-KR" altLang="en-US" dirty="0"/>
              <a:t> 영화는 409 </a:t>
            </a:r>
            <a:r>
              <a:rPr lang="ko-KR" altLang="en-US" dirty="0" err="1"/>
              <a:t>Conflict로</a:t>
            </a:r>
            <a:r>
              <a:rPr lang="ko-KR" altLang="en-US" dirty="0"/>
              <a:t> 처리하였다.</a:t>
            </a:r>
          </a:p>
          <a:p>
            <a:r>
              <a:rPr lang="ko-KR" altLang="en-US" dirty="0"/>
              <a:t>존재하지 않는 즐겨찾기 </a:t>
            </a:r>
            <a:r>
              <a:rPr lang="ko-KR" altLang="en-US" dirty="0" err="1"/>
              <a:t>수정·삭제</a:t>
            </a:r>
            <a:r>
              <a:rPr lang="ko-KR" altLang="en-US" dirty="0"/>
              <a:t> 요청은 404 </a:t>
            </a:r>
            <a:r>
              <a:rPr lang="ko-KR" altLang="en-US" dirty="0" err="1"/>
              <a:t>Not</a:t>
            </a:r>
            <a:r>
              <a:rPr lang="ko-KR" altLang="en-US" dirty="0"/>
              <a:t> </a:t>
            </a:r>
            <a:r>
              <a:rPr lang="ko-KR" altLang="en-US" dirty="0" err="1"/>
              <a:t>Found로</a:t>
            </a:r>
            <a:r>
              <a:rPr lang="ko-KR" altLang="en-US" dirty="0"/>
              <a:t> 처리하였다.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1933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47C908-C97C-4BF2-98ED-AE13B0D1D9C7}"/>
              </a:ext>
            </a:extLst>
          </p:cNvPr>
          <p:cNvSpPr txBox="1"/>
          <p:nvPr/>
        </p:nvSpPr>
        <p:spPr>
          <a:xfrm>
            <a:off x="333463" y="819104"/>
            <a:ext cx="1024505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10. 프로토타입에서 발전 버전으로의 변화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단순 기능 검증을 넘어 확장 가능한 영화 서비스 구조를 구현하였다</a:t>
            </a:r>
          </a:p>
          <a:p>
            <a:endParaRPr lang="en-US" altLang="ko-KR" dirty="0"/>
          </a:p>
          <a:p>
            <a:r>
              <a:rPr lang="ko-KR" altLang="en-US" dirty="0"/>
              <a:t>프로토타입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KOBIS </a:t>
            </a:r>
            <a:r>
              <a:rPr lang="en-US" altLang="ko-KR" dirty="0"/>
              <a:t>API </a:t>
            </a:r>
            <a:r>
              <a:rPr lang="ko-KR" altLang="en-US" dirty="0"/>
              <a:t>목록 조회</a:t>
            </a:r>
          </a:p>
          <a:p>
            <a:r>
              <a:rPr lang="ko-KR" altLang="en-US" dirty="0"/>
              <a:t>→ 영화 선택</a:t>
            </a:r>
          </a:p>
          <a:p>
            <a:r>
              <a:rPr lang="ko-KR" altLang="en-US" dirty="0"/>
              <a:t>→ 영화명과 리뷰를 </a:t>
            </a:r>
            <a:r>
              <a:rPr lang="ko-KR" altLang="en-US" dirty="0" err="1"/>
              <a:t>Todo에</a:t>
            </a:r>
            <a:r>
              <a:rPr lang="ko-KR" altLang="en-US" dirty="0"/>
              <a:t> 저장</a:t>
            </a:r>
          </a:p>
          <a:p>
            <a:endParaRPr lang="en-US" altLang="ko-KR" dirty="0"/>
          </a:p>
          <a:p>
            <a:r>
              <a:rPr lang="ko-KR" altLang="en-US" dirty="0"/>
              <a:t>발전 버전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KOBIS 조건 검색 및 </a:t>
            </a:r>
            <a:r>
              <a:rPr lang="ko-KR" altLang="en-US" dirty="0" err="1"/>
              <a:t>페이지네이션</a:t>
            </a:r>
            <a:endParaRPr lang="ko-KR" altLang="en-US" dirty="0"/>
          </a:p>
          <a:p>
            <a:r>
              <a:rPr lang="ko-KR" altLang="en-US" dirty="0"/>
              <a:t>→ 영화 상세정보 조회</a:t>
            </a:r>
          </a:p>
          <a:p>
            <a:r>
              <a:rPr lang="ko-KR" altLang="en-US" dirty="0"/>
              <a:t>→ </a:t>
            </a:r>
            <a:r>
              <a:rPr lang="ko-KR" altLang="en-US" dirty="0" err="1"/>
              <a:t>영화·배우·감독</a:t>
            </a:r>
            <a:r>
              <a:rPr lang="ko-KR" altLang="en-US" dirty="0"/>
              <a:t> 데이터 분리 저장</a:t>
            </a:r>
          </a:p>
          <a:p>
            <a:r>
              <a:rPr lang="ko-KR" altLang="en-US" dirty="0"/>
              <a:t>→ 영화 코드 기반 즐겨찾기 등록</a:t>
            </a:r>
          </a:p>
          <a:p>
            <a:r>
              <a:rPr lang="ko-KR" altLang="en-US" dirty="0"/>
              <a:t>→ 메모 수정 및 즐겨찾기 삭제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7564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18C881-A3B3-46AA-B15E-DC9019697500}"/>
              </a:ext>
            </a:extLst>
          </p:cNvPr>
          <p:cNvSpPr txBox="1"/>
          <p:nvPr/>
        </p:nvSpPr>
        <p:spPr>
          <a:xfrm>
            <a:off x="333463" y="819104"/>
            <a:ext cx="1024505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11. 개발 과정에서 배운 점</a:t>
            </a:r>
            <a:endParaRPr lang="en-US" altLang="ko-KR" sz="2400" dirty="0"/>
          </a:p>
          <a:p>
            <a:endParaRPr lang="en-US" altLang="ko-KR" dirty="0"/>
          </a:p>
          <a:p>
            <a:r>
              <a:rPr lang="ko-KR" altLang="en-US" dirty="0"/>
              <a:t>발전 결과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데이터 중복을 줄이고 영화 정보를 체계적으로 관리할 수 있게 되었다.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코드 기반으로 외부 API 데이터와 내부 </a:t>
            </a:r>
            <a:r>
              <a:rPr lang="ko-KR" altLang="en-US" dirty="0" err="1"/>
              <a:t>DB를</a:t>
            </a:r>
            <a:r>
              <a:rPr lang="ko-KR" altLang="en-US" dirty="0"/>
              <a:t> 연결하였다.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기능별 코드를 분리하여 유지보수성과 확장성을 높였다.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검색부터 </a:t>
            </a:r>
            <a:r>
              <a:rPr lang="ko-KR" altLang="en-US" dirty="0" err="1"/>
              <a:t>저장·수정·삭제까지</a:t>
            </a:r>
            <a:r>
              <a:rPr lang="ko-KR" altLang="en-US" dirty="0"/>
              <a:t> 하나의 서비스 흐름으로 구현하였다.</a:t>
            </a:r>
          </a:p>
          <a:p>
            <a:endParaRPr lang="en-US" altLang="ko-KR" dirty="0"/>
          </a:p>
          <a:p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작은 프로토타입이 데이터 구조와 기능을 구체화하는 기준이 되었다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처음부터 복잡한 구조를 설계하기보다 핵심 기능을 먼저 구현하여 서비스 가능성을 확인하였다.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프로토타입의 한계를 분석하면서 필요한 테이블과 관계를 구체화할 수 있었다.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외부 API 데이터와 내부 데이터베이스를 연결하는 방법을 학습하였다.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Router</a:t>
            </a:r>
            <a:r>
              <a:rPr lang="ko-KR" altLang="en-US" dirty="0"/>
              <a:t>–Service–</a:t>
            </a:r>
            <a:r>
              <a:rPr lang="ko-KR" altLang="en-US" dirty="0" err="1"/>
              <a:t>Repository</a:t>
            </a:r>
            <a:r>
              <a:rPr lang="ko-KR" altLang="en-US" dirty="0"/>
              <a:t> 구조를 적용하며 각 계층의 역할을 이해하였다.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단순한 CRUD 기능도 서비스 목적에 맞는 데이터 구조가 중요하다는 점을 확인하였다.</a:t>
            </a:r>
          </a:p>
        </p:txBody>
      </p:sp>
    </p:spTree>
    <p:extLst>
      <p:ext uri="{BB962C8B-B14F-4D97-AF65-F5344CB8AC3E}">
        <p14:creationId xmlns:p14="http://schemas.microsoft.com/office/powerpoint/2010/main" val="3928876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A77683-78E9-48B9-B9BC-A8B86F71441F}"/>
              </a:ext>
            </a:extLst>
          </p:cNvPr>
          <p:cNvSpPr txBox="1"/>
          <p:nvPr/>
        </p:nvSpPr>
        <p:spPr>
          <a:xfrm>
            <a:off x="333463" y="819104"/>
            <a:ext cx="1024505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1</a:t>
            </a:r>
            <a:r>
              <a:rPr lang="ko-KR" altLang="en-US" sz="2400" dirty="0"/>
              <a:t>2. 향후 개선 방향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즐겨찾기 서비스를 영화 리뷰 서비스로 확장할 수 있다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Review</a:t>
            </a:r>
            <a:r>
              <a:rPr lang="ko-KR" altLang="en-US" dirty="0"/>
              <a:t> 테이블을 추가하여 리뷰와 </a:t>
            </a:r>
            <a:r>
              <a:rPr lang="ko-KR" altLang="en-US" dirty="0" err="1"/>
              <a:t>즐겨찾기를</a:t>
            </a:r>
            <a:r>
              <a:rPr lang="ko-KR" altLang="en-US" dirty="0"/>
              <a:t> 분리한다.</a:t>
            </a:r>
            <a:endParaRPr lang="en-US" altLang="ko-KR" dirty="0"/>
          </a:p>
          <a:p>
            <a:r>
              <a:rPr lang="en-US" altLang="ko-KR" dirty="0"/>
              <a:t>      - </a:t>
            </a:r>
            <a:r>
              <a:rPr lang="ko-KR" altLang="en-US" dirty="0" err="1"/>
              <a:t>Review</a:t>
            </a:r>
            <a:r>
              <a:rPr lang="ko-KR" altLang="en-US" dirty="0"/>
              <a:t> 테이블 확장 예시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별점과</a:t>
            </a:r>
            <a:r>
              <a:rPr lang="ko-KR" altLang="en-US" dirty="0"/>
              <a:t> 리뷰 작성일을 추가한다.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영화별</a:t>
            </a:r>
            <a:r>
              <a:rPr lang="ko-KR" altLang="en-US" dirty="0"/>
              <a:t> 평균 </a:t>
            </a:r>
            <a:r>
              <a:rPr lang="ko-KR" altLang="en-US" dirty="0" err="1"/>
              <a:t>별점과</a:t>
            </a:r>
            <a:r>
              <a:rPr lang="ko-KR" altLang="en-US" dirty="0"/>
              <a:t> 리뷰 개수를 제공한다.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장르·국가·감독별</a:t>
            </a:r>
            <a:r>
              <a:rPr lang="ko-KR" altLang="en-US" dirty="0"/>
              <a:t> 영화 추천 기능을 구현한다.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즐겨찾기 및 리뷰 데이터를 활용한 개인화 추천 기능을 추가한다.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페이지별 API 호출 실패와 네트워크 오류 처리를 강화한다.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환경변수와 배포 환경을 정리하여 서비스 운영 안정성을 높인다.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C4CC603F-9829-4368-9E91-3C01C334B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206984"/>
              </p:ext>
            </p:extLst>
          </p:nvPr>
        </p:nvGraphicFramePr>
        <p:xfrm>
          <a:off x="855676" y="2512060"/>
          <a:ext cx="2190459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459">
                  <a:extLst>
                    <a:ext uri="{9D8B030D-6E8A-4147-A177-3AD203B41FA5}">
                      <a16:colId xmlns:a16="http://schemas.microsoft.com/office/drawing/2014/main" val="2577325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Review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264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ko-KR" altLang="en-US" dirty="0"/>
                        <a:t>- </a:t>
                      </a:r>
                      <a:r>
                        <a:rPr lang="ko-KR" altLang="en-US" dirty="0" err="1"/>
                        <a:t>id</a:t>
                      </a:r>
                      <a:endParaRPr lang="ko-KR" altLang="en-US" dirty="0"/>
                    </a:p>
                    <a:p>
                      <a:pPr lvl="1"/>
                      <a:r>
                        <a:rPr lang="ko-KR" altLang="en-US" dirty="0"/>
                        <a:t>- </a:t>
                      </a:r>
                      <a:r>
                        <a:rPr lang="ko-KR" altLang="en-US" dirty="0" err="1"/>
                        <a:t>movie_cd</a:t>
                      </a:r>
                      <a:endParaRPr lang="ko-KR" altLang="en-US" dirty="0"/>
                    </a:p>
                    <a:p>
                      <a:pPr lvl="1"/>
                      <a:r>
                        <a:rPr lang="ko-KR" altLang="en-US" dirty="0"/>
                        <a:t>- </a:t>
                      </a:r>
                      <a:r>
                        <a:rPr lang="ko-KR" altLang="en-US" dirty="0" err="1"/>
                        <a:t>content</a:t>
                      </a:r>
                      <a:endParaRPr lang="ko-KR" altLang="en-US" dirty="0"/>
                    </a:p>
                    <a:p>
                      <a:pPr lvl="1"/>
                      <a:r>
                        <a:rPr lang="ko-KR" altLang="en-US" dirty="0"/>
                        <a:t>- </a:t>
                      </a:r>
                      <a:r>
                        <a:rPr lang="ko-KR" altLang="en-US" dirty="0" err="1"/>
                        <a:t>rating</a:t>
                      </a:r>
                      <a:endParaRPr lang="ko-KR" altLang="en-US" dirty="0"/>
                    </a:p>
                    <a:p>
                      <a:pPr lvl="1"/>
                      <a:r>
                        <a:rPr lang="ko-KR" altLang="en-US" dirty="0"/>
                        <a:t>- </a:t>
                      </a:r>
                      <a:r>
                        <a:rPr lang="ko-KR" altLang="en-US" dirty="0" err="1"/>
                        <a:t>created_at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220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263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1127</Words>
  <Application>Microsoft Office PowerPoint</Application>
  <PresentationFormat>와이드스크린</PresentationFormat>
  <Paragraphs>238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-apple-system</vt:lpstr>
      <vt:lpstr>Arial</vt:lpstr>
      <vt:lpstr>Calibri</vt:lpstr>
      <vt:lpstr>Consolas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37</cp:revision>
  <dcterms:created xsi:type="dcterms:W3CDTF">2026-03-10T17:23:29Z</dcterms:created>
  <dcterms:modified xsi:type="dcterms:W3CDTF">2026-08-28T02:30:56Z</dcterms:modified>
</cp:coreProperties>
</file>