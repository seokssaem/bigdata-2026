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58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241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</a:t>
            </a:r>
            <a:r>
              <a:rPr 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분석시스템 개발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2026-08-11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NoGaHee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876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indent="0" algn="l" fontAlgn="base" latinLnBrk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13_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빅데이터분석시스템개발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.pptx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외 실행결과 또는 코드 및 관련 파일들</a:t>
            </a: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빅데이터</a:t>
              </a:r>
              <a:r>
                <a:rPr 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시스템 개발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altLang="ko-KR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</a:rPr>
                <a:t>2001020906_24v3</a:t>
              </a:r>
              <a:endParaRPr lang="en-US" sz="11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63A94D-894D-443F-8FA6-75D66FE201E4}"/>
              </a:ext>
            </a:extLst>
          </p:cNvPr>
          <p:cNvSpPr txBox="1"/>
          <p:nvPr/>
        </p:nvSpPr>
        <p:spPr>
          <a:xfrm>
            <a:off x="461394" y="36911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파이프라인 주요 코드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9622192-2AA9-4557-A549-597719D92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98" y="1036864"/>
            <a:ext cx="4604862" cy="47842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809FB3-56F6-4B03-B0B0-65CBA2508C64}"/>
              </a:ext>
            </a:extLst>
          </p:cNvPr>
          <p:cNvSpPr txBox="1"/>
          <p:nvPr/>
        </p:nvSpPr>
        <p:spPr>
          <a:xfrm>
            <a:off x="6745826" y="806325"/>
            <a:ext cx="3439339" cy="89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&lt;</a:t>
            </a:r>
            <a:r>
              <a:rPr lang="ko-KR" altLang="en-US" sz="1200" b="1" dirty="0"/>
              <a:t>범주형 데이터 </a:t>
            </a:r>
            <a:r>
              <a:rPr lang="ko-KR" altLang="en-US" sz="1200" b="1" dirty="0" err="1"/>
              <a:t>전처리</a:t>
            </a:r>
            <a:r>
              <a:rPr lang="en-US" altLang="ko-KR" sz="1200" b="1" dirty="0"/>
              <a:t>&gt;</a:t>
            </a:r>
          </a:p>
          <a:p>
            <a:pPr marL="171450" indent="-171450" algn="ctr">
              <a:lnSpc>
                <a:spcPct val="150000"/>
              </a:lnSpc>
              <a:buFontTx/>
              <a:buChar char="-"/>
            </a:pPr>
            <a:r>
              <a:rPr lang="ko-KR" altLang="en-US" sz="1200" dirty="0" err="1"/>
              <a:t>최빈값</a:t>
            </a:r>
            <a:r>
              <a:rPr lang="ko-KR" altLang="en-US" sz="1200" dirty="0"/>
              <a:t> 대체 후 원</a:t>
            </a:r>
            <a:r>
              <a:rPr lang="en-US" altLang="ko-KR" sz="1200" dirty="0"/>
              <a:t>-</a:t>
            </a:r>
            <a:r>
              <a:rPr lang="ko-KR" altLang="en-US" sz="1200" dirty="0"/>
              <a:t>핫 인코딩 적용</a:t>
            </a:r>
            <a:endParaRPr lang="en-US" altLang="ko-KR" sz="1200" dirty="0"/>
          </a:p>
          <a:p>
            <a:pPr marL="171450" indent="-171450" algn="ctr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미상</a:t>
            </a:r>
            <a:r>
              <a:rPr lang="en-US" altLang="ko-KR" sz="1200" dirty="0"/>
              <a:t>/</a:t>
            </a:r>
            <a:r>
              <a:rPr lang="ko-KR" altLang="en-US" sz="1200" dirty="0"/>
              <a:t>신규 범주 대응</a:t>
            </a:r>
            <a:r>
              <a:rPr lang="en-US" altLang="ko-KR" sz="1200" dirty="0"/>
              <a:t>(</a:t>
            </a:r>
            <a:r>
              <a:rPr lang="en-US" altLang="ko-KR" sz="1200" dirty="0" err="1"/>
              <a:t>handle_unknown</a:t>
            </a:r>
            <a:r>
              <a:rPr lang="en-US" altLang="ko-KR" sz="1200" dirty="0"/>
              <a:t>='ignore')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617D73-8A99-450A-BAE1-F2DD5D356019}"/>
              </a:ext>
            </a:extLst>
          </p:cNvPr>
          <p:cNvSpPr txBox="1"/>
          <p:nvPr/>
        </p:nvSpPr>
        <p:spPr>
          <a:xfrm>
            <a:off x="6483448" y="2267407"/>
            <a:ext cx="3964098" cy="89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&lt;</a:t>
            </a:r>
            <a:r>
              <a:rPr lang="ko-KR" altLang="en-US" sz="1200" b="1" dirty="0"/>
              <a:t>수치형 데이터 </a:t>
            </a:r>
            <a:r>
              <a:rPr lang="ko-KR" altLang="en-US" sz="1200" b="1" dirty="0" err="1"/>
              <a:t>전처리</a:t>
            </a:r>
            <a:r>
              <a:rPr lang="en-US" altLang="ko-KR" sz="1200" b="1" dirty="0"/>
              <a:t>&gt;</a:t>
            </a:r>
          </a:p>
          <a:p>
            <a:pPr marL="171450" indent="-171450" algn="ctr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중앙값 대체 파이프라인 적용 후 </a:t>
            </a:r>
            <a:r>
              <a:rPr lang="en-US" altLang="ko-KR" sz="1200" dirty="0" err="1"/>
              <a:t>StandardScaler</a:t>
            </a:r>
            <a:r>
              <a:rPr lang="en-US" altLang="ko-KR" sz="1200" dirty="0"/>
              <a:t> </a:t>
            </a:r>
            <a:r>
              <a:rPr lang="ko-KR" altLang="en-US" sz="1200" dirty="0"/>
              <a:t>정규화</a:t>
            </a:r>
            <a:endParaRPr lang="en-US" altLang="ko-KR" sz="1200" dirty="0"/>
          </a:p>
          <a:p>
            <a:pPr marL="171450" indent="-171450" algn="ctr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이후 결측 유입에 대비한 안정적 설계 구축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08900F-E0C2-4070-AEA6-2A2F80FD684B}"/>
              </a:ext>
            </a:extLst>
          </p:cNvPr>
          <p:cNvSpPr txBox="1"/>
          <p:nvPr/>
        </p:nvSpPr>
        <p:spPr>
          <a:xfrm>
            <a:off x="6845755" y="3728489"/>
            <a:ext cx="3457228" cy="91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&lt;</a:t>
            </a:r>
            <a:r>
              <a:rPr lang="en-US" altLang="ko-KR" sz="1300" b="1" dirty="0" err="1"/>
              <a:t>ColumnTransformer</a:t>
            </a:r>
            <a:r>
              <a:rPr lang="en-US" altLang="ko-KR" sz="1200" b="1" dirty="0"/>
              <a:t>&gt;</a:t>
            </a:r>
          </a:p>
          <a:p>
            <a:pPr marL="171450" indent="-171450" algn="ctr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전처리와 </a:t>
            </a:r>
            <a:r>
              <a:rPr lang="ko-KR" altLang="en-US" sz="1200" dirty="0" err="1"/>
              <a:t>랜덤포레스트</a:t>
            </a:r>
            <a:r>
              <a:rPr lang="ko-KR" altLang="en-US" sz="1200" dirty="0"/>
              <a:t> 모델을 하나로 결합</a:t>
            </a:r>
            <a:endParaRPr lang="en-US" altLang="ko-KR" sz="1200" dirty="0"/>
          </a:p>
          <a:p>
            <a:pPr marL="171450" indent="-171450" algn="ctr">
              <a:lnSpc>
                <a:spcPct val="150000"/>
              </a:lnSpc>
              <a:buFontTx/>
              <a:buChar char="-"/>
            </a:pPr>
            <a:r>
              <a:rPr lang="ko-KR" altLang="en-US" sz="1200" dirty="0"/>
              <a:t>데이터 누수</a:t>
            </a:r>
            <a:r>
              <a:rPr lang="en-US" altLang="ko-KR" sz="1200" dirty="0"/>
              <a:t>(Data Leakage) </a:t>
            </a:r>
            <a:r>
              <a:rPr lang="ko-KR" altLang="en-US" sz="1200" dirty="0"/>
              <a:t>방지 및 재현성 확보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2F45E7-83AC-4965-A878-6D5319368976}"/>
              </a:ext>
            </a:extLst>
          </p:cNvPr>
          <p:cNvSpPr txBox="1"/>
          <p:nvPr/>
        </p:nvSpPr>
        <p:spPr>
          <a:xfrm>
            <a:off x="7203287" y="5204960"/>
            <a:ext cx="2742161" cy="89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/>
              <a:t>&lt;</a:t>
            </a:r>
            <a:r>
              <a:rPr lang="ko-KR" altLang="en-US" sz="1200" b="1" dirty="0"/>
              <a:t>모델 선정 및 불균형 대응</a:t>
            </a:r>
            <a:r>
              <a:rPr lang="en-US" altLang="ko-KR" sz="1200" b="1" dirty="0"/>
              <a:t>&gt;</a:t>
            </a:r>
          </a:p>
          <a:p>
            <a:pPr marL="171450" indent="-171450" algn="ctr">
              <a:lnSpc>
                <a:spcPct val="150000"/>
              </a:lnSpc>
              <a:buFontTx/>
              <a:buChar char="-"/>
            </a:pPr>
            <a:r>
              <a:rPr lang="en-US" altLang="ko-KR" sz="1200" dirty="0" err="1"/>
              <a:t>class_weight</a:t>
            </a:r>
            <a:r>
              <a:rPr lang="en-US" altLang="ko-KR" sz="1200" dirty="0"/>
              <a:t>='balanced’</a:t>
            </a:r>
          </a:p>
          <a:p>
            <a:pPr marL="171450" indent="-171450" algn="ctr">
              <a:lnSpc>
                <a:spcPct val="150000"/>
              </a:lnSpc>
              <a:buFontTx/>
              <a:buChar char="-"/>
            </a:pPr>
            <a:r>
              <a:rPr lang="en-US" altLang="ko-KR" sz="1200" dirty="0" err="1"/>
              <a:t>min_samples_leaf</a:t>
            </a:r>
            <a:r>
              <a:rPr lang="en-US" altLang="ko-KR" sz="1200" dirty="0"/>
              <a:t>=10 </a:t>
            </a:r>
            <a:r>
              <a:rPr lang="ko-KR" altLang="en-US" sz="1200" dirty="0"/>
              <a:t>→ </a:t>
            </a:r>
            <a:r>
              <a:rPr lang="ko-KR" altLang="en-US" sz="1200" dirty="0" err="1"/>
              <a:t>과적합</a:t>
            </a:r>
            <a:r>
              <a:rPr lang="ko-KR" altLang="en-US" sz="1200" dirty="0"/>
              <a:t> 방지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63A94D-894D-443F-8FA6-75D66FE201E4}"/>
              </a:ext>
            </a:extLst>
          </p:cNvPr>
          <p:cNvSpPr txBox="1"/>
          <p:nvPr/>
        </p:nvSpPr>
        <p:spPr>
          <a:xfrm>
            <a:off x="461394" y="36911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1.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파이프라인 주요 코드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5898DA0-1D76-4852-82D8-E8E44199BC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9353" b="10588"/>
          <a:stretch/>
        </p:blipFill>
        <p:spPr>
          <a:xfrm>
            <a:off x="461394" y="1451034"/>
            <a:ext cx="4871000" cy="4247560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FE9D34A-117F-40F7-AF1C-46174ECC4E9B}"/>
              </a:ext>
            </a:extLst>
          </p:cNvPr>
          <p:cNvSpPr/>
          <p:nvPr/>
        </p:nvSpPr>
        <p:spPr>
          <a:xfrm>
            <a:off x="6133119" y="1191345"/>
            <a:ext cx="5139144" cy="120032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범주형 변수는</a:t>
            </a:r>
            <a:r>
              <a:rPr lang="en-US" altLang="ko-KR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>
                <a:solidFill>
                  <a:schemeClr val="tx1"/>
                </a:solidFill>
              </a:rPr>
              <a:t>원</a:t>
            </a:r>
            <a:r>
              <a:rPr lang="en-US" altLang="ko-KR" sz="1100" dirty="0">
                <a:solidFill>
                  <a:schemeClr val="tx1"/>
                </a:solidFill>
              </a:rPr>
              <a:t>-</a:t>
            </a:r>
            <a:r>
              <a:rPr lang="ko-KR" altLang="en-US" sz="1100" dirty="0">
                <a:solidFill>
                  <a:schemeClr val="tx1"/>
                </a:solidFill>
              </a:rPr>
              <a:t>핫 인코딩으로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여러 컬럼 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시도</a:t>
            </a:r>
            <a:r>
              <a:rPr lang="en-US" altLang="ko-KR" sz="1100" dirty="0">
                <a:solidFill>
                  <a:schemeClr val="tx1"/>
                </a:solidFill>
              </a:rPr>
              <a:t>_</a:t>
            </a:r>
            <a:r>
              <a:rPr lang="ko-KR" altLang="en-US" sz="1100" dirty="0">
                <a:solidFill>
                  <a:schemeClr val="tx1"/>
                </a:solidFill>
              </a:rPr>
              <a:t>서울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시도</a:t>
            </a:r>
            <a:r>
              <a:rPr lang="en-US" altLang="ko-KR" sz="1100" dirty="0">
                <a:solidFill>
                  <a:schemeClr val="tx1"/>
                </a:solidFill>
              </a:rPr>
              <a:t>_</a:t>
            </a:r>
            <a:r>
              <a:rPr lang="ko-KR" altLang="en-US" sz="1100" dirty="0">
                <a:solidFill>
                  <a:schemeClr val="tx1"/>
                </a:solidFill>
              </a:rPr>
              <a:t>부산</a:t>
            </a:r>
            <a:r>
              <a:rPr lang="en-US" altLang="ko-KR" sz="1100" dirty="0">
                <a:solidFill>
                  <a:schemeClr val="tx1"/>
                </a:solidFill>
              </a:rPr>
              <a:t>...)</a:t>
            </a:r>
            <a:r>
              <a:rPr lang="ko-KR" altLang="en-US" sz="1100" dirty="0">
                <a:solidFill>
                  <a:schemeClr val="tx1"/>
                </a:solidFill>
              </a:rPr>
              <a:t>으로 쪼개지면서 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컬럼 하나에 중요도가 몰리는 수치형 변수보다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개별 중요도가 작게 나뉘어 보이는 착시가 생긴다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EE09280-F453-41C0-93D1-AC1B9A349176}"/>
              </a:ext>
            </a:extLst>
          </p:cNvPr>
          <p:cNvSpPr/>
          <p:nvPr/>
        </p:nvSpPr>
        <p:spPr>
          <a:xfrm>
            <a:off x="6133119" y="3078759"/>
            <a:ext cx="5139144" cy="99211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공정하게 비교하려면 원래 변수 단위로 다시 합산하는 과정이 필요하다</a:t>
            </a:r>
            <a:endParaRPr lang="en-US" altLang="ko-KR" sz="11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4EAF605-9691-4015-B584-EC0252A2BEEF}"/>
              </a:ext>
            </a:extLst>
          </p:cNvPr>
          <p:cNvSpPr/>
          <p:nvPr/>
        </p:nvSpPr>
        <p:spPr>
          <a:xfrm>
            <a:off x="6133119" y="4757955"/>
            <a:ext cx="5139144" cy="107425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원본 변수 단위로 다시 집계 한 후</a:t>
            </a:r>
            <a:r>
              <a:rPr lang="en-US" altLang="ko-KR" sz="1100" dirty="0">
                <a:solidFill>
                  <a:schemeClr val="tx1"/>
                </a:solidFill>
              </a:rPr>
              <a:t>,</a:t>
            </a:r>
          </a:p>
          <a:p>
            <a:pPr algn="ctr">
              <a:lnSpc>
                <a:spcPct val="150000"/>
              </a:lnSpc>
            </a:pPr>
            <a:r>
              <a:rPr lang="ko-KR" altLang="en-US" sz="1100" dirty="0">
                <a:solidFill>
                  <a:schemeClr val="tx1"/>
                </a:solidFill>
              </a:rPr>
              <a:t>그룹 순위 → 그룹 내 개별 순위 순으로 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  <a:r>
              <a:rPr lang="ko-KR" altLang="en-US" sz="1100" dirty="0">
                <a:solidFill>
                  <a:schemeClr val="tx1"/>
                </a:solidFill>
              </a:rPr>
              <a:t>단계 정렬을 했다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CB358F2-C738-45B5-9FA6-4D862B50EE53}"/>
              </a:ext>
            </a:extLst>
          </p:cNvPr>
          <p:cNvCxnSpPr/>
          <p:nvPr/>
        </p:nvCxnSpPr>
        <p:spPr>
          <a:xfrm>
            <a:off x="8702691" y="2525086"/>
            <a:ext cx="0" cy="427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4210DC1-E6FB-4850-8BDD-18B63CFEBF81}"/>
              </a:ext>
            </a:extLst>
          </p:cNvPr>
          <p:cNvCxnSpPr/>
          <p:nvPr/>
        </p:nvCxnSpPr>
        <p:spPr>
          <a:xfrm>
            <a:off x="8702691" y="4186108"/>
            <a:ext cx="0" cy="427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874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63A94D-894D-443F-8FA6-75D66FE201E4}"/>
              </a:ext>
            </a:extLst>
          </p:cNvPr>
          <p:cNvSpPr txBox="1"/>
          <p:nvPr/>
        </p:nvSpPr>
        <p:spPr>
          <a:xfrm>
            <a:off x="461394" y="369116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2. </a:t>
            </a:r>
            <a:r>
              <a:rPr lang="en-US" altLang="ko-KR" dirty="0" err="1">
                <a:latin typeface="HY견고딕" panose="02030600000101010101" pitchFamily="18" charset="-127"/>
                <a:ea typeface="HY견고딕" panose="02030600000101010101" pitchFamily="18" charset="-127"/>
              </a:rPr>
              <a:t>metrics.json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D45E764-3A84-496B-834E-29B1482F6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28" y="1166550"/>
            <a:ext cx="2695575" cy="48101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060BD68-32FB-4F5B-A1BC-CDFEC2838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014" y="1166550"/>
            <a:ext cx="3024218" cy="48096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D57D978-807A-4AAC-AD79-8B49A9A17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1404" y="1167075"/>
            <a:ext cx="3019768" cy="48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61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CBC878-1C7E-40B4-B392-A0CB013FDB0B}"/>
              </a:ext>
            </a:extLst>
          </p:cNvPr>
          <p:cNvSpPr txBox="1"/>
          <p:nvPr/>
        </p:nvSpPr>
        <p:spPr>
          <a:xfrm>
            <a:off x="461394" y="369116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결과 해석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38BC9D-C558-4154-AD15-804B88B88AE8}"/>
              </a:ext>
            </a:extLst>
          </p:cNvPr>
          <p:cNvSpPr txBox="1"/>
          <p:nvPr/>
        </p:nvSpPr>
        <p:spPr>
          <a:xfrm>
            <a:off x="5148787" y="1484852"/>
            <a:ext cx="118974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b="1" dirty="0"/>
              <a:t>&lt;</a:t>
            </a:r>
            <a:r>
              <a:rPr lang="ko-KR" altLang="en-US" sz="1500" b="1" dirty="0"/>
              <a:t>혼동 행렬</a:t>
            </a:r>
            <a:r>
              <a:rPr lang="en-US" altLang="ko-KR" sz="1500" b="1" dirty="0"/>
              <a:t>&gt;</a:t>
            </a:r>
            <a:endParaRPr lang="ko-KR" altLang="en-US" sz="1500" b="1" dirty="0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9C739F0-5731-4388-A105-027244466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684230"/>
              </p:ext>
            </p:extLst>
          </p:nvPr>
        </p:nvGraphicFramePr>
        <p:xfrm>
          <a:off x="2472887" y="1894125"/>
          <a:ext cx="654154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0516">
                  <a:extLst>
                    <a:ext uri="{9D8B030D-6E8A-4147-A177-3AD203B41FA5}">
                      <a16:colId xmlns:a16="http://schemas.microsoft.com/office/drawing/2014/main" val="2988068084"/>
                    </a:ext>
                  </a:extLst>
                </a:gridCol>
                <a:gridCol w="2180516">
                  <a:extLst>
                    <a:ext uri="{9D8B030D-6E8A-4147-A177-3AD203B41FA5}">
                      <a16:colId xmlns:a16="http://schemas.microsoft.com/office/drawing/2014/main" val="122080366"/>
                    </a:ext>
                  </a:extLst>
                </a:gridCol>
                <a:gridCol w="2180516">
                  <a:extLst>
                    <a:ext uri="{9D8B030D-6E8A-4147-A177-3AD203B41FA5}">
                      <a16:colId xmlns:a16="http://schemas.microsoft.com/office/drawing/2014/main" val="31739616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예측 </a:t>
                      </a:r>
                      <a:r>
                        <a:rPr lang="en-US" altLang="ko-KR" sz="1200" dirty="0"/>
                        <a:t>0 (</a:t>
                      </a:r>
                      <a:r>
                        <a:rPr lang="ko-KR" altLang="en-US" sz="1200" dirty="0"/>
                        <a:t>안전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예측 </a:t>
                      </a:r>
                      <a:r>
                        <a:rPr lang="en-US" altLang="ko-KR" sz="1200" dirty="0"/>
                        <a:t>1 (</a:t>
                      </a:r>
                      <a:r>
                        <a:rPr lang="ko-KR" altLang="en-US" sz="1200" dirty="0"/>
                        <a:t>위험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436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실제 </a:t>
                      </a:r>
                      <a:r>
                        <a:rPr lang="en-US" altLang="ko-KR" sz="1200" b="1" dirty="0"/>
                        <a:t>0 (</a:t>
                      </a:r>
                      <a:r>
                        <a:rPr lang="ko-KR" altLang="en-US" sz="1200" b="1" dirty="0"/>
                        <a:t>안전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23,459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22,290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377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실제 </a:t>
                      </a:r>
                      <a:r>
                        <a:rPr lang="en-US" altLang="ko-KR" sz="1200" b="1" dirty="0"/>
                        <a:t>1 (</a:t>
                      </a:r>
                      <a:r>
                        <a:rPr lang="ko-KR" altLang="en-US" sz="1200" b="1" dirty="0"/>
                        <a:t>위험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316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1,813</a:t>
                      </a:r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6061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449C03-C88C-4848-A60B-7D92A5DF7FE1}"/>
              </a:ext>
            </a:extLst>
          </p:cNvPr>
          <p:cNvSpPr txBox="1"/>
          <p:nvPr/>
        </p:nvSpPr>
        <p:spPr>
          <a:xfrm>
            <a:off x="1526797" y="3984771"/>
            <a:ext cx="66864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전체 </a:t>
            </a:r>
            <a:r>
              <a:rPr lang="en-US" altLang="ko-KR" sz="1200" dirty="0"/>
              <a:t>47878</a:t>
            </a:r>
            <a:r>
              <a:rPr lang="ko-KR" altLang="en-US" sz="1200" dirty="0"/>
              <a:t>건 중 실제 인명 피해는 </a:t>
            </a:r>
            <a:r>
              <a:rPr lang="en-US" altLang="ko-KR" sz="1200" dirty="0"/>
              <a:t>316+1,813 = 2,129</a:t>
            </a:r>
            <a:r>
              <a:rPr lang="ko-KR" altLang="en-US" sz="1200" dirty="0"/>
              <a:t>건 </a:t>
            </a:r>
            <a:r>
              <a:rPr lang="en-US" altLang="ko-KR" sz="1200" dirty="0"/>
              <a:t>(</a:t>
            </a:r>
            <a:r>
              <a:rPr lang="ko-KR" altLang="en-US" sz="1200" dirty="0"/>
              <a:t>전체의</a:t>
            </a:r>
            <a:r>
              <a:rPr lang="en-US" altLang="ko-KR" sz="1200" dirty="0"/>
              <a:t> 4.4%) </a:t>
            </a:r>
            <a:r>
              <a:rPr lang="ko-KR" altLang="en-US" sz="1200" dirty="0"/>
              <a:t>→ 예상했던 불균형 비율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184782-7859-43AD-A9CD-31DD954E62EB}"/>
              </a:ext>
            </a:extLst>
          </p:cNvPr>
          <p:cNvSpPr txBox="1"/>
          <p:nvPr/>
        </p:nvSpPr>
        <p:spPr>
          <a:xfrm>
            <a:off x="1526797" y="4414170"/>
            <a:ext cx="65885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그 중 모델이 잡아낸 건 </a:t>
            </a:r>
            <a:r>
              <a:rPr lang="en-US" altLang="ko-KR" sz="1200" dirty="0"/>
              <a:t>1,813</a:t>
            </a:r>
            <a:r>
              <a:rPr lang="ko-KR" altLang="en-US" sz="1200" dirty="0"/>
              <a:t>건 </a:t>
            </a:r>
            <a:r>
              <a:rPr lang="en-US" altLang="ko-KR" sz="1200" dirty="0"/>
              <a:t>(recall 0.8516) </a:t>
            </a:r>
            <a:r>
              <a:rPr lang="ko-KR" altLang="en-US" sz="1200" dirty="0"/>
              <a:t>→ 실제 인명 피해 사례 </a:t>
            </a:r>
            <a:r>
              <a:rPr lang="en-US" altLang="ko-KR" sz="1200" dirty="0"/>
              <a:t>10</a:t>
            </a:r>
            <a:r>
              <a:rPr lang="ko-KR" altLang="en-US" sz="1200" dirty="0"/>
              <a:t>건 중 </a:t>
            </a:r>
            <a:r>
              <a:rPr lang="en-US" altLang="ko-KR" sz="1200" dirty="0"/>
              <a:t>8</a:t>
            </a:r>
            <a:r>
              <a:rPr lang="ko-KR" altLang="en-US" sz="1200" dirty="0"/>
              <a:t>건은 잡아냈다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B2201-EBA7-4ED2-90DC-5941A84458F7}"/>
              </a:ext>
            </a:extLst>
          </p:cNvPr>
          <p:cNvSpPr txBox="1"/>
          <p:nvPr/>
        </p:nvSpPr>
        <p:spPr>
          <a:xfrm>
            <a:off x="1526796" y="4843569"/>
            <a:ext cx="9345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/>
              <a:t>대신 </a:t>
            </a:r>
            <a:r>
              <a:rPr lang="en-US" altLang="ko-KR" sz="1200" dirty="0"/>
              <a:t>“</a:t>
            </a:r>
            <a:r>
              <a:rPr lang="ko-KR" altLang="en-US" sz="1200" dirty="0"/>
              <a:t>위험하다</a:t>
            </a:r>
            <a:r>
              <a:rPr lang="en-US" altLang="ko-KR" sz="1200" dirty="0"/>
              <a:t>”</a:t>
            </a:r>
            <a:r>
              <a:rPr lang="ko-KR" altLang="en-US" sz="1200" dirty="0"/>
              <a:t>라고 예측한 </a:t>
            </a:r>
            <a:r>
              <a:rPr lang="en-US" altLang="ko-KR" sz="1200" dirty="0"/>
              <a:t>22,290+1,813 = 24,103</a:t>
            </a:r>
            <a:r>
              <a:rPr lang="ko-KR" altLang="en-US" sz="1200" dirty="0"/>
              <a:t>건 중 실제로 맞은 건 </a:t>
            </a:r>
            <a:r>
              <a:rPr lang="en-US" altLang="ko-KR" sz="1200" dirty="0"/>
              <a:t>1,813</a:t>
            </a:r>
            <a:r>
              <a:rPr lang="ko-KR" altLang="en-US" sz="1200" dirty="0"/>
              <a:t>건 </a:t>
            </a:r>
            <a:r>
              <a:rPr lang="en-US" altLang="ko-KR" sz="1200" dirty="0"/>
              <a:t>(precision 0.0752) </a:t>
            </a:r>
            <a:r>
              <a:rPr lang="ko-KR" altLang="en-US" sz="1200" dirty="0"/>
              <a:t>→ 위험 경보 </a:t>
            </a:r>
            <a:r>
              <a:rPr lang="en-US" altLang="ko-KR" sz="1200" dirty="0"/>
              <a:t>13</a:t>
            </a:r>
            <a:r>
              <a:rPr lang="ko-KR" altLang="en-US" sz="1200" dirty="0"/>
              <a:t>번 중 </a:t>
            </a:r>
            <a:r>
              <a:rPr lang="en-US" altLang="ko-KR" sz="1200" dirty="0"/>
              <a:t>1</a:t>
            </a:r>
            <a:r>
              <a:rPr lang="ko-KR" altLang="en-US" sz="1200" dirty="0"/>
              <a:t>번만 진짜였다</a:t>
            </a:r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CBC878-1C7E-40B4-B392-A0CB013FDB0B}"/>
              </a:ext>
            </a:extLst>
          </p:cNvPr>
          <p:cNvSpPr txBox="1"/>
          <p:nvPr/>
        </p:nvSpPr>
        <p:spPr>
          <a:xfrm>
            <a:off x="461394" y="369116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결과 해석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0DF2C5-D6E5-4D7C-808F-DAD8479AF649}"/>
              </a:ext>
            </a:extLst>
          </p:cNvPr>
          <p:cNvSpPr txBox="1"/>
          <p:nvPr/>
        </p:nvSpPr>
        <p:spPr>
          <a:xfrm>
            <a:off x="2602503" y="956226"/>
            <a:ext cx="6437981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b="1" dirty="0"/>
              <a:t>&lt;ROC-AUC = 0.77&gt;</a:t>
            </a:r>
            <a:endParaRPr lang="ko-KR" altLang="en-US" sz="1500" b="1" dirty="0"/>
          </a:p>
          <a:p>
            <a:pPr algn="ctr"/>
            <a:endParaRPr lang="en-US" altLang="ko-KR" sz="1200" dirty="0"/>
          </a:p>
          <a:p>
            <a:pPr algn="ctr"/>
            <a:r>
              <a:rPr lang="ko-KR" altLang="en-US" sz="1200" dirty="0"/>
              <a:t>수치가 </a:t>
            </a:r>
            <a:r>
              <a:rPr lang="en-US" altLang="ko-KR" sz="1200" dirty="0"/>
              <a:t>0.5</a:t>
            </a:r>
            <a:r>
              <a:rPr lang="ko-KR" altLang="en-US" sz="1200" dirty="0"/>
              <a:t>이면 랜덤</a:t>
            </a:r>
            <a:r>
              <a:rPr lang="en-US" altLang="ko-KR" sz="1200" dirty="0"/>
              <a:t>, 1.0</a:t>
            </a:r>
            <a:r>
              <a:rPr lang="ko-KR" altLang="en-US" sz="1200" dirty="0"/>
              <a:t>이면 완벽하다는 기준에서</a:t>
            </a:r>
            <a:r>
              <a:rPr lang="en-US" altLang="ko-KR" sz="1200" dirty="0"/>
              <a:t> 0.77</a:t>
            </a:r>
            <a:r>
              <a:rPr lang="ko-KR" altLang="en-US" sz="1200" dirty="0"/>
              <a:t>이라는 수치로 준수한 </a:t>
            </a:r>
            <a:r>
              <a:rPr lang="ko-KR" altLang="en-US" sz="1200" dirty="0" err="1"/>
              <a:t>판별력을</a:t>
            </a:r>
            <a:r>
              <a:rPr lang="ko-KR" altLang="en-US" sz="1200" dirty="0"/>
              <a:t> 보였다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A0952F-9D37-44DA-9889-CB293155C1CD}"/>
              </a:ext>
            </a:extLst>
          </p:cNvPr>
          <p:cNvSpPr txBox="1"/>
          <p:nvPr/>
        </p:nvSpPr>
        <p:spPr>
          <a:xfrm>
            <a:off x="3318051" y="2009359"/>
            <a:ext cx="4777270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b="1" dirty="0"/>
              <a:t>&lt;Recall = 0.8516&gt;</a:t>
            </a:r>
            <a:endParaRPr lang="ko-KR" altLang="en-US" sz="1500" b="1" dirty="0"/>
          </a:p>
          <a:p>
            <a:pPr algn="ctr"/>
            <a:endParaRPr lang="en-US" altLang="ko-KR" sz="1200" dirty="0"/>
          </a:p>
          <a:p>
            <a:pPr algn="ctr"/>
            <a:r>
              <a:rPr lang="ko-KR" altLang="en-US" sz="1200" dirty="0" err="1"/>
              <a:t>임계값을</a:t>
            </a:r>
            <a:r>
              <a:rPr lang="ko-KR" altLang="en-US" sz="1200" dirty="0"/>
              <a:t> </a:t>
            </a:r>
            <a:r>
              <a:rPr lang="en-US" altLang="ko-KR" sz="1200" dirty="0"/>
              <a:t>0.3</a:t>
            </a:r>
            <a:r>
              <a:rPr lang="ko-KR" altLang="en-US" sz="1200" dirty="0"/>
              <a:t>으로 설정하여 실제 인명 피해 사례의</a:t>
            </a:r>
            <a:r>
              <a:rPr lang="en-US" altLang="ko-KR" sz="1200" dirty="0"/>
              <a:t> </a:t>
            </a:r>
            <a:r>
              <a:rPr lang="ko-KR" altLang="en-US" sz="1200" dirty="0"/>
              <a:t>약 </a:t>
            </a:r>
            <a:r>
              <a:rPr lang="en-US" altLang="ko-KR" sz="1200" dirty="0"/>
              <a:t>85%</a:t>
            </a:r>
            <a:r>
              <a:rPr lang="ko-KR" altLang="en-US" sz="1200" dirty="0"/>
              <a:t>를 잡아냈다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46A5B1-6157-440F-B56B-9FD2F9DDE36D}"/>
              </a:ext>
            </a:extLst>
          </p:cNvPr>
          <p:cNvSpPr txBox="1"/>
          <p:nvPr/>
        </p:nvSpPr>
        <p:spPr>
          <a:xfrm>
            <a:off x="3827197" y="3062075"/>
            <a:ext cx="398859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500" b="1" dirty="0"/>
              <a:t>&lt;Precision = 0.0752&gt;</a:t>
            </a:r>
            <a:endParaRPr lang="ko-KR" altLang="en-US" sz="1500" b="1" dirty="0"/>
          </a:p>
          <a:p>
            <a:pPr algn="ctr"/>
            <a:endParaRPr lang="en-US" altLang="ko-KR" sz="1200" dirty="0"/>
          </a:p>
          <a:p>
            <a:pPr algn="ctr"/>
            <a:r>
              <a:rPr lang="ko-KR" altLang="en-US" sz="1200" dirty="0"/>
              <a:t>수치가 낮지만</a:t>
            </a:r>
            <a:r>
              <a:rPr lang="en-US" altLang="ko-KR" sz="1200" dirty="0"/>
              <a:t>, </a:t>
            </a:r>
            <a:r>
              <a:rPr lang="ko-KR" altLang="en-US" sz="1200" dirty="0"/>
              <a:t>무작위 추측</a:t>
            </a:r>
            <a:r>
              <a:rPr lang="en-US" altLang="ko-KR" sz="1200" dirty="0"/>
              <a:t>(4.4%)</a:t>
            </a:r>
            <a:r>
              <a:rPr lang="ko-KR" altLang="en-US" sz="1200" dirty="0"/>
              <a:t>에 비해서 약 </a:t>
            </a:r>
            <a:r>
              <a:rPr lang="en-US" altLang="ko-KR" sz="1200" dirty="0"/>
              <a:t>1.7</a:t>
            </a:r>
            <a:r>
              <a:rPr lang="ko-KR" altLang="en-US" sz="1200" dirty="0"/>
              <a:t>배 높다</a:t>
            </a:r>
            <a:endParaRPr lang="en-US" altLang="ko-KR" sz="12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49A673D5-8A65-4C59-B65D-BADF2880EE40}"/>
              </a:ext>
            </a:extLst>
          </p:cNvPr>
          <p:cNvCxnSpPr/>
          <p:nvPr/>
        </p:nvCxnSpPr>
        <p:spPr>
          <a:xfrm>
            <a:off x="5812637" y="4009937"/>
            <a:ext cx="0" cy="604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3C7B5CB-4DBD-4067-89E9-C9B947020311}"/>
              </a:ext>
            </a:extLst>
          </p:cNvPr>
          <p:cNvSpPr/>
          <p:nvPr/>
        </p:nvSpPr>
        <p:spPr>
          <a:xfrm>
            <a:off x="2264560" y="4885801"/>
            <a:ext cx="7113865" cy="120460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tx1"/>
                </a:solidFill>
              </a:rPr>
              <a:t>“</a:t>
            </a:r>
            <a:r>
              <a:rPr lang="ko-KR" altLang="en-US" sz="1200" b="1" dirty="0">
                <a:solidFill>
                  <a:schemeClr val="tx1"/>
                </a:solidFill>
              </a:rPr>
              <a:t>인명 피해를 놓치는 게 </a:t>
            </a:r>
            <a:r>
              <a:rPr lang="ko-KR" altLang="en-US" sz="1200" b="1" dirty="0" err="1">
                <a:solidFill>
                  <a:schemeClr val="tx1"/>
                </a:solidFill>
              </a:rPr>
              <a:t>오탐보다</a:t>
            </a:r>
            <a:r>
              <a:rPr lang="ko-KR" altLang="en-US" sz="1200" b="1" dirty="0">
                <a:solidFill>
                  <a:schemeClr val="tx1"/>
                </a:solidFill>
              </a:rPr>
              <a:t> 위험하다</a:t>
            </a:r>
            <a:r>
              <a:rPr lang="en-US" altLang="ko-KR" sz="1200" b="1" dirty="0">
                <a:solidFill>
                  <a:schemeClr val="tx1"/>
                </a:solidFill>
              </a:rPr>
              <a:t>”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인명 피해라는 결과를 놓치지 않는 것을 우선했기 때문에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정밀도가 낮은 것은 </a:t>
            </a:r>
            <a:r>
              <a:rPr lang="en-US" altLang="ko-KR" sz="1200" dirty="0">
                <a:solidFill>
                  <a:schemeClr val="tx1"/>
                </a:solidFill>
              </a:rPr>
              <a:t>recall</a:t>
            </a:r>
            <a:r>
              <a:rPr lang="ko-KR" altLang="en-US" sz="1200" dirty="0">
                <a:solidFill>
                  <a:schemeClr val="tx1"/>
                </a:solidFill>
              </a:rPr>
              <a:t>을 보다 중요하게 본 설계 선택의 결과이다</a:t>
            </a:r>
          </a:p>
        </p:txBody>
      </p:sp>
    </p:spTree>
    <p:extLst>
      <p:ext uri="{BB962C8B-B14F-4D97-AF65-F5344CB8AC3E}">
        <p14:creationId xmlns:p14="http://schemas.microsoft.com/office/powerpoint/2010/main" val="2309486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CBC878-1C7E-40B4-B392-A0CB013FDB0B}"/>
              </a:ext>
            </a:extLst>
          </p:cNvPr>
          <p:cNvSpPr txBox="1"/>
          <p:nvPr/>
        </p:nvSpPr>
        <p:spPr>
          <a:xfrm>
            <a:off x="461394" y="369116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3.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HY견고딕" panose="02030600000101010101" pitchFamily="18" charset="-127"/>
                <a:ea typeface="HY견고딕" panose="02030600000101010101" pitchFamily="18" charset="-127"/>
              </a:rPr>
              <a:t>결과 해석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3C7717-9310-4AB4-9092-EFFA5427FD08}"/>
              </a:ext>
            </a:extLst>
          </p:cNvPr>
          <p:cNvSpPr txBox="1"/>
          <p:nvPr/>
        </p:nvSpPr>
        <p:spPr>
          <a:xfrm>
            <a:off x="5208694" y="992965"/>
            <a:ext cx="138211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dirty="0"/>
              <a:t>&lt;</a:t>
            </a:r>
            <a:r>
              <a:rPr lang="ko-KR" altLang="en-US" sz="1500" b="1" dirty="0"/>
              <a:t>변수 중요도</a:t>
            </a:r>
            <a:r>
              <a:rPr lang="en-US" altLang="ko-KR" sz="1500" b="1" dirty="0"/>
              <a:t>&gt;</a:t>
            </a:r>
            <a:endParaRPr lang="ko-KR" altLang="en-US" sz="15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E04EA-786C-46B1-9CE1-7650456C5D2C}"/>
              </a:ext>
            </a:extLst>
          </p:cNvPr>
          <p:cNvSpPr txBox="1"/>
          <p:nvPr/>
        </p:nvSpPr>
        <p:spPr>
          <a:xfrm>
            <a:off x="2385904" y="1591609"/>
            <a:ext cx="70342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발화 요인이 </a:t>
            </a:r>
            <a:r>
              <a:rPr lang="en-US" altLang="ko-KR" sz="1200" dirty="0"/>
              <a:t>38%</a:t>
            </a:r>
            <a:r>
              <a:rPr lang="ko-KR" altLang="en-US" sz="1200" dirty="0"/>
              <a:t>로 가장 높았고</a:t>
            </a:r>
            <a:r>
              <a:rPr lang="en-US" altLang="ko-KR" sz="1200" dirty="0"/>
              <a:t>, </a:t>
            </a:r>
            <a:r>
              <a:rPr lang="ko-KR" altLang="en-US" sz="1200" dirty="0"/>
              <a:t>발화 요인 중에서도 가스 누출</a:t>
            </a:r>
            <a:r>
              <a:rPr lang="en-US" altLang="ko-KR" sz="1200" dirty="0"/>
              <a:t>, </a:t>
            </a:r>
            <a:r>
              <a:rPr lang="ko-KR" altLang="en-US" sz="1200" dirty="0"/>
              <a:t>원인 미상</a:t>
            </a:r>
            <a:r>
              <a:rPr lang="en-US" altLang="ko-KR" sz="1200" dirty="0"/>
              <a:t>, </a:t>
            </a:r>
            <a:r>
              <a:rPr lang="ko-KR" altLang="en-US" sz="1200" dirty="0"/>
              <a:t>방화 순으로 영향이 컸다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7F2DF8-D257-4B74-8047-F9E2B008E08F}"/>
              </a:ext>
            </a:extLst>
          </p:cNvPr>
          <p:cNvSpPr txBox="1"/>
          <p:nvPr/>
        </p:nvSpPr>
        <p:spPr>
          <a:xfrm>
            <a:off x="4362308" y="2143430"/>
            <a:ext cx="30748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두번째로는 장소가 </a:t>
            </a:r>
            <a:r>
              <a:rPr lang="en-US" altLang="ko-KR" sz="1200" dirty="0"/>
              <a:t>20%</a:t>
            </a:r>
            <a:r>
              <a:rPr lang="ko-KR" altLang="en-US" sz="1200" dirty="0"/>
              <a:t>로</a:t>
            </a:r>
            <a:r>
              <a:rPr lang="en-US" altLang="ko-KR" sz="1200" dirty="0"/>
              <a:t> </a:t>
            </a:r>
            <a:r>
              <a:rPr lang="ko-KR" altLang="en-US" sz="1200" dirty="0"/>
              <a:t>영향을 미쳤다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18D2EE-CB9F-49BF-ACEF-9BFF4C326446}"/>
              </a:ext>
            </a:extLst>
          </p:cNvPr>
          <p:cNvSpPr txBox="1"/>
          <p:nvPr/>
        </p:nvSpPr>
        <p:spPr>
          <a:xfrm>
            <a:off x="3980793" y="2695251"/>
            <a:ext cx="38379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시도와 발생</a:t>
            </a:r>
            <a:r>
              <a:rPr lang="en-US" altLang="ko-KR" sz="1200" dirty="0"/>
              <a:t>_</a:t>
            </a:r>
            <a:r>
              <a:rPr lang="ko-KR" altLang="en-US" sz="1200" dirty="0"/>
              <a:t>시간이 비슷한 수준 </a:t>
            </a:r>
            <a:r>
              <a:rPr lang="en-US" altLang="ko-KR" sz="1200" dirty="0"/>
              <a:t>12%</a:t>
            </a:r>
            <a:r>
              <a:rPr lang="ko-KR" altLang="en-US" sz="1200" dirty="0"/>
              <a:t>로 뒤를 이었다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DC5D84-5184-4C7B-B2CA-F720439E8C32}"/>
              </a:ext>
            </a:extLst>
          </p:cNvPr>
          <p:cNvSpPr txBox="1"/>
          <p:nvPr/>
        </p:nvSpPr>
        <p:spPr>
          <a:xfrm>
            <a:off x="3483862" y="3247072"/>
            <a:ext cx="4831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마지막으로 발생</a:t>
            </a:r>
            <a:r>
              <a:rPr lang="en-US" altLang="ko-KR" sz="1200" dirty="0"/>
              <a:t>_</a:t>
            </a:r>
            <a:r>
              <a:rPr lang="ko-KR" altLang="en-US" sz="1200" dirty="0"/>
              <a:t>월</a:t>
            </a:r>
            <a:r>
              <a:rPr lang="en-US" altLang="ko-KR" sz="1200" dirty="0"/>
              <a:t>, </a:t>
            </a:r>
            <a:r>
              <a:rPr lang="ko-KR" altLang="en-US" sz="1200" dirty="0"/>
              <a:t>발생</a:t>
            </a:r>
            <a:r>
              <a:rPr lang="en-US" altLang="ko-KR" sz="1200" dirty="0"/>
              <a:t>_</a:t>
            </a:r>
            <a:r>
              <a:rPr lang="ko-KR" altLang="en-US" sz="1200" dirty="0"/>
              <a:t>요일이 각각 </a:t>
            </a:r>
            <a:r>
              <a:rPr lang="en-US" altLang="ko-KR" sz="1200" dirty="0"/>
              <a:t>10%, 8%</a:t>
            </a:r>
            <a:r>
              <a:rPr lang="ko-KR" altLang="en-US" sz="1200" dirty="0"/>
              <a:t>의 비중을 차지했다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E32130A-FA33-4210-B7EF-D6CCEEF6F4B8}"/>
              </a:ext>
            </a:extLst>
          </p:cNvPr>
          <p:cNvSpPr/>
          <p:nvPr/>
        </p:nvSpPr>
        <p:spPr>
          <a:xfrm>
            <a:off x="2342815" y="4510105"/>
            <a:ext cx="7113865" cy="1646701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가설 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r>
              <a:rPr lang="ko-KR" altLang="en-US" sz="1200" dirty="0">
                <a:solidFill>
                  <a:schemeClr val="tx1"/>
                </a:solidFill>
              </a:rPr>
              <a:t>요소 발화요인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발생 장소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시간대 중 </a:t>
            </a:r>
            <a:r>
              <a:rPr lang="ko-KR" altLang="en-US" sz="1200" b="1" dirty="0">
                <a:solidFill>
                  <a:schemeClr val="tx1"/>
                </a:solidFill>
              </a:rPr>
              <a:t>발화 요인</a:t>
            </a:r>
            <a:r>
              <a:rPr lang="ko-KR" altLang="en-US" sz="1200" dirty="0">
                <a:solidFill>
                  <a:schemeClr val="tx1"/>
                </a:solidFill>
              </a:rPr>
              <a:t>이 가장 결정적이었다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다음으로는 </a:t>
            </a:r>
            <a:r>
              <a:rPr lang="ko-KR" altLang="en-US" sz="1200" b="1" dirty="0">
                <a:solidFill>
                  <a:schemeClr val="tx1"/>
                </a:solidFill>
              </a:rPr>
              <a:t>발생 장소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장소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시도</a:t>
            </a:r>
            <a:r>
              <a:rPr lang="en-US" altLang="ko-KR" sz="1200" dirty="0">
                <a:solidFill>
                  <a:schemeClr val="tx1"/>
                </a:solidFill>
              </a:rPr>
              <a:t>) </a:t>
            </a:r>
            <a:r>
              <a:rPr lang="ko-KR" altLang="en-US" sz="1200" dirty="0">
                <a:solidFill>
                  <a:schemeClr val="tx1"/>
                </a:solidFill>
              </a:rPr>
              <a:t>변수가 </a:t>
            </a:r>
            <a:r>
              <a:rPr lang="en-US" altLang="ko-KR" sz="1200" dirty="0">
                <a:solidFill>
                  <a:schemeClr val="tx1"/>
                </a:solidFill>
              </a:rPr>
              <a:t>32%, </a:t>
            </a:r>
            <a:r>
              <a:rPr lang="ko-KR" altLang="en-US" sz="1200" b="1" dirty="0">
                <a:solidFill>
                  <a:schemeClr val="tx1"/>
                </a:solidFill>
              </a:rPr>
              <a:t>시간대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발생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>
                <a:solidFill>
                  <a:schemeClr val="tx1"/>
                </a:solidFill>
              </a:rPr>
              <a:t>시간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월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요일</a:t>
            </a:r>
            <a:r>
              <a:rPr lang="en-US" altLang="ko-KR" sz="1200" dirty="0">
                <a:solidFill>
                  <a:schemeClr val="tx1"/>
                </a:solidFill>
              </a:rPr>
              <a:t>) </a:t>
            </a:r>
            <a:r>
              <a:rPr lang="ko-KR" altLang="en-US" sz="1200" dirty="0">
                <a:solidFill>
                  <a:schemeClr val="tx1"/>
                </a:solidFill>
              </a:rPr>
              <a:t>변수가 </a:t>
            </a:r>
            <a:r>
              <a:rPr lang="en-US" altLang="ko-KR" sz="1200" dirty="0">
                <a:solidFill>
                  <a:schemeClr val="tx1"/>
                </a:solidFill>
              </a:rPr>
              <a:t>30%</a:t>
            </a:r>
            <a:r>
              <a:rPr lang="ko-KR" altLang="en-US" sz="1200" dirty="0">
                <a:solidFill>
                  <a:schemeClr val="tx1"/>
                </a:solidFill>
              </a:rPr>
              <a:t>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“</a:t>
            </a:r>
            <a:r>
              <a:rPr lang="ko-KR" altLang="en-US" sz="1200" dirty="0">
                <a:solidFill>
                  <a:schemeClr val="tx1"/>
                </a:solidFill>
              </a:rPr>
              <a:t>언제</a:t>
            </a:r>
            <a:r>
              <a:rPr lang="en-US" altLang="ko-KR" sz="1200" dirty="0">
                <a:solidFill>
                  <a:schemeClr val="tx1"/>
                </a:solidFill>
              </a:rPr>
              <a:t>”, “</a:t>
            </a:r>
            <a:r>
              <a:rPr lang="ko-KR" altLang="en-US" sz="1200" dirty="0">
                <a:solidFill>
                  <a:schemeClr val="tx1"/>
                </a:solidFill>
              </a:rPr>
              <a:t>어디서</a:t>
            </a:r>
            <a:r>
              <a:rPr lang="en-US" altLang="ko-KR" sz="1200" dirty="0">
                <a:solidFill>
                  <a:schemeClr val="tx1"/>
                </a:solidFill>
              </a:rPr>
              <a:t>” </a:t>
            </a:r>
            <a:r>
              <a:rPr lang="ko-KR" altLang="en-US" sz="1200" dirty="0">
                <a:solidFill>
                  <a:schemeClr val="tx1"/>
                </a:solidFill>
              </a:rPr>
              <a:t>또한 중요한 변수임이 확인 되어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1200" b="1" dirty="0">
                <a:solidFill>
                  <a:srgbClr val="C00000"/>
                </a:solidFill>
              </a:rPr>
              <a:t>가설은 세 요소 모두 어느 정도 지지되었다고 볼 수 있다</a:t>
            </a:r>
            <a:endParaRPr lang="en-US" altLang="ko-KR" sz="1200" b="1" dirty="0">
              <a:solidFill>
                <a:srgbClr val="C0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DF0EFA9-C1B5-4E9B-886B-A62B204FD9FB}"/>
              </a:ext>
            </a:extLst>
          </p:cNvPr>
          <p:cNvCxnSpPr/>
          <p:nvPr/>
        </p:nvCxnSpPr>
        <p:spPr>
          <a:xfrm>
            <a:off x="5899747" y="3733101"/>
            <a:ext cx="0" cy="6040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3899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0680C3-83F9-4515-B869-1846D78FDC62}"/>
              </a:ext>
            </a:extLst>
          </p:cNvPr>
          <p:cNvSpPr txBox="1"/>
          <p:nvPr/>
        </p:nvSpPr>
        <p:spPr>
          <a:xfrm>
            <a:off x="461394" y="369116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4.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시각화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36F8F1-2338-4E1C-824F-E87A4ABCC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26" y="1096344"/>
            <a:ext cx="11165747" cy="498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131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0680C3-83F9-4515-B869-1846D78FDC62}"/>
              </a:ext>
            </a:extLst>
          </p:cNvPr>
          <p:cNvSpPr txBox="1"/>
          <p:nvPr/>
        </p:nvSpPr>
        <p:spPr>
          <a:xfrm>
            <a:off x="461394" y="369116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4.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시각화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A60223-64DE-4B04-BEE8-11F97597B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00" y="1424819"/>
            <a:ext cx="11167200" cy="400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42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A921F8-AA2C-4C0C-B7C6-6EED58885091}"/>
              </a:ext>
            </a:extLst>
          </p:cNvPr>
          <p:cNvSpPr txBox="1"/>
          <p:nvPr/>
        </p:nvSpPr>
        <p:spPr>
          <a:xfrm>
            <a:off x="461394" y="369116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HY견고딕" panose="02030600000101010101" pitchFamily="18" charset="-127"/>
                <a:ea typeface="HY견고딕" panose="02030600000101010101" pitchFamily="18" charset="-127"/>
              </a:rPr>
              <a:t>5. </a:t>
            </a:r>
            <a:r>
              <a:rPr lang="ko-KR" altLang="en-US" dirty="0">
                <a:latin typeface="HY견고딕" panose="02030600000101010101" pitchFamily="18" charset="-127"/>
                <a:ea typeface="HY견고딕" panose="02030600000101010101" pitchFamily="18" charset="-127"/>
              </a:rPr>
              <a:t>느낀 점 및 개선할 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F1F9F-4C4C-491A-AAAD-7B9632EFF73F}"/>
              </a:ext>
            </a:extLst>
          </p:cNvPr>
          <p:cNvSpPr txBox="1"/>
          <p:nvPr/>
        </p:nvSpPr>
        <p:spPr>
          <a:xfrm>
            <a:off x="461394" y="3942826"/>
            <a:ext cx="8735084" cy="1516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/>
              <a:t>&lt;</a:t>
            </a:r>
            <a:r>
              <a:rPr lang="ko-KR" altLang="en-US" sz="1500" b="1" dirty="0"/>
              <a:t>개선할 점</a:t>
            </a:r>
            <a:r>
              <a:rPr lang="en-US" altLang="ko-KR" sz="1500" b="1" dirty="0"/>
              <a:t>&gt;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변수 중요도 분석 시</a:t>
            </a:r>
            <a:r>
              <a:rPr lang="en-US" altLang="ko-KR" sz="1200" dirty="0"/>
              <a:t>, </a:t>
            </a:r>
            <a:r>
              <a:rPr lang="ko-KR" altLang="en-US" sz="1200" dirty="0"/>
              <a:t>원</a:t>
            </a:r>
            <a:r>
              <a:rPr lang="en-US" altLang="ko-KR" sz="1200" dirty="0"/>
              <a:t>-</a:t>
            </a:r>
            <a:r>
              <a:rPr lang="ko-KR" altLang="en-US" sz="1200" dirty="0"/>
              <a:t>핫 </a:t>
            </a:r>
            <a:r>
              <a:rPr lang="ko-KR" altLang="en-US" sz="1200" dirty="0" err="1"/>
              <a:t>인코딩된</a:t>
            </a:r>
            <a:r>
              <a:rPr lang="ko-KR" altLang="en-US" sz="1200" dirty="0"/>
              <a:t> 세부 피처 전체를 대상으로 상위 </a:t>
            </a:r>
            <a:r>
              <a:rPr lang="en-US" altLang="ko-KR" sz="1200" dirty="0"/>
              <a:t>10</a:t>
            </a:r>
            <a:r>
              <a:rPr lang="ko-KR" altLang="en-US" sz="1200" dirty="0"/>
              <a:t>개를 추출하다 보니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한 변수</a:t>
            </a:r>
            <a:r>
              <a:rPr lang="en-US" altLang="ko-KR" sz="1200" dirty="0"/>
              <a:t>(</a:t>
            </a:r>
            <a:r>
              <a:rPr lang="ko-KR" altLang="en-US" sz="1200" dirty="0"/>
              <a:t>예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발화요인소분류</a:t>
            </a:r>
            <a:r>
              <a:rPr lang="en-US" altLang="ko-KR" sz="1200" dirty="0"/>
              <a:t>)</a:t>
            </a:r>
            <a:r>
              <a:rPr lang="ko-KR" altLang="en-US" sz="1200" dirty="0"/>
              <a:t>에서 여러 개가 겹쳐 뽑히면서 다른 그룹의 변수들은 상위권에 아예 노출되지 못하는 한계가 있었다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그룹별로 상위 </a:t>
            </a:r>
            <a:r>
              <a:rPr lang="en-US" altLang="ko-KR" sz="1200" dirty="0"/>
              <a:t>N</a:t>
            </a:r>
            <a:r>
              <a:rPr lang="ko-KR" altLang="en-US" sz="1200" dirty="0"/>
              <a:t>개씩 균형 있게 뽑거나</a:t>
            </a:r>
            <a:r>
              <a:rPr lang="en-US" altLang="ko-KR" sz="1200" dirty="0"/>
              <a:t>, </a:t>
            </a:r>
            <a:r>
              <a:rPr lang="ko-KR" altLang="en-US" sz="1200" dirty="0"/>
              <a:t>그룹 중요도와 세부 피처 중요도를 함께 보여주는 방식으로 개선이 필요하다고 느꼈다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19A92-75CF-4C07-A5A1-E40B1842BF8B}"/>
              </a:ext>
            </a:extLst>
          </p:cNvPr>
          <p:cNvSpPr txBox="1"/>
          <p:nvPr/>
        </p:nvSpPr>
        <p:spPr>
          <a:xfrm>
            <a:off x="461394" y="1294031"/>
            <a:ext cx="10658687" cy="2070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b="1" dirty="0"/>
              <a:t>&lt;</a:t>
            </a:r>
            <a:r>
              <a:rPr lang="ko-KR" altLang="en-US" sz="1500" b="1" dirty="0"/>
              <a:t>느낀 점</a:t>
            </a:r>
            <a:r>
              <a:rPr lang="en-US" altLang="ko-KR" sz="1500" b="1" dirty="0"/>
              <a:t>&gt;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ko-KR" altLang="en-US" sz="1200" dirty="0"/>
              <a:t>팀 프로젝트를 처음 진행하면서 협업에서 가장 중요한 건 소통이라는 걸 느꼈다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초반 기획 단계에서는 함께 논의했지만</a:t>
            </a:r>
            <a:r>
              <a:rPr lang="en-US" altLang="ko-KR" sz="1200" dirty="0"/>
              <a:t>, </a:t>
            </a:r>
            <a:r>
              <a:rPr lang="ko-KR" altLang="en-US" sz="1200" dirty="0"/>
              <a:t>이후 역할 분담이 명확하지 않은 상태로 각자 코드를 나눠 작성하다 보니 팀원 간 진행 상황 공유가 부족했다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그 결과 팀원 </a:t>
            </a:r>
            <a:r>
              <a:rPr lang="en-US" altLang="ko-KR" sz="1200" dirty="0"/>
              <a:t>3</a:t>
            </a:r>
            <a:r>
              <a:rPr lang="ko-KR" altLang="en-US" sz="1200" dirty="0"/>
              <a:t>명 중 한 명은 본인의 의사와 무관하게 실제 코드 작성 경험을 거의 갖지 못하는 상황이 생겼다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역할을 나누는 것만큼</a:t>
            </a:r>
            <a:r>
              <a:rPr lang="en-US" altLang="ko-KR" sz="1200" dirty="0"/>
              <a:t> </a:t>
            </a:r>
            <a:r>
              <a:rPr lang="ko-KR" altLang="en-US" sz="1200" dirty="0"/>
              <a:t>그 역할이 실제로 균등하게 배분되고 있는지 중간 </a:t>
            </a:r>
            <a:r>
              <a:rPr lang="ko-KR" altLang="en-US" sz="1200" dirty="0" err="1"/>
              <a:t>중간</a:t>
            </a:r>
            <a:r>
              <a:rPr lang="ko-KR" altLang="en-US" sz="1200" dirty="0"/>
              <a:t> 확인하는 과정이 필요하다는 걸 알게 됐다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dirty="0"/>
              <a:t>앞으로는 초반 기획 뿐 아니라 진행 중간에도 정기적으로 소통하며 각자 맡은 부분과 진척 상황을 공유하는 것이 협업의 질을 높이는 데 중요하다고 생각한다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693830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724</Words>
  <Application>Microsoft Office PowerPoint</Application>
  <PresentationFormat>와이드스크린</PresentationFormat>
  <Paragraphs>83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HY견고딕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72</cp:revision>
  <dcterms:created xsi:type="dcterms:W3CDTF">2026-03-10T17:23:29Z</dcterms:created>
  <dcterms:modified xsi:type="dcterms:W3CDTF">2026-08-11T02:49:59Z</dcterms:modified>
</cp:coreProperties>
</file>