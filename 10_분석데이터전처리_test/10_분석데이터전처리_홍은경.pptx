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1"/>
  </p:notesMasterIdLst>
  <p:sldIdLst>
    <p:sldId id="256" r:id="rId2"/>
    <p:sldId id="264" r:id="rId3"/>
    <p:sldId id="257" r:id="rId4"/>
    <p:sldId id="258" r:id="rId5"/>
    <p:sldId id="259" r:id="rId6"/>
    <p:sldId id="260" r:id="rId7"/>
    <p:sldId id="261" r:id="rId8"/>
    <p:sldId id="263" r:id="rId9"/>
    <p:sldId id="266" r:id="rId10"/>
    <p:sldId id="267" r:id="rId11"/>
    <p:sldId id="268" r:id="rId12"/>
    <p:sldId id="274" r:id="rId13"/>
    <p:sldId id="275" r:id="rId14"/>
    <p:sldId id="276" r:id="rId15"/>
    <p:sldId id="277" r:id="rId16"/>
    <p:sldId id="272" r:id="rId17"/>
    <p:sldId id="287" r:id="rId18"/>
    <p:sldId id="273" r:id="rId19"/>
    <p:sldId id="279" r:id="rId20"/>
    <p:sldId id="281" r:id="rId21"/>
    <p:sldId id="282" r:id="rId22"/>
    <p:sldId id="283" r:id="rId23"/>
    <p:sldId id="285" r:id="rId24"/>
    <p:sldId id="284" r:id="rId25"/>
    <p:sldId id="286" r:id="rId26"/>
    <p:sldId id="288" r:id="rId27"/>
    <p:sldId id="289" r:id="rId28"/>
    <p:sldId id="290" r:id="rId29"/>
    <p:sldId id="291" r:id="rId3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9" autoAdjust="0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318372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634376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F7FCEC0-9BF7-C7AB-2E28-BF9358ECB10A}"/>
              </a:ext>
            </a:extLst>
          </p:cNvPr>
          <p:cNvSpPr/>
          <p:nvPr userDrawn="1"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C6A3C5D1-F241-4B07-65D0-0487E88E244A}"/>
              </a:ext>
            </a:extLst>
          </p:cNvPr>
          <p:cNvSpPr/>
          <p:nvPr userDrawn="1"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15">
            <a:extLst>
              <a:ext uri="{FF2B5EF4-FFF2-40B4-BE49-F238E27FC236}">
                <a16:creationId xmlns:a16="http://schemas.microsoft.com/office/drawing/2014/main" id="{A3EFE6F8-DA1A-85A4-6F9E-896D0BB01EE1}"/>
              </a:ext>
            </a:extLst>
          </p:cNvPr>
          <p:cNvSpPr/>
          <p:nvPr userDrawn="1"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EEEEEE"/>
          </a:solidFill>
          <a:ln w="1270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5" name="Text 16">
            <a:extLst>
              <a:ext uri="{FF2B5EF4-FFF2-40B4-BE49-F238E27FC236}">
                <a16:creationId xmlns:a16="http://schemas.microsoft.com/office/drawing/2014/main" id="{5B82CC4B-4723-62DA-34D4-85571F3B4C25}"/>
              </a:ext>
            </a:extLst>
          </p:cNvPr>
          <p:cNvSpPr/>
          <p:nvPr userDrawn="1"/>
        </p:nvSpPr>
        <p:spPr>
          <a:xfrm>
            <a:off x="182880" y="653796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（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빅데이터전문가</a:t>
            </a:r>
            <a:r>
              <a:rPr 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）빅데이터 분석 플랫폼 개발자 양성과정  |  </a:t>
            </a:r>
            <a:r>
              <a:rPr lang="ko-KR" altLang="en-US" sz="800" dirty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분석 데이터 </a:t>
            </a:r>
            <a:r>
              <a:rPr lang="ko-KR" altLang="en-US" sz="800" dirty="0" err="1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전처리</a:t>
            </a:r>
            <a:endParaRPr lang="en-US" sz="800" dirty="0"/>
          </a:p>
        </p:txBody>
      </p:sp>
      <p:sp>
        <p:nvSpPr>
          <p:cNvPr id="6" name="Text 17">
            <a:extLst>
              <a:ext uri="{FF2B5EF4-FFF2-40B4-BE49-F238E27FC236}">
                <a16:creationId xmlns:a16="http://schemas.microsoft.com/office/drawing/2014/main" id="{604F34FF-DD31-5BC2-53F0-68A043D0CAAC}"/>
              </a:ext>
            </a:extLst>
          </p:cNvPr>
          <p:cNvSpPr/>
          <p:nvPr userDrawn="1"/>
        </p:nvSpPr>
        <p:spPr>
          <a:xfrm>
            <a:off x="11430000" y="653796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fld id="{B4DF1AC8-19D0-4BA0-AE8B-CFB9F8DCD785}" type="slidenum">
              <a:rPr lang="en-US" sz="850" smtClean="0">
                <a:solidFill>
                  <a:srgbClr val="88888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‹#›</a:t>
            </a:fld>
            <a:endParaRPr lang="en-US" sz="8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93079"/>
          </a:xfrm>
          <a:prstGeom prst="rect">
            <a:avLst/>
          </a:prstGeom>
          <a:solidFill>
            <a:srgbClr val="F5F8FC"/>
          </a:solidFill>
          <a:ln w="12700">
            <a:solidFill>
              <a:srgbClr val="F5F8F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457200" y="3017520"/>
            <a:ext cx="9144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📌 제출 </a:t>
            </a:r>
            <a:r>
              <a:rPr lang="en-US" sz="1200" b="1" dirty="0" err="1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방법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학사시스템 능력 평가 게시판 및</a:t>
            </a:r>
            <a:r>
              <a:rPr lang="en-US" altLang="ko-KR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200" b="1" dirty="0">
                <a:solidFill>
                  <a:srgbClr val="C000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GitHub Repository  →  본인 Branch Push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3520440"/>
            <a:ext cx="521208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Shape 7"/>
          <p:cNvSpPr/>
          <p:nvPr/>
        </p:nvSpPr>
        <p:spPr>
          <a:xfrm>
            <a:off x="5897880" y="3520440"/>
            <a:ext cx="5852160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594360" y="3520440"/>
            <a:ext cx="4937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이름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ko-KR" alt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홍은경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035040" y="3520440"/>
            <a:ext cx="55778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수행날짜</a:t>
            </a: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2026. 07. 28.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206240"/>
            <a:ext cx="11274552" cy="530352"/>
          </a:xfrm>
          <a:prstGeom prst="rect">
            <a:avLst/>
          </a:prstGeom>
          <a:solidFill>
            <a:srgbClr val="EBF3FB"/>
          </a:solidFill>
          <a:ln w="12700">
            <a:solidFill>
              <a:srgbClr val="2E75B6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594360" y="4206240"/>
            <a:ext cx="109728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Branch 이름 (영문) : Hong </a:t>
            </a:r>
            <a:r>
              <a:rPr lang="en-US" sz="1300" b="1" dirty="0" err="1">
                <a:solidFill>
                  <a:srgbClr val="33333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EunKyeong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97764" y="4892039"/>
            <a:ext cx="11274552" cy="1242061"/>
          </a:xfrm>
          <a:prstGeom prst="rect">
            <a:avLst/>
          </a:prstGeom>
          <a:solidFill>
            <a:srgbClr val="FFF9C4"/>
          </a:solidFill>
          <a:ln w="12700">
            <a:solidFill>
              <a:srgbClr val="FFC107"/>
            </a:solidFill>
            <a:prstDash val="solid"/>
          </a:ln>
        </p:spPr>
        <p:txBody>
          <a:bodyPr/>
          <a:lstStyle/>
          <a:p>
            <a:endParaRPr lang="ko-KR" altLang="en-US" dirty="0"/>
          </a:p>
        </p:txBody>
      </p:sp>
      <p:sp>
        <p:nvSpPr>
          <p:cNvPr id="15" name="Text 13"/>
          <p:cNvSpPr/>
          <p:nvPr/>
        </p:nvSpPr>
        <p:spPr>
          <a:xfrm>
            <a:off x="539496" y="4936207"/>
            <a:ext cx="10972800" cy="641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fontAlgn="base" latinLnBrk="1"/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📂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업로드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1100" b="1" dirty="0" err="1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파일</a:t>
            </a:r>
            <a:r>
              <a:rPr lang="en-US" sz="110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10_</a:t>
            </a:r>
            <a:r>
              <a:rPr lang="ko-KR" altLang="en-US" sz="1100" dirty="0" err="1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분석데이터전처리</a:t>
            </a:r>
            <a:r>
              <a:rPr lang="en-US" sz="1100" dirty="0">
                <a:solidFill>
                  <a:srgbClr val="1F386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_이름.pptx, 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README.md, </a:t>
            </a:r>
            <a:r>
              <a:rPr lang="en-US" altLang="ko-KR" sz="1100" dirty="0" err="1">
                <a:solidFill>
                  <a:srgbClr val="1F3864"/>
                </a:solidFill>
                <a:latin typeface="Consolas" pitchFamily="34" charset="0"/>
              </a:rPr>
              <a:t>ipynb</a:t>
            </a:r>
            <a:r>
              <a:rPr lang="ko-KR" altLang="en-US" sz="1100" dirty="0">
                <a:solidFill>
                  <a:srgbClr val="1F3864"/>
                </a:solidFill>
                <a:latin typeface="Consolas" pitchFamily="34" charset="0"/>
              </a:rPr>
              <a:t>파일</a:t>
            </a:r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, prj_data_cleaned.csv</a:t>
            </a:r>
          </a:p>
          <a:p>
            <a:pPr fontAlgn="base" latinLnBrk="1"/>
            <a:r>
              <a:rPr lang="en-US" altLang="ko-KR" sz="1100" dirty="0">
                <a:solidFill>
                  <a:srgbClr val="1F3864"/>
                </a:solidFill>
                <a:latin typeface="Consolas" pitchFamily="34" charset="0"/>
              </a:rPr>
              <a:t>				</a:t>
            </a:r>
            <a:endParaRPr lang="ko-KR" altLang="en-US" sz="1100" dirty="0">
              <a:solidFill>
                <a:srgbClr val="1F3864"/>
              </a:solidFill>
              <a:latin typeface="Consolas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94360" y="5733795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7F3F0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🔗 Repository  </a:t>
            </a:r>
            <a:r>
              <a:rPr lang="en-US" sz="1000" dirty="0">
                <a:solidFill>
                  <a:srgbClr val="2E75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https://github.com/seokssaem/bigdata-2026.git</a:t>
            </a:r>
            <a:endParaRPr lang="en-US" sz="1050" dirty="0"/>
          </a:p>
        </p:txBody>
      </p:sp>
      <p:grpSp>
        <p:nvGrpSpPr>
          <p:cNvPr id="27" name="그룹 26">
            <a:extLst>
              <a:ext uri="{FF2B5EF4-FFF2-40B4-BE49-F238E27FC236}">
                <a16:creationId xmlns:a16="http://schemas.microsoft.com/office/drawing/2014/main" id="{8BC81973-757D-485D-96FF-3696C0A0A77D}"/>
              </a:ext>
            </a:extLst>
          </p:cNvPr>
          <p:cNvGrpSpPr/>
          <p:nvPr/>
        </p:nvGrpSpPr>
        <p:grpSpPr>
          <a:xfrm>
            <a:off x="320040" y="502920"/>
            <a:ext cx="11564992" cy="2225950"/>
            <a:chOff x="320040" y="502920"/>
            <a:chExt cx="8503920" cy="1636776"/>
          </a:xfrm>
        </p:grpSpPr>
        <p:sp>
          <p:nvSpPr>
            <p:cNvPr id="23" name="Shape 0">
              <a:extLst>
                <a:ext uri="{FF2B5EF4-FFF2-40B4-BE49-F238E27FC236}">
                  <a16:creationId xmlns:a16="http://schemas.microsoft.com/office/drawing/2014/main" id="{E43AED38-6721-43F1-ADB5-9F80281533BE}"/>
                </a:ext>
              </a:extLst>
            </p:cNvPr>
            <p:cNvSpPr/>
            <p:nvPr/>
          </p:nvSpPr>
          <p:spPr>
            <a:xfrm>
              <a:off x="320040" y="502920"/>
              <a:ext cx="8391211" cy="1188720"/>
            </a:xfrm>
            <a:prstGeom prst="rect">
              <a:avLst/>
            </a:prstGeom>
            <a:solidFill>
              <a:srgbClr val="1B3060"/>
            </a:solidFill>
            <a:ln w="12700">
              <a:solidFill>
                <a:srgbClr val="1B3060"/>
              </a:solidFill>
              <a:prstDash val="solid"/>
            </a:ln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24" name="Text 1">
              <a:extLst>
                <a:ext uri="{FF2B5EF4-FFF2-40B4-BE49-F238E27FC236}">
                  <a16:creationId xmlns:a16="http://schemas.microsoft.com/office/drawing/2014/main" id="{B38B700B-665B-4954-A350-4E77CC95815B}"/>
                </a:ext>
              </a:extLst>
            </p:cNvPr>
            <p:cNvSpPr/>
            <p:nvPr/>
          </p:nvSpPr>
          <p:spPr>
            <a:xfrm>
              <a:off x="411480" y="548640"/>
              <a:ext cx="8321040" cy="65836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ko-KR" altLang="en-US" sz="3400" b="1" dirty="0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분석 데이터 </a:t>
              </a:r>
              <a:r>
                <a:rPr lang="ko-KR" altLang="en-US" sz="3400" b="1" dirty="0" err="1">
                  <a:solidFill>
                    <a:srgbClr val="FFFFFF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전처리</a:t>
              </a:r>
              <a:endParaRPr lang="en-US" sz="3400" dirty="0"/>
            </a:p>
          </p:txBody>
        </p:sp>
        <p:sp>
          <p:nvSpPr>
            <p:cNvPr id="25" name="Text 2">
              <a:extLst>
                <a:ext uri="{FF2B5EF4-FFF2-40B4-BE49-F238E27FC236}">
                  <a16:creationId xmlns:a16="http://schemas.microsoft.com/office/drawing/2014/main" id="{DF463385-4573-444B-A0C5-E828EF08007F}"/>
                </a:ext>
              </a:extLst>
            </p:cNvPr>
            <p:cNvSpPr/>
            <p:nvPr/>
          </p:nvSpPr>
          <p:spPr>
            <a:xfrm>
              <a:off x="411480" y="1097280"/>
              <a:ext cx="832104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600" kern="0" spc="300" dirty="0">
                  <a:solidFill>
                    <a:srgbClr val="CADCFC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평 가 작 업 지 시 서</a:t>
              </a:r>
              <a:endParaRPr lang="en-US" sz="1600" dirty="0"/>
            </a:p>
          </p:txBody>
        </p:sp>
        <p:sp>
          <p:nvSpPr>
            <p:cNvPr id="26" name="Text 3">
              <a:extLst>
                <a:ext uri="{FF2B5EF4-FFF2-40B4-BE49-F238E27FC236}">
                  <a16:creationId xmlns:a16="http://schemas.microsoft.com/office/drawing/2014/main" id="{D719A7B1-B47A-4564-BE8B-9B7839CC1A15}"/>
                </a:ext>
              </a:extLst>
            </p:cNvPr>
            <p:cNvSpPr/>
            <p:nvPr/>
          </p:nvSpPr>
          <p:spPr>
            <a:xfrm>
              <a:off x="320040" y="1847088"/>
              <a:ext cx="8503920" cy="292608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100" i="1" dirty="0">
                  <a:solidFill>
                    <a:srgbClr val="2E75B6"/>
                  </a:solidFill>
                  <a:latin typeface="맑은 고딕" pitchFamily="34" charset="0"/>
                  <a:ea typeface="맑은 고딕" pitchFamily="34" charset="-122"/>
                  <a:cs typeface="맑은 고딕" pitchFamily="34" charset="-120"/>
                </a:rPr>
                <a:t>[2001010510_21v4]</a:t>
              </a:r>
              <a:endParaRPr lang="en-US" sz="1100" dirty="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53E45EB-DDCE-4512-93AB-0AC08E66DE89}"/>
              </a:ext>
            </a:extLst>
          </p:cNvPr>
          <p:cNvSpPr txBox="1"/>
          <p:nvPr/>
        </p:nvSpPr>
        <p:spPr>
          <a:xfrm>
            <a:off x="628650" y="1200150"/>
            <a:ext cx="11125200" cy="4200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1.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데이터 불러오기 및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처리</a:t>
            </a:r>
          </a:p>
          <a:p>
            <a:pPr>
              <a:lnSpc>
                <a:spcPct val="150000"/>
              </a:lnSpc>
            </a:pPr>
            <a:b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pandas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를 이용하여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prj_data.csv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파일을 불러오고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info()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와 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isnull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().sum()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을 이용하여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컬럼별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결측치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개수를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확인하시오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결측치가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존재하는 컬럼 중 수치형 변수는 평균 또는 중앙값으로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범주형 변수는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최빈값으로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대체하시오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단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결측 비율이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50%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를 초과하는 컬럼은 삭제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처리 후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결측치가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모두 제거되었는지 다시 확인하는 코드를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작성하시오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719274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9CA915B-9B56-4A25-B7E9-D703F17B1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4975" y="1447800"/>
            <a:ext cx="8782050" cy="39624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8508F1-DA56-4F2A-969A-CA35FF53A5F3}"/>
              </a:ext>
            </a:extLst>
          </p:cNvPr>
          <p:cNvSpPr txBox="1"/>
          <p:nvPr/>
        </p:nvSpPr>
        <p:spPr>
          <a:xfrm>
            <a:off x="1704975" y="453006"/>
            <a:ext cx="58702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라이브러리 및 데이터 불러오기</a:t>
            </a:r>
          </a:p>
        </p:txBody>
      </p:sp>
    </p:spTree>
    <p:extLst>
      <p:ext uri="{BB962C8B-B14F-4D97-AF65-F5344CB8AC3E}">
        <p14:creationId xmlns:p14="http://schemas.microsoft.com/office/powerpoint/2010/main" val="42886957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37497A6-7770-4371-8414-69F52425B8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404937"/>
            <a:ext cx="8839200" cy="404812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A8CE5A6-D15B-4503-A039-CADA8BEE0F6C}"/>
              </a:ext>
            </a:extLst>
          </p:cNvPr>
          <p:cNvSpPr txBox="1"/>
          <p:nvPr/>
        </p:nvSpPr>
        <p:spPr>
          <a:xfrm>
            <a:off x="1610686" y="637563"/>
            <a:ext cx="4991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데이터 프레임의 전체적인 구조 확인하기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9197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EE05309-2C18-4289-9670-C843DC5FD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062" y="1423987"/>
            <a:ext cx="8905875" cy="401002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4EFA77D-CBDF-40BD-B976-F4E371ADA847}"/>
              </a:ext>
            </a:extLst>
          </p:cNvPr>
          <p:cNvSpPr txBox="1"/>
          <p:nvPr/>
        </p:nvSpPr>
        <p:spPr>
          <a:xfrm>
            <a:off x="1568741" y="453006"/>
            <a:ext cx="1042751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 err="1"/>
              <a:t>결측치</a:t>
            </a:r>
            <a:r>
              <a:rPr lang="ko-KR" altLang="en-US" sz="1600" dirty="0"/>
              <a:t> 찾기</a:t>
            </a:r>
            <a:endParaRPr lang="en-US" altLang="ko-KR" sz="1600" dirty="0"/>
          </a:p>
          <a:p>
            <a:endParaRPr lang="en-US" altLang="ko-KR" sz="1600" dirty="0"/>
          </a:p>
          <a:p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전체 데이터 프레임의 각 셀마다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비어있으면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True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, 값이 있으면 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False</a:t>
            </a:r>
            <a:r>
              <a:rPr kumimoji="0" lang="ko-KR" altLang="ko-KR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로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채워진 동일한 크기의 표가 출력 </a:t>
            </a: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endParaRPr lang="en-US" altLang="ko-KR" sz="1600" dirty="0"/>
          </a:p>
          <a:p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339205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1C88E90-28B2-4FB3-8EBB-DAB6B23D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1637" y="1914525"/>
            <a:ext cx="8848725" cy="30289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E0C28E-8CBF-469F-9CFD-680B5CA78F0A}"/>
              </a:ext>
            </a:extLst>
          </p:cNvPr>
          <p:cNvSpPr txBox="1"/>
          <p:nvPr/>
        </p:nvSpPr>
        <p:spPr>
          <a:xfrm>
            <a:off x="1671637" y="679508"/>
            <a:ext cx="5786176" cy="9395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1231F9-F82C-4076-8473-081D843BE2A8}"/>
              </a:ext>
            </a:extLst>
          </p:cNvPr>
          <p:cNvSpPr txBox="1"/>
          <p:nvPr/>
        </p:nvSpPr>
        <p:spPr>
          <a:xfrm>
            <a:off x="1828800" y="385894"/>
            <a:ext cx="71138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각 열</a:t>
            </a:r>
            <a:r>
              <a:rPr lang="en-US" altLang="ko-KR" dirty="0"/>
              <a:t>(Column)</a:t>
            </a:r>
            <a:r>
              <a:rPr lang="ko-KR" altLang="en-US" dirty="0"/>
              <a:t>에 들어있는 값들의 합계 보기</a:t>
            </a:r>
            <a:endParaRPr lang="en-US" altLang="ko-KR" dirty="0"/>
          </a:p>
          <a:p>
            <a:endParaRPr lang="en-US" altLang="ko-KR" dirty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숫자 데이터 열: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해당 열 전체 값의 합을 구합니다.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ko-KR" altLang="ko-KR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문자열 데이터 열:</a:t>
            </a:r>
            <a:r>
              <a:rPr kumimoji="0" lang="ko-KR" altLang="ko-KR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문자열들을 하나로 이어 붙입니다</a:t>
            </a:r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521185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74CD593-37D5-4DA8-8ADB-CC88D5E8F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876425"/>
            <a:ext cx="8839200" cy="31051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2D47CF-F7BD-48B3-B76F-45C11C252F1C}"/>
              </a:ext>
            </a:extLst>
          </p:cNvPr>
          <p:cNvSpPr txBox="1"/>
          <p:nvPr/>
        </p:nvSpPr>
        <p:spPr>
          <a:xfrm>
            <a:off x="1434518" y="704459"/>
            <a:ext cx="8185254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각 </a:t>
            </a:r>
            <a:r>
              <a:rPr lang="ko-KR" altLang="en-US" dirty="0" err="1"/>
              <a:t>열별</a:t>
            </a:r>
            <a:r>
              <a:rPr lang="ko-KR" altLang="en-US" dirty="0"/>
              <a:t> </a:t>
            </a:r>
            <a:r>
              <a:rPr lang="ko-KR" altLang="en-US" dirty="0" err="1"/>
              <a:t>결측기</a:t>
            </a:r>
            <a:r>
              <a:rPr lang="ko-KR" altLang="en-US" dirty="0"/>
              <a:t> 개수 확인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각 열</a:t>
            </a:r>
            <a:r>
              <a:rPr lang="en-US" altLang="ko-KR" dirty="0"/>
              <a:t>(Column)</a:t>
            </a:r>
            <a:r>
              <a:rPr lang="ko-KR" altLang="en-US" dirty="0"/>
              <a:t>별로 </a:t>
            </a:r>
            <a:r>
              <a:rPr lang="ko-KR" altLang="en-US" dirty="0" err="1"/>
              <a:t>결측치</a:t>
            </a:r>
            <a:r>
              <a:rPr lang="en-US" altLang="ko-KR" dirty="0"/>
              <a:t>(</a:t>
            </a:r>
            <a:r>
              <a:rPr lang="ko-KR" altLang="en-US" dirty="0" err="1"/>
              <a:t>비어있는</a:t>
            </a:r>
            <a:r>
              <a:rPr lang="ko-KR" altLang="en-US" dirty="0"/>
              <a:t> 값</a:t>
            </a:r>
            <a:r>
              <a:rPr lang="en-US" altLang="ko-KR" dirty="0"/>
              <a:t>)</a:t>
            </a:r>
            <a:r>
              <a:rPr lang="ko-KR" altLang="en-US" dirty="0"/>
              <a:t>가 총 몇 개 있는지 개수를 세어주는 코드</a:t>
            </a:r>
          </a:p>
        </p:txBody>
      </p:sp>
    </p:spTree>
    <p:extLst>
      <p:ext uri="{BB962C8B-B14F-4D97-AF65-F5344CB8AC3E}">
        <p14:creationId xmlns:p14="http://schemas.microsoft.com/office/powerpoint/2010/main" val="28121935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그림 8">
            <a:extLst>
              <a:ext uri="{FF2B5EF4-FFF2-40B4-BE49-F238E27FC236}">
                <a16:creationId xmlns:a16="http://schemas.microsoft.com/office/drawing/2014/main" id="{5D099001-E69D-40C5-88BC-2CC080457C5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0208"/>
          <a:stretch/>
        </p:blipFill>
        <p:spPr>
          <a:xfrm>
            <a:off x="415529" y="276836"/>
            <a:ext cx="7943404" cy="6132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33165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9356B65-9336-422C-A5FA-F3F91DD20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4617" y="204216"/>
            <a:ext cx="10950926" cy="6112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03991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04FB31BB-510C-4A73-ACE4-8215B47AB6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878" y="0"/>
            <a:ext cx="7696200" cy="6438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922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343618-2201-4CC4-B793-E33B42907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43" y="0"/>
            <a:ext cx="8699757" cy="648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21826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21A77A0-6A51-4F72-BF37-A04117A70593}"/>
              </a:ext>
            </a:extLst>
          </p:cNvPr>
          <p:cNvSpPr txBox="1"/>
          <p:nvPr/>
        </p:nvSpPr>
        <p:spPr>
          <a:xfrm>
            <a:off x="536894" y="1790090"/>
            <a:ext cx="10969305" cy="32778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2.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이상치 탐지 및 처리</a:t>
            </a:r>
          </a:p>
          <a:p>
            <a:b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수치형 변수 중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개 이상을 선택하여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boxplot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으로 이상치를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시각화하시오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IQR(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사분위수 범위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기법을 이용하여 이상치의 하한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상한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경계값을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계산하는 코드를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작성하시오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계산된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경계값을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기준으로 이상치를 제거하거나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경계값으로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대체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(capping)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처리 방식과 그 이유를 주석으로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명시하시오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endParaRPr lang="en-US" altLang="ko-KR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59077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B108707-F206-4531-BC18-883918BA3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63004"/>
            <a:ext cx="9351164" cy="6404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0165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147CBC6-F838-4F09-86C9-BDEBBF3B9E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04" y="82928"/>
            <a:ext cx="8949131" cy="638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6210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022F8C3-0C85-4928-BECC-6734670C6E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922" y="112683"/>
            <a:ext cx="11307956" cy="6330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4395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7B1BF1D-083A-48FE-B742-56733C809D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85" y="95250"/>
            <a:ext cx="11635749" cy="6398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6345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3CDBD9-D12A-4913-8898-53FBCDE48B3F}"/>
              </a:ext>
            </a:extLst>
          </p:cNvPr>
          <p:cNvSpPr txBox="1"/>
          <p:nvPr/>
        </p:nvSpPr>
        <p:spPr>
          <a:xfrm>
            <a:off x="704850" y="1371600"/>
            <a:ext cx="1148715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b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3.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범주형 변수 인코딩</a:t>
            </a:r>
          </a:p>
          <a:p>
            <a:b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범주형 변수 중 순서 의미가 없는 변수는 원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핫 인코딩</a:t>
            </a:r>
            <a:endParaRPr lang="en-US" altLang="ko-KR" b="0" dirty="0">
              <a:solidFill>
                <a:srgbClr val="6688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pd.get_dummies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OneHotEncoder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을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</a:p>
          <a:p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순서 의미가 있는 변수는 레이블 인코딩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LabelEncoder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을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적용하시오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인코딩 전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후의 데이터프레임 형태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(shape)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와 컬럼 목록을 비교하여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출력하시오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왜 해당 인코딩 방식을 선택했는지 주석 또는 마크다운 셀로 근거를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서술하시오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41306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0B672A6-BEEA-4052-9345-D2C9149B8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90" y="0"/>
            <a:ext cx="7781906" cy="6471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30192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CD9975A-3A45-424D-94FD-F066093BCD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399" y="140470"/>
            <a:ext cx="7545094" cy="6394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2177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C9699828-8766-42F4-AC01-D4E9FD2E1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6473" y="133813"/>
            <a:ext cx="10574138" cy="6284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32957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791DC8F-C823-4219-93C7-B5A5DF9A22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2" y="128033"/>
            <a:ext cx="11919316" cy="6068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89479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98E409-6E85-45D9-9718-891019378D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407" y="133073"/>
            <a:ext cx="5038639" cy="6303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974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9787181-EC66-47EA-8355-1F238FC14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79" y="361626"/>
            <a:ext cx="11854592" cy="55864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36281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6F4DB4CC-17D9-4EED-BB8D-483067A906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020" y="649595"/>
            <a:ext cx="11756430" cy="3451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7141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ABEFEE-5E09-4009-A781-B3F53FE11FD1}"/>
              </a:ext>
            </a:extLst>
          </p:cNvPr>
          <p:cNvSpPr txBox="1"/>
          <p:nvPr/>
        </p:nvSpPr>
        <p:spPr>
          <a:xfrm>
            <a:off x="457200" y="1102681"/>
            <a:ext cx="11277600" cy="42009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4.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파생변수 생성 및 스케일링</a:t>
            </a:r>
          </a:p>
          <a:p>
            <a:pPr>
              <a:lnSpc>
                <a:spcPct val="150000"/>
              </a:lnSpc>
            </a:pPr>
            <a:b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기존 컬럼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개 이상을 조합하여 분석에 의미 있는 파생변수를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개 이상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생성하시오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 </a:t>
            </a:r>
          </a:p>
          <a:p>
            <a:pPr>
              <a:lnSpc>
                <a:spcPct val="150000"/>
              </a:lnSpc>
            </a:pPr>
            <a:r>
              <a:rPr lang="en-US" altLang="ko-KR" dirty="0">
                <a:solidFill>
                  <a:srgbClr val="6688CC"/>
                </a:solidFill>
                <a:latin typeface="Consolas" panose="020B0609020204030204" pitchFamily="49" charset="0"/>
              </a:rPr>
              <a:t> 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예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: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비율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합계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구간화 등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StandardScaler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또는 </a:t>
            </a:r>
            <a:r>
              <a:rPr lang="en-US" altLang="ko-KR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MinMaxScaler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중 하나를 선택하여 수치형 변수를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스케일링하시오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스케일링 전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후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기술통계량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(describe())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을 비교 출력하여 변화가 반영되었음을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확인하시오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  <a:p>
            <a:pPr>
              <a:lnSpc>
                <a:spcPct val="150000"/>
              </a:lnSpc>
            </a:pPr>
            <a:b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</a:b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- 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최종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전처리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 완료 데이터를 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prj_data_cleaned.csv</a:t>
            </a:r>
            <a:r>
              <a:rPr lang="ko-KR" altLang="en-US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로 저장하는 코드를 </a:t>
            </a:r>
            <a:r>
              <a:rPr lang="ko-KR" altLang="en-US" b="0" dirty="0" err="1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작성하시오</a:t>
            </a:r>
            <a:r>
              <a:rPr lang="en-US" altLang="ko-KR" b="0" dirty="0">
                <a:solidFill>
                  <a:srgbClr val="6688CC"/>
                </a:solidFill>
                <a:effectLst/>
                <a:latin typeface="Consolas" panose="020B0609020204030204" pitchFamily="49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647964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C5D89B4-B05F-4346-973A-4D70692400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473" y="1263907"/>
            <a:ext cx="11739239" cy="3340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5178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84B75B-E2A0-411E-9FD1-59E333A8C5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087" y="79899"/>
            <a:ext cx="5123644" cy="6326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7297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5735F49-3B87-4554-8258-D8C0B17C6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470" y="128587"/>
            <a:ext cx="5960431" cy="6258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816520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5BE1F08-5D9C-4813-8AE9-46F13BEFF1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421" y="947459"/>
            <a:ext cx="11343763" cy="4601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712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265</TotalTime>
  <Words>469</Words>
  <Application>Microsoft Office PowerPoint</Application>
  <PresentationFormat>와이드스크린</PresentationFormat>
  <Paragraphs>48</Paragraphs>
  <Slides>29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Arial Unicode MS</vt:lpstr>
      <vt:lpstr>맑은 고딕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03_프로그래밍언어응용</dc:title>
  <dc:subject>PptxGenJS Presentation</dc:subject>
  <dc:creator>PptxGenJS</dc:creator>
  <cp:lastModifiedBy>FullName</cp:lastModifiedBy>
  <cp:revision>38</cp:revision>
  <dcterms:created xsi:type="dcterms:W3CDTF">2026-03-10T17:23:29Z</dcterms:created>
  <dcterms:modified xsi:type="dcterms:W3CDTF">2026-07-28T04:10:10Z</dcterms:modified>
</cp:coreProperties>
</file>