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4" r:id="rId4"/>
    <p:sldId id="257" r:id="rId5"/>
    <p:sldId id="266" r:id="rId6"/>
    <p:sldId id="267" r:id="rId7"/>
    <p:sldId id="259" r:id="rId8"/>
    <p:sldId id="268" r:id="rId9"/>
    <p:sldId id="260" r:id="rId10"/>
    <p:sldId id="261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모델링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2026-08-04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12_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빅데이터분석모델링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모델링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2001010513_21v1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A8FE92-ACC5-4D52-8FFF-07FD9DFED7A4}"/>
              </a:ext>
            </a:extLst>
          </p:cNvPr>
          <p:cNvSpPr txBox="1"/>
          <p:nvPr/>
        </p:nvSpPr>
        <p:spPr>
          <a:xfrm>
            <a:off x="536896" y="275593"/>
            <a:ext cx="995773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/>
              <a:t>지역 인프라 기반 축제 방문객 수 예측 및 의사결정 지원 시스템</a:t>
            </a:r>
            <a:endParaRPr lang="en-US" altLang="ko-KR" sz="2800" b="1" dirty="0"/>
          </a:p>
          <a:p>
            <a:endParaRPr lang="ko-KR" altLang="en-US" b="1" dirty="0"/>
          </a:p>
          <a:p>
            <a:r>
              <a:rPr lang="ko-KR" altLang="en-US" dirty="0"/>
              <a:t>데이터셋 주제 </a:t>
            </a:r>
            <a:r>
              <a:rPr lang="en-US" altLang="ko-KR" dirty="0"/>
              <a:t>: </a:t>
            </a:r>
            <a:r>
              <a:rPr lang="ko-KR" altLang="en-US" dirty="0"/>
              <a:t>공공데이터를 활용한 축제 방문객 수 예측</a:t>
            </a:r>
          </a:p>
          <a:p>
            <a:endParaRPr lang="ko-KR" altLang="en-US" dirty="0"/>
          </a:p>
          <a:p>
            <a:r>
              <a:rPr lang="en-US" altLang="ko-KR" dirty="0"/>
              <a:t>1</a:t>
            </a:r>
            <a:r>
              <a:rPr lang="ko-KR" altLang="en-US" dirty="0"/>
              <a:t>조</a:t>
            </a:r>
            <a:r>
              <a:rPr lang="en-US" altLang="ko-KR" dirty="0"/>
              <a:t> </a:t>
            </a:r>
            <a:r>
              <a:rPr lang="ko-KR" altLang="en-US" dirty="0"/>
              <a:t>팀원</a:t>
            </a:r>
            <a:r>
              <a:rPr lang="en-US" altLang="ko-KR" dirty="0"/>
              <a:t>:</a:t>
            </a:r>
            <a:r>
              <a:rPr lang="ko-KR" altLang="en-US" dirty="0"/>
              <a:t> 김나현</a:t>
            </a:r>
            <a:r>
              <a:rPr lang="en-US" altLang="ko-KR" dirty="0"/>
              <a:t>, </a:t>
            </a:r>
            <a:r>
              <a:rPr lang="ko-KR" altLang="en-US" dirty="0"/>
              <a:t>김시현</a:t>
            </a:r>
            <a:r>
              <a:rPr lang="en-US" altLang="ko-KR" dirty="0"/>
              <a:t>, </a:t>
            </a:r>
            <a:r>
              <a:rPr lang="ko-KR" altLang="en-US" dirty="0" err="1"/>
              <a:t>장호균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8B171-FBE1-4F18-8E06-AD6B48BBA159}"/>
              </a:ext>
            </a:extLst>
          </p:cNvPr>
          <p:cNvSpPr txBox="1"/>
          <p:nvPr/>
        </p:nvSpPr>
        <p:spPr>
          <a:xfrm>
            <a:off x="536896" y="2125447"/>
            <a:ext cx="1070435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가설 및 문제 정의</a:t>
            </a:r>
          </a:p>
          <a:p>
            <a:endParaRPr lang="ko-KR" altLang="en-US" dirty="0"/>
          </a:p>
          <a:p>
            <a:r>
              <a:rPr lang="ko-KR" altLang="en-US" dirty="0"/>
              <a:t>현재 지역 축제는 개최 장소와 규모를 결정할 때 경험이나 기존 사례에 의존하는 경우가 많다.</a:t>
            </a:r>
          </a:p>
          <a:p>
            <a:endParaRPr lang="ko-KR" altLang="en-US" dirty="0"/>
          </a:p>
          <a:p>
            <a:r>
              <a:rPr lang="ko-KR" altLang="en-US" dirty="0"/>
              <a:t>축제 개최 전 예상 방문객 수를 예측할 수 있다면</a:t>
            </a:r>
          </a:p>
          <a:p>
            <a:r>
              <a:rPr lang="ko-KR" altLang="en-US" dirty="0"/>
              <a:t>효율적인 예산 편성 및 </a:t>
            </a:r>
            <a:r>
              <a:rPr lang="ko-KR" altLang="en-US" dirty="0" err="1"/>
              <a:t>교통·안전</a:t>
            </a:r>
            <a:r>
              <a:rPr lang="ko-KR" altLang="en-US" dirty="0"/>
              <a:t> 대책을 수립할 수 있다.</a:t>
            </a:r>
          </a:p>
          <a:p>
            <a:endParaRPr lang="ko-KR" altLang="en-US" dirty="0"/>
          </a:p>
          <a:p>
            <a:r>
              <a:rPr lang="ko-KR" altLang="en-US" b="1" dirty="0"/>
              <a:t>분석 목적</a:t>
            </a:r>
          </a:p>
          <a:p>
            <a:endParaRPr lang="ko-KR" altLang="en-US" dirty="0"/>
          </a:p>
          <a:p>
            <a:r>
              <a:rPr lang="ko-KR" altLang="en-US" dirty="0"/>
              <a:t>공공데이터를 활용하여 지역 인프라와 축제 방문객 수의 관계를 분석하고 방문객 수를 예측하는 AI 모델을 개발한다.</a:t>
            </a:r>
          </a:p>
        </p:txBody>
      </p:sp>
    </p:spTree>
    <p:extLst>
      <p:ext uri="{BB962C8B-B14F-4D97-AF65-F5344CB8AC3E}">
        <p14:creationId xmlns:p14="http://schemas.microsoft.com/office/powerpoint/2010/main" val="427559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F00AB-81F0-4032-AED6-6B403BBD0932}"/>
              </a:ext>
            </a:extLst>
          </p:cNvPr>
          <p:cNvSpPr txBox="1"/>
          <p:nvPr/>
        </p:nvSpPr>
        <p:spPr>
          <a:xfrm>
            <a:off x="526410" y="181957"/>
            <a:ext cx="8567256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/>
              <a:t>가설</a:t>
            </a:r>
          </a:p>
          <a:p>
            <a:endParaRPr lang="ko-KR" altLang="en-US" dirty="0"/>
          </a:p>
          <a:p>
            <a:r>
              <a:rPr lang="ko-KR" altLang="en-US" dirty="0"/>
              <a:t>버스정류장 수가 많을수록 방문객 수가 증가할 것이다.</a:t>
            </a:r>
          </a:p>
          <a:p>
            <a:endParaRPr lang="ko-KR" altLang="en-US" dirty="0"/>
          </a:p>
          <a:p>
            <a:r>
              <a:rPr lang="ko-KR" altLang="en-US" dirty="0"/>
              <a:t>지하철이 있는 지역일수록 방문객 수가 많을 것이다.</a:t>
            </a:r>
          </a:p>
          <a:p>
            <a:endParaRPr lang="ko-KR" altLang="en-US" dirty="0"/>
          </a:p>
          <a:p>
            <a:r>
              <a:rPr lang="ko-KR" altLang="en-US" dirty="0"/>
              <a:t>공식 홈페이지를 운영하는 축제가 더 많은 방문객을 유치할 것이다.</a:t>
            </a:r>
          </a:p>
          <a:p>
            <a:endParaRPr lang="ko-KR" altLang="en-US" dirty="0"/>
          </a:p>
          <a:p>
            <a:r>
              <a:rPr lang="ko-KR" altLang="en-US" dirty="0"/>
              <a:t>지역 특성에 따라 방문객 수가 차이를 보일 것이다.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sz="2800" b="1" dirty="0"/>
              <a:t>기대 효과</a:t>
            </a:r>
          </a:p>
          <a:p>
            <a:endParaRPr lang="en-US" altLang="ko-KR" dirty="0"/>
          </a:p>
          <a:p>
            <a:r>
              <a:rPr lang="ko-KR" altLang="en-US" dirty="0"/>
              <a:t>데이터 기반 축제 기획 지원</a:t>
            </a:r>
          </a:p>
          <a:p>
            <a:endParaRPr lang="en-US" altLang="ko-KR" dirty="0"/>
          </a:p>
          <a:p>
            <a:r>
              <a:rPr lang="ko-KR" altLang="en-US" dirty="0"/>
              <a:t>지자체의 의사결정 지원</a:t>
            </a:r>
          </a:p>
          <a:p>
            <a:endParaRPr lang="en-US" altLang="ko-KR" dirty="0"/>
          </a:p>
          <a:p>
            <a:r>
              <a:rPr lang="ko-KR" altLang="en-US" dirty="0"/>
              <a:t>교통 및 관광 정책 수립에 활용 가능</a:t>
            </a:r>
          </a:p>
          <a:p>
            <a:endParaRPr lang="en-US" altLang="ko-KR" dirty="0"/>
          </a:p>
          <a:p>
            <a:r>
              <a:rPr lang="ko-KR" altLang="en-US" dirty="0"/>
              <a:t>예산 운영 효율성 향상</a:t>
            </a:r>
          </a:p>
          <a:p>
            <a:endParaRPr lang="en-US" altLang="ko-KR" dirty="0"/>
          </a:p>
          <a:p>
            <a:r>
              <a:rPr lang="ko-KR" altLang="en-US" dirty="0"/>
              <a:t>지역 관광 활성화</a:t>
            </a:r>
          </a:p>
        </p:txBody>
      </p:sp>
    </p:spTree>
    <p:extLst>
      <p:ext uri="{BB962C8B-B14F-4D97-AF65-F5344CB8AC3E}">
        <p14:creationId xmlns:p14="http://schemas.microsoft.com/office/powerpoint/2010/main" val="115569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61CAFE4-3A6D-4E88-9F7E-6466ABDA1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86" y="261100"/>
            <a:ext cx="7106642" cy="135273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61EBD8-E610-43A5-983F-F6CD733A9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99" y="2606778"/>
            <a:ext cx="11485801" cy="36514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6C384E-3B03-42F2-8B0A-8CA72148F6E9}"/>
              </a:ext>
            </a:extLst>
          </p:cNvPr>
          <p:cNvSpPr txBox="1"/>
          <p:nvPr/>
        </p:nvSpPr>
        <p:spPr>
          <a:xfrm>
            <a:off x="467686" y="2098947"/>
            <a:ext cx="10320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사용 데이터 </a:t>
            </a:r>
            <a:r>
              <a:rPr lang="en-US" altLang="ko-KR" dirty="0"/>
              <a:t>: </a:t>
            </a:r>
            <a:r>
              <a:rPr lang="ko-KR" altLang="en-US" dirty="0"/>
              <a:t>전국 문화축제 데이터</a:t>
            </a:r>
            <a:r>
              <a:rPr lang="en-US" altLang="ko-KR" dirty="0"/>
              <a:t>, </a:t>
            </a:r>
            <a:r>
              <a:rPr lang="ko-KR" altLang="en-US" dirty="0"/>
              <a:t>버스정류장 데이터</a:t>
            </a:r>
            <a:r>
              <a:rPr lang="en-US" altLang="ko-KR" dirty="0"/>
              <a:t>, </a:t>
            </a:r>
            <a:r>
              <a:rPr lang="ko-KR" altLang="en-US" dirty="0"/>
              <a:t>지하철역 데이터</a:t>
            </a:r>
            <a:r>
              <a:rPr lang="en-US" altLang="ko-KR" dirty="0"/>
              <a:t>, </a:t>
            </a:r>
            <a:r>
              <a:rPr lang="ko-KR" altLang="en-US" dirty="0"/>
              <a:t>홈페이지 운영 여부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AD0BE8-56AC-402F-AA24-E128BC49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37" y="221176"/>
            <a:ext cx="5868219" cy="59730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C685C05-11F4-42B3-A8D4-41717C6D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37" y="100669"/>
            <a:ext cx="4748068" cy="621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466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D8D3DD-43D7-4DC8-B77E-9F90EBD46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55" y="417352"/>
            <a:ext cx="6450803" cy="602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2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5AF8B6-499D-405D-A9E4-588BA2D053C6}"/>
              </a:ext>
            </a:extLst>
          </p:cNvPr>
          <p:cNvSpPr txBox="1"/>
          <p:nvPr/>
        </p:nvSpPr>
        <p:spPr>
          <a:xfrm>
            <a:off x="585131" y="117693"/>
            <a:ext cx="1087423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/>
              <a:t>모델 개발</a:t>
            </a:r>
          </a:p>
          <a:p>
            <a:endParaRPr lang="en-US" altLang="ko-KR" dirty="0"/>
          </a:p>
          <a:p>
            <a:r>
              <a:rPr lang="ko-KR" altLang="en-US" dirty="0"/>
              <a:t>사용 모델 </a:t>
            </a:r>
            <a:r>
              <a:rPr lang="en-US" altLang="ko-KR" dirty="0"/>
              <a:t>: Linear Regression (</a:t>
            </a:r>
            <a:r>
              <a:rPr lang="ko-KR" altLang="en-US" dirty="0"/>
              <a:t>선형 회귀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선정 이유</a:t>
            </a:r>
          </a:p>
          <a:p>
            <a:r>
              <a:rPr lang="ko-KR" altLang="en-US" dirty="0"/>
              <a:t>방문객 수와 지역 인프라 간의 선형적인 관계를 분석하기 위해 사용</a:t>
            </a:r>
          </a:p>
          <a:p>
            <a:r>
              <a:rPr lang="ko-KR" altLang="en-US" dirty="0"/>
              <a:t>회귀 계수를 통해 각 변수</a:t>
            </a:r>
            <a:r>
              <a:rPr lang="en-US" altLang="ko-KR" dirty="0"/>
              <a:t>(</a:t>
            </a:r>
            <a:r>
              <a:rPr lang="ko-KR" altLang="en-US" dirty="0"/>
              <a:t>버스정류장 수</a:t>
            </a:r>
            <a:r>
              <a:rPr lang="en-US" altLang="ko-KR" dirty="0"/>
              <a:t>, </a:t>
            </a:r>
            <a:r>
              <a:rPr lang="ko-KR" altLang="en-US" dirty="0"/>
              <a:t>지하철 유무</a:t>
            </a:r>
            <a:r>
              <a:rPr lang="en-US" altLang="ko-KR" dirty="0"/>
              <a:t>, </a:t>
            </a:r>
            <a:r>
              <a:rPr lang="ko-KR" altLang="en-US" dirty="0"/>
              <a:t>홈페이지 유무 등</a:t>
            </a:r>
            <a:r>
              <a:rPr lang="en-US" altLang="ko-KR" dirty="0"/>
              <a:t>)</a:t>
            </a:r>
            <a:r>
              <a:rPr lang="ko-KR" altLang="en-US" dirty="0"/>
              <a:t>가 방문객 수에 미치는 영향을 해석하기 용이</a:t>
            </a:r>
          </a:p>
          <a:p>
            <a:r>
              <a:rPr lang="ko-KR" altLang="en-US" dirty="0"/>
              <a:t>구현이 간단하고 예측 결과를 직관적으로 설명할 수 있어 기준</a:t>
            </a:r>
            <a:r>
              <a:rPr lang="en-US" altLang="ko-KR" dirty="0"/>
              <a:t>(Baseline) </a:t>
            </a:r>
            <a:r>
              <a:rPr lang="ko-KR" altLang="en-US" dirty="0"/>
              <a:t>모델로 적합</a:t>
            </a:r>
          </a:p>
          <a:p>
            <a:endParaRPr lang="en-US" altLang="ko-KR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310E7272-492F-4F41-9A6D-613642B2C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815693"/>
              </p:ext>
            </p:extLst>
          </p:nvPr>
        </p:nvGraphicFramePr>
        <p:xfrm>
          <a:off x="2032000" y="342900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970037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21942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입력 변수 </a:t>
                      </a:r>
                      <a:r>
                        <a:rPr lang="en-US" altLang="ko-KR" dirty="0"/>
                        <a:t>(Feature)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출력 변수 </a:t>
                      </a:r>
                      <a:r>
                        <a:rPr lang="en-US" altLang="ko-KR" dirty="0"/>
                        <a:t>(Target)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17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버스정류장 수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축제 방문객 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30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지하철 유무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56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홈페이지 유무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051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655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5A64D9-554A-4017-9966-B478175F6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24" y="1366446"/>
            <a:ext cx="5977463" cy="38944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B335F6B-4D7D-4DF5-9D1E-17810AACE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243" y="827956"/>
            <a:ext cx="5500833" cy="497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30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ED2833-2A98-4AA7-B432-A46499091CF3}"/>
              </a:ext>
            </a:extLst>
          </p:cNvPr>
          <p:cNvSpPr txBox="1"/>
          <p:nvPr/>
        </p:nvSpPr>
        <p:spPr>
          <a:xfrm>
            <a:off x="4792116" y="206364"/>
            <a:ext cx="696866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/>
              <a:t>성능 평가 결과</a:t>
            </a:r>
          </a:p>
          <a:p>
            <a:r>
              <a:rPr lang="ko-KR" altLang="en-US" dirty="0"/>
              <a:t>평가 지표</a:t>
            </a:r>
          </a:p>
          <a:p>
            <a:r>
              <a:rPr lang="ko-KR" altLang="en-US" dirty="0"/>
              <a:t>MAE </a:t>
            </a:r>
            <a:r>
              <a:rPr lang="en-US" altLang="ko-KR" dirty="0"/>
              <a:t>184349</a:t>
            </a:r>
          </a:p>
          <a:p>
            <a:r>
              <a:rPr lang="en-US" altLang="ko-KR" dirty="0"/>
              <a:t>MSE 70711953921</a:t>
            </a:r>
          </a:p>
          <a:p>
            <a:r>
              <a:rPr lang="ko-KR" altLang="en-US" dirty="0"/>
              <a:t>RMSE </a:t>
            </a:r>
            <a:r>
              <a:rPr lang="en-US" altLang="ko-KR" dirty="0"/>
              <a:t>265917</a:t>
            </a:r>
            <a:endParaRPr lang="ko-KR" altLang="en-US" dirty="0"/>
          </a:p>
          <a:p>
            <a:r>
              <a:rPr lang="ko-KR" altLang="en-US" dirty="0" err="1"/>
              <a:t>R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ko-KR" altLang="en-US" dirty="0" err="1"/>
              <a:t>Score</a:t>
            </a:r>
            <a:r>
              <a:rPr lang="ko-KR" altLang="en-US" dirty="0"/>
              <a:t> </a:t>
            </a:r>
            <a:r>
              <a:rPr lang="en-US" altLang="ko-KR" dirty="0"/>
              <a:t>0.02</a:t>
            </a:r>
          </a:p>
          <a:p>
            <a:endParaRPr lang="en-US" altLang="ko-KR" dirty="0"/>
          </a:p>
          <a:p>
            <a:r>
              <a:rPr lang="ko-KR" altLang="en-US" dirty="0"/>
              <a:t>평가 결과</a:t>
            </a:r>
            <a:r>
              <a:rPr lang="en-US" altLang="ko-KR" dirty="0"/>
              <a:t>, </a:t>
            </a:r>
            <a:r>
              <a:rPr lang="ko-KR" altLang="en-US" dirty="0"/>
              <a:t>현재 모델의 설명력은 낮은 것으로 나타났다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이는 축제 방문객 수가 버스정류장 수</a:t>
            </a:r>
            <a:r>
              <a:rPr lang="en-US" altLang="ko-KR" dirty="0"/>
              <a:t>, </a:t>
            </a:r>
            <a:r>
              <a:rPr lang="ko-KR" altLang="en-US" dirty="0"/>
              <a:t>행사기간</a:t>
            </a:r>
            <a:r>
              <a:rPr lang="en-US" altLang="ko-KR" dirty="0"/>
              <a:t>, </a:t>
            </a:r>
            <a:r>
              <a:rPr lang="ko-KR" altLang="en-US" dirty="0"/>
              <a:t>홈페이지 유무</a:t>
            </a:r>
            <a:r>
              <a:rPr lang="en-US" altLang="ko-KR" dirty="0"/>
              <a:t>, </a:t>
            </a:r>
            <a:r>
              <a:rPr lang="ko-KR" altLang="en-US" dirty="0"/>
              <a:t>지하철 </a:t>
            </a:r>
            <a:r>
              <a:rPr lang="ko-KR" altLang="en-US" dirty="0" err="1"/>
              <a:t>유무뿐만</a:t>
            </a:r>
            <a:r>
              <a:rPr lang="ko-KR" altLang="en-US" dirty="0"/>
              <a:t> 아니라 축제 규모</a:t>
            </a:r>
            <a:r>
              <a:rPr lang="en-US" altLang="ko-KR" dirty="0"/>
              <a:t>, </a:t>
            </a:r>
            <a:r>
              <a:rPr lang="ko-KR" altLang="en-US" dirty="0"/>
              <a:t>홍보 효과</a:t>
            </a:r>
            <a:r>
              <a:rPr lang="en-US" altLang="ko-KR" dirty="0"/>
              <a:t>, </a:t>
            </a:r>
            <a:r>
              <a:rPr lang="ko-KR" altLang="en-US" dirty="0"/>
              <a:t>지역 특성</a:t>
            </a:r>
            <a:r>
              <a:rPr lang="en-US" altLang="ko-KR" dirty="0"/>
              <a:t>, </a:t>
            </a:r>
            <a:r>
              <a:rPr lang="ko-KR" altLang="en-US" dirty="0"/>
              <a:t>계절</a:t>
            </a:r>
            <a:r>
              <a:rPr lang="en-US" altLang="ko-KR" dirty="0"/>
              <a:t>, </a:t>
            </a:r>
            <a:r>
              <a:rPr lang="ko-KR" altLang="en-US" dirty="0"/>
              <a:t>날씨 등 다양한 요인의 영향을 받기 때문으로 판단된다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데이터의 분포와 변수 간 스케일 차이가 커 선형회귀 모델이 변수 간 관계를 충분히 학습하지 못한 것으로 분석된다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향후에는 데이터 스케일링</a:t>
            </a:r>
            <a:r>
              <a:rPr lang="en-US" altLang="ko-KR" dirty="0"/>
              <a:t>(</a:t>
            </a:r>
            <a:r>
              <a:rPr lang="en-US" altLang="ko-KR" dirty="0" err="1"/>
              <a:t>StandardScaler</a:t>
            </a:r>
            <a:r>
              <a:rPr lang="en-US" altLang="ko-KR" dirty="0"/>
              <a:t>, Min-Max Scaling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 과 ​이상치 처리</a:t>
            </a:r>
            <a:r>
              <a:rPr lang="en-US" altLang="ko-KR" dirty="0"/>
              <a:t>, ​</a:t>
            </a:r>
            <a:r>
              <a:rPr lang="ko-KR" altLang="en-US" dirty="0"/>
              <a:t>추가 변수 확보를 적용하여 모델의 학습 성능을 개선할 계획이다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0E245D-A738-4383-807E-096A3B7EE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21" y="89351"/>
            <a:ext cx="3149856" cy="49356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E047F4-04DD-44B7-8A11-1DE32BFB0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21" y="5025005"/>
            <a:ext cx="2366723" cy="147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3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2263CA-533A-4EAA-B344-D22A207FB1AB}"/>
              </a:ext>
            </a:extLst>
          </p:cNvPr>
          <p:cNvSpPr txBox="1"/>
          <p:nvPr/>
        </p:nvSpPr>
        <p:spPr>
          <a:xfrm>
            <a:off x="434130" y="280031"/>
            <a:ext cx="610299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 err="1"/>
              <a:t>팀원별</a:t>
            </a:r>
            <a:r>
              <a:rPr lang="ko-KR" altLang="en-US" sz="2800" b="1" dirty="0"/>
              <a:t> 담당 역할</a:t>
            </a:r>
          </a:p>
          <a:p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3231151C-34B4-49FF-87B6-BF4EC45E9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846266"/>
              </p:ext>
            </p:extLst>
          </p:nvPr>
        </p:nvGraphicFramePr>
        <p:xfrm>
          <a:off x="2032000" y="1281729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542968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72519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dirty="0"/>
                        <a:t>이름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담당 업무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902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장호균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사용분석 및 </a:t>
                      </a:r>
                      <a:r>
                        <a:rPr lang="ko-KR" altLang="en-US" dirty="0" err="1"/>
                        <a:t>결측치</a:t>
                      </a:r>
                      <a:r>
                        <a:rPr lang="ko-KR" altLang="en-US" dirty="0"/>
                        <a:t> 처리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563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김시현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수집 및 인코딩 처리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03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김나현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AI 모델 개발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59278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1BE6CB2-ACD5-41CA-AA2F-19778D156EBB}"/>
              </a:ext>
            </a:extLst>
          </p:cNvPr>
          <p:cNvSpPr txBox="1"/>
          <p:nvPr/>
        </p:nvSpPr>
        <p:spPr>
          <a:xfrm>
            <a:off x="559966" y="3321013"/>
            <a:ext cx="61029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/>
              <a:t>프로젝트 소감</a:t>
            </a:r>
          </a:p>
          <a:p>
            <a:endParaRPr lang="en-US" altLang="ko-KR" dirty="0"/>
          </a:p>
          <a:p>
            <a:r>
              <a:rPr lang="ko-KR" altLang="en-US" dirty="0"/>
              <a:t>공공데이터를 활용한 실제 문제 해결 과정을 경험하였다.</a:t>
            </a:r>
          </a:p>
          <a:p>
            <a:r>
              <a:rPr lang="ko-KR" altLang="en-US" dirty="0"/>
              <a:t>데이터 전처리의 중요성을 확인할 수 있었다.</a:t>
            </a:r>
          </a:p>
          <a:p>
            <a:r>
              <a:rPr lang="ko-KR" altLang="en-US" dirty="0"/>
              <a:t>데이터 기반 의사결정의 활용 가능성을 확인하였다.</a:t>
            </a:r>
          </a:p>
        </p:txBody>
      </p:sp>
    </p:spTree>
    <p:extLst>
      <p:ext uri="{BB962C8B-B14F-4D97-AF65-F5344CB8AC3E}">
        <p14:creationId xmlns:p14="http://schemas.microsoft.com/office/powerpoint/2010/main" val="91300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F3BB41-C8A7-48E4-9627-4A5425E45402}"/>
              </a:ext>
            </a:extLst>
          </p:cNvPr>
          <p:cNvSpPr txBox="1"/>
          <p:nvPr/>
        </p:nvSpPr>
        <p:spPr>
          <a:xfrm>
            <a:off x="442520" y="201228"/>
            <a:ext cx="6102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 err="1"/>
              <a:t>느낀점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개선할 점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6E783-44B8-41F7-82C4-8375D41CCE9F}"/>
              </a:ext>
            </a:extLst>
          </p:cNvPr>
          <p:cNvSpPr txBox="1"/>
          <p:nvPr/>
        </p:nvSpPr>
        <p:spPr>
          <a:xfrm>
            <a:off x="442520" y="1220085"/>
            <a:ext cx="10295388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이번 프로젝트를 통해 공공데이터를 수집하고 전처리한 후 </a:t>
            </a:r>
            <a:r>
              <a:rPr lang="ko-KR" altLang="en-US" dirty="0" err="1"/>
              <a:t>머신러닝</a:t>
            </a:r>
            <a:r>
              <a:rPr lang="ko-KR" altLang="en-US" dirty="0"/>
              <a:t> 모델을 활용하여 축제 방문객 수를 예측하는 과정을 경험할 수 있었다</a:t>
            </a:r>
            <a:r>
              <a:rPr lang="en-US" altLang="ko-KR" dirty="0"/>
              <a:t>. </a:t>
            </a:r>
            <a:r>
              <a:rPr lang="ko-KR" altLang="en-US" dirty="0"/>
              <a:t>특히 데이터 전처리의 중요성과 입력 변수의 선택이 모델 성능에 큰 영향을 미친다는 점을 확인할 수 있었다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향후에는 방문객 수를 일정한 구간으로 </a:t>
            </a:r>
            <a:r>
              <a:rPr lang="ko-KR" altLang="en-US" dirty="0" err="1"/>
              <a:t>범주화하여</a:t>
            </a:r>
            <a:r>
              <a:rPr lang="ko-KR" altLang="en-US" dirty="0"/>
              <a:t> 분류</a:t>
            </a:r>
            <a:r>
              <a:rPr lang="en-US" altLang="ko-KR" dirty="0"/>
              <a:t>(Classification) </a:t>
            </a:r>
            <a:r>
              <a:rPr lang="ko-KR" altLang="en-US" dirty="0"/>
              <a:t>문제​로 접근해 볼 계획이다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en-US" altLang="ko-KR" dirty="0"/>
              <a:t>Random Forest </a:t>
            </a:r>
            <a:r>
              <a:rPr lang="ko-KR" altLang="en-US" dirty="0"/>
              <a:t>분류 모델을 적용하여 축제 규모를 예측하고</a:t>
            </a:r>
            <a:r>
              <a:rPr lang="en-US" altLang="ko-KR" dirty="0"/>
              <a:t>, </a:t>
            </a:r>
            <a:r>
              <a:rPr lang="ko-KR" altLang="en-US" dirty="0"/>
              <a:t>변수 중요도 분석을 통해 어떤 요인이 축제 규모에 가장 큰 영향을 미치는지 함께 분석하고자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5230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547</Words>
  <Application>Microsoft Office PowerPoint</Application>
  <PresentationFormat>와이드스크린</PresentationFormat>
  <Paragraphs>92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31</cp:revision>
  <dcterms:created xsi:type="dcterms:W3CDTF">2026-03-10T17:23:29Z</dcterms:created>
  <dcterms:modified xsi:type="dcterms:W3CDTF">2026-08-04T06:01:13Z</dcterms:modified>
</cp:coreProperties>
</file>