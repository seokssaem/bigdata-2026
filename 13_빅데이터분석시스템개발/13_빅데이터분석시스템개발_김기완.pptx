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13_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빅데이터분석시스템개발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2001020906_24v3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24A68FCB-44F6-4992-91C8-B0FACF0F93B7}"/>
              </a:ext>
            </a:extLst>
          </p:cNvPr>
          <p:cNvSpPr txBox="1">
            <a:spLocks/>
          </p:cNvSpPr>
          <p:nvPr/>
        </p:nvSpPr>
        <p:spPr>
          <a:xfrm>
            <a:off x="1641446" y="421984"/>
            <a:ext cx="9144000" cy="2387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6000" dirty="0"/>
              <a:t>화재 발생 특성에 따른 인명피해 예측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FAA4A-7F4C-4D17-9EE9-3108CB3D1CBF}"/>
              </a:ext>
            </a:extLst>
          </p:cNvPr>
          <p:cNvSpPr txBox="1"/>
          <p:nvPr/>
        </p:nvSpPr>
        <p:spPr>
          <a:xfrm>
            <a:off x="754240" y="4647340"/>
            <a:ext cx="249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 err="1"/>
              <a:t>팀명</a:t>
            </a:r>
            <a:r>
              <a:rPr lang="en-US" altLang="ko-KR" sz="3000" dirty="0"/>
              <a:t>: 3</a:t>
            </a:r>
            <a:r>
              <a:rPr lang="ko-KR" altLang="en-US" sz="3000" dirty="0"/>
              <a:t>조</a:t>
            </a:r>
            <a:endParaRPr lang="en-US" altLang="ko-KR" sz="3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C211D-1AE4-44C2-B9E7-055B8917681F}"/>
              </a:ext>
            </a:extLst>
          </p:cNvPr>
          <p:cNvSpPr txBox="1"/>
          <p:nvPr/>
        </p:nvSpPr>
        <p:spPr>
          <a:xfrm>
            <a:off x="3246540" y="4647340"/>
            <a:ext cx="54270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팀원</a:t>
            </a:r>
            <a:r>
              <a:rPr lang="en-US" altLang="ko-KR" sz="3000" dirty="0"/>
              <a:t>: </a:t>
            </a:r>
            <a:r>
              <a:rPr lang="ko-KR" altLang="en-US" sz="3000" dirty="0" err="1"/>
              <a:t>김기완</a:t>
            </a:r>
            <a:r>
              <a:rPr lang="en-US" altLang="ko-KR" sz="3000" dirty="0"/>
              <a:t>, </a:t>
            </a:r>
            <a:r>
              <a:rPr lang="ko-KR" altLang="en-US" sz="3000" dirty="0" err="1"/>
              <a:t>노가희</a:t>
            </a:r>
            <a:r>
              <a:rPr lang="en-US" altLang="ko-KR" sz="3000" dirty="0"/>
              <a:t>, </a:t>
            </a:r>
            <a:r>
              <a:rPr lang="ko-KR" altLang="en-US" sz="3000" dirty="0" err="1"/>
              <a:t>태두혁</a:t>
            </a:r>
            <a:endParaRPr lang="ko-KR" alt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6C43AC-AA8F-4547-AEF1-96ACDBDF2C2C}"/>
              </a:ext>
            </a:extLst>
          </p:cNvPr>
          <p:cNvSpPr txBox="1"/>
          <p:nvPr/>
        </p:nvSpPr>
        <p:spPr>
          <a:xfrm>
            <a:off x="8683232" y="4647340"/>
            <a:ext cx="29810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데이터</a:t>
            </a:r>
            <a:r>
              <a:rPr lang="en-US" altLang="ko-KR" sz="3000" dirty="0"/>
              <a:t>: fire.csv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063817F-B925-4990-90A8-236D9050F2E4}"/>
              </a:ext>
            </a:extLst>
          </p:cNvPr>
          <p:cNvSpPr/>
          <p:nvPr/>
        </p:nvSpPr>
        <p:spPr>
          <a:xfrm>
            <a:off x="1180051" y="436228"/>
            <a:ext cx="9831897" cy="11492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b="1" dirty="0">
                <a:solidFill>
                  <a:schemeClr val="tx1"/>
                </a:solidFill>
              </a:rPr>
              <a:t>분석 목적 및 가설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53055-2D34-455A-B942-2DF8AD6434A2}"/>
              </a:ext>
            </a:extLst>
          </p:cNvPr>
          <p:cNvSpPr txBox="1"/>
          <p:nvPr/>
        </p:nvSpPr>
        <p:spPr>
          <a:xfrm>
            <a:off x="1476462" y="1960956"/>
            <a:ext cx="20265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분석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85457C-9D73-45F2-BD60-ECFEECA3945C}"/>
              </a:ext>
            </a:extLst>
          </p:cNvPr>
          <p:cNvSpPr txBox="1"/>
          <p:nvPr/>
        </p:nvSpPr>
        <p:spPr>
          <a:xfrm>
            <a:off x="8298111" y="1952566"/>
            <a:ext cx="10567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가설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CCECB-3972-403B-A9FC-40904C4EDE59}"/>
              </a:ext>
            </a:extLst>
          </p:cNvPr>
          <p:cNvSpPr txBox="1"/>
          <p:nvPr/>
        </p:nvSpPr>
        <p:spPr>
          <a:xfrm>
            <a:off x="247894" y="2951946"/>
            <a:ext cx="5481785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화재가 났을 때</a:t>
            </a:r>
            <a:r>
              <a:rPr lang="en-US" altLang="ko-KR" sz="2800" dirty="0"/>
              <a:t>, </a:t>
            </a:r>
            <a:r>
              <a:rPr lang="ko-KR" altLang="en-US" sz="2800" dirty="0"/>
              <a:t>어떤 조건이 인명피해로 이어지는가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766C82-030A-4805-9F2B-FC07AF476026}"/>
              </a:ext>
            </a:extLst>
          </p:cNvPr>
          <p:cNvSpPr txBox="1"/>
          <p:nvPr/>
        </p:nvSpPr>
        <p:spPr>
          <a:xfrm>
            <a:off x="6095999" y="2935165"/>
            <a:ext cx="5964574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시도</a:t>
            </a:r>
            <a:r>
              <a:rPr lang="en-US" altLang="ko-KR" sz="2800" dirty="0"/>
              <a:t>, </a:t>
            </a:r>
            <a:r>
              <a:rPr lang="ko-KR" altLang="en-US" sz="2800" dirty="0"/>
              <a:t>발화요인</a:t>
            </a:r>
            <a:r>
              <a:rPr lang="en-US" altLang="ko-KR" sz="2800" dirty="0"/>
              <a:t>, </a:t>
            </a:r>
            <a:r>
              <a:rPr lang="ko-KR" altLang="en-US" sz="2800" dirty="0"/>
              <a:t>화재 발생 장소</a:t>
            </a:r>
            <a:r>
              <a:rPr lang="en-US" altLang="ko-KR" sz="2800" dirty="0"/>
              <a:t>, </a:t>
            </a:r>
            <a:r>
              <a:rPr lang="ko-KR" altLang="en-US" sz="2800" dirty="0"/>
              <a:t>발생 월 </a:t>
            </a:r>
            <a:r>
              <a:rPr lang="en-US" altLang="ko-KR" sz="2800" dirty="0"/>
              <a:t>· </a:t>
            </a:r>
            <a:r>
              <a:rPr lang="ko-KR" altLang="en-US" sz="2800" dirty="0"/>
              <a:t>시간</a:t>
            </a:r>
            <a:r>
              <a:rPr lang="en-US" altLang="ko-KR" sz="2800" dirty="0"/>
              <a:t> · </a:t>
            </a:r>
            <a:r>
              <a:rPr lang="ko-KR" altLang="en-US" sz="2800" dirty="0"/>
              <a:t>요일에 따라 인명피해 발생 확률이 달라질 것이다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5F1A1D1-C095-4689-AD2A-B818AEBCF173}"/>
              </a:ext>
            </a:extLst>
          </p:cNvPr>
          <p:cNvSpPr/>
          <p:nvPr/>
        </p:nvSpPr>
        <p:spPr>
          <a:xfrm>
            <a:off x="1180051" y="285226"/>
            <a:ext cx="9831897" cy="11325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>
                <a:solidFill>
                  <a:schemeClr val="tx1"/>
                </a:solidFill>
              </a:rPr>
              <a:t>데이터 및 변수 설정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B34BD-7363-4762-822D-3910CA9FB842}"/>
              </a:ext>
            </a:extLst>
          </p:cNvPr>
          <p:cNvSpPr txBox="1"/>
          <p:nvPr/>
        </p:nvSpPr>
        <p:spPr>
          <a:xfrm>
            <a:off x="939567" y="1718713"/>
            <a:ext cx="30064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데이터</a:t>
            </a:r>
            <a:r>
              <a:rPr lang="en-US" altLang="ko-KR" sz="3400" dirty="0"/>
              <a:t>(fire.csv)</a:t>
            </a:r>
            <a:endParaRPr lang="ko-KR" altLang="en-US" sz="3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0C5BF-C52E-40A9-B499-80686F2A23A5}"/>
              </a:ext>
            </a:extLst>
          </p:cNvPr>
          <p:cNvSpPr txBox="1"/>
          <p:nvPr/>
        </p:nvSpPr>
        <p:spPr>
          <a:xfrm>
            <a:off x="8382000" y="1829348"/>
            <a:ext cx="20265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변수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1B1F97-1AA6-4DA5-BAAF-6E6F8AA1B5D8}"/>
              </a:ext>
            </a:extLst>
          </p:cNvPr>
          <p:cNvSpPr txBox="1"/>
          <p:nvPr/>
        </p:nvSpPr>
        <p:spPr>
          <a:xfrm>
            <a:off x="652854" y="2635239"/>
            <a:ext cx="3579826" cy="2246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 err="1"/>
              <a:t>소방청</a:t>
            </a:r>
            <a:r>
              <a:rPr lang="ko-KR" altLang="en-US" sz="2800" dirty="0"/>
              <a:t> 화재발생 정보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총 약 </a:t>
            </a:r>
            <a:r>
              <a:rPr lang="en-US" altLang="ko-KR" sz="2800" dirty="0"/>
              <a:t>19</a:t>
            </a:r>
            <a:r>
              <a:rPr lang="ko-KR" altLang="en-US" sz="2800" dirty="0" err="1"/>
              <a:t>만건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 err="1"/>
              <a:t>결측치</a:t>
            </a:r>
            <a:r>
              <a:rPr lang="ko-KR" altLang="en-US" sz="2800" dirty="0"/>
              <a:t> 없음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E1544A-82AF-4599-A0EC-A2B367CE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84" y="4982775"/>
            <a:ext cx="4975250" cy="13425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9505EF3-7DAB-4F69-BD7D-B7B3A0683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332" y="2635239"/>
            <a:ext cx="6677668" cy="163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53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464549C-1AB7-4C2C-9663-4676F30A6058}"/>
              </a:ext>
            </a:extLst>
          </p:cNvPr>
          <p:cNvSpPr/>
          <p:nvPr/>
        </p:nvSpPr>
        <p:spPr>
          <a:xfrm>
            <a:off x="1107345" y="343948"/>
            <a:ext cx="9831897" cy="9395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>
                <a:solidFill>
                  <a:schemeClr val="tx1"/>
                </a:solidFill>
              </a:rPr>
              <a:t>데이터셋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73A0E-816D-42A8-981F-8F5C597D17D5}"/>
              </a:ext>
            </a:extLst>
          </p:cNvPr>
          <p:cNvSpPr txBox="1"/>
          <p:nvPr/>
        </p:nvSpPr>
        <p:spPr>
          <a:xfrm>
            <a:off x="1342239" y="1443454"/>
            <a:ext cx="10567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후보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E4890-11DA-4F2E-8920-1E12F97778E7}"/>
              </a:ext>
            </a:extLst>
          </p:cNvPr>
          <p:cNvSpPr txBox="1"/>
          <p:nvPr/>
        </p:nvSpPr>
        <p:spPr>
          <a:xfrm>
            <a:off x="8029662" y="1443454"/>
            <a:ext cx="256031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선택 및 이유</a:t>
            </a:r>
            <a:endParaRPr lang="en-US" altLang="ko-KR" sz="3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62ACE-D58A-4832-B0F2-F7FA30F69AD8}"/>
              </a:ext>
            </a:extLst>
          </p:cNvPr>
          <p:cNvSpPr txBox="1"/>
          <p:nvPr/>
        </p:nvSpPr>
        <p:spPr>
          <a:xfrm>
            <a:off x="309032" y="2121338"/>
            <a:ext cx="4179814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2400" dirty="0"/>
              <a:t>Simple Train/Test Split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K-Fold Cross Validation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Stratified Train/Test Split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Time Series Split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812ADE-9354-46B3-A86E-05CA62AF9ECD}"/>
              </a:ext>
            </a:extLst>
          </p:cNvPr>
          <p:cNvSpPr txBox="1"/>
          <p:nvPr/>
        </p:nvSpPr>
        <p:spPr>
          <a:xfrm>
            <a:off x="6023293" y="2059007"/>
            <a:ext cx="6102990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2400" dirty="0"/>
              <a:t>Stratified Train/Test Split(75:25) -&gt; </a:t>
            </a:r>
            <a:r>
              <a:rPr lang="en-US" altLang="ko-KR" sz="2400" dirty="0" err="1"/>
              <a:t>test_size</a:t>
            </a:r>
            <a:r>
              <a:rPr lang="en-US" altLang="ko-KR" sz="2400" dirty="0"/>
              <a:t>=0.25, stratify=y</a:t>
            </a:r>
          </a:p>
          <a:p>
            <a:endParaRPr lang="en-US" altLang="ko-KR" sz="2400" dirty="0"/>
          </a:p>
          <a:p>
            <a:r>
              <a:rPr lang="ko-KR" altLang="en-US" sz="2400" dirty="0"/>
              <a:t>데이터가 약 </a:t>
            </a:r>
            <a:r>
              <a:rPr lang="en-US" altLang="ko-KR" sz="2400" dirty="0"/>
              <a:t>19</a:t>
            </a:r>
            <a:r>
              <a:rPr lang="ko-KR" altLang="en-US" sz="2400" dirty="0" err="1"/>
              <a:t>만건으로</a:t>
            </a:r>
            <a:r>
              <a:rPr lang="ko-KR" altLang="en-US" sz="2400" dirty="0"/>
              <a:t> 충분히 커서 한 번만 나눠도 </a:t>
            </a:r>
            <a:r>
              <a:rPr lang="en-US" altLang="ko-KR" sz="2400" dirty="0"/>
              <a:t>test</a:t>
            </a:r>
            <a:r>
              <a:rPr lang="ko-KR" altLang="en-US" sz="2400" dirty="0"/>
              <a:t>셋이 안정적임 </a:t>
            </a:r>
            <a:r>
              <a:rPr lang="en-US" altLang="ko-KR" sz="2400" dirty="0"/>
              <a:t>-&gt; </a:t>
            </a:r>
            <a:r>
              <a:rPr lang="ko-KR" altLang="en-US" sz="2400" dirty="0"/>
              <a:t>교차검증 불필요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타겟이 불균형해서 </a:t>
            </a:r>
            <a:r>
              <a:rPr lang="en-US" altLang="ko-KR" sz="2400" dirty="0"/>
              <a:t>stratify=y</a:t>
            </a:r>
            <a:r>
              <a:rPr lang="ko-KR" altLang="en-US" sz="2400" dirty="0"/>
              <a:t>로 해서 비율을 유지함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D8F7317-9F0A-412E-9AA8-777299796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2" y="4917579"/>
            <a:ext cx="5268060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73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9BB21E4-933D-493A-B49B-64BE4BB0A7C0}"/>
              </a:ext>
            </a:extLst>
          </p:cNvPr>
          <p:cNvSpPr/>
          <p:nvPr/>
        </p:nvSpPr>
        <p:spPr>
          <a:xfrm>
            <a:off x="1107345" y="239087"/>
            <a:ext cx="9831897" cy="7969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>
                <a:solidFill>
                  <a:schemeClr val="tx1"/>
                </a:solidFill>
              </a:rPr>
              <a:t>모델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95CB7-2D8B-4723-A918-59A5153355EE}"/>
              </a:ext>
            </a:extLst>
          </p:cNvPr>
          <p:cNvSpPr txBox="1"/>
          <p:nvPr/>
        </p:nvSpPr>
        <p:spPr>
          <a:xfrm>
            <a:off x="1342239" y="1317619"/>
            <a:ext cx="10567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후보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D6247-A8AF-4FAD-89F6-F88F2D326AD5}"/>
              </a:ext>
            </a:extLst>
          </p:cNvPr>
          <p:cNvSpPr txBox="1"/>
          <p:nvPr/>
        </p:nvSpPr>
        <p:spPr>
          <a:xfrm>
            <a:off x="8029662" y="1250508"/>
            <a:ext cx="256031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선택 및 이유</a:t>
            </a:r>
            <a:endParaRPr lang="en-US" altLang="ko-KR" sz="3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858B2F-40C4-4771-9706-5A8F2E0DF2B7}"/>
              </a:ext>
            </a:extLst>
          </p:cNvPr>
          <p:cNvSpPr txBox="1"/>
          <p:nvPr/>
        </p:nvSpPr>
        <p:spPr>
          <a:xfrm>
            <a:off x="250309" y="1933172"/>
            <a:ext cx="4179814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2400" dirty="0" err="1">
                <a:latin typeface="+mn-ea"/>
              </a:rPr>
              <a:t>LogisticRegression</a:t>
            </a:r>
            <a:r>
              <a:rPr lang="en-US" altLang="ko-KR" sz="2400" dirty="0">
                <a:latin typeface="+mn-ea"/>
              </a:rPr>
              <a:t> </a:t>
            </a:r>
          </a:p>
          <a:p>
            <a:pPr marL="0" indent="0"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None/>
            </a:pPr>
            <a:r>
              <a:rPr lang="en-US" altLang="ko-KR" sz="2400" dirty="0" err="1">
                <a:latin typeface="+mn-ea"/>
              </a:rPr>
              <a:t>DecisionTreeClassifier</a:t>
            </a:r>
            <a:endParaRPr lang="en-US" altLang="ko-KR" sz="2400" dirty="0">
              <a:latin typeface="+mn-ea"/>
            </a:endParaRPr>
          </a:p>
          <a:p>
            <a:pPr marL="0" indent="0"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None/>
            </a:pPr>
            <a:r>
              <a:rPr lang="en-US" altLang="ko-KR" sz="2400" dirty="0" err="1">
                <a:latin typeface="+mn-ea"/>
              </a:rPr>
              <a:t>XGBoost</a:t>
            </a:r>
            <a:r>
              <a:rPr lang="en-US" altLang="ko-KR" sz="2400" dirty="0">
                <a:latin typeface="+mn-ea"/>
              </a:rPr>
              <a:t> </a:t>
            </a:r>
          </a:p>
          <a:p>
            <a:pPr marL="0" indent="0"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None/>
            </a:pPr>
            <a:r>
              <a:rPr lang="en-US" altLang="ko-KR" sz="2400" dirty="0" err="1">
                <a:latin typeface="+mn-ea"/>
              </a:rPr>
              <a:t>RandomForestClassifier</a:t>
            </a:r>
            <a:endParaRPr lang="en-US" altLang="ko-KR" sz="2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C93C8-7976-4544-B781-A35A07E473C6}"/>
              </a:ext>
            </a:extLst>
          </p:cNvPr>
          <p:cNvSpPr txBox="1"/>
          <p:nvPr/>
        </p:nvSpPr>
        <p:spPr>
          <a:xfrm>
            <a:off x="5838701" y="1933172"/>
            <a:ext cx="6224668" cy="28007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2200" dirty="0" err="1"/>
              <a:t>RandomForestClassifier</a:t>
            </a:r>
            <a:r>
              <a:rPr lang="en-US" altLang="ko-KR" sz="2200" dirty="0"/>
              <a:t>(</a:t>
            </a:r>
            <a:r>
              <a:rPr lang="en-US" altLang="ko-KR" sz="2200" dirty="0" err="1"/>
              <a:t>class_weight</a:t>
            </a:r>
            <a:r>
              <a:rPr lang="en-US" altLang="ko-KR" sz="2200" dirty="0"/>
              <a:t>=‘balanced’)</a:t>
            </a:r>
          </a:p>
          <a:p>
            <a:endParaRPr lang="en-US" altLang="ko-KR" sz="2200" dirty="0"/>
          </a:p>
          <a:p>
            <a:r>
              <a:rPr lang="ko-KR" altLang="en-US" sz="2200" dirty="0"/>
              <a:t>인명피해 데이터가 </a:t>
            </a:r>
            <a:r>
              <a:rPr lang="en-US" altLang="ko-KR" sz="2200" dirty="0"/>
              <a:t>4.4%</a:t>
            </a:r>
            <a:r>
              <a:rPr lang="ko-KR" altLang="en-US" sz="2200" dirty="0"/>
              <a:t>로 불균형하고</a:t>
            </a:r>
            <a:r>
              <a:rPr lang="en-US" altLang="ko-KR" sz="2200" dirty="0"/>
              <a:t>, </a:t>
            </a:r>
            <a:r>
              <a:rPr lang="ko-KR" altLang="en-US" sz="2200" dirty="0"/>
              <a:t>범주형 변수가 여러 개 섞여 있는 구조 </a:t>
            </a:r>
            <a:r>
              <a:rPr lang="en-US" altLang="ko-KR" sz="2200" dirty="0"/>
              <a:t>-&gt; </a:t>
            </a:r>
            <a:r>
              <a:rPr lang="ko-KR" altLang="en-US" sz="2200" dirty="0"/>
              <a:t>과적합에 강하고</a:t>
            </a:r>
            <a:r>
              <a:rPr lang="en-US" altLang="ko-KR" sz="2200" dirty="0"/>
              <a:t>, </a:t>
            </a:r>
            <a:r>
              <a:rPr lang="ko-KR" altLang="en-US" sz="2200" dirty="0"/>
              <a:t>소수 클래스도 안정적으로 학습</a:t>
            </a:r>
            <a:endParaRPr lang="en-US" altLang="ko-KR" sz="2200" dirty="0"/>
          </a:p>
          <a:p>
            <a:endParaRPr lang="en-US" altLang="ko-KR" sz="2200" dirty="0"/>
          </a:p>
          <a:p>
            <a:r>
              <a:rPr lang="en-US" altLang="ko-KR" sz="2200" dirty="0" err="1"/>
              <a:t>Predict_proba</a:t>
            </a:r>
            <a:r>
              <a:rPr lang="en-US" altLang="ko-KR" sz="2200" dirty="0"/>
              <a:t>()</a:t>
            </a:r>
            <a:r>
              <a:rPr lang="ko-KR" altLang="en-US" sz="2200" dirty="0" err="1"/>
              <a:t>기준값</a:t>
            </a:r>
            <a:r>
              <a:rPr lang="ko-KR" altLang="en-US" sz="2200" dirty="0"/>
              <a:t> </a:t>
            </a:r>
            <a:r>
              <a:rPr lang="en-US" altLang="ko-KR" sz="2200" dirty="0"/>
              <a:t>0.3</a:t>
            </a:r>
            <a:r>
              <a:rPr lang="ko-KR" altLang="en-US" sz="2200" dirty="0"/>
              <a:t>으로 설정 </a:t>
            </a:r>
            <a:r>
              <a:rPr lang="en-US" altLang="ko-KR" sz="2200" dirty="0"/>
              <a:t>(</a:t>
            </a:r>
            <a:r>
              <a:rPr lang="ko-KR" altLang="en-US" sz="2200" dirty="0"/>
              <a:t>인명피해는 놓치면 안 되는 문제라 </a:t>
            </a:r>
            <a:r>
              <a:rPr lang="en-US" altLang="ko-KR" sz="2200" dirty="0"/>
              <a:t>recall </a:t>
            </a:r>
            <a:r>
              <a:rPr lang="ko-KR" altLang="en-US" sz="2200" dirty="0"/>
              <a:t>우선</a:t>
            </a:r>
            <a:r>
              <a:rPr lang="en-US" altLang="ko-KR" sz="2200" dirty="0"/>
              <a:t>)</a:t>
            </a:r>
            <a:endParaRPr lang="ko-KR" altLang="en-US" sz="2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1B5BAE4-00EC-4B24-B97F-134FE1248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044" y="4569615"/>
            <a:ext cx="3419952" cy="187668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4316BDE-A822-405D-9749-C5585C099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45" y="4987853"/>
            <a:ext cx="5325218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5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B3E4C4-756C-47C5-A69E-D1F64B3A84FE}"/>
              </a:ext>
            </a:extLst>
          </p:cNvPr>
          <p:cNvSpPr/>
          <p:nvPr/>
        </p:nvSpPr>
        <p:spPr>
          <a:xfrm>
            <a:off x="1048622" y="52319"/>
            <a:ext cx="9831897" cy="8221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>
                <a:solidFill>
                  <a:schemeClr val="tx1"/>
                </a:solidFill>
              </a:rPr>
              <a:t>평가지표 및 해석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AD42FE-DA63-43C3-ABA0-8F9ACBE6B686}"/>
              </a:ext>
            </a:extLst>
          </p:cNvPr>
          <p:cNvSpPr txBox="1"/>
          <p:nvPr/>
        </p:nvSpPr>
        <p:spPr>
          <a:xfrm>
            <a:off x="1342239" y="977724"/>
            <a:ext cx="192873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평가지표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9B222-7D66-4846-8145-9F40624ED83F}"/>
              </a:ext>
            </a:extLst>
          </p:cNvPr>
          <p:cNvSpPr txBox="1"/>
          <p:nvPr/>
        </p:nvSpPr>
        <p:spPr>
          <a:xfrm>
            <a:off x="7956663" y="977724"/>
            <a:ext cx="256031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결과 및 해석</a:t>
            </a:r>
            <a:endParaRPr lang="en-US" altLang="ko-KR" sz="3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3E75D-CB69-4B1B-B954-C2099936CE0E}"/>
              </a:ext>
            </a:extLst>
          </p:cNvPr>
          <p:cNvSpPr txBox="1"/>
          <p:nvPr/>
        </p:nvSpPr>
        <p:spPr>
          <a:xfrm>
            <a:off x="425375" y="1545261"/>
            <a:ext cx="3936900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dirty="0" err="1"/>
              <a:t>classification_report</a:t>
            </a:r>
            <a:r>
              <a:rPr lang="en-US" altLang="ko-KR" dirty="0"/>
              <a:t>()</a:t>
            </a:r>
            <a:r>
              <a:rPr lang="ko-KR" altLang="en-US" dirty="0"/>
              <a:t>로 정밀도</a:t>
            </a:r>
            <a:r>
              <a:rPr lang="en-US" altLang="ko-KR" dirty="0"/>
              <a:t>, </a:t>
            </a:r>
            <a:r>
              <a:rPr lang="ko-KR" altLang="en-US" dirty="0" err="1"/>
              <a:t>재현율</a:t>
            </a:r>
            <a:r>
              <a:rPr lang="en-US" altLang="ko-KR" dirty="0"/>
              <a:t>, f1-score, roc-</a:t>
            </a:r>
            <a:r>
              <a:rPr lang="en-US" altLang="ko-KR" dirty="0" err="1"/>
              <a:t>auc</a:t>
            </a:r>
            <a:r>
              <a:rPr lang="en-US" altLang="ko-KR" dirty="0"/>
              <a:t> </a:t>
            </a:r>
            <a:r>
              <a:rPr lang="ko-KR" altLang="en-US" dirty="0"/>
              <a:t>확인 </a:t>
            </a:r>
            <a:r>
              <a:rPr lang="en-US" altLang="ko-KR" dirty="0"/>
              <a:t>-&gt;</a:t>
            </a:r>
            <a:r>
              <a:rPr lang="en-US" altLang="ko-KR" dirty="0">
                <a:latin typeface="+mn-ea"/>
              </a:rPr>
              <a:t> roc-</a:t>
            </a:r>
            <a:r>
              <a:rPr lang="en-US" altLang="ko-KR" dirty="0" err="1">
                <a:latin typeface="+mn-ea"/>
              </a:rPr>
              <a:t>auc</a:t>
            </a:r>
            <a:r>
              <a:rPr lang="en-US" altLang="ko-KR" dirty="0">
                <a:latin typeface="+mn-ea"/>
              </a:rPr>
              <a:t> 0.77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ko-KR" altLang="en-US" dirty="0">
                <a:latin typeface="+mn-ea"/>
              </a:rPr>
              <a:t>타겟 불균형 때문에 </a:t>
            </a:r>
            <a:r>
              <a:rPr lang="en-US" altLang="ko-KR" dirty="0">
                <a:latin typeface="+mn-ea"/>
              </a:rPr>
              <a:t>accuracy</a:t>
            </a:r>
            <a:r>
              <a:rPr lang="ko-KR" altLang="en-US" dirty="0">
                <a:latin typeface="+mn-ea"/>
              </a:rPr>
              <a:t>보다 </a:t>
            </a:r>
            <a:r>
              <a:rPr lang="en-US" altLang="ko-KR" dirty="0">
                <a:latin typeface="+mn-ea"/>
              </a:rPr>
              <a:t>recall </a:t>
            </a:r>
            <a:r>
              <a:rPr lang="ko-KR" altLang="en-US" dirty="0">
                <a:latin typeface="+mn-ea"/>
              </a:rPr>
              <a:t>중심으로 평가</a:t>
            </a:r>
            <a:r>
              <a:rPr lang="en-US" altLang="ko-KR" dirty="0">
                <a:latin typeface="+mn-ea"/>
              </a:rPr>
              <a:t>(recall 0.85)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en-US" altLang="ko-KR" dirty="0" err="1">
                <a:latin typeface="+mn-ea"/>
              </a:rPr>
              <a:t>predict_proba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기준값을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0.3</a:t>
            </a:r>
            <a:r>
              <a:rPr lang="ko-KR" altLang="en-US" dirty="0">
                <a:latin typeface="+mn-ea"/>
              </a:rPr>
              <a:t>으로 설정 </a:t>
            </a:r>
            <a:r>
              <a:rPr lang="en-US" altLang="ko-KR" dirty="0">
                <a:latin typeface="+mn-ea"/>
              </a:rPr>
              <a:t>-&gt; recall 0.85/precision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0.08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140C5-58A8-49B2-B845-3EF0270F409C}"/>
              </a:ext>
            </a:extLst>
          </p:cNvPr>
          <p:cNvSpPr txBox="1"/>
          <p:nvPr/>
        </p:nvSpPr>
        <p:spPr>
          <a:xfrm>
            <a:off x="7268370" y="1815615"/>
            <a:ext cx="4400715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dirty="0" err="1"/>
              <a:t>feature_importances</a:t>
            </a:r>
            <a:r>
              <a:rPr lang="en-US" altLang="ko-KR" dirty="0"/>
              <a:t>_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변수 중요도 확인 </a:t>
            </a:r>
            <a:r>
              <a:rPr lang="en-US" altLang="ko-KR" dirty="0"/>
              <a:t>(</a:t>
            </a:r>
            <a:r>
              <a:rPr lang="ko-KR" altLang="en-US" dirty="0"/>
              <a:t>원</a:t>
            </a:r>
            <a:r>
              <a:rPr lang="en-US" altLang="ko-KR" dirty="0"/>
              <a:t>-</a:t>
            </a:r>
            <a:r>
              <a:rPr lang="ko-KR" altLang="en-US" dirty="0"/>
              <a:t>핫 컬럼을 원본 변수 단위로 </a:t>
            </a:r>
            <a:r>
              <a:rPr lang="ko-KR" altLang="en-US" dirty="0" err="1"/>
              <a:t>재합산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결론</a:t>
            </a:r>
            <a:r>
              <a:rPr lang="en-US" altLang="ko-KR" dirty="0"/>
              <a:t>: </a:t>
            </a:r>
            <a:r>
              <a:rPr lang="ko-KR" altLang="en-US" dirty="0"/>
              <a:t>인명피해는 발화요인</a:t>
            </a:r>
            <a:r>
              <a:rPr lang="en-US" altLang="ko-KR" dirty="0"/>
              <a:t>(</a:t>
            </a:r>
            <a:r>
              <a:rPr lang="ko-KR" altLang="en-US" dirty="0"/>
              <a:t>원인</a:t>
            </a:r>
            <a:r>
              <a:rPr lang="en-US" altLang="ko-KR" dirty="0"/>
              <a:t>)</a:t>
            </a:r>
            <a:r>
              <a:rPr lang="ko-KR" altLang="en-US" dirty="0"/>
              <a:t>이 가장 크게 좌우하며</a:t>
            </a:r>
            <a:r>
              <a:rPr lang="en-US" altLang="ko-KR" dirty="0"/>
              <a:t>, </a:t>
            </a:r>
            <a:r>
              <a:rPr lang="ko-KR" altLang="en-US" dirty="0"/>
              <a:t>장소가 </a:t>
            </a:r>
            <a:r>
              <a:rPr lang="ko-KR" altLang="en-US" dirty="0" err="1"/>
              <a:t>그다음으로</a:t>
            </a:r>
            <a:r>
              <a:rPr lang="ko-KR" altLang="en-US" dirty="0"/>
              <a:t> 중요함</a:t>
            </a: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B7425D9-396A-48F6-9436-F5A0C4509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1" y="4376902"/>
            <a:ext cx="3556180" cy="187167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76A5F70-B71A-43FA-A865-342D60A7B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857" y="4065854"/>
            <a:ext cx="5293991" cy="228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6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961596A-0219-4384-A2AE-CA318AB3A6B2}"/>
              </a:ext>
            </a:extLst>
          </p:cNvPr>
          <p:cNvSpPr/>
          <p:nvPr/>
        </p:nvSpPr>
        <p:spPr>
          <a:xfrm>
            <a:off x="1048622" y="52319"/>
            <a:ext cx="9831897" cy="8221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err="1">
                <a:solidFill>
                  <a:schemeClr val="tx1"/>
                </a:solidFill>
              </a:rPr>
              <a:t>느낀점</a:t>
            </a:r>
            <a:r>
              <a:rPr lang="en-US" altLang="ko-KR" sz="4400" dirty="0">
                <a:solidFill>
                  <a:schemeClr val="tx1"/>
                </a:solidFill>
              </a:rPr>
              <a:t> </a:t>
            </a:r>
            <a:r>
              <a:rPr lang="ko-KR" altLang="en-US" sz="4400" dirty="0">
                <a:solidFill>
                  <a:schemeClr val="tx1"/>
                </a:solidFill>
              </a:rPr>
              <a:t>및 개선할 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0C641-2ABB-4D1A-91B0-589F7A816DE7}"/>
              </a:ext>
            </a:extLst>
          </p:cNvPr>
          <p:cNvSpPr txBox="1"/>
          <p:nvPr/>
        </p:nvSpPr>
        <p:spPr>
          <a:xfrm>
            <a:off x="1342239" y="977724"/>
            <a:ext cx="149271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 err="1"/>
              <a:t>느낀점</a:t>
            </a:r>
            <a:endParaRPr lang="ko-KR" altLang="en-US" sz="3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06787-A506-40AC-9E34-9095FDCEF387}"/>
              </a:ext>
            </a:extLst>
          </p:cNvPr>
          <p:cNvSpPr txBox="1"/>
          <p:nvPr/>
        </p:nvSpPr>
        <p:spPr>
          <a:xfrm>
            <a:off x="7543102" y="977724"/>
            <a:ext cx="20265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개선할 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59910-5803-4B20-ABBC-FA089AD517EA}"/>
              </a:ext>
            </a:extLst>
          </p:cNvPr>
          <p:cNvSpPr txBox="1"/>
          <p:nvPr/>
        </p:nvSpPr>
        <p:spPr>
          <a:xfrm>
            <a:off x="250309" y="1817124"/>
            <a:ext cx="4665640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latin typeface="+mn-ea"/>
              </a:rPr>
              <a:t>fire.py</a:t>
            </a:r>
            <a:r>
              <a:rPr lang="ko-KR" altLang="en-US" sz="2400" dirty="0">
                <a:latin typeface="+mn-ea"/>
              </a:rPr>
              <a:t>에서 </a:t>
            </a:r>
            <a:r>
              <a:rPr lang="ko-KR" altLang="en-US" sz="2400" dirty="0" err="1">
                <a:latin typeface="+mn-ea"/>
              </a:rPr>
              <a:t>원핫</a:t>
            </a: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err="1">
                <a:latin typeface="+mn-ea"/>
              </a:rPr>
              <a:t>인코딩된</a:t>
            </a:r>
            <a:r>
              <a:rPr lang="ko-KR" altLang="en-US" sz="2400" dirty="0">
                <a:latin typeface="+mn-ea"/>
              </a:rPr>
              <a:t> 변수를 원본 단위로 </a:t>
            </a:r>
            <a:r>
              <a:rPr lang="ko-KR" altLang="en-US" sz="2400" dirty="0" err="1">
                <a:latin typeface="+mn-ea"/>
              </a:rPr>
              <a:t>재합산하는</a:t>
            </a:r>
            <a:r>
              <a:rPr lang="ko-KR" altLang="en-US" sz="2400" dirty="0">
                <a:latin typeface="+mn-ea"/>
              </a:rPr>
              <a:t> 코드를 보고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개별 컬럼기준으로만 봤을 때와 결론이 완전히 </a:t>
            </a:r>
            <a:r>
              <a:rPr lang="ko-KR" altLang="en-US" sz="2400" dirty="0" err="1">
                <a:latin typeface="+mn-ea"/>
              </a:rPr>
              <a:t>바뀌는걸</a:t>
            </a:r>
            <a:r>
              <a:rPr lang="ko-KR" altLang="en-US" sz="2400" dirty="0">
                <a:latin typeface="+mn-ea"/>
              </a:rPr>
              <a:t> 확인하면서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같은 결과도 어떻게 </a:t>
            </a:r>
            <a:r>
              <a:rPr lang="ko-KR" altLang="en-US" sz="2400" dirty="0" err="1">
                <a:latin typeface="+mn-ea"/>
              </a:rPr>
              <a:t>집계하느냐에</a:t>
            </a:r>
            <a:r>
              <a:rPr lang="ko-KR" altLang="en-US" sz="2400" dirty="0">
                <a:latin typeface="+mn-ea"/>
              </a:rPr>
              <a:t> 따라 해석이 크게 달라질 수 있다는 걸 배웠다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30710-75F6-4B19-BD4E-48DC40D5F23C}"/>
              </a:ext>
            </a:extLst>
          </p:cNvPr>
          <p:cNvSpPr txBox="1"/>
          <p:nvPr/>
        </p:nvSpPr>
        <p:spPr>
          <a:xfrm>
            <a:off x="6778341" y="1817124"/>
            <a:ext cx="4179814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</a:rPr>
              <a:t>데이터 구조 확인을 초반에 더 철저히 했다면 시행착오를 줄일 수 있었을 것 같다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7273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E3F675D-B141-41F9-8051-31D4D9DCA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85" y="887251"/>
            <a:ext cx="5653580" cy="545063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AEE3EEA-6DCF-427D-A227-6542AF1AD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398" y="2457973"/>
            <a:ext cx="5572742" cy="394968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94C6A69-079A-4C82-AE46-212F8B4D96FD}"/>
              </a:ext>
            </a:extLst>
          </p:cNvPr>
          <p:cNvSpPr/>
          <p:nvPr/>
        </p:nvSpPr>
        <p:spPr>
          <a:xfrm>
            <a:off x="1048622" y="52319"/>
            <a:ext cx="9831897" cy="8221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err="1">
                <a:solidFill>
                  <a:schemeClr val="tx1"/>
                </a:solidFill>
              </a:rPr>
              <a:t>스트림릿</a:t>
            </a:r>
            <a:r>
              <a:rPr lang="ko-KR" altLang="en-US" sz="4400" dirty="0">
                <a:solidFill>
                  <a:schemeClr val="tx1"/>
                </a:solidFill>
              </a:rPr>
              <a:t> 결과</a:t>
            </a:r>
          </a:p>
        </p:txBody>
      </p:sp>
    </p:spTree>
    <p:extLst>
      <p:ext uri="{BB962C8B-B14F-4D97-AF65-F5344CB8AC3E}">
        <p14:creationId xmlns:p14="http://schemas.microsoft.com/office/powerpoint/2010/main" val="399528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411</Words>
  <Application>Microsoft Office PowerPoint</Application>
  <PresentationFormat>와이드스크린</PresentationFormat>
  <Paragraphs>74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37</cp:revision>
  <dcterms:created xsi:type="dcterms:W3CDTF">2026-03-10T17:23:29Z</dcterms:created>
  <dcterms:modified xsi:type="dcterms:W3CDTF">2026-08-11T02:27:43Z</dcterms:modified>
</cp:coreProperties>
</file>