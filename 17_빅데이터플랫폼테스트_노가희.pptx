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2026-09-11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7F86ED-18D1-481D-AE05-AF837D43CD6C}"/>
              </a:ext>
            </a:extLst>
          </p:cNvPr>
          <p:cNvSpPr txBox="1"/>
          <p:nvPr/>
        </p:nvSpPr>
        <p:spPr>
          <a:xfrm>
            <a:off x="511729" y="45300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지식 확인 체크리스트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DCE16-6C77-4DBF-83F8-1B488CD2D614}"/>
              </a:ext>
            </a:extLst>
          </p:cNvPr>
          <p:cNvSpPr txBox="1"/>
          <p:nvPr/>
        </p:nvSpPr>
        <p:spPr>
          <a:xfrm>
            <a:off x="511729" y="1333850"/>
            <a:ext cx="11140580" cy="3360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소프트웨어가 요구사항대로 동작하는지 확인하고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결함을 사전에 발견해서 품질을 보장하기 위해서이다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테스트는 함수나 클래스 같은 가장 작은 단위 하나를 독립적으로 테스트 하는 것이고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테스트는 여러 모듈이 서로 연동됐을 때 제대로 동작하는지 확인하는 테스트이다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시스템이 특정 부하 상황에서 응답 속도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처리량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안정성을 유지하는지 확인하는 테스트이다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pytest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TestClient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 성공에 해당하는 상태 코드는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200,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리소스 없음에 해당하는 상태 코드는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404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 절차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기대 결과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 제목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재현 절차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기대 결과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결과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심각도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 등이 포함되어야 한다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CI(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지속적 통합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코드를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push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 때마다 자동으로 품질 검사를 수행하는 프로세스이다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내부 코드나 로직을 보지 않고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입력값에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대한 출력 결과만으로 기능이 올바르게 동작하는지 검증하는 테스트 방식이다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93C3D-657D-4CE0-BF1A-776E2D6C2D0D}"/>
              </a:ext>
            </a:extLst>
          </p:cNvPr>
          <p:cNvSpPr txBox="1"/>
          <p:nvPr/>
        </p:nvSpPr>
        <p:spPr>
          <a:xfrm>
            <a:off x="511729" y="453006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수행 체크리스트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4B3A4-302C-4670-8156-F0C28D517228}"/>
              </a:ext>
            </a:extLst>
          </p:cNvPr>
          <p:cNvSpPr txBox="1"/>
          <p:nvPr/>
        </p:nvSpPr>
        <p:spPr>
          <a:xfrm>
            <a:off x="1318469" y="1461974"/>
            <a:ext cx="8572151" cy="353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B3CD292-F38E-4544-B554-72CA29FA7ED0}"/>
              </a:ext>
            </a:extLst>
          </p:cNvPr>
          <p:cNvSpPr/>
          <p:nvPr/>
        </p:nvSpPr>
        <p:spPr>
          <a:xfrm>
            <a:off x="1318469" y="2014555"/>
            <a:ext cx="9555061" cy="328080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from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fastapi.testclient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import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TestClient</a:t>
            </a:r>
            <a:endParaRPr lang="en-US" altLang="ko-KR" sz="12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from main import app</a:t>
            </a:r>
          </a:p>
          <a:p>
            <a:endParaRPr lang="en-US" altLang="ko-KR" sz="12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client =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TestClient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(app)</a:t>
            </a:r>
          </a:p>
          <a:p>
            <a:endParaRPr lang="en-US" altLang="ko-KR" sz="12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def test_200_case():</a:t>
            </a:r>
          </a:p>
          <a:p>
            <a:r>
              <a:rPr lang="en-US" altLang="ko-KR" sz="1200" dirty="0">
                <a:solidFill>
                  <a:srgbClr val="24292F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response =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client.get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('/books/search', params={'keyword':'2026’})</a:t>
            </a:r>
          </a:p>
          <a:p>
            <a:r>
              <a:rPr lang="en-US" altLang="ko-KR" sz="1200" dirty="0">
                <a:solidFill>
                  <a:srgbClr val="24292F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assert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response.status_code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== 200</a:t>
            </a:r>
          </a:p>
          <a:p>
            <a:endParaRPr lang="en-US" altLang="ko-KR" sz="12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def test_400_case():</a:t>
            </a:r>
          </a:p>
          <a:p>
            <a:r>
              <a:rPr lang="en-US" altLang="ko-KR" sz="1200" dirty="0">
                <a:solidFill>
                  <a:srgbClr val="24292F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response =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client.get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('/books/search', params={'keyword':‘’})</a:t>
            </a:r>
          </a:p>
          <a:p>
            <a:r>
              <a:rPr lang="en-US" altLang="ko-KR" sz="1200" dirty="0">
                <a:solidFill>
                  <a:srgbClr val="24292F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assert </a:t>
            </a:r>
            <a:r>
              <a:rPr lang="en-US" altLang="ko-KR" sz="1200" b="0" i="0" dirty="0" err="1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response.status_code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== 400</a:t>
            </a:r>
            <a:endParaRPr lang="ko-KR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62D97-DE3C-42DE-B611-487B2E03C7E8}"/>
              </a:ext>
            </a:extLst>
          </p:cNvPr>
          <p:cNvSpPr txBox="1"/>
          <p:nvPr/>
        </p:nvSpPr>
        <p:spPr>
          <a:xfrm>
            <a:off x="511729" y="453006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수행 체크리스트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A68CD-A809-4AF7-935A-E56597A3C2C0}"/>
              </a:ext>
            </a:extLst>
          </p:cNvPr>
          <p:cNvSpPr txBox="1"/>
          <p:nvPr/>
        </p:nvSpPr>
        <p:spPr>
          <a:xfrm>
            <a:off x="2606878" y="1563348"/>
            <a:ext cx="6231397" cy="353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2C16DA5-B6FC-4DCD-90F8-41DEAC1BF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286474"/>
              </p:ext>
            </p:extLst>
          </p:nvPr>
        </p:nvGraphicFramePr>
        <p:xfrm>
          <a:off x="2673990" y="2097503"/>
          <a:ext cx="6844019" cy="3109595"/>
        </p:xfrm>
        <a:graphic>
          <a:graphicData uri="http://schemas.openxmlformats.org/drawingml/2006/table">
            <a:tbl>
              <a:tblPr firstCol="1">
                <a:tableStyleId>{F5AB1C69-6EDB-4FF4-983F-18BD219EF322}</a:tableStyleId>
              </a:tblPr>
              <a:tblGrid>
                <a:gridCol w="1176557">
                  <a:extLst>
                    <a:ext uri="{9D8B030D-6E8A-4147-A177-3AD203B41FA5}">
                      <a16:colId xmlns:a16="http://schemas.microsoft.com/office/drawing/2014/main" val="4177728716"/>
                    </a:ext>
                  </a:extLst>
                </a:gridCol>
                <a:gridCol w="5667462">
                  <a:extLst>
                    <a:ext uri="{9D8B030D-6E8A-4147-A177-3AD203B41FA5}">
                      <a16:colId xmlns:a16="http://schemas.microsoft.com/office/drawing/2014/main" val="184043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결함 </a:t>
                      </a:r>
                      <a:r>
                        <a:rPr lang="en-US" sz="1200" dirty="0"/>
                        <a:t>ID</a:t>
                      </a:r>
                      <a:endParaRPr 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/>
                        <a:t>001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89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결함 제목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중복 </a:t>
                      </a:r>
                      <a:r>
                        <a:rPr lang="en-US" altLang="ko-KR" sz="1200"/>
                        <a:t>ISBN </a:t>
                      </a:r>
                      <a:r>
                        <a:rPr lang="ko-KR" altLang="en-US" sz="1200"/>
                        <a:t>등록 시 </a:t>
                      </a:r>
                      <a:r>
                        <a:rPr lang="en-US" altLang="ko-KR" sz="1200"/>
                        <a:t>500 </a:t>
                      </a:r>
                      <a:r>
                        <a:rPr lang="ko-KR" altLang="en-US" sz="1200"/>
                        <a:t>에러 반환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64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재현 절차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1. </a:t>
                      </a:r>
                      <a:r>
                        <a:rPr lang="ko-KR" altLang="en-US" sz="1200" dirty="0"/>
                        <a:t>도서 등록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로 특정 </a:t>
                      </a:r>
                      <a:r>
                        <a:rPr lang="en-US" altLang="ko-KR" sz="1200" dirty="0"/>
                        <a:t>ISBN</a:t>
                      </a:r>
                      <a:r>
                        <a:rPr lang="ko-KR" altLang="en-US" sz="1200" dirty="0"/>
                        <a:t>을 가진 도서를 등록한다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2. </a:t>
                      </a:r>
                      <a:r>
                        <a:rPr lang="ko-KR" altLang="en-US" sz="1200" dirty="0"/>
                        <a:t>동일한 </a:t>
                      </a:r>
                      <a:r>
                        <a:rPr lang="en-US" altLang="ko-KR" sz="1200" dirty="0"/>
                        <a:t>ISBN</a:t>
                      </a:r>
                      <a:r>
                        <a:rPr lang="ko-KR" altLang="en-US" sz="1200" dirty="0"/>
                        <a:t>으로 도서를 중복 등록한다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3. </a:t>
                      </a:r>
                      <a:r>
                        <a:rPr lang="ko-KR" altLang="en-US" sz="1200" dirty="0"/>
                        <a:t>응답 상태 코드와 메시지를 확인한다</a:t>
                      </a:r>
                      <a:r>
                        <a:rPr lang="en-US" altLang="ko-KR" sz="1200" dirty="0"/>
                        <a:t>.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862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기대 결과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/>
                        <a:t>409 Conflict</a:t>
                      </a:r>
                      <a:r>
                        <a:rPr lang="ko-KR" altLang="en-US" sz="1200"/>
                        <a:t>와 함께 </a:t>
                      </a:r>
                      <a:r>
                        <a:rPr lang="en-US" altLang="ko-KR" sz="1200"/>
                        <a:t>"</a:t>
                      </a:r>
                      <a:r>
                        <a:rPr lang="ko-KR" altLang="en-US" sz="1200"/>
                        <a:t>이미 등록된 </a:t>
                      </a:r>
                      <a:r>
                        <a:rPr lang="en-US" altLang="ko-KR" sz="1200"/>
                        <a:t>ISBN</a:t>
                      </a:r>
                      <a:r>
                        <a:rPr lang="ko-KR" altLang="en-US" sz="1200"/>
                        <a:t>입니다</a:t>
                      </a:r>
                      <a:r>
                        <a:rPr lang="en-US" altLang="ko-KR" sz="1200"/>
                        <a:t>" </a:t>
                      </a:r>
                      <a:r>
                        <a:rPr lang="ko-KR" altLang="en-US" sz="1200"/>
                        <a:t>메시지 반환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78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실제 결과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/>
                        <a:t>500 Internal Server Error </a:t>
                      </a:r>
                      <a:r>
                        <a:rPr lang="ko-KR" altLang="en-US" sz="1200"/>
                        <a:t>반환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30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심각도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/>
                        <a:t>상 </a:t>
                      </a:r>
                      <a:r>
                        <a:rPr lang="en-US" altLang="ko-KR" sz="1200"/>
                        <a:t>- </a:t>
                      </a:r>
                      <a:r>
                        <a:rPr lang="ko-KR" altLang="en-US" sz="1200"/>
                        <a:t>서버가 예외 처리를 하지 못해 안정성에 영향을 준다</a:t>
                      </a:r>
                      <a:r>
                        <a:rPr lang="en-US" altLang="ko-KR" sz="1200"/>
                        <a:t>.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125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우선순위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상 </a:t>
                      </a: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도서 등록이라는 핵심 기능에서 발생하므로 빠른 수정이 필요하다</a:t>
                      </a:r>
                      <a:r>
                        <a:rPr lang="en-US" altLang="ko-KR" sz="1200" dirty="0"/>
                        <a:t>.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023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93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3551D1-EFDA-48C7-B7CD-EC1045349E41}"/>
              </a:ext>
            </a:extLst>
          </p:cNvPr>
          <p:cNvSpPr txBox="1"/>
          <p:nvPr/>
        </p:nvSpPr>
        <p:spPr>
          <a:xfrm>
            <a:off x="511729" y="453006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수행 체크리스트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97839-656E-4366-A584-8CDAF3066200}"/>
              </a:ext>
            </a:extLst>
          </p:cNvPr>
          <p:cNvSpPr txBox="1"/>
          <p:nvPr/>
        </p:nvSpPr>
        <p:spPr>
          <a:xfrm>
            <a:off x="2036427" y="1555665"/>
            <a:ext cx="6231397" cy="353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D668513-57FB-4884-A4AD-1B5340E02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619085"/>
              </p:ext>
            </p:extLst>
          </p:nvPr>
        </p:nvGraphicFramePr>
        <p:xfrm>
          <a:off x="2103538" y="2102161"/>
          <a:ext cx="8128000" cy="2965282"/>
        </p:xfrm>
        <a:graphic>
          <a:graphicData uri="http://schemas.openxmlformats.org/drawingml/2006/table">
            <a:tbl>
              <a:tblPr firstRow="1" firstCol="1">
                <a:tableStyleId>{F5AB1C69-6EDB-4FF4-983F-18BD219EF322}</a:tableStyleId>
              </a:tblPr>
              <a:tblGrid>
                <a:gridCol w="622883">
                  <a:extLst>
                    <a:ext uri="{9D8B030D-6E8A-4147-A177-3AD203B41FA5}">
                      <a16:colId xmlns:a16="http://schemas.microsoft.com/office/drawing/2014/main" val="1291270316"/>
                    </a:ext>
                  </a:extLst>
                </a:gridCol>
                <a:gridCol w="1702966">
                  <a:extLst>
                    <a:ext uri="{9D8B030D-6E8A-4147-A177-3AD203B41FA5}">
                      <a16:colId xmlns:a16="http://schemas.microsoft.com/office/drawing/2014/main" val="4119153496"/>
                    </a:ext>
                  </a:extLst>
                </a:gridCol>
                <a:gridCol w="3011647">
                  <a:extLst>
                    <a:ext uri="{9D8B030D-6E8A-4147-A177-3AD203B41FA5}">
                      <a16:colId xmlns:a16="http://schemas.microsoft.com/office/drawing/2014/main" val="999567608"/>
                    </a:ext>
                  </a:extLst>
                </a:gridCol>
                <a:gridCol w="1627465">
                  <a:extLst>
                    <a:ext uri="{9D8B030D-6E8A-4147-A177-3AD203B41FA5}">
                      <a16:colId xmlns:a16="http://schemas.microsoft.com/office/drawing/2014/main" val="3168392326"/>
                    </a:ext>
                  </a:extLst>
                </a:gridCol>
                <a:gridCol w="1163039">
                  <a:extLst>
                    <a:ext uri="{9D8B030D-6E8A-4147-A177-3AD203B41FA5}">
                      <a16:colId xmlns:a16="http://schemas.microsoft.com/office/drawing/2014/main" val="2030772347"/>
                    </a:ext>
                  </a:extLst>
                </a:gridCol>
              </a:tblGrid>
              <a:tr h="4837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300" dirty="0" err="1">
                          <a:latin typeface="+mn-ea"/>
                          <a:ea typeface="+mn-ea"/>
                        </a:rPr>
                        <a:t>입력값</a:t>
                      </a:r>
                      <a:endParaRPr lang="ko-KR" altLang="en-US" sz="13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300" dirty="0">
                          <a:latin typeface="+mn-ea"/>
                          <a:ea typeface="+mn-ea"/>
                        </a:rPr>
                        <a:t>기대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300" dirty="0">
                          <a:latin typeface="+mn-ea"/>
                          <a:ea typeface="+mn-ea"/>
                        </a:rPr>
                        <a:t>실제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>
                          <a:latin typeface="+mn-ea"/>
                          <a:ea typeface="+mn-ea"/>
                        </a:rPr>
                        <a:t>Pass/Fail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943518"/>
                  </a:ext>
                </a:extLst>
              </a:tr>
              <a:tr h="8271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1234567890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입력값이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자로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 이상이므로 회원가입에 성공한다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회원가입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475357"/>
                  </a:ext>
                </a:extLst>
              </a:tr>
              <a:tr h="8271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12345678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입력값이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자로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 이상이므로 회원가입에 성공한다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회원가입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572196"/>
                  </a:ext>
                </a:extLst>
              </a:tr>
              <a:tr h="8271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latin typeface="+mn-ea"/>
                          <a:ea typeface="+mn-ea"/>
                        </a:rPr>
                        <a:t>12345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입력값이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자로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 미만이므로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오류 메시지가 반환된다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오류 메시지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latin typeface="+mn-ea"/>
                          <a:ea typeface="+mn-ea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90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686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439</Words>
  <Application>Microsoft Office PowerPoint</Application>
  <PresentationFormat>와이드스크린</PresentationFormat>
  <Paragraphs>75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41</cp:revision>
  <dcterms:created xsi:type="dcterms:W3CDTF">2026-03-10T17:23:29Z</dcterms:created>
  <dcterms:modified xsi:type="dcterms:W3CDTF">2026-09-11T01:19:46Z</dcterms:modified>
</cp:coreProperties>
</file>