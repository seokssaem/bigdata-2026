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1" r:id="rId4"/>
    <p:sldId id="263" r:id="rId5"/>
    <p:sldId id="264" r:id="rId6"/>
    <p:sldId id="26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2C4D-32F2-230B-1FF2-BCF09993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DFF6B-F8B7-30AE-8315-E61C33DBB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9BDE6-E546-40EB-8BD7-0C6C2CF8E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E365D-1677-4834-EDA5-AED44E895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6C8DA-2407-8F64-4305-B7EB65889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24333-70B4-0486-5471-71B39E739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017CF-0E0A-70FD-1EEF-25D856E4A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C01A-1F23-561C-B26D-FDD3E5919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32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6A81-DB18-197C-7AC5-373913986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2EBCF-7446-CCBB-9B01-02923DEE1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05962-16C3-12EA-47FD-089F49E7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D05D9-BA22-692C-91AB-F1C2EE450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24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9DF8-A185-9FF7-DE1C-B50A8C43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CCCA0-BE68-2891-6D14-E1C5A9995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28475-5ADB-8A4D-6644-856CFA77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00B40-0A8C-BFCF-81E8-6051DB715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20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AF3F-70D5-48DB-FBE3-2C40F446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291A8-A2D0-610A-DD99-FA652F31E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8F791-81FD-4EBE-7FA5-9C94E0328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5CFD6-258C-A543-024B-2BDDBDCFC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07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.go.kr/data/15045008/fileData.d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  (2001020428_23v4)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 업로드 및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79592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김시현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:2026-06-09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04_빅데이터플랫폼요구사항분석_이름.pptx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요구사항 분석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F0A0-D598-5FCD-224F-B06380B9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8E2191-7532-0762-ECF5-F9803C4155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BA80C4-1459-622D-40FC-28FE33E9078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96330B-970A-FF36-5676-B85BB624CE7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033E57-16AA-A90D-BADC-15BDA5AC5510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93CD0D-B0EB-E64D-CEE5-3EB40EEFE450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활용한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87DD3EE-F7EF-D940-C6A1-A9ADA47FF39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952D5B-1BDB-F598-0ECC-0C431D407C7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99515B9-0022-AA0F-39D7-458615D4575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sz="1500" dirty="0"/>
              <a:t>목적</a:t>
            </a:r>
            <a:endParaRPr lang="en-US" altLang="ko-KR" sz="1500" dirty="0"/>
          </a:p>
          <a:p>
            <a:r>
              <a:rPr lang="ko-KR" altLang="en-US" sz="1500" dirty="0"/>
              <a:t>지자체별로 흩어져 있는  영화상영관 데이터를 표준 기준에 맞춰 일관되게 안내합니다</a:t>
            </a:r>
            <a:r>
              <a:rPr lang="en-US" altLang="ko-KR" sz="1500" dirty="0"/>
              <a:t>.</a:t>
            </a:r>
          </a:p>
          <a:p>
            <a:r>
              <a:rPr lang="ko-KR" altLang="en-US" sz="1500" dirty="0"/>
              <a:t>공공정보를 개방하여 국민의 알 권리를 충족하고 소통에 강화합니다</a:t>
            </a:r>
            <a:r>
              <a:rPr lang="en-US" altLang="ko-KR" sz="1500" dirty="0"/>
              <a:t>.</a:t>
            </a:r>
          </a:p>
          <a:p>
            <a:r>
              <a:rPr lang="ko-KR" altLang="en-US" sz="1500" dirty="0"/>
              <a:t>민간이 양질의 데이터를 활용하여 상업적 서비스를 개발하고 창조경제를 활성화하도록 지원합니다</a:t>
            </a:r>
            <a:r>
              <a:rPr lang="en-US" altLang="ko-KR" sz="1500" dirty="0"/>
              <a:t>.</a:t>
            </a:r>
          </a:p>
          <a:p>
            <a:r>
              <a:rPr lang="ko-KR" altLang="en-US" sz="1500" dirty="0"/>
              <a:t>사용자 </a:t>
            </a:r>
            <a:endParaRPr lang="en-US" altLang="ko-KR" sz="1500" dirty="0"/>
          </a:p>
          <a:p>
            <a:r>
              <a:rPr lang="ko-KR" altLang="en-US" sz="1500" dirty="0"/>
              <a:t>일반 사용자</a:t>
            </a:r>
            <a:r>
              <a:rPr lang="en-US" altLang="ko-KR" sz="1500" dirty="0"/>
              <a:t>(</a:t>
            </a:r>
            <a:r>
              <a:rPr lang="ko-KR" altLang="en-US" sz="1500" dirty="0"/>
              <a:t>국민</a:t>
            </a:r>
            <a:r>
              <a:rPr lang="en-US" altLang="ko-KR" sz="1500" dirty="0"/>
              <a:t>):</a:t>
            </a:r>
            <a:r>
              <a:rPr lang="ko-KR" altLang="en-US" sz="1500" dirty="0"/>
              <a:t>내 주변 영화상영관 위치</a:t>
            </a:r>
            <a:r>
              <a:rPr lang="en-US" altLang="ko-KR" sz="1500" dirty="0"/>
              <a:t>, </a:t>
            </a:r>
            <a:r>
              <a:rPr lang="ko-KR" altLang="en-US" sz="1500" dirty="0"/>
              <a:t>영업 여부</a:t>
            </a:r>
            <a:r>
              <a:rPr lang="en-US" altLang="ko-KR" sz="1500" dirty="0"/>
              <a:t>, </a:t>
            </a:r>
            <a:r>
              <a:rPr lang="ko-KR" altLang="en-US" sz="1500" dirty="0"/>
              <a:t>주소</a:t>
            </a:r>
            <a:r>
              <a:rPr lang="en-US" altLang="ko-KR" sz="1500" dirty="0"/>
              <a:t> </a:t>
            </a:r>
            <a:r>
              <a:rPr lang="ko-KR" altLang="en-US" sz="1500" dirty="0"/>
              <a:t>등 정확한 시설 정보를 확인하고 이용하는 것</a:t>
            </a:r>
            <a:endParaRPr lang="en-US" altLang="ko-KR" sz="1500" dirty="0"/>
          </a:p>
          <a:p>
            <a:r>
              <a:rPr lang="ko-KR" altLang="en-US" sz="1500" dirty="0"/>
              <a:t>민간 개발자 및 기업</a:t>
            </a:r>
            <a:r>
              <a:rPr lang="en-US" altLang="ko-KR" sz="1500" dirty="0"/>
              <a:t>: </a:t>
            </a:r>
            <a:r>
              <a:rPr lang="ko-KR" altLang="en-US" sz="1500" dirty="0"/>
              <a:t>상영관 위치 데이터 </a:t>
            </a:r>
            <a:r>
              <a:rPr lang="en-US" altLang="ko-KR" sz="1500" dirty="0"/>
              <a:t>(</a:t>
            </a:r>
            <a:r>
              <a:rPr lang="ko-KR" altLang="en-US" sz="1500" dirty="0"/>
              <a:t>좌표계</a:t>
            </a:r>
            <a:r>
              <a:rPr lang="en-US" altLang="ko-KR" sz="1500" dirty="0"/>
              <a:t>)</a:t>
            </a:r>
            <a:r>
              <a:rPr lang="ko-KR" altLang="en-US" sz="1500" dirty="0"/>
              <a:t>등을 활용하여 지도 기반 플랫폼을 신규 비즈니스를 개발하는 사용자</a:t>
            </a:r>
            <a:endParaRPr lang="en-US" altLang="ko-KR" sz="1500" dirty="0"/>
          </a:p>
          <a:p>
            <a:endParaRPr lang="en-US" altLang="ko-KR" sz="15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C2ECAEC-8899-6C30-4847-3F054DA664A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2DD11C-F92E-2E75-D820-ADE1B1E6DDD4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B7885B9-111F-F4CD-3A64-DC5C167D2945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6351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BEE4-DD75-F1DF-FC17-B026F014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5FE38E-C593-1C2B-BB44-9768F830FA3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4FAC46-4564-9E6D-C662-8C4A033EF75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18E3C6-682F-1E66-2974-E29DA66EBC69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15F270-0BDE-A747-3B77-6429DF7FD678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7A78B7-8EFA-139A-7D49-61601D9DBD3C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068E452-A242-0CA9-7B22-6A0A7F9252ED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37109B-D614-0589-8477-6BBAB5F0DA55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DBF5471-488E-8FA9-0D09-A2D104FF0CC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en-US" altLang="ko-KR" sz="1500" dirty="0"/>
              <a:t>[must have]</a:t>
            </a:r>
          </a:p>
          <a:p>
            <a:r>
              <a:rPr lang="en-US" altLang="ko-KR" sz="1500" dirty="0"/>
              <a:t>1.</a:t>
            </a:r>
            <a:r>
              <a:rPr lang="ko-KR" altLang="en-US" sz="1500" dirty="0"/>
              <a:t>상영관 목록 조회</a:t>
            </a:r>
            <a:r>
              <a:rPr lang="en-US" altLang="ko-KR" sz="1500" dirty="0"/>
              <a:t>:</a:t>
            </a:r>
            <a:r>
              <a:rPr lang="ko-KR" altLang="en-US" sz="1500" dirty="0"/>
              <a:t>전국의 모든 영화 상영관 리스트 화면에 표시한다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 </a:t>
            </a:r>
            <a:r>
              <a:rPr lang="ko-KR" altLang="en-US" sz="1500" dirty="0"/>
              <a:t>영업 상태 구분</a:t>
            </a:r>
            <a:r>
              <a:rPr lang="en-US" altLang="ko-KR" sz="1500" dirty="0"/>
              <a:t>: </a:t>
            </a:r>
            <a:r>
              <a:rPr lang="ko-KR" altLang="en-US" sz="1500" dirty="0"/>
              <a:t>데이터의 </a:t>
            </a:r>
            <a:r>
              <a:rPr lang="en-US" altLang="ko-KR" sz="1500" dirty="0"/>
              <a:t>‘</a:t>
            </a:r>
            <a:r>
              <a:rPr lang="ko-KR" altLang="en-US" sz="1500" dirty="0"/>
              <a:t>영업상태명</a:t>
            </a:r>
            <a:r>
              <a:rPr lang="en-US" altLang="ko-KR" sz="1500" dirty="0"/>
              <a:t>’</a:t>
            </a:r>
            <a:r>
              <a:rPr lang="ko-KR" altLang="en-US" sz="1500" dirty="0"/>
              <a:t>를 활용해 현재 </a:t>
            </a:r>
            <a:r>
              <a:rPr lang="en-US" altLang="ko-KR" sz="1500" dirty="0"/>
              <a:t>‘</a:t>
            </a:r>
            <a:r>
              <a:rPr lang="ko-KR" altLang="en-US" sz="1500" dirty="0" err="1"/>
              <a:t>영업중</a:t>
            </a:r>
            <a:r>
              <a:rPr lang="en-US" altLang="ko-KR" sz="1500" dirty="0"/>
              <a:t>＇</a:t>
            </a:r>
            <a:r>
              <a:rPr lang="ko-KR" altLang="en-US" sz="1500" dirty="0"/>
              <a:t>인 극장만 골라볼 수 있어야 합니다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3.</a:t>
            </a:r>
            <a:r>
              <a:rPr lang="ko-KR" altLang="en-US" sz="1500" dirty="0"/>
              <a:t>인프라 정보</a:t>
            </a:r>
            <a:r>
              <a:rPr lang="en-US" altLang="ko-KR" sz="1500" dirty="0"/>
              <a:t>: </a:t>
            </a:r>
            <a:r>
              <a:rPr lang="ko-KR" altLang="en-US" sz="1500" dirty="0"/>
              <a:t>정확한 도로명 주소</a:t>
            </a:r>
            <a:r>
              <a:rPr lang="en-US" altLang="ko-KR" sz="1500" dirty="0"/>
              <a:t>, </a:t>
            </a:r>
            <a:r>
              <a:rPr lang="ko-KR" altLang="en-US" sz="1500" dirty="0"/>
              <a:t>전화번호를 명시해야 한다</a:t>
            </a:r>
            <a:r>
              <a:rPr lang="en-US" altLang="ko-KR" sz="1500" dirty="0"/>
              <a:t>.</a:t>
            </a:r>
          </a:p>
          <a:p>
            <a:endParaRPr lang="en-US" altLang="ko-KR" sz="1500" dirty="0"/>
          </a:p>
          <a:p>
            <a:r>
              <a:rPr lang="en-US" altLang="ko-KR" sz="1500" dirty="0"/>
              <a:t>[should have]</a:t>
            </a:r>
          </a:p>
          <a:p>
            <a:r>
              <a:rPr lang="en-US" altLang="ko-KR" sz="1500" dirty="0"/>
              <a:t>1.</a:t>
            </a:r>
            <a:r>
              <a:rPr lang="ko-KR" altLang="en-US" sz="1500" dirty="0"/>
              <a:t>전화 바로 걸기</a:t>
            </a:r>
            <a:r>
              <a:rPr lang="en-US" altLang="ko-KR" sz="1500" dirty="0"/>
              <a:t>:</a:t>
            </a:r>
            <a:r>
              <a:rPr lang="ko-KR" altLang="en-US" sz="1500" dirty="0"/>
              <a:t> 상세 페이지에서 영화관 전화번호를 터치하면 모바일에서 바로 전화가 연결되는 기능입니다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2.</a:t>
            </a:r>
            <a:r>
              <a:rPr lang="ko-KR" altLang="en-US" sz="1500" dirty="0"/>
              <a:t>외부 맵 연동</a:t>
            </a:r>
            <a:r>
              <a:rPr lang="en-US" altLang="ko-KR" sz="1500" dirty="0"/>
              <a:t>: </a:t>
            </a:r>
            <a:r>
              <a:rPr lang="ko-KR" altLang="en-US" sz="1500" dirty="0" err="1"/>
              <a:t>카카오맵</a:t>
            </a:r>
            <a:r>
              <a:rPr lang="en-US" altLang="ko-KR" sz="1500" dirty="0"/>
              <a:t>,</a:t>
            </a:r>
            <a:r>
              <a:rPr lang="ko-KR" altLang="en-US" sz="1500" dirty="0"/>
              <a:t> 네이버 지도</a:t>
            </a:r>
            <a:r>
              <a:rPr lang="en-US" altLang="ko-KR" sz="1500" dirty="0"/>
              <a:t>, T</a:t>
            </a:r>
            <a:r>
              <a:rPr lang="ko-KR" altLang="en-US" sz="1500" dirty="0"/>
              <a:t>맵 등 외부 앱이나 </a:t>
            </a:r>
            <a:r>
              <a:rPr lang="en-US" altLang="ko-KR" sz="1500" dirty="0"/>
              <a:t>API</a:t>
            </a:r>
            <a:r>
              <a:rPr lang="ko-KR" altLang="en-US" sz="1500" dirty="0"/>
              <a:t>를 호출하여 선택한 영화관까지의 도보</a:t>
            </a:r>
            <a:r>
              <a:rPr lang="en-US" altLang="ko-KR" sz="1500" dirty="0"/>
              <a:t>/</a:t>
            </a:r>
            <a:r>
              <a:rPr lang="ko-KR" altLang="en-US" sz="1500" dirty="0"/>
              <a:t>대중교통</a:t>
            </a:r>
            <a:r>
              <a:rPr lang="en-US" altLang="ko-KR" sz="1500" dirty="0"/>
              <a:t>/</a:t>
            </a:r>
            <a:r>
              <a:rPr lang="ko-KR" altLang="en-US" sz="1500" dirty="0"/>
              <a:t>자취 통로를 </a:t>
            </a:r>
            <a:endParaRPr lang="en-US" altLang="ko-KR" sz="1500" dirty="0"/>
          </a:p>
          <a:p>
            <a:r>
              <a:rPr lang="ko-KR" altLang="en-US" sz="1500" dirty="0"/>
              <a:t>바로 연결해 주는 기능이다</a:t>
            </a:r>
            <a:r>
              <a:rPr lang="en-US" altLang="ko-KR" sz="1500" dirty="0"/>
              <a:t>.</a:t>
            </a:r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B645FAC-B216-72F6-FADD-94549E43171A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AE1E599-3B81-5810-07DA-60F854530287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FF0E69B-B5C7-7C87-8F7D-D6083BE0778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00874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EB85-57A8-FFAA-CA5F-A9AEF89D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6D403A-2425-A9F4-92EB-51568BE55DC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EA2A03-C0E8-FB4A-5B8C-E586AF8A698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930780-7BDB-1CA3-FB30-335A5A85D78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FD16C9-4678-E15B-5E44-56BA86491837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5B96CE-3EF2-42BB-D26D-7DDCF194B115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비가능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02F2A3-0874-431C-A47C-E1E42C72A21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376E76-EDFA-A628-B599-D92550F5D45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9B09326-88B7-18C1-375A-B4B966228DAD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sz="1500" dirty="0"/>
              <a:t>응답시간</a:t>
            </a:r>
            <a:endParaRPr lang="en-US" altLang="ko-KR" sz="1500" dirty="0"/>
          </a:p>
          <a:p>
            <a:r>
              <a:rPr lang="en-US" altLang="ko-KR" sz="1500" dirty="0"/>
              <a:t>2</a:t>
            </a:r>
            <a:r>
              <a:rPr lang="ko-KR" altLang="en-US" sz="1500" dirty="0"/>
              <a:t>초 이내</a:t>
            </a:r>
            <a:r>
              <a:rPr lang="en-US" altLang="ko-KR" sz="1500" dirty="0"/>
              <a:t>: </a:t>
            </a:r>
            <a:r>
              <a:rPr lang="ko-KR" altLang="en-US" sz="1500" dirty="0"/>
              <a:t>메인 페이지 및 일반 상세 조회 </a:t>
            </a:r>
            <a:endParaRPr lang="en-US" altLang="ko-KR" sz="1500" dirty="0"/>
          </a:p>
          <a:p>
            <a:r>
              <a:rPr lang="en-US" altLang="ko-KR" sz="1500" dirty="0"/>
              <a:t>3</a:t>
            </a:r>
            <a:r>
              <a:rPr lang="ko-KR" altLang="en-US" sz="1500" dirty="0"/>
              <a:t>초 이내</a:t>
            </a:r>
            <a:r>
              <a:rPr lang="en-US" altLang="ko-KR" sz="1500" dirty="0"/>
              <a:t>: </a:t>
            </a:r>
            <a:r>
              <a:rPr lang="ko-KR" altLang="en-US" sz="1500" dirty="0"/>
              <a:t>지도 기반 반경 검색</a:t>
            </a:r>
            <a:endParaRPr lang="en-US" altLang="ko-KR" sz="1500" dirty="0"/>
          </a:p>
          <a:p>
            <a:r>
              <a:rPr lang="ko-KR" altLang="en-US" sz="1500" dirty="0"/>
              <a:t>작성</a:t>
            </a:r>
            <a:r>
              <a:rPr lang="en-US" altLang="ko-KR" sz="1500" dirty="0"/>
              <a:t>: </a:t>
            </a:r>
            <a:r>
              <a:rPr lang="ko-KR" altLang="en-US" sz="1500" dirty="0"/>
              <a:t>정보 조회 지연으로 사용자 이탈 막고 쾌적한 탐색 경험을 제공하기 위해서</a:t>
            </a:r>
            <a:endParaRPr lang="en-US" altLang="ko-KR" sz="1500" dirty="0"/>
          </a:p>
          <a:p>
            <a:r>
              <a:rPr lang="ko-KR" altLang="en-US" sz="1500" dirty="0"/>
              <a:t>처리량</a:t>
            </a:r>
            <a:endParaRPr lang="en-US" altLang="ko-KR" sz="1500" dirty="0"/>
          </a:p>
          <a:p>
            <a:r>
              <a:rPr lang="en-US" altLang="ko-KR" sz="1500" dirty="0"/>
              <a:t>10000000</a:t>
            </a:r>
            <a:r>
              <a:rPr lang="ko-KR" altLang="en-US" sz="1500" dirty="0"/>
              <a:t>건</a:t>
            </a:r>
            <a:r>
              <a:rPr lang="en-US" altLang="ko-KR" sz="1500" dirty="0"/>
              <a:t>/</a:t>
            </a:r>
            <a:r>
              <a:rPr lang="ko-KR" altLang="en-US" sz="1500" dirty="0"/>
              <a:t>일 </a:t>
            </a:r>
            <a:endParaRPr lang="en-US" altLang="ko-KR" sz="1500" dirty="0"/>
          </a:p>
          <a:p>
            <a:r>
              <a:rPr lang="ko-KR" altLang="en-US" sz="1500" dirty="0"/>
              <a:t>작성</a:t>
            </a:r>
            <a:r>
              <a:rPr lang="en-US" altLang="ko-KR" sz="1500" dirty="0"/>
              <a:t>: </a:t>
            </a:r>
            <a:r>
              <a:rPr lang="ko-KR" altLang="en-US" sz="1500" dirty="0"/>
              <a:t>다수의 이용자가 지도 이동 및 필터링 시 발생하는 대량의 데이터 호출 지연 없이 수용하기 위함이다</a:t>
            </a:r>
            <a:r>
              <a:rPr lang="en-US" altLang="ko-KR" sz="1500" dirty="0"/>
              <a:t>.</a:t>
            </a:r>
            <a:r>
              <a:rPr lang="ko-KR" altLang="en-US" sz="1500" dirty="0"/>
              <a:t> </a:t>
            </a:r>
            <a:endParaRPr lang="en-US" altLang="ko-KR" sz="1500" dirty="0"/>
          </a:p>
          <a:p>
            <a:endParaRPr lang="en-US" altLang="ko-KR" sz="1500" dirty="0"/>
          </a:p>
          <a:p>
            <a:r>
              <a:rPr lang="ko-KR" altLang="en-US" sz="1500" dirty="0"/>
              <a:t>가용성</a:t>
            </a:r>
            <a:endParaRPr lang="en-US" altLang="ko-KR" sz="1500" dirty="0"/>
          </a:p>
          <a:p>
            <a:r>
              <a:rPr lang="en-US" altLang="ko-KR" sz="1500" dirty="0"/>
              <a:t>99.9% = 1</a:t>
            </a:r>
            <a:r>
              <a:rPr lang="ko-KR" altLang="en-US" sz="1500" dirty="0"/>
              <a:t>년에 </a:t>
            </a:r>
            <a:r>
              <a:rPr lang="en-US" altLang="ko-KR" sz="1500" dirty="0"/>
              <a:t>8.76</a:t>
            </a:r>
            <a:r>
              <a:rPr lang="ko-KR" altLang="en-US" sz="1500" dirty="0"/>
              <a:t>시간 이내  </a:t>
            </a:r>
            <a:endParaRPr lang="en-US" altLang="ko-KR" sz="1500" dirty="0"/>
          </a:p>
          <a:p>
            <a:r>
              <a:rPr lang="ko-KR" altLang="en-US" sz="1500" dirty="0"/>
              <a:t>작성</a:t>
            </a:r>
            <a:r>
              <a:rPr lang="en-US" altLang="ko-KR" sz="1500" dirty="0"/>
              <a:t>: </a:t>
            </a:r>
            <a:r>
              <a:rPr lang="ko-KR" altLang="en-US" sz="1500" dirty="0"/>
              <a:t>주말</a:t>
            </a:r>
            <a:r>
              <a:rPr lang="en-US" altLang="ko-KR" sz="1500" dirty="0"/>
              <a:t>, </a:t>
            </a:r>
            <a:r>
              <a:rPr lang="ko-KR" altLang="en-US" sz="1500" dirty="0"/>
              <a:t>야간  등 사용자가 몰리는 시간대에도 끊임없는 영화 조회 서비스를 제공하기 위함</a:t>
            </a:r>
            <a:endParaRPr lang="en-US" altLang="ko-KR" sz="1500" dirty="0"/>
          </a:p>
          <a:p>
            <a:endParaRPr lang="en-US" altLang="ko-KR" sz="1500" dirty="0"/>
          </a:p>
          <a:p>
            <a:r>
              <a:rPr lang="ko-KR" altLang="en-US" sz="1500" dirty="0"/>
              <a:t>데이터 갱신 주기</a:t>
            </a:r>
            <a:endParaRPr lang="en-US" altLang="ko-KR" sz="1500" dirty="0"/>
          </a:p>
          <a:p>
            <a:r>
              <a:rPr lang="ko-KR" altLang="en-US" sz="1500" dirty="0"/>
              <a:t>주 </a:t>
            </a:r>
            <a:r>
              <a:rPr lang="en-US" altLang="ko-KR" sz="1500" dirty="0"/>
              <a:t>1</a:t>
            </a:r>
            <a:r>
              <a:rPr lang="ko-KR" altLang="en-US" sz="1500" dirty="0"/>
              <a:t>회</a:t>
            </a:r>
            <a:r>
              <a:rPr lang="en-US" altLang="ko-KR" sz="1500" dirty="0"/>
              <a:t>= </a:t>
            </a:r>
            <a:r>
              <a:rPr lang="ko-KR" altLang="en-US" sz="1500" dirty="0"/>
              <a:t>매주 일요일 새벽 자동 배치 실행</a:t>
            </a:r>
            <a:endParaRPr lang="en-US" altLang="ko-KR" sz="1500" dirty="0"/>
          </a:p>
          <a:p>
            <a:r>
              <a:rPr lang="ko-KR" altLang="en-US" sz="1500" dirty="0"/>
              <a:t>작성</a:t>
            </a:r>
            <a:r>
              <a:rPr lang="en-US" altLang="ko-KR" sz="1500" dirty="0"/>
              <a:t>:</a:t>
            </a:r>
            <a:r>
              <a:rPr lang="ko-KR" altLang="en-US" sz="1500" dirty="0"/>
              <a:t>불필요한 서버 과부하를 줄이면서 신규 개업 및 폐업 영화관 정보를 최신 상태로 유지하려고 한다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4FFFFE6-1463-9D3D-421E-876A78C49783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84BB34-C503-BCFA-7787-990B1A7F40FA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412FB0-3CC2-964B-79BE-F0F099F91C7D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4278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F0D8-3BE1-B9CD-15CC-E68BCC3A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A0BDCB-EF3D-C980-55E8-E72D489F803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E3791C-E5C8-A9A3-FF97-3AF15C0D242B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DFF0A2-26FA-A614-F5E2-6E5772F2028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F8D7E1-ABD2-5312-AA12-E8183410502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6B201B-A378-A8B0-A0ED-71CC073ACAD2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C13372F-2D2A-1A89-2660-E530AE36818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E5CC28-ECD1-CE49-2573-0F056C08FCB2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C4324C-A067-B51C-D7AB-5B0CD212CC2E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sz="1500" dirty="0"/>
              <a:t>수집</a:t>
            </a:r>
            <a:r>
              <a:rPr lang="en-US" altLang="ko-KR" sz="1500" dirty="0"/>
              <a:t>: </a:t>
            </a:r>
            <a:r>
              <a:rPr lang="en-US" altLang="ko-KR" sz="1500" dirty="0">
                <a:hlinkClick r:id="rId3"/>
              </a:rPr>
              <a:t>https://www.data.go.kr/data/15045008/fileData.do#</a:t>
            </a:r>
            <a:endParaRPr lang="en-US" altLang="ko-KR" sz="1500" dirty="0"/>
          </a:p>
          <a:p>
            <a:r>
              <a:rPr lang="ko-KR" altLang="en-US" sz="1500" dirty="0"/>
              <a:t>저장</a:t>
            </a:r>
            <a:r>
              <a:rPr lang="en-US" altLang="ko-KR" sz="1500" dirty="0"/>
              <a:t>: CSV </a:t>
            </a:r>
            <a:r>
              <a:rPr lang="ko-KR" altLang="en-US" sz="1500" dirty="0"/>
              <a:t>파일</a:t>
            </a:r>
            <a:endParaRPr lang="en-US" altLang="ko-KR" sz="1500" dirty="0"/>
          </a:p>
          <a:p>
            <a:r>
              <a:rPr lang="ko-KR" altLang="en-US" sz="1500" dirty="0"/>
              <a:t>처리</a:t>
            </a:r>
            <a:r>
              <a:rPr lang="en-US" altLang="ko-KR" sz="1500" dirty="0"/>
              <a:t>:</a:t>
            </a:r>
            <a:r>
              <a:rPr lang="ko-KR" altLang="en-US" sz="1500" dirty="0"/>
              <a:t>영업상태가 </a:t>
            </a:r>
            <a:r>
              <a:rPr lang="en-US" altLang="ko-KR" sz="1500" dirty="0"/>
              <a:t>‘</a:t>
            </a:r>
            <a:r>
              <a:rPr lang="ko-KR" altLang="en-US" sz="1500" dirty="0"/>
              <a:t>폐업</a:t>
            </a:r>
            <a:r>
              <a:rPr lang="en-US" altLang="ko-KR" sz="1500" dirty="0"/>
              <a:t>’, ‘</a:t>
            </a:r>
            <a:r>
              <a:rPr lang="ko-KR" altLang="en-US" sz="1500" dirty="0"/>
              <a:t>휴업</a:t>
            </a:r>
            <a:r>
              <a:rPr lang="en-US" altLang="ko-KR" sz="1500" dirty="0"/>
              <a:t>’</a:t>
            </a:r>
            <a:r>
              <a:rPr lang="ko-KR" altLang="en-US" sz="1500" dirty="0"/>
              <a:t>인 데이터와 </a:t>
            </a:r>
            <a:r>
              <a:rPr lang="ko-KR" altLang="en-US" sz="1500" dirty="0" err="1"/>
              <a:t>좌표값이</a:t>
            </a:r>
            <a:r>
              <a:rPr lang="ko-KR" altLang="en-US" sz="1500" dirty="0"/>
              <a:t> 누락된 오류 데이터를 걸러냅니다</a:t>
            </a:r>
            <a:r>
              <a:rPr lang="en-US" altLang="ko-KR" sz="1500" dirty="0"/>
              <a:t>.</a:t>
            </a:r>
          </a:p>
          <a:p>
            <a:r>
              <a:rPr lang="ko-KR" altLang="en-US" sz="1500" dirty="0"/>
              <a:t>가공 완료된 전국의 영화관 데이터를 플랫폼 자체를 데이터베이스에 저장한다</a:t>
            </a:r>
            <a:r>
              <a:rPr lang="en-US" altLang="ko-KR" sz="1500" dirty="0"/>
              <a:t>.</a:t>
            </a:r>
            <a:r>
              <a:rPr lang="ko-KR" altLang="en-US" sz="1500" dirty="0"/>
              <a:t> </a:t>
            </a:r>
            <a:endParaRPr lang="en-US" altLang="ko-KR" sz="1500" dirty="0"/>
          </a:p>
          <a:p>
            <a:r>
              <a:rPr lang="ko-KR" altLang="en-US" sz="1500" dirty="0"/>
              <a:t>분석</a:t>
            </a:r>
            <a:r>
              <a:rPr lang="en-US" altLang="ko-KR" sz="1500" dirty="0"/>
              <a:t>:</a:t>
            </a:r>
            <a:r>
              <a:rPr lang="ko-KR" altLang="en-US" sz="1500" dirty="0"/>
              <a:t>연도별</a:t>
            </a:r>
            <a:r>
              <a:rPr lang="en-US" altLang="ko-KR" sz="1500" dirty="0"/>
              <a:t>/</a:t>
            </a:r>
            <a:r>
              <a:rPr lang="ko-KR" altLang="en-US" sz="1500" dirty="0"/>
              <a:t>지역별 영화관 신규 개업</a:t>
            </a:r>
            <a:r>
              <a:rPr lang="en-US" altLang="ko-KR" sz="1500" dirty="0"/>
              <a:t> </a:t>
            </a:r>
            <a:r>
              <a:rPr lang="ko-KR" altLang="en-US" sz="1500" dirty="0"/>
              <a:t>및 </a:t>
            </a:r>
            <a:r>
              <a:rPr lang="ko-KR" altLang="en-US" sz="1500" dirty="0" err="1"/>
              <a:t>폐업률</a:t>
            </a:r>
            <a:r>
              <a:rPr lang="ko-KR" altLang="en-US" sz="1500" dirty="0"/>
              <a:t> 추이를 분석하여 지역 상권의 변화를 파악함 </a:t>
            </a:r>
            <a:endParaRPr lang="en-US" altLang="ko-KR" sz="1500" dirty="0"/>
          </a:p>
          <a:p>
            <a:r>
              <a:rPr lang="ko-KR" altLang="en-US" sz="1500" dirty="0"/>
              <a:t>제공</a:t>
            </a:r>
            <a:r>
              <a:rPr lang="en-US" altLang="ko-KR" sz="1500" dirty="0"/>
              <a:t>:</a:t>
            </a:r>
            <a:r>
              <a:rPr lang="ko-KR" altLang="en-US" sz="1500" dirty="0"/>
              <a:t>오픈 </a:t>
            </a:r>
            <a:r>
              <a:rPr lang="en-US" altLang="ko-KR" sz="1500" dirty="0"/>
              <a:t>API</a:t>
            </a:r>
            <a:r>
              <a:rPr lang="ko-KR" altLang="en-US" sz="1500" dirty="0"/>
              <a:t>를 활용하여 영화관 위치를 마커로 표시하고</a:t>
            </a:r>
            <a:r>
              <a:rPr lang="en-US" altLang="ko-KR" sz="1500" dirty="0"/>
              <a:t>, </a:t>
            </a:r>
            <a:r>
              <a:rPr lang="ko-KR" altLang="en-US" sz="1500" dirty="0"/>
              <a:t>차트로 지역별 통계를 보여준다</a:t>
            </a:r>
            <a:r>
              <a:rPr lang="en-US" altLang="ko-KR" sz="1500" dirty="0"/>
              <a:t>.</a:t>
            </a:r>
          </a:p>
          <a:p>
            <a:endParaRPr lang="en-US" altLang="ko-KR" sz="1500" dirty="0"/>
          </a:p>
          <a:p>
            <a:endParaRPr lang="ko-KR" altLang="en-US" sz="15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52300F4-2B7E-6517-BBF9-EB3834AFE3DE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F907DEE-EFF5-02BB-F734-1D12AFD18E3D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F888D2-84A6-79D5-FB2A-E4032D22A42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93894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E299-EECC-161F-1E2C-C8D5CFFE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155508-B1A4-35AC-1C1A-8B864281141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B41FA6-8DE3-8055-4E59-F326547C9DAE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E83824-D5F3-5C9B-7C1B-C440343CA75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4BB624-2F7A-FACB-5815-5F7AC26A16D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AC6C95-B234-8C1D-B61F-BE7BF3D527A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9369B1-9837-2629-5DA3-26E568056BA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5F17D2-B52F-9B7F-2136-961DEB01BEBD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9D5B606-A75E-0CC2-3E24-AB5B16ACB190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en-US" altLang="ko-KR" sz="1500" dirty="0"/>
              <a:t>[</a:t>
            </a:r>
            <a:r>
              <a:rPr lang="ko-KR" altLang="en-US" sz="1500" dirty="0"/>
              <a:t>개인 정보</a:t>
            </a:r>
            <a:r>
              <a:rPr lang="en-US" altLang="ko-KR" sz="1500" dirty="0"/>
              <a:t>]</a:t>
            </a:r>
          </a:p>
          <a:p>
            <a:r>
              <a:rPr lang="ko-KR" altLang="en-US" sz="1500" dirty="0"/>
              <a:t>주소는 </a:t>
            </a:r>
            <a:r>
              <a:rPr lang="ko-KR" altLang="en-US" sz="1500" dirty="0" err="1"/>
              <a:t>동까지만</a:t>
            </a:r>
            <a:r>
              <a:rPr lang="ko-KR" altLang="en-US" sz="1500" dirty="0"/>
              <a:t> 저장</a:t>
            </a:r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endParaRPr lang="en-US" altLang="ko-KR" sz="1500" dirty="0"/>
          </a:p>
          <a:p>
            <a:r>
              <a:rPr lang="en-US" altLang="ko-KR" sz="1500" dirty="0"/>
              <a:t>[</a:t>
            </a:r>
            <a:r>
              <a:rPr lang="ko-KR" altLang="en-US" sz="1500" dirty="0"/>
              <a:t>품질 기준</a:t>
            </a:r>
            <a:r>
              <a:rPr lang="en-US" altLang="ko-KR" sz="1500" dirty="0"/>
              <a:t>]</a:t>
            </a:r>
          </a:p>
          <a:p>
            <a:r>
              <a:rPr lang="ko-KR" altLang="en-US" sz="1500" dirty="0"/>
              <a:t>상영관명</a:t>
            </a:r>
            <a:r>
              <a:rPr lang="en-US" altLang="ko-KR" sz="1500" dirty="0"/>
              <a:t>,</a:t>
            </a:r>
            <a:r>
              <a:rPr lang="ko-KR" altLang="en-US" sz="1500" dirty="0"/>
              <a:t>영업상태</a:t>
            </a:r>
            <a:r>
              <a:rPr lang="en-US" altLang="ko-KR" sz="1500" dirty="0"/>
              <a:t>, </a:t>
            </a:r>
            <a:r>
              <a:rPr lang="ko-KR" altLang="en-US" sz="1500" dirty="0"/>
              <a:t>공연장 형태 필수 항목 값에 </a:t>
            </a:r>
            <a:r>
              <a:rPr lang="en-US" altLang="ko-KR" sz="1500" dirty="0"/>
              <a:t>null</a:t>
            </a:r>
            <a:r>
              <a:rPr lang="ko-KR" altLang="en-US" sz="1500" dirty="0"/>
              <a:t>이나 </a:t>
            </a:r>
            <a:r>
              <a:rPr lang="ko-KR" altLang="en-US" sz="1500" dirty="0" err="1"/>
              <a:t>결측치가</a:t>
            </a:r>
            <a:r>
              <a:rPr lang="ko-KR" altLang="en-US" sz="1500" dirty="0"/>
              <a:t> 없도록 관리</a:t>
            </a:r>
            <a:endParaRPr lang="en-US" altLang="ko-KR" sz="1500" dirty="0"/>
          </a:p>
          <a:p>
            <a:endParaRPr lang="en-US" altLang="ko-KR" sz="1500" dirty="0"/>
          </a:p>
          <a:p>
            <a:endParaRPr lang="ko-KR" altLang="en-US" sz="15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BD069DC-B8F3-A49B-BD2C-B4C7304E7BD7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6C9F856-C2BE-123C-28FC-F96A0ED4AF9B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5EAA385-73C4-1E4B-958C-691B8D5633A0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24808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701</Words>
  <Application>Microsoft Office PowerPoint</Application>
  <PresentationFormat>와이드스크린</PresentationFormat>
  <Paragraphs>86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18</cp:revision>
  <dcterms:created xsi:type="dcterms:W3CDTF">2026-03-10T17:23:29Z</dcterms:created>
  <dcterms:modified xsi:type="dcterms:W3CDTF">2026-06-09T01:42:23Z</dcterms:modified>
</cp:coreProperties>
</file>