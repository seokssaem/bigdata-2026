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15초) 안녕하세요, 드론 영상 기반 객체 탐지 MLOps 파이프라인 AegisVision을 발표하겠습니다. 모델을 학습시키는 데서 끝나지 않고, 실제로 운영 가능한 시스템까지 만드는 것이 목표였습니다.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25초) 주제는 안티드론 탐지입니다. 방산·보안 업계에서 실제로 다루는 문제라 선택했습니다. 목표는 모델 하나를 학습시키는 것이 아니라, 학습부터 서빙, 로그 저장, 보안, 배포까지 이어지는 운영 가능한 시스템을 만드는 것이었습니다.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35초) 전체 흐름입니다. YOLO로 학습하고, 학습 기록은 MLflow에 남기고, 학습된 모델을 FastAPI로 서빙합니다. 모든 탐지 결과와 요청 기록은 PostgreSQL에 저장하고, React 대시보드가 이를 보여줍니다. 전체는 Docker Compose 한 번으로 올라가고, push마다 GitHub Actions가 빌드와 인증 검증을 자동으로 수행합니다. 브라우저는 nginx 한 포트만 접근하고 API 서버는 내부 네트워크에 숨겨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 처음에는 드론 한 클래스만 학습했고 mAP50이 약 0.93이었습니다. 그런데 강아지를 드론으로 잘못 탐지하는 오탐이 있어서, 비행기, 새, 드론, 헬리콥터 네 클래스로 데이터셋을 확장했습니다. CPU로는 epoch당 25분이 걸려 GPU로 전환했고, 최종 mAP50은 약 0.99입니다. (참고: 단일 클래스와 다중 클래스는 데이터셋과 클래스 수가 달라 같은 기준의 직접 비교는 아닙니다. 질문이 오면 "클래스를 4개로 늘려서도 높은 성능을 유지했다"는 의미라고 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 탐지 결과에는 위협 등급을 붙였습니다. 클래스마다 기본 위험 점수가 있고, 신뢰도가 0.8 이상이면 한 단계 올리고, 0.5 미만이면 한 단계 내립니다. 드론은 신뢰도 0.5만 넘어도 Critical입니다. 이 등급은 DB에 같이 저장되고, 경보 탭에서는 High와 Critical만 모아 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 방산·보안 시스템에서 쓰는 방식으로 지표를 보강했습니다. 오탐을 낮게 유지한 기준에서의 재현율이 97.6%이고, 초당 약 79장을 처리합니다. 보안 쪽은 API 키 인증을 클라이언트별로 나눠 감사 로그에서 어느 화면이 호출했는지 구분할 수 있고, 관리자 로그인은 JWT와 요청 횟수 제한으로 보호했습니다. 업로드 파일은 확장자가 아니라 실제 내용을 검증합니다.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80초, 데모) 기존 Streamlit 대시보드를 관제센터 스타일의 React 화면으로 새로 만들었습니다. 탭은 여섯 개입니다. 지금 바로 보여드리겠습니다. [1] 객체 탐지 탭에서 이미지를 올리면 박스가 그려진 결과와 클래스별 신뢰도가 나옵니다. [2] 경보 탭으로 가면 방금 탐지한 결과의 위협 등급이 보입니다. [3] 운영 대시보드에서 요청 수가 늘어난 것을 확인합니다. [4] 마지막으로 학습 이력 탭에서 단일 클래스와 다중 클래스의 누적 학습 곡선을 비교합니다. (데모 실패에 대비해 화면 캡처를 준비해 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40초) 겪은 문제 중 네 가지만 소개합니다. 첫째, 집과 학원 컴퓨터를 오가며 학습을 이어갈 때 resume 옵션이 이전 컴퓨터의 절대경로를 그대로 써서 오류가 났고, 가중치 파일을 시작점으로 불러오는 방식으로 바꿨습니다. 둘째, 컴퓨터마다 MLflow 버전이 달라 학습 이력이 열리지 않았습니다. 오류 문구는 DB가 옛날 버전이라고 안내했지만 실제로는 설치된 MLflow가 더 옛날 버전이어서, DB가 아니라 MLflow를 올려 버전을 맞췄습니다. 셋째, 요청 하나에 대한 DB 저장이 중간에 실패하면 반쪽만 남는 문제를 flush와 rollback으로 하나의 트랜잭션으로 묶어 해결했습니다. 넷째, 키를 바꿨는데도 401이 나온 건 React의 환경 변수가 빌드할 때 코드에 박히기 때문이었고, 다시 빌드해서 해결했습니다. 자세한 사례는 README에 정리했습니다.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15초) 이번 프로젝트에서 가장 크게 배운 것은 모델 정확도 이후의 운영 구조가 더 큰 과제라는 점이었습니다. 향후 과제는 네 가지입니다. 첫째, 지금은 Lightsail에 HTTP로 배포했기 때문에 도메인을 연결하고 Caddy로 HTTPS를 적용해야 합니다. 둘째, 화면 코드에 API 키가 들어가는 구조를 이미 구현해 둔 JWT 로그인으로 바꿔 키를 화면에서 없애야 합니다. 셋째, RTSP 실시간 스트림과 객체 추적으로 확장하고, 넷째, 고위험 탐지가 발생하면 웹훅이나 이메일로 알리는 기능을 추가하고 싶습니다. 프론트엔드 세부 개선 사항(영상 처리 중 탭 이동 시 결과 유지, 학습 곡선 스무딩 등)은 README에 정리했습니다.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B162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E6EEF2"/>
                </a:solidFill>
                <a:latin typeface="Noto Sans KR" pitchFamily="34" charset="0"/>
                <a:ea typeface="Noto Sans KR" pitchFamily="34" charset="-122"/>
                <a:cs typeface="Noto Sans K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E6EEF2"/>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162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E6EEF2"/>
                </a:solidFill>
                <a:latin typeface="Noto Sans KR" pitchFamily="34" charset="0"/>
                <a:ea typeface="Noto Sans KR" pitchFamily="34" charset="-122"/>
                <a:cs typeface="Noto Sans K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E6EEF2"/>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26"/>
        </a:solidFill>
      </p:bgPr>
    </p:bg>
    <p:spTree>
      <p:nvGrpSpPr>
        <p:cNvPr id="1" name=""/>
        <p:cNvGrpSpPr/>
        <p:nvPr/>
      </p:nvGrpSpPr>
      <p:grpSpPr>
        <a:xfrm>
          <a:off x="0" y="0"/>
          <a:ext cx="0" cy="0"/>
          <a:chOff x="0" y="0"/>
          <a:chExt cx="0" cy="0"/>
        </a:xfrm>
      </p:grpSpPr>
      <p:sp>
        <p:nvSpPr>
          <p:cNvPr id="2" name="Shape 0"/>
          <p:cNvSpPr/>
          <p:nvPr/>
        </p:nvSpPr>
        <p:spPr>
          <a:xfrm>
            <a:off x="8337550" y="1530350"/>
            <a:ext cx="3035300" cy="3035300"/>
          </a:xfrm>
          <a:prstGeom prst="roundRect">
            <a:avLst>
              <a:gd name="adj" fmla="val 50000"/>
            </a:avLst>
          </a:prstGeom>
          <a:noFill/>
          <a:ln w="12700">
            <a:solidFill>
              <a:srgbClr val="2DD4BF">
                <a:alpha val="35000"/>
              </a:srgbClr>
            </a:solidFill>
            <a:prstDash val="solid"/>
          </a:ln>
        </p:spPr>
      </p:sp>
      <p:sp>
        <p:nvSpPr>
          <p:cNvPr id="3" name="Shape 1"/>
          <p:cNvSpPr/>
          <p:nvPr/>
        </p:nvSpPr>
        <p:spPr>
          <a:xfrm>
            <a:off x="8845550" y="2038350"/>
            <a:ext cx="2019300" cy="2019300"/>
          </a:xfrm>
          <a:prstGeom prst="roundRect">
            <a:avLst>
              <a:gd name="adj" fmla="val 50000"/>
            </a:avLst>
          </a:prstGeom>
          <a:noFill/>
          <a:ln w="12700">
            <a:solidFill>
              <a:srgbClr val="2DD4BF">
                <a:alpha val="50000"/>
              </a:srgbClr>
            </a:solidFill>
            <a:prstDash val="solid"/>
          </a:ln>
        </p:spPr>
      </p:sp>
      <p:sp>
        <p:nvSpPr>
          <p:cNvPr id="4" name="Shape 2"/>
          <p:cNvSpPr/>
          <p:nvPr/>
        </p:nvSpPr>
        <p:spPr>
          <a:xfrm>
            <a:off x="9353550" y="2546350"/>
            <a:ext cx="1003300" cy="1003300"/>
          </a:xfrm>
          <a:prstGeom prst="roundRect">
            <a:avLst>
              <a:gd name="adj" fmla="val 50000"/>
            </a:avLst>
          </a:prstGeom>
          <a:noFill/>
          <a:ln w="12700">
            <a:solidFill>
              <a:srgbClr val="2DD4BF">
                <a:alpha val="70000"/>
              </a:srgbClr>
            </a:solidFill>
            <a:prstDash val="solid"/>
          </a:ln>
        </p:spPr>
      </p:sp>
      <p:sp>
        <p:nvSpPr>
          <p:cNvPr id="5" name="Shape 3"/>
          <p:cNvSpPr/>
          <p:nvPr/>
        </p:nvSpPr>
        <p:spPr>
          <a:xfrm>
            <a:off x="9766300" y="2959100"/>
            <a:ext cx="177800" cy="177800"/>
          </a:xfrm>
          <a:prstGeom prst="roundRect">
            <a:avLst>
              <a:gd name="adj" fmla="val 50000"/>
            </a:avLst>
          </a:prstGeom>
          <a:solidFill>
            <a:srgbClr val="2DD4BF"/>
          </a:solidFill>
          <a:ln/>
        </p:spPr>
      </p:sp>
      <p:sp>
        <p:nvSpPr>
          <p:cNvPr id="6" name="Text 4"/>
          <p:cNvSpPr/>
          <p:nvPr/>
        </p:nvSpPr>
        <p:spPr>
          <a:xfrm>
            <a:off x="812800" y="2129135"/>
            <a:ext cx="7325360" cy="292100"/>
          </a:xfrm>
          <a:prstGeom prst="rect">
            <a:avLst/>
          </a:prstGeom>
          <a:noFill/>
          <a:ln/>
        </p:spPr>
        <p:txBody>
          <a:bodyPr wrap="square" lIns="0" tIns="0" rIns="0" bIns="0" rtlCol="0" anchor="t">
            <a:normAutofit/>
          </a:bodyPr>
          <a:lstStyle/>
          <a:p>
            <a:pPr algn="l" indent="0" marL="0">
              <a:lnSpc>
                <a:spcPts val="2100"/>
              </a:lnSpc>
              <a:buNone/>
            </a:pPr>
            <a:r>
              <a:rPr lang="en-US" sz="1500" spc="100" kern="0" dirty="0">
                <a:solidFill>
                  <a:srgbClr val="2DD4BF"/>
                </a:solidFill>
                <a:latin typeface="Noto Sans KR" pitchFamily="34" charset="0"/>
                <a:ea typeface="Noto Sans KR" pitchFamily="34" charset="-122"/>
                <a:cs typeface="Noto Sans KR" pitchFamily="34" charset="-120"/>
              </a:rPr>
              <a:t>MLOps 포트폴리오 프로젝트</a:t>
            </a:r>
            <a:endParaRPr lang="en-US" sz="1500" dirty="0"/>
          </a:p>
        </p:txBody>
      </p:sp>
      <p:sp>
        <p:nvSpPr>
          <p:cNvPr id="7" name="Text 5"/>
          <p:cNvSpPr/>
          <p:nvPr>
            <p:ph type="title"/>
          </p:nvPr>
        </p:nvSpPr>
        <p:spPr>
          <a:xfrm>
            <a:off x="812800" y="2573635"/>
            <a:ext cx="7325360" cy="878780"/>
          </a:xfrm>
          <a:prstGeom prst="rect">
            <a:avLst/>
          </a:prstGeom>
          <a:noFill/>
          <a:ln/>
        </p:spPr>
        <p:txBody>
          <a:bodyPr wrap="square" lIns="0" tIns="0" rIns="0" bIns="0" rtlCol="0" anchor="t">
            <a:normAutofit/>
          </a:bodyPr>
          <a:lstStyle/>
          <a:p>
            <a:pPr algn="l" indent="0" marL="0">
              <a:lnSpc>
                <a:spcPts val="6720"/>
              </a:lnSpc>
              <a:buNone/>
            </a:pPr>
            <a:r>
              <a:rPr lang="en-US" sz="6400" b="1" i="0" dirty="0">
                <a:solidFill>
                  <a:srgbClr val="E6EEF2"/>
                </a:solidFill>
                <a:latin typeface="Noto Sans KR" pitchFamily="34" charset="0"/>
                <a:ea typeface="Noto Sans KR" pitchFamily="34" charset="-122"/>
                <a:cs typeface="Noto Sans KR" pitchFamily="34" charset="-120"/>
              </a:rPr>
              <a:t>AegisVision</a:t>
            </a:r>
            <a:endParaRPr lang="en-US" sz="6400" dirty="0"/>
          </a:p>
        </p:txBody>
      </p:sp>
      <p:sp>
        <p:nvSpPr>
          <p:cNvPr id="8" name="Text 6"/>
          <p:cNvSpPr/>
          <p:nvPr/>
        </p:nvSpPr>
        <p:spPr>
          <a:xfrm>
            <a:off x="812800" y="3604816"/>
            <a:ext cx="7325360" cy="438150"/>
          </a:xfrm>
          <a:prstGeom prst="rect">
            <a:avLst/>
          </a:prstGeom>
          <a:noFill/>
          <a:ln/>
        </p:spPr>
        <p:txBody>
          <a:bodyPr wrap="square" lIns="0" tIns="0" rIns="0" bIns="0" rtlCol="0" anchor="t">
            <a:normAutofit/>
          </a:bodyPr>
          <a:lstStyle/>
          <a:p>
            <a:pPr algn="l" indent="0" marL="0">
              <a:lnSpc>
                <a:spcPts val="3250"/>
              </a:lnSpc>
              <a:buNone/>
            </a:pPr>
            <a:r>
              <a:rPr lang="en-US" sz="2600" dirty="0">
                <a:solidFill>
                  <a:srgbClr val="E6EEF2"/>
                </a:solidFill>
                <a:latin typeface="Noto Sans KR" pitchFamily="34" charset="0"/>
                <a:ea typeface="Noto Sans KR" pitchFamily="34" charset="-122"/>
                <a:cs typeface="Noto Sans KR" pitchFamily="34" charset="-120"/>
              </a:rPr>
              <a:t>드론 영상 기반 객체 탐지 MLOps 파이프라인</a:t>
            </a:r>
            <a:endParaRPr lang="en-US" sz="2600" dirty="0"/>
          </a:p>
        </p:txBody>
      </p:sp>
      <p:sp>
        <p:nvSpPr>
          <p:cNvPr id="9" name="Shape 7"/>
          <p:cNvSpPr/>
          <p:nvPr/>
        </p:nvSpPr>
        <p:spPr>
          <a:xfrm>
            <a:off x="812800" y="4195366"/>
            <a:ext cx="1016000" cy="50800"/>
          </a:xfrm>
          <a:prstGeom prst="roundRect">
            <a:avLst>
              <a:gd name="adj" fmla="val 50000"/>
            </a:avLst>
          </a:prstGeom>
          <a:solidFill>
            <a:srgbClr val="2DD4BF"/>
          </a:solidFill>
          <a:ln/>
        </p:spPr>
      </p:sp>
      <p:sp>
        <p:nvSpPr>
          <p:cNvPr id="10" name="Text 8"/>
          <p:cNvSpPr/>
          <p:nvPr/>
        </p:nvSpPr>
        <p:spPr>
          <a:xfrm>
            <a:off x="812800" y="4423966"/>
            <a:ext cx="732536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9FB3C5"/>
                </a:solidFill>
                <a:latin typeface="Noto Sans KR" pitchFamily="34" charset="0"/>
                <a:ea typeface="Noto Sans KR" pitchFamily="34" charset="-122"/>
                <a:cs typeface="Noto Sans KR" pitchFamily="34" charset="-120"/>
              </a:rPr>
              <a:t>학습 · 실험 추적 · API 서빙 · 모니터링 · 배포 자동화</a:t>
            </a:r>
            <a:endParaRPr lang="en-US" sz="1600" dirty="0"/>
          </a:p>
        </p:txBody>
      </p:sp>
      <p:sp>
        <p:nvSpPr>
          <p:cNvPr id="11" name="Text 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95A8"/>
                </a:solidFill>
                <a:latin typeface="Noto Sans KR" pitchFamily="34" charset="0"/>
                <a:ea typeface="Noto Sans KR" pitchFamily="34" charset="-122"/>
                <a:cs typeface="Noto Sans KR" pitchFamily="34" charset="-120"/>
              </a:rPr>
              <a:t>태두혁 · 2026.10.22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62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6EEF2"/>
                </a:solidFill>
                <a:latin typeface="Noto Sans KR" pitchFamily="34" charset="0"/>
                <a:ea typeface="Noto Sans KR" pitchFamily="34" charset="-122"/>
                <a:cs typeface="Noto Sans KR" pitchFamily="34" charset="-120"/>
              </a:rPr>
              <a:t>프로젝트 목표</a:t>
            </a:r>
            <a:endParaRPr lang="en-US" sz="3600" dirty="0"/>
          </a:p>
        </p:txBody>
      </p:sp>
      <p:sp>
        <p:nvSpPr>
          <p:cNvPr id="3" name="Shape 1"/>
          <p:cNvSpPr/>
          <p:nvPr/>
        </p:nvSpPr>
        <p:spPr>
          <a:xfrm>
            <a:off x="815975" y="1623616"/>
            <a:ext cx="3380284" cy="1847751"/>
          </a:xfrm>
          <a:prstGeom prst="roundRect">
            <a:avLst>
              <a:gd name="adj" fmla="val 5327"/>
            </a:avLst>
          </a:prstGeom>
          <a:solidFill>
            <a:srgbClr val="11233A"/>
          </a:solidFill>
          <a:ln w="6350">
            <a:solidFill>
              <a:srgbClr val="24405E"/>
            </a:solidFill>
            <a:prstDash val="solid"/>
          </a:ln>
        </p:spPr>
      </p:sp>
      <p:sp>
        <p:nvSpPr>
          <p:cNvPr id="4" name="Text 2"/>
          <p:cNvSpPr/>
          <p:nvPr/>
        </p:nvSpPr>
        <p:spPr>
          <a:xfrm>
            <a:off x="1073150" y="1880791"/>
            <a:ext cx="295191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DD4BF"/>
                </a:solidFill>
                <a:latin typeface="Noto Sans KR" pitchFamily="34" charset="0"/>
                <a:ea typeface="Noto Sans KR" pitchFamily="34" charset="-122"/>
                <a:cs typeface="Noto Sans KR" pitchFamily="34" charset="-120"/>
              </a:rPr>
              <a:t>주제</a:t>
            </a:r>
            <a:endParaRPr lang="en-US" sz="1400" dirty="0"/>
          </a:p>
        </p:txBody>
      </p:sp>
      <p:sp>
        <p:nvSpPr>
          <p:cNvPr id="5" name="Text 3"/>
          <p:cNvSpPr/>
          <p:nvPr/>
        </p:nvSpPr>
        <p:spPr>
          <a:xfrm>
            <a:off x="1073150" y="221853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6EEF2"/>
                </a:solidFill>
                <a:latin typeface="Noto Sans KR" pitchFamily="34" charset="0"/>
                <a:ea typeface="Noto Sans KR" pitchFamily="34" charset="-122"/>
                <a:cs typeface="Noto Sans KR" pitchFamily="34" charset="-120"/>
              </a:rPr>
              <a:t>안티드론 탐지</a:t>
            </a:r>
            <a:endParaRPr lang="en-US" sz="2200" dirty="0"/>
          </a:p>
        </p:txBody>
      </p:sp>
      <p:sp>
        <p:nvSpPr>
          <p:cNvPr id="6" name="Text 4"/>
          <p:cNvSpPr/>
          <p:nvPr/>
        </p:nvSpPr>
        <p:spPr>
          <a:xfrm>
            <a:off x="1073150" y="2642691"/>
            <a:ext cx="2951912"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9FB3C5"/>
                </a:solidFill>
                <a:latin typeface="Noto Sans KR" pitchFamily="34" charset="0"/>
                <a:ea typeface="Noto Sans KR" pitchFamily="34" charset="-122"/>
                <a:cs typeface="Noto Sans KR" pitchFamily="34" charset="-120"/>
              </a:rPr>
              <a:t>방산·보안 분야에서 실제로 다뤄지는 문제를 선택</a:t>
            </a:r>
            <a:endParaRPr lang="en-US" sz="1500" dirty="0"/>
          </a:p>
        </p:txBody>
      </p:sp>
      <p:sp>
        <p:nvSpPr>
          <p:cNvPr id="7" name="Shape 5"/>
          <p:cNvSpPr/>
          <p:nvPr/>
        </p:nvSpPr>
        <p:spPr>
          <a:xfrm>
            <a:off x="4405809" y="1623616"/>
            <a:ext cx="3380383" cy="1847751"/>
          </a:xfrm>
          <a:prstGeom prst="roundRect">
            <a:avLst>
              <a:gd name="adj" fmla="val 5327"/>
            </a:avLst>
          </a:prstGeom>
          <a:solidFill>
            <a:srgbClr val="11233A"/>
          </a:solidFill>
          <a:ln w="6350">
            <a:solidFill>
              <a:srgbClr val="24405E"/>
            </a:solidFill>
            <a:prstDash val="solid"/>
          </a:ln>
        </p:spPr>
      </p:sp>
      <p:sp>
        <p:nvSpPr>
          <p:cNvPr id="8" name="Text 6"/>
          <p:cNvSpPr/>
          <p:nvPr/>
        </p:nvSpPr>
        <p:spPr>
          <a:xfrm>
            <a:off x="4662984" y="1880791"/>
            <a:ext cx="295201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DD4BF"/>
                </a:solidFill>
                <a:latin typeface="Noto Sans KR" pitchFamily="34" charset="0"/>
                <a:ea typeface="Noto Sans KR" pitchFamily="34" charset="-122"/>
                <a:cs typeface="Noto Sans KR" pitchFamily="34" charset="-120"/>
              </a:rPr>
              <a:t>목표</a:t>
            </a:r>
            <a:endParaRPr lang="en-US" sz="1400" dirty="0"/>
          </a:p>
        </p:txBody>
      </p:sp>
      <p:sp>
        <p:nvSpPr>
          <p:cNvPr id="9" name="Text 7"/>
          <p:cNvSpPr/>
          <p:nvPr/>
        </p:nvSpPr>
        <p:spPr>
          <a:xfrm>
            <a:off x="4662984" y="2218531"/>
            <a:ext cx="29520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6EEF2"/>
                </a:solidFill>
                <a:latin typeface="Noto Sans KR" pitchFamily="34" charset="0"/>
                <a:ea typeface="Noto Sans KR" pitchFamily="34" charset="-122"/>
                <a:cs typeface="Noto Sans KR" pitchFamily="34" charset="-120"/>
              </a:rPr>
              <a:t>학습에서 운영까지</a:t>
            </a:r>
            <a:endParaRPr lang="en-US" sz="2200" dirty="0"/>
          </a:p>
        </p:txBody>
      </p:sp>
      <p:sp>
        <p:nvSpPr>
          <p:cNvPr id="10" name="Text 8"/>
          <p:cNvSpPr/>
          <p:nvPr/>
        </p:nvSpPr>
        <p:spPr>
          <a:xfrm>
            <a:off x="4662984" y="2642691"/>
            <a:ext cx="2952014"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9FB3C5"/>
                </a:solidFill>
                <a:latin typeface="Noto Sans KR" pitchFamily="34" charset="0"/>
                <a:ea typeface="Noto Sans KR" pitchFamily="34" charset="-122"/>
                <a:cs typeface="Noto Sans KR" pitchFamily="34" charset="-120"/>
              </a:rPr>
              <a:t>모델 학습에서 끝나지 않고 서빙, 로깅, 보안, 배포까지 갖춘 시스템</a:t>
            </a:r>
            <a:endParaRPr lang="en-US" sz="1500" dirty="0"/>
          </a:p>
        </p:txBody>
      </p:sp>
      <p:sp>
        <p:nvSpPr>
          <p:cNvPr id="11" name="Shape 9"/>
          <p:cNvSpPr/>
          <p:nvPr/>
        </p:nvSpPr>
        <p:spPr>
          <a:xfrm>
            <a:off x="7995741" y="1623616"/>
            <a:ext cx="3380284" cy="1847751"/>
          </a:xfrm>
          <a:prstGeom prst="roundRect">
            <a:avLst>
              <a:gd name="adj" fmla="val 5327"/>
            </a:avLst>
          </a:prstGeom>
          <a:solidFill>
            <a:srgbClr val="11233A"/>
          </a:solidFill>
          <a:ln w="6350">
            <a:solidFill>
              <a:srgbClr val="24405E"/>
            </a:solidFill>
            <a:prstDash val="solid"/>
          </a:ln>
        </p:spPr>
      </p:sp>
      <p:sp>
        <p:nvSpPr>
          <p:cNvPr id="12" name="Text 10"/>
          <p:cNvSpPr/>
          <p:nvPr/>
        </p:nvSpPr>
        <p:spPr>
          <a:xfrm>
            <a:off x="8252916" y="1880791"/>
            <a:ext cx="295191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DD4BF"/>
                </a:solidFill>
                <a:latin typeface="Noto Sans KR" pitchFamily="34" charset="0"/>
                <a:ea typeface="Noto Sans KR" pitchFamily="34" charset="-122"/>
                <a:cs typeface="Noto Sans KR" pitchFamily="34" charset="-120"/>
              </a:rPr>
              <a:t>핵심 기술</a:t>
            </a:r>
            <a:endParaRPr lang="en-US" sz="1400" dirty="0"/>
          </a:p>
        </p:txBody>
      </p:sp>
      <p:sp>
        <p:nvSpPr>
          <p:cNvPr id="13" name="Text 11"/>
          <p:cNvSpPr/>
          <p:nvPr/>
        </p:nvSpPr>
        <p:spPr>
          <a:xfrm>
            <a:off x="8252916" y="221853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6EEF2"/>
                </a:solidFill>
                <a:latin typeface="Noto Sans KR" pitchFamily="34" charset="0"/>
                <a:ea typeface="Noto Sans KR" pitchFamily="34" charset="-122"/>
                <a:cs typeface="Noto Sans KR" pitchFamily="34" charset="-120"/>
              </a:rPr>
              <a:t>5개 도구 연결</a:t>
            </a:r>
            <a:endParaRPr lang="en-US" sz="2200" dirty="0"/>
          </a:p>
        </p:txBody>
      </p:sp>
      <p:sp>
        <p:nvSpPr>
          <p:cNvPr id="14" name="Text 12"/>
          <p:cNvSpPr/>
          <p:nvPr/>
        </p:nvSpPr>
        <p:spPr>
          <a:xfrm>
            <a:off x="8252916" y="2642691"/>
            <a:ext cx="2951912"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9FB3C5"/>
                </a:solidFill>
                <a:latin typeface="Noto Sans KR" pitchFamily="34" charset="0"/>
                <a:ea typeface="Noto Sans KR" pitchFamily="34" charset="-122"/>
                <a:cs typeface="Noto Sans KR" pitchFamily="34" charset="-120"/>
              </a:rPr>
              <a:t>YOLO, MLflow, FastAPI, PostgreSQL, Docker</a:t>
            </a:r>
            <a:endParaRPr lang="en-US" sz="1500" dirty="0"/>
          </a:p>
        </p:txBody>
      </p:sp>
      <p:sp>
        <p:nvSpPr>
          <p:cNvPr id="15" name="Text 13"/>
          <p:cNvSpPr/>
          <p:nvPr/>
        </p:nvSpPr>
        <p:spPr>
          <a:xfrm>
            <a:off x="812800" y="3779341"/>
            <a:ext cx="10883392" cy="36314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E6EEF2"/>
                </a:solidFill>
                <a:latin typeface="Noto Sans KR" pitchFamily="34" charset="0"/>
                <a:ea typeface="Noto Sans KR" pitchFamily="34" charset="-122"/>
                <a:cs typeface="Noto Sans KR" pitchFamily="34" charset="-120"/>
              </a:rPr>
              <a:t>한 줄 요약: </a:t>
            </a:r>
            <a:r>
              <a:rPr lang="en-US" sz="1900" dirty="0">
                <a:solidFill>
                  <a:srgbClr val="2DD4BF"/>
                </a:solidFill>
                <a:latin typeface="Noto Sans KR" pitchFamily="34" charset="0"/>
                <a:ea typeface="Noto Sans KR" pitchFamily="34" charset="-122"/>
                <a:cs typeface="Noto Sans KR" pitchFamily="34" charset="-120"/>
              </a:rPr>
              <a:t>학습 → 추적 → 서빙 → 기록 → 화면 → 배포</a:t>
            </a:r>
            <a:r>
              <a:rPr lang="en-US" sz="1900" dirty="0">
                <a:solidFill>
                  <a:srgbClr val="E6EEF2"/>
                </a:solidFill>
                <a:latin typeface="Noto Sans KR" pitchFamily="34" charset="0"/>
                <a:ea typeface="Noto Sans KR" pitchFamily="34" charset="-122"/>
                <a:cs typeface="Noto Sans KR" pitchFamily="34" charset="-120"/>
              </a:rPr>
              <a:t>를 하나로 잇는 파이프라인</a:t>
            </a:r>
            <a:endParaRPr lang="en-US" sz="1900" dirty="0"/>
          </a:p>
        </p:txBody>
      </p:sp>
      <p:sp>
        <p:nvSpPr>
          <p:cNvPr id="16" name="Text 1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95A8"/>
                </a:solidFill>
                <a:latin typeface="Noto Sans KR" pitchFamily="34" charset="0"/>
                <a:ea typeface="Noto Sans KR" pitchFamily="34" charset="-122"/>
                <a:cs typeface="Noto Sans KR" pitchFamily="34" charset="-120"/>
              </a:rPr>
              <a:t>AegisVision · 2 / 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62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6EEF2"/>
                </a:solidFill>
                <a:latin typeface="Noto Sans KR" pitchFamily="34" charset="0"/>
                <a:ea typeface="Noto Sans KR" pitchFamily="34" charset="-122"/>
                <a:cs typeface="Noto Sans KR" pitchFamily="34" charset="-120"/>
              </a:rPr>
              <a:t>전체 파이프라인</a:t>
            </a:r>
            <a:endParaRPr lang="en-US" sz="3600" dirty="0"/>
          </a:p>
        </p:txBody>
      </p:sp>
      <p:sp>
        <p:nvSpPr>
          <p:cNvPr id="3" name="Shape 1"/>
          <p:cNvSpPr/>
          <p:nvPr/>
        </p:nvSpPr>
        <p:spPr>
          <a:xfrm>
            <a:off x="815975" y="1674416"/>
            <a:ext cx="1680170" cy="1441252"/>
          </a:xfrm>
          <a:prstGeom prst="roundRect">
            <a:avLst>
              <a:gd name="adj" fmla="val 6829"/>
            </a:avLst>
          </a:prstGeom>
          <a:solidFill>
            <a:srgbClr val="11233A"/>
          </a:solidFill>
          <a:ln w="6350">
            <a:solidFill>
              <a:srgbClr val="24405E"/>
            </a:solidFill>
            <a:prstDash val="solid"/>
          </a:ln>
        </p:spPr>
      </p:sp>
      <p:sp>
        <p:nvSpPr>
          <p:cNvPr id="4" name="Text 2"/>
          <p:cNvSpPr/>
          <p:nvPr/>
        </p:nvSpPr>
        <p:spPr>
          <a:xfrm>
            <a:off x="971550" y="1855391"/>
            <a:ext cx="14198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D4BF"/>
                </a:solidFill>
                <a:latin typeface="Noto Sans KR" pitchFamily="34" charset="0"/>
                <a:ea typeface="Noto Sans KR" pitchFamily="34" charset="-122"/>
                <a:cs typeface="Noto Sans KR" pitchFamily="34" charset="-120"/>
              </a:rPr>
              <a:t>01</a:t>
            </a:r>
            <a:endParaRPr lang="en-US" sz="1300" dirty="0"/>
          </a:p>
        </p:txBody>
      </p:sp>
      <p:sp>
        <p:nvSpPr>
          <p:cNvPr id="5" name="Text 3"/>
          <p:cNvSpPr/>
          <p:nvPr/>
        </p:nvSpPr>
        <p:spPr>
          <a:xfrm>
            <a:off x="971550" y="2149971"/>
            <a:ext cx="141982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6EEF2"/>
                </a:solidFill>
                <a:latin typeface="Noto Sans KR" pitchFamily="34" charset="0"/>
                <a:ea typeface="Noto Sans KR" pitchFamily="34" charset="-122"/>
                <a:cs typeface="Noto Sans KR" pitchFamily="34" charset="-120"/>
              </a:rPr>
              <a:t>모델 학습</a:t>
            </a:r>
            <a:endParaRPr lang="en-US" sz="1700" dirty="0"/>
          </a:p>
        </p:txBody>
      </p:sp>
      <p:sp>
        <p:nvSpPr>
          <p:cNvPr id="6" name="Text 4"/>
          <p:cNvSpPr/>
          <p:nvPr/>
        </p:nvSpPr>
        <p:spPr>
          <a:xfrm>
            <a:off x="971550" y="2472531"/>
            <a:ext cx="141982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FB3C5"/>
                </a:solidFill>
                <a:latin typeface="Noto Sans KR" pitchFamily="34" charset="0"/>
                <a:ea typeface="Noto Sans KR" pitchFamily="34" charset="-122"/>
                <a:cs typeface="Noto Sans KR" pitchFamily="34" charset="-120"/>
              </a:rPr>
              <a:t>YOLO 전이학습, RTX 3070</a:t>
            </a:r>
            <a:endParaRPr lang="en-US" sz="1300" dirty="0"/>
          </a:p>
        </p:txBody>
      </p:sp>
      <p:pic>
        <p:nvPicPr>
          <p:cNvPr id="7" name="Image 0" descr="arrow-right">    </p:cNvPr>
          <p:cNvPicPr>
            <a:picLocks noChangeAspect="1"/>
          </p:cNvPicPr>
          <p:nvPr/>
        </p:nvPicPr>
        <p:blipFill>
          <a:blip r:embed="rId1"/>
          <a:srcRect l="0" r="0" t="0" b="0"/>
          <a:stretch/>
        </p:blipFill>
        <p:spPr>
          <a:xfrm>
            <a:off x="2626320" y="2306141"/>
            <a:ext cx="279400" cy="177800"/>
          </a:xfrm>
          <a:prstGeom prst="rect">
            <a:avLst/>
          </a:prstGeom>
        </p:spPr>
      </p:pic>
      <p:sp>
        <p:nvSpPr>
          <p:cNvPr id="8" name="Shape 5"/>
          <p:cNvSpPr/>
          <p:nvPr/>
        </p:nvSpPr>
        <p:spPr>
          <a:xfrm>
            <a:off x="3035895" y="1789906"/>
            <a:ext cx="1680270" cy="1210171"/>
          </a:xfrm>
          <a:prstGeom prst="roundRect">
            <a:avLst>
              <a:gd name="adj" fmla="val 8133"/>
            </a:avLst>
          </a:prstGeom>
          <a:solidFill>
            <a:srgbClr val="11233A"/>
          </a:solidFill>
          <a:ln w="6350">
            <a:solidFill>
              <a:srgbClr val="24405E"/>
            </a:solidFill>
            <a:prstDash val="solid"/>
          </a:ln>
        </p:spPr>
      </p:sp>
      <p:sp>
        <p:nvSpPr>
          <p:cNvPr id="9" name="Text 6"/>
          <p:cNvSpPr/>
          <p:nvPr/>
        </p:nvSpPr>
        <p:spPr>
          <a:xfrm>
            <a:off x="3191470" y="1970881"/>
            <a:ext cx="14199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D4BF"/>
                </a:solidFill>
                <a:latin typeface="Noto Sans KR" pitchFamily="34" charset="0"/>
                <a:ea typeface="Noto Sans KR" pitchFamily="34" charset="-122"/>
                <a:cs typeface="Noto Sans KR" pitchFamily="34" charset="-120"/>
              </a:rPr>
              <a:t>02</a:t>
            </a:r>
            <a:endParaRPr lang="en-US" sz="1300" dirty="0"/>
          </a:p>
        </p:txBody>
      </p:sp>
      <p:sp>
        <p:nvSpPr>
          <p:cNvPr id="10" name="Text 7"/>
          <p:cNvSpPr/>
          <p:nvPr/>
        </p:nvSpPr>
        <p:spPr>
          <a:xfrm>
            <a:off x="3191470" y="2265462"/>
            <a:ext cx="141992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6EEF2"/>
                </a:solidFill>
                <a:latin typeface="Noto Sans KR" pitchFamily="34" charset="0"/>
                <a:ea typeface="Noto Sans KR" pitchFamily="34" charset="-122"/>
                <a:cs typeface="Noto Sans KR" pitchFamily="34" charset="-120"/>
              </a:rPr>
              <a:t>실험 추적</a:t>
            </a:r>
            <a:endParaRPr lang="en-US" sz="1700" dirty="0"/>
          </a:p>
        </p:txBody>
      </p:sp>
      <p:sp>
        <p:nvSpPr>
          <p:cNvPr id="11" name="Text 8"/>
          <p:cNvSpPr/>
          <p:nvPr/>
        </p:nvSpPr>
        <p:spPr>
          <a:xfrm>
            <a:off x="3191470" y="2588022"/>
            <a:ext cx="141992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FB3C5"/>
                </a:solidFill>
                <a:latin typeface="Noto Sans KR" pitchFamily="34" charset="0"/>
                <a:ea typeface="Noto Sans KR" pitchFamily="34" charset="-122"/>
                <a:cs typeface="Noto Sans KR" pitchFamily="34" charset="-120"/>
              </a:rPr>
              <a:t>MLflow</a:t>
            </a:r>
            <a:endParaRPr lang="en-US" sz="1300" dirty="0"/>
          </a:p>
        </p:txBody>
      </p:sp>
      <p:pic>
        <p:nvPicPr>
          <p:cNvPr id="12" name="Image 1" descr="arrow-right">    </p:cNvPr>
          <p:cNvPicPr>
            <a:picLocks noChangeAspect="1"/>
          </p:cNvPicPr>
          <p:nvPr/>
        </p:nvPicPr>
        <p:blipFill>
          <a:blip r:embed="rId2"/>
          <a:srcRect l="0" r="0" t="0" b="0"/>
          <a:stretch/>
        </p:blipFill>
        <p:spPr>
          <a:xfrm>
            <a:off x="4846340" y="2306141"/>
            <a:ext cx="279400" cy="177800"/>
          </a:xfrm>
          <a:prstGeom prst="rect">
            <a:avLst/>
          </a:prstGeom>
        </p:spPr>
      </p:pic>
      <p:sp>
        <p:nvSpPr>
          <p:cNvPr id="13" name="Shape 9"/>
          <p:cNvSpPr/>
          <p:nvPr/>
        </p:nvSpPr>
        <p:spPr>
          <a:xfrm>
            <a:off x="5255915" y="1789906"/>
            <a:ext cx="1680170" cy="1210171"/>
          </a:xfrm>
          <a:prstGeom prst="roundRect">
            <a:avLst>
              <a:gd name="adj" fmla="val 8133"/>
            </a:avLst>
          </a:prstGeom>
          <a:solidFill>
            <a:srgbClr val="11233A"/>
          </a:solidFill>
          <a:ln w="6350">
            <a:solidFill>
              <a:srgbClr val="24405E"/>
            </a:solidFill>
            <a:prstDash val="solid"/>
          </a:ln>
        </p:spPr>
      </p:sp>
      <p:sp>
        <p:nvSpPr>
          <p:cNvPr id="14" name="Text 10"/>
          <p:cNvSpPr/>
          <p:nvPr/>
        </p:nvSpPr>
        <p:spPr>
          <a:xfrm>
            <a:off x="5411490" y="1970881"/>
            <a:ext cx="14198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D4BF"/>
                </a:solidFill>
                <a:latin typeface="Noto Sans KR" pitchFamily="34" charset="0"/>
                <a:ea typeface="Noto Sans KR" pitchFamily="34" charset="-122"/>
                <a:cs typeface="Noto Sans KR" pitchFamily="34" charset="-120"/>
              </a:rPr>
              <a:t>03</a:t>
            </a:r>
            <a:endParaRPr lang="en-US" sz="1300" dirty="0"/>
          </a:p>
        </p:txBody>
      </p:sp>
      <p:sp>
        <p:nvSpPr>
          <p:cNvPr id="15" name="Text 11"/>
          <p:cNvSpPr/>
          <p:nvPr/>
        </p:nvSpPr>
        <p:spPr>
          <a:xfrm>
            <a:off x="5411490" y="2265462"/>
            <a:ext cx="141982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6EEF2"/>
                </a:solidFill>
                <a:latin typeface="Noto Sans KR" pitchFamily="34" charset="0"/>
                <a:ea typeface="Noto Sans KR" pitchFamily="34" charset="-122"/>
                <a:cs typeface="Noto Sans KR" pitchFamily="34" charset="-120"/>
              </a:rPr>
              <a:t>API 서빙</a:t>
            </a:r>
            <a:endParaRPr lang="en-US" sz="1700" dirty="0"/>
          </a:p>
        </p:txBody>
      </p:sp>
      <p:sp>
        <p:nvSpPr>
          <p:cNvPr id="16" name="Text 12"/>
          <p:cNvSpPr/>
          <p:nvPr/>
        </p:nvSpPr>
        <p:spPr>
          <a:xfrm>
            <a:off x="5411490" y="2588022"/>
            <a:ext cx="141982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FB3C5"/>
                </a:solidFill>
                <a:latin typeface="Noto Sans KR" pitchFamily="34" charset="0"/>
                <a:ea typeface="Noto Sans KR" pitchFamily="34" charset="-122"/>
                <a:cs typeface="Noto Sans KR" pitchFamily="34" charset="-120"/>
              </a:rPr>
              <a:t>FastAPI</a:t>
            </a:r>
            <a:endParaRPr lang="en-US" sz="1300" dirty="0"/>
          </a:p>
        </p:txBody>
      </p:sp>
      <p:pic>
        <p:nvPicPr>
          <p:cNvPr id="17" name="Image 2" descr="arrow-right">    </p:cNvPr>
          <p:cNvPicPr>
            <a:picLocks noChangeAspect="1"/>
          </p:cNvPicPr>
          <p:nvPr/>
        </p:nvPicPr>
        <p:blipFill>
          <a:blip r:embed="rId3"/>
          <a:srcRect l="0" r="0" t="0" b="0"/>
          <a:stretch/>
        </p:blipFill>
        <p:spPr>
          <a:xfrm>
            <a:off x="7066260" y="2306141"/>
            <a:ext cx="279400" cy="177800"/>
          </a:xfrm>
          <a:prstGeom prst="rect">
            <a:avLst/>
          </a:prstGeom>
        </p:spPr>
      </p:pic>
      <p:sp>
        <p:nvSpPr>
          <p:cNvPr id="18" name="Shape 13"/>
          <p:cNvSpPr/>
          <p:nvPr/>
        </p:nvSpPr>
        <p:spPr>
          <a:xfrm>
            <a:off x="7475835" y="1789906"/>
            <a:ext cx="1680270" cy="1210171"/>
          </a:xfrm>
          <a:prstGeom prst="roundRect">
            <a:avLst>
              <a:gd name="adj" fmla="val 8133"/>
            </a:avLst>
          </a:prstGeom>
          <a:solidFill>
            <a:srgbClr val="11233A"/>
          </a:solidFill>
          <a:ln w="6350">
            <a:solidFill>
              <a:srgbClr val="24405E"/>
            </a:solidFill>
            <a:prstDash val="solid"/>
          </a:ln>
        </p:spPr>
      </p:sp>
      <p:sp>
        <p:nvSpPr>
          <p:cNvPr id="19" name="Text 14"/>
          <p:cNvSpPr/>
          <p:nvPr/>
        </p:nvSpPr>
        <p:spPr>
          <a:xfrm>
            <a:off x="7631410" y="1970881"/>
            <a:ext cx="14199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D4BF"/>
                </a:solidFill>
                <a:latin typeface="Noto Sans KR" pitchFamily="34" charset="0"/>
                <a:ea typeface="Noto Sans KR" pitchFamily="34" charset="-122"/>
                <a:cs typeface="Noto Sans KR" pitchFamily="34" charset="-120"/>
              </a:rPr>
              <a:t>04</a:t>
            </a:r>
            <a:endParaRPr lang="en-US" sz="1300" dirty="0"/>
          </a:p>
        </p:txBody>
      </p:sp>
      <p:sp>
        <p:nvSpPr>
          <p:cNvPr id="20" name="Text 15"/>
          <p:cNvSpPr/>
          <p:nvPr/>
        </p:nvSpPr>
        <p:spPr>
          <a:xfrm>
            <a:off x="7631410" y="2265462"/>
            <a:ext cx="141992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6EEF2"/>
                </a:solidFill>
                <a:latin typeface="Noto Sans KR" pitchFamily="34" charset="0"/>
                <a:ea typeface="Noto Sans KR" pitchFamily="34" charset="-122"/>
                <a:cs typeface="Noto Sans KR" pitchFamily="34" charset="-120"/>
              </a:rPr>
              <a:t>기록 저장</a:t>
            </a:r>
            <a:endParaRPr lang="en-US" sz="1700" dirty="0"/>
          </a:p>
        </p:txBody>
      </p:sp>
      <p:sp>
        <p:nvSpPr>
          <p:cNvPr id="21" name="Text 16"/>
          <p:cNvSpPr/>
          <p:nvPr/>
        </p:nvSpPr>
        <p:spPr>
          <a:xfrm>
            <a:off x="7631410" y="2588022"/>
            <a:ext cx="141992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FB3C5"/>
                </a:solidFill>
                <a:latin typeface="Noto Sans KR" pitchFamily="34" charset="0"/>
                <a:ea typeface="Noto Sans KR" pitchFamily="34" charset="-122"/>
                <a:cs typeface="Noto Sans KR" pitchFamily="34" charset="-120"/>
              </a:rPr>
              <a:t>PostgreSQL</a:t>
            </a:r>
            <a:endParaRPr lang="en-US" sz="1300" dirty="0"/>
          </a:p>
        </p:txBody>
      </p:sp>
      <p:pic>
        <p:nvPicPr>
          <p:cNvPr id="22" name="Image 3" descr="arrow-right">    </p:cNvPr>
          <p:cNvPicPr>
            <a:picLocks noChangeAspect="1"/>
          </p:cNvPicPr>
          <p:nvPr/>
        </p:nvPicPr>
        <p:blipFill>
          <a:blip r:embed="rId4"/>
          <a:srcRect l="0" r="0" t="0" b="0"/>
          <a:stretch/>
        </p:blipFill>
        <p:spPr>
          <a:xfrm>
            <a:off x="9286280" y="2306141"/>
            <a:ext cx="279400" cy="177800"/>
          </a:xfrm>
          <a:prstGeom prst="rect">
            <a:avLst/>
          </a:prstGeom>
        </p:spPr>
      </p:pic>
      <p:sp>
        <p:nvSpPr>
          <p:cNvPr id="23" name="Shape 17"/>
          <p:cNvSpPr/>
          <p:nvPr/>
        </p:nvSpPr>
        <p:spPr>
          <a:xfrm>
            <a:off x="9695855" y="1789906"/>
            <a:ext cx="1680170" cy="1210171"/>
          </a:xfrm>
          <a:prstGeom prst="roundRect">
            <a:avLst>
              <a:gd name="adj" fmla="val 8133"/>
            </a:avLst>
          </a:prstGeom>
          <a:solidFill>
            <a:srgbClr val="11233A"/>
          </a:solidFill>
          <a:ln w="6350">
            <a:solidFill>
              <a:srgbClr val="24405E"/>
            </a:solidFill>
            <a:prstDash val="solid"/>
          </a:ln>
        </p:spPr>
      </p:sp>
      <p:sp>
        <p:nvSpPr>
          <p:cNvPr id="24" name="Text 18"/>
          <p:cNvSpPr/>
          <p:nvPr/>
        </p:nvSpPr>
        <p:spPr>
          <a:xfrm>
            <a:off x="9851430" y="1970881"/>
            <a:ext cx="14198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D4BF"/>
                </a:solidFill>
                <a:latin typeface="Noto Sans KR" pitchFamily="34" charset="0"/>
                <a:ea typeface="Noto Sans KR" pitchFamily="34" charset="-122"/>
                <a:cs typeface="Noto Sans KR" pitchFamily="34" charset="-120"/>
              </a:rPr>
              <a:t>05</a:t>
            </a:r>
            <a:endParaRPr lang="en-US" sz="1300" dirty="0"/>
          </a:p>
        </p:txBody>
      </p:sp>
      <p:sp>
        <p:nvSpPr>
          <p:cNvPr id="25" name="Text 19"/>
          <p:cNvSpPr/>
          <p:nvPr/>
        </p:nvSpPr>
        <p:spPr>
          <a:xfrm>
            <a:off x="9851430" y="2265462"/>
            <a:ext cx="141982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6EEF2"/>
                </a:solidFill>
                <a:latin typeface="Noto Sans KR" pitchFamily="34" charset="0"/>
                <a:ea typeface="Noto Sans KR" pitchFamily="34" charset="-122"/>
                <a:cs typeface="Noto Sans KR" pitchFamily="34" charset="-120"/>
              </a:rPr>
              <a:t>관제 화면</a:t>
            </a:r>
            <a:endParaRPr lang="en-US" sz="1700" dirty="0"/>
          </a:p>
        </p:txBody>
      </p:sp>
      <p:sp>
        <p:nvSpPr>
          <p:cNvPr id="26" name="Text 20"/>
          <p:cNvSpPr/>
          <p:nvPr/>
        </p:nvSpPr>
        <p:spPr>
          <a:xfrm>
            <a:off x="9851430" y="2588022"/>
            <a:ext cx="141982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FB3C5"/>
                </a:solidFill>
                <a:latin typeface="Noto Sans KR" pitchFamily="34" charset="0"/>
                <a:ea typeface="Noto Sans KR" pitchFamily="34" charset="-122"/>
                <a:cs typeface="Noto Sans KR" pitchFamily="34" charset="-120"/>
              </a:rPr>
              <a:t>React + nginx</a:t>
            </a:r>
            <a:endParaRPr lang="en-US" sz="1300" dirty="0"/>
          </a:p>
        </p:txBody>
      </p:sp>
      <p:sp>
        <p:nvSpPr>
          <p:cNvPr id="27" name="Text 21"/>
          <p:cNvSpPr/>
          <p:nvPr/>
        </p:nvSpPr>
        <p:spPr>
          <a:xfrm>
            <a:off x="815975" y="3477617"/>
            <a:ext cx="3414117" cy="895350"/>
          </a:xfrm>
          <a:prstGeom prst="roundRect">
            <a:avLst>
              <a:gd name="adj" fmla="val 10993"/>
            </a:avLst>
          </a:prstGeom>
          <a:solidFill>
            <a:srgbClr val="0F1D31"/>
          </a:solidFill>
          <a:ln w="6350">
            <a:solidFill>
              <a:srgbClr val="24405E"/>
            </a:solidFill>
            <a:prstDash val="solid"/>
          </a:ln>
        </p:spPr>
        <p:txBody>
          <a:bodyPr wrap="square" lIns="177547" tIns="152147" rIns="87506" bIns="126747" rtlCol="0" anchor="t">
            <a:normAutofit/>
          </a:bodyPr>
          <a:lstStyle/>
          <a:p>
            <a:pPr algn="l" indent="0" marL="0">
              <a:lnSpc>
                <a:spcPts val="2100"/>
              </a:lnSpc>
              <a:buNone/>
            </a:pPr>
            <a:r>
              <a:rPr lang="en-US" sz="1500" dirty="0">
                <a:solidFill>
                  <a:srgbClr val="2DD4BF"/>
                </a:solidFill>
                <a:latin typeface="Noto Sans KR" pitchFamily="34" charset="0"/>
                <a:ea typeface="Noto Sans KR" pitchFamily="34" charset="-122"/>
                <a:cs typeface="Noto Sans KR" pitchFamily="34" charset="-120"/>
              </a:rPr>
              <a:t>Docker Compose</a:t>
            </a:r>
            <a:r>
              <a:rPr lang="en-US" sz="1500" dirty="0">
                <a:solidFill>
                  <a:srgbClr val="E6EEF2"/>
                </a:solidFill>
                <a:latin typeface="Noto Sans KR" pitchFamily="34" charset="0"/>
                <a:ea typeface="Noto Sans KR" pitchFamily="34" charset="-122"/>
                <a:cs typeface="Noto Sans KR" pitchFamily="34" charset="-120"/>
              </a:rPr>
              <a:t>로 전체 스택을 한 번에 기동</a:t>
            </a:r>
            <a:endParaRPr lang="en-US" sz="1500" dirty="0"/>
          </a:p>
        </p:txBody>
      </p:sp>
      <p:sp>
        <p:nvSpPr>
          <p:cNvPr id="28" name="Text 22"/>
          <p:cNvSpPr/>
          <p:nvPr/>
        </p:nvSpPr>
        <p:spPr>
          <a:xfrm>
            <a:off x="4388842" y="3477617"/>
            <a:ext cx="3414216" cy="895350"/>
          </a:xfrm>
          <a:prstGeom prst="roundRect">
            <a:avLst>
              <a:gd name="adj" fmla="val 10993"/>
            </a:avLst>
          </a:prstGeom>
          <a:solidFill>
            <a:srgbClr val="0F1D31"/>
          </a:solidFill>
          <a:ln w="6350">
            <a:solidFill>
              <a:srgbClr val="24405E"/>
            </a:solidFill>
            <a:prstDash val="solid"/>
          </a:ln>
        </p:spPr>
        <p:txBody>
          <a:bodyPr wrap="square" lIns="177547" tIns="152147" rIns="87503" bIns="126747" rtlCol="0" anchor="t">
            <a:normAutofit/>
          </a:bodyPr>
          <a:lstStyle/>
          <a:p>
            <a:pPr algn="l" indent="0" marL="0">
              <a:lnSpc>
                <a:spcPts val="2100"/>
              </a:lnSpc>
              <a:buNone/>
            </a:pPr>
            <a:r>
              <a:rPr lang="en-US" sz="1500" dirty="0">
                <a:solidFill>
                  <a:srgbClr val="2DD4BF"/>
                </a:solidFill>
                <a:latin typeface="Noto Sans KR" pitchFamily="34" charset="0"/>
                <a:ea typeface="Noto Sans KR" pitchFamily="34" charset="-122"/>
                <a:cs typeface="Noto Sans KR" pitchFamily="34" charset="-120"/>
              </a:rPr>
              <a:t>GitHub Actions</a:t>
            </a:r>
            <a:r>
              <a:rPr lang="en-US" sz="1500" dirty="0">
                <a:solidFill>
                  <a:srgbClr val="E6EEF2"/>
                </a:solidFill>
                <a:latin typeface="Noto Sans KR" pitchFamily="34" charset="0"/>
                <a:ea typeface="Noto Sans KR" pitchFamily="34" charset="-122"/>
                <a:cs typeface="Noto Sans KR" pitchFamily="34" charset="-120"/>
              </a:rPr>
              <a:t> CI와 pytest 10개 테스트</a:t>
            </a:r>
            <a:endParaRPr lang="en-US" sz="1500" dirty="0"/>
          </a:p>
        </p:txBody>
      </p:sp>
      <p:sp>
        <p:nvSpPr>
          <p:cNvPr id="29" name="Text 23"/>
          <p:cNvSpPr/>
          <p:nvPr/>
        </p:nvSpPr>
        <p:spPr>
          <a:xfrm>
            <a:off x="7961809" y="3477617"/>
            <a:ext cx="3414216" cy="895350"/>
          </a:xfrm>
          <a:prstGeom prst="roundRect">
            <a:avLst>
              <a:gd name="adj" fmla="val 10993"/>
            </a:avLst>
          </a:prstGeom>
          <a:solidFill>
            <a:srgbClr val="0F1D31"/>
          </a:solidFill>
          <a:ln w="6350">
            <a:solidFill>
              <a:srgbClr val="24405E"/>
            </a:solidFill>
            <a:prstDash val="solid"/>
          </a:ln>
        </p:spPr>
        <p:txBody>
          <a:bodyPr wrap="square" lIns="177547" tIns="152147" rIns="87503" bIns="126747" rtlCol="0" anchor="t">
            <a:normAutofit/>
          </a:bodyPr>
          <a:lstStyle/>
          <a:p>
            <a:pPr algn="l" indent="0" marL="0">
              <a:lnSpc>
                <a:spcPts val="2100"/>
              </a:lnSpc>
              <a:buNone/>
            </a:pPr>
            <a:r>
              <a:rPr lang="en-US" sz="1500" dirty="0">
                <a:solidFill>
                  <a:srgbClr val="E6EEF2"/>
                </a:solidFill>
                <a:latin typeface="Noto Sans KR" pitchFamily="34" charset="0"/>
                <a:ea typeface="Noto Sans KR" pitchFamily="34" charset="-122"/>
                <a:cs typeface="Noto Sans KR" pitchFamily="34" charset="-120"/>
              </a:rPr>
              <a:t>브라우저는 </a:t>
            </a:r>
            <a:r>
              <a:rPr lang="en-US" sz="1500" dirty="0">
                <a:solidFill>
                  <a:srgbClr val="2DD4BF"/>
                </a:solidFill>
                <a:latin typeface="Noto Sans KR" pitchFamily="34" charset="0"/>
                <a:ea typeface="Noto Sans KR" pitchFamily="34" charset="-122"/>
                <a:cs typeface="Noto Sans KR" pitchFamily="34" charset="-120"/>
              </a:rPr>
              <a:t>nginx 8080</a:t>
            </a:r>
            <a:r>
              <a:rPr lang="en-US" sz="1500" dirty="0">
                <a:solidFill>
                  <a:srgbClr val="E6EEF2"/>
                </a:solidFill>
                <a:latin typeface="Noto Sans KR" pitchFamily="34" charset="0"/>
                <a:ea typeface="Noto Sans KR" pitchFamily="34" charset="-122"/>
                <a:cs typeface="Noto Sans KR" pitchFamily="34" charset="-120"/>
              </a:rPr>
              <a:t> 하나만 접근, API는 내부 전용</a:t>
            </a:r>
            <a:endParaRPr lang="en-US" sz="1500" dirty="0"/>
          </a:p>
        </p:txBody>
      </p:sp>
      <p:sp>
        <p:nvSpPr>
          <p:cNvPr id="30" name="Text 2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95A8"/>
                </a:solidFill>
                <a:latin typeface="Noto Sans KR" pitchFamily="34" charset="0"/>
                <a:ea typeface="Noto Sans KR" pitchFamily="34" charset="-122"/>
                <a:cs typeface="Noto Sans KR" pitchFamily="34" charset="-120"/>
              </a:rPr>
              <a:t>AegisVision · 3 / 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6EE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626"/>
                </a:solidFill>
                <a:latin typeface="Noto Sans KR" pitchFamily="34" charset="0"/>
                <a:ea typeface="Noto Sans KR" pitchFamily="34" charset="-122"/>
                <a:cs typeface="Noto Sans KR" pitchFamily="34" charset="-120"/>
              </a:rPr>
              <a:t>모델 성능</a:t>
            </a:r>
            <a:endParaRPr lang="en-US" sz="3600" dirty="0"/>
          </a:p>
        </p:txBody>
      </p:sp>
      <p:sp>
        <p:nvSpPr>
          <p:cNvPr id="3" name="Shape 1"/>
          <p:cNvSpPr/>
          <p:nvPr/>
        </p:nvSpPr>
        <p:spPr>
          <a:xfrm>
            <a:off x="815975" y="1623616"/>
            <a:ext cx="5181600" cy="2053530"/>
          </a:xfrm>
          <a:prstGeom prst="roundRect">
            <a:avLst>
              <a:gd name="adj" fmla="val 4793"/>
            </a:avLst>
          </a:prstGeom>
          <a:solidFill>
            <a:srgbClr val="F7FAFB"/>
          </a:solidFill>
          <a:ln w="6350">
            <a:solidFill>
              <a:srgbClr val="C5D3DD"/>
            </a:solidFill>
            <a:prstDash val="solid"/>
          </a:ln>
        </p:spPr>
      </p:sp>
      <p:sp>
        <p:nvSpPr>
          <p:cNvPr id="4" name="Text 2"/>
          <p:cNvSpPr/>
          <p:nvPr/>
        </p:nvSpPr>
        <p:spPr>
          <a:xfrm>
            <a:off x="1073150" y="1906191"/>
            <a:ext cx="480726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B6B"/>
                </a:solidFill>
                <a:latin typeface="Noto Sans KR" pitchFamily="34" charset="0"/>
                <a:ea typeface="Noto Sans KR" pitchFamily="34" charset="-122"/>
                <a:cs typeface="Noto Sans KR" pitchFamily="34" charset="-120"/>
              </a:rPr>
              <a:t>단일 클래스 (Drone)</a:t>
            </a:r>
            <a:endParaRPr lang="en-US" sz="1500" dirty="0"/>
          </a:p>
        </p:txBody>
      </p:sp>
      <p:sp>
        <p:nvSpPr>
          <p:cNvPr id="5" name="Text 3"/>
          <p:cNvSpPr/>
          <p:nvPr/>
        </p:nvSpPr>
        <p:spPr>
          <a:xfrm>
            <a:off x="1073150" y="2223691"/>
            <a:ext cx="4807268" cy="878780"/>
          </a:xfrm>
          <a:prstGeom prst="rect">
            <a:avLst/>
          </a:prstGeom>
          <a:noFill/>
          <a:ln/>
        </p:spPr>
        <p:txBody>
          <a:bodyPr wrap="square" lIns="0" tIns="0" rIns="0" bIns="0" rtlCol="0" anchor="t">
            <a:normAutofit/>
          </a:bodyPr>
          <a:lstStyle/>
          <a:p>
            <a:pPr algn="l" indent="0" marL="0">
              <a:lnSpc>
                <a:spcPts val="6720"/>
              </a:lnSpc>
              <a:buNone/>
            </a:pPr>
            <a:r>
              <a:rPr lang="en-US" sz="6400" b="1" dirty="0">
                <a:solidFill>
                  <a:srgbClr val="0B1626"/>
                </a:solidFill>
                <a:latin typeface="Noto Sans KR" pitchFamily="34" charset="0"/>
                <a:ea typeface="Noto Sans KR" pitchFamily="34" charset="-122"/>
                <a:cs typeface="Noto Sans KR" pitchFamily="34" charset="-120"/>
              </a:rPr>
              <a:t>0.93</a:t>
            </a:r>
            <a:endParaRPr lang="en-US" sz="6400" dirty="0"/>
          </a:p>
        </p:txBody>
      </p:sp>
      <p:sp>
        <p:nvSpPr>
          <p:cNvPr id="6" name="Text 4"/>
          <p:cNvSpPr/>
          <p:nvPr/>
        </p:nvSpPr>
        <p:spPr>
          <a:xfrm>
            <a:off x="1073150" y="3127871"/>
            <a:ext cx="480726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B6B"/>
                </a:solidFill>
                <a:latin typeface="Noto Sans KR" pitchFamily="34" charset="0"/>
                <a:ea typeface="Noto Sans KR" pitchFamily="34" charset="-122"/>
                <a:cs typeface="Noto Sans KR" pitchFamily="34" charset="-120"/>
              </a:rPr>
              <a:t>mAP50 · Precision 0.91 · Recall 0.90</a:t>
            </a:r>
            <a:endParaRPr lang="en-US" sz="1500" dirty="0"/>
          </a:p>
        </p:txBody>
      </p:sp>
      <p:sp>
        <p:nvSpPr>
          <p:cNvPr id="7" name="Shape 5"/>
          <p:cNvSpPr/>
          <p:nvPr/>
        </p:nvSpPr>
        <p:spPr>
          <a:xfrm>
            <a:off x="6203950" y="1620441"/>
            <a:ext cx="5175250" cy="2059880"/>
          </a:xfrm>
          <a:prstGeom prst="roundRect">
            <a:avLst>
              <a:gd name="adj" fmla="val 4932"/>
            </a:avLst>
          </a:prstGeom>
          <a:solidFill>
            <a:srgbClr val="0B1626"/>
          </a:solidFill>
          <a:ln/>
        </p:spPr>
      </p:sp>
      <p:sp>
        <p:nvSpPr>
          <p:cNvPr id="8" name="Text 6"/>
          <p:cNvSpPr/>
          <p:nvPr/>
        </p:nvSpPr>
        <p:spPr>
          <a:xfrm>
            <a:off x="6457950" y="1899841"/>
            <a:ext cx="480726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DD4BF"/>
                </a:solidFill>
                <a:latin typeface="Noto Sans KR" pitchFamily="34" charset="0"/>
                <a:ea typeface="Noto Sans KR" pitchFamily="34" charset="-122"/>
                <a:cs typeface="Noto Sans KR" pitchFamily="34" charset="-120"/>
              </a:rPr>
              <a:t>다중 클래스 (4종)</a:t>
            </a:r>
            <a:endParaRPr lang="en-US" sz="1500" dirty="0"/>
          </a:p>
        </p:txBody>
      </p:sp>
      <p:sp>
        <p:nvSpPr>
          <p:cNvPr id="9" name="Text 7"/>
          <p:cNvSpPr/>
          <p:nvPr/>
        </p:nvSpPr>
        <p:spPr>
          <a:xfrm>
            <a:off x="6457950" y="2217341"/>
            <a:ext cx="4807268" cy="878780"/>
          </a:xfrm>
          <a:prstGeom prst="rect">
            <a:avLst/>
          </a:prstGeom>
          <a:noFill/>
          <a:ln/>
        </p:spPr>
        <p:txBody>
          <a:bodyPr wrap="square" lIns="0" tIns="0" rIns="0" bIns="0" rtlCol="0" anchor="t">
            <a:normAutofit/>
          </a:bodyPr>
          <a:lstStyle/>
          <a:p>
            <a:pPr algn="l" indent="0" marL="0">
              <a:lnSpc>
                <a:spcPts val="6720"/>
              </a:lnSpc>
              <a:buNone/>
            </a:pPr>
            <a:r>
              <a:rPr lang="en-US" sz="6400" b="1" dirty="0">
                <a:solidFill>
                  <a:srgbClr val="E6EEF2"/>
                </a:solidFill>
                <a:latin typeface="Noto Sans KR" pitchFamily="34" charset="0"/>
                <a:ea typeface="Noto Sans KR" pitchFamily="34" charset="-122"/>
                <a:cs typeface="Noto Sans KR" pitchFamily="34" charset="-120"/>
              </a:rPr>
              <a:t>0.99</a:t>
            </a:r>
            <a:endParaRPr lang="en-US" sz="6400" dirty="0"/>
          </a:p>
        </p:txBody>
      </p:sp>
      <p:sp>
        <p:nvSpPr>
          <p:cNvPr id="10" name="Text 8"/>
          <p:cNvSpPr/>
          <p:nvPr/>
        </p:nvSpPr>
        <p:spPr>
          <a:xfrm>
            <a:off x="6457950" y="3121521"/>
            <a:ext cx="480726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FB3C5"/>
                </a:solidFill>
                <a:latin typeface="Noto Sans KR" pitchFamily="34" charset="0"/>
                <a:ea typeface="Noto Sans KR" pitchFamily="34" charset="-122"/>
                <a:cs typeface="Noto Sans KR" pitchFamily="34" charset="-120"/>
              </a:rPr>
              <a:t>mAP50 · Precision 0.97 · Recall 0.97</a:t>
            </a:r>
            <a:endParaRPr lang="en-US" sz="1500" dirty="0"/>
          </a:p>
        </p:txBody>
      </p:sp>
      <p:sp>
        <p:nvSpPr>
          <p:cNvPr id="11" name="Text 9"/>
          <p:cNvSpPr/>
          <p:nvPr/>
        </p:nvSpPr>
        <p:spPr>
          <a:xfrm>
            <a:off x="812800" y="3985121"/>
            <a:ext cx="10883392" cy="725091"/>
          </a:xfrm>
          <a:prstGeom prst="rect">
            <a:avLst/>
          </a:prstGeom>
          <a:noFill/>
          <a:ln/>
        </p:spPr>
        <p:txBody>
          <a:bodyPr wrap="square" lIns="0" tIns="0" rIns="0" bIns="0" rtlCol="0" anchor="t">
            <a:normAutofit/>
          </a:bodyPr>
          <a:lstStyle/>
          <a:p>
            <a:pPr algn="l" indent="0" marL="0">
              <a:lnSpc>
                <a:spcPts val="2755"/>
              </a:lnSpc>
              <a:buNone/>
            </a:pPr>
            <a:r>
              <a:rPr lang="en-US" sz="1900" dirty="0">
                <a:solidFill>
                  <a:srgbClr val="0B1626"/>
                </a:solidFill>
                <a:latin typeface="Noto Sans KR" pitchFamily="34" charset="0"/>
                <a:ea typeface="Noto Sans KR" pitchFamily="34" charset="-122"/>
                <a:cs typeface="Noto Sans KR" pitchFamily="34" charset="-120"/>
              </a:rPr>
              <a:t>강아지를 드론으로 오인하는 </a:t>
            </a:r>
            <a:r>
              <a:rPr lang="en-US" sz="1900" b="1" dirty="0">
                <a:solidFill>
                  <a:srgbClr val="0B1626"/>
                </a:solidFill>
                <a:latin typeface="Noto Sans KR" pitchFamily="34" charset="0"/>
                <a:ea typeface="Noto Sans KR" pitchFamily="34" charset="-122"/>
                <a:cs typeface="Noto Sans KR" pitchFamily="34" charset="-120"/>
              </a:rPr>
              <a:t>오탐</a:t>
            </a:r>
            <a:r>
              <a:rPr lang="en-US" sz="1900" dirty="0">
                <a:solidFill>
                  <a:srgbClr val="0B1626"/>
                </a:solidFill>
                <a:latin typeface="Noto Sans KR" pitchFamily="34" charset="0"/>
                <a:ea typeface="Noto Sans KR" pitchFamily="34" charset="-122"/>
                <a:cs typeface="Noto Sans KR" pitchFamily="34" charset="-120"/>
              </a:rPr>
              <a:t>을 발견하고, Airplane · Bird · Drone · Helicopter </a:t>
            </a:r>
            <a:r>
              <a:rPr lang="en-US" sz="1900" b="1" dirty="0">
                <a:solidFill>
                  <a:srgbClr val="0B1626"/>
                </a:solidFill>
                <a:latin typeface="Noto Sans KR" pitchFamily="34" charset="0"/>
                <a:ea typeface="Noto Sans KR" pitchFamily="34" charset="-122"/>
                <a:cs typeface="Noto Sans KR" pitchFamily="34" charset="-120"/>
              </a:rPr>
              <a:t>4개 클래스</a:t>
            </a:r>
            <a:r>
              <a:rPr lang="en-US" sz="1900" dirty="0">
                <a:solidFill>
                  <a:srgbClr val="0B1626"/>
                </a:solidFill>
                <a:latin typeface="Noto Sans KR" pitchFamily="34" charset="0"/>
                <a:ea typeface="Noto Sans KR" pitchFamily="34" charset="-122"/>
                <a:cs typeface="Noto Sans KR" pitchFamily="34" charset="-120"/>
              </a:rPr>
              <a:t>로 확장했습니다.</a:t>
            </a:r>
            <a:endParaRPr lang="en-US" sz="1900" dirty="0"/>
          </a:p>
        </p:txBody>
      </p:sp>
      <p:sp>
        <p:nvSpPr>
          <p:cNvPr id="12" name="Text 10"/>
          <p:cNvSpPr/>
          <p:nvPr/>
        </p:nvSpPr>
        <p:spPr>
          <a:xfrm>
            <a:off x="812800" y="4989612"/>
            <a:ext cx="10883392"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B6B"/>
                </a:solidFill>
                <a:latin typeface="Noto Sans KR" pitchFamily="34" charset="0"/>
                <a:ea typeface="Noto Sans KR" pitchFamily="34" charset="-122"/>
                <a:cs typeface="Noto Sans KR" pitchFamily="34" charset="-120"/>
              </a:rPr>
              <a:t>CPU 학습은 epoch당 약 25분 → GPU(RTX 3070) 전환으로 해결</a:t>
            </a:r>
            <a:endParaRPr lang="en-US" sz="1500" dirty="0"/>
          </a:p>
        </p:txBody>
      </p:sp>
      <p:sp>
        <p:nvSpPr>
          <p:cNvPr id="13" name="Text 1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oto Sans KR" pitchFamily="34" charset="0"/>
                <a:ea typeface="Noto Sans KR" pitchFamily="34" charset="-122"/>
                <a:cs typeface="Noto Sans KR" pitchFamily="34" charset="-120"/>
              </a:rPr>
              <a:t>AegisVision · 4 / 9</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62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6EEF2"/>
                </a:solidFill>
                <a:latin typeface="Noto Sans KR" pitchFamily="34" charset="0"/>
                <a:ea typeface="Noto Sans KR" pitchFamily="34" charset="-122"/>
                <a:cs typeface="Noto Sans KR" pitchFamily="34" charset="-120"/>
              </a:rPr>
              <a:t>위협 등급과 경보</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33141"/>
          <a:ext cx="10553700" cy="2196207"/>
        </p:xfrm>
        <a:graphic>
          <a:graphicData uri="http://schemas.openxmlformats.org/drawingml/2006/table">
            <a:tbl>
              <a:tblPr/>
              <a:tblGrid>
                <a:gridCol w="2638425"/>
                <a:gridCol w="2638425"/>
                <a:gridCol w="2638425"/>
                <a:gridCol w="2638425"/>
              </a:tblGrid>
              <a:tr h="439241">
                <a:tc>
                  <a:txBody>
                    <a:bodyPr/>
                    <a:lstStyle/>
                    <a:p>
                      <a:pPr indent="0" marL="0">
                        <a:lnSpc>
                          <a:spcPts val="2240"/>
                        </a:lnSpc>
                        <a:buNone/>
                      </a:pPr>
                      <a:r>
                        <a:rPr lang="en-US" sz="1600" b="1" dirty="0">
                          <a:solidFill>
                            <a:srgbClr val="9FB3C5"/>
                          </a:solidFill>
                          <a:latin typeface="Noto Sans KR" pitchFamily="34" charset="0"/>
                          <a:ea typeface="Noto Sans KR" pitchFamily="34" charset="-122"/>
                          <a:cs typeface="Noto Sans KR" pitchFamily="34" charset="-120"/>
                        </a:rPr>
                        <a:t>클래스 (기본 점수)</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04854"/>
                      </a:solidFill>
                      <a:prstDash val="solid"/>
                      <a:round/>
                      <a:headEnd type="none" w="med" len="med"/>
                      <a:tailEnd type="none" w="med" len="med"/>
                    </a:lnL>
                    <a:lnR w="12700" cap="flat" cmpd="sng" algn="ctr">
                      <a:solidFill>
                        <a:srgbClr val="4B5F74"/>
                      </a:solidFill>
                      <a:prstDash val="solid"/>
                      <a:round/>
                      <a:headEnd type="none" w="med" len="med"/>
                      <a:tailEnd type="none" w="med" len="med"/>
                    </a:lnR>
                    <a:lnT w="12700" cap="flat" cmpd="sng" algn="ctr">
                      <a:solidFill>
                        <a:srgbClr val="404854"/>
                      </a:solidFill>
                      <a:prstDash val="solid"/>
                      <a:round/>
                      <a:headEnd type="none" w="med" len="med"/>
                      <a:tailEnd type="none" w="med" len="med"/>
                    </a:lnT>
                    <a:lnB w="12700" cap="flat" cmpd="sng" algn="ctr">
                      <a:solidFill>
                        <a:srgbClr val="4B5F74"/>
                      </a:solidFill>
                      <a:prstDash val="solid"/>
                      <a:round/>
                      <a:headEnd type="none" w="med" len="med"/>
                      <a:tailEnd type="none" w="med" len="med"/>
                    </a:lnB>
                    <a:solidFill>
                      <a:srgbClr val="1A3350"/>
                    </a:solidFill>
                  </a:tcPr>
                </a:tc>
                <a:tc>
                  <a:txBody>
                    <a:bodyPr/>
                    <a:lstStyle/>
                    <a:p>
                      <a:pPr indent="0" marL="0">
                        <a:lnSpc>
                          <a:spcPts val="2240"/>
                        </a:lnSpc>
                        <a:buNone/>
                      </a:pPr>
                      <a:r>
                        <a:rPr lang="en-US" sz="1600" b="1" dirty="0">
                          <a:solidFill>
                            <a:srgbClr val="9FB3C5"/>
                          </a:solidFill>
                          <a:latin typeface="Noto Sans KR" pitchFamily="34" charset="0"/>
                          <a:ea typeface="Noto Sans KR" pitchFamily="34" charset="-122"/>
                          <a:cs typeface="Noto Sans KR" pitchFamily="34" charset="-120"/>
                        </a:rPr>
                        <a:t>신뢰도 0.8 이상</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B5F74"/>
                      </a:solidFill>
                      <a:prstDash val="solid"/>
                      <a:round/>
                      <a:headEnd type="none" w="med" len="med"/>
                      <a:tailEnd type="none" w="med" len="med"/>
                    </a:lnL>
                    <a:lnR w="12700" cap="flat" cmpd="sng" algn="ctr">
                      <a:solidFill>
                        <a:srgbClr val="4B5F74"/>
                      </a:solidFill>
                      <a:prstDash val="solid"/>
                      <a:round/>
                      <a:headEnd type="none" w="med" len="med"/>
                      <a:tailEnd type="none" w="med" len="med"/>
                    </a:lnR>
                    <a:lnT w="12700" cap="flat" cmpd="sng" algn="ctr">
                      <a:solidFill>
                        <a:srgbClr val="404854"/>
                      </a:solidFill>
                      <a:prstDash val="solid"/>
                      <a:round/>
                      <a:headEnd type="none" w="med" len="med"/>
                      <a:tailEnd type="none" w="med" len="med"/>
                    </a:lnT>
                    <a:lnB w="12700" cap="flat" cmpd="sng" algn="ctr">
                      <a:solidFill>
                        <a:srgbClr val="4B5F74"/>
                      </a:solidFill>
                      <a:prstDash val="solid"/>
                      <a:round/>
                      <a:headEnd type="none" w="med" len="med"/>
                      <a:tailEnd type="none" w="med" len="med"/>
                    </a:lnB>
                    <a:solidFill>
                      <a:srgbClr val="1A3350"/>
                    </a:solidFill>
                  </a:tcPr>
                </a:tc>
                <a:tc>
                  <a:txBody>
                    <a:bodyPr/>
                    <a:lstStyle/>
                    <a:p>
                      <a:pPr indent="0" marL="0">
                        <a:lnSpc>
                          <a:spcPts val="2240"/>
                        </a:lnSpc>
                        <a:buNone/>
                      </a:pPr>
                      <a:r>
                        <a:rPr lang="en-US" sz="1600" b="1" dirty="0">
                          <a:solidFill>
                            <a:srgbClr val="9FB3C5"/>
                          </a:solidFill>
                          <a:latin typeface="Noto Sans KR" pitchFamily="34" charset="0"/>
                          <a:ea typeface="Noto Sans KR" pitchFamily="34" charset="-122"/>
                          <a:cs typeface="Noto Sans KR" pitchFamily="34" charset="-120"/>
                        </a:rPr>
                        <a:t>0.5 ~ 0.8</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B5F74"/>
                      </a:solidFill>
                      <a:prstDash val="solid"/>
                      <a:round/>
                      <a:headEnd type="none" w="med" len="med"/>
                      <a:tailEnd type="none" w="med" len="med"/>
                    </a:lnL>
                    <a:lnR w="12700" cap="flat" cmpd="sng" algn="ctr">
                      <a:solidFill>
                        <a:srgbClr val="4B5F74"/>
                      </a:solidFill>
                      <a:prstDash val="solid"/>
                      <a:round/>
                      <a:headEnd type="none" w="med" len="med"/>
                      <a:tailEnd type="none" w="med" len="med"/>
                    </a:lnR>
                    <a:lnT w="12700" cap="flat" cmpd="sng" algn="ctr">
                      <a:solidFill>
                        <a:srgbClr val="404854"/>
                      </a:solidFill>
                      <a:prstDash val="solid"/>
                      <a:round/>
                      <a:headEnd type="none" w="med" len="med"/>
                      <a:tailEnd type="none" w="med" len="med"/>
                    </a:lnT>
                    <a:lnB w="12700" cap="flat" cmpd="sng" algn="ctr">
                      <a:solidFill>
                        <a:srgbClr val="4B5F74"/>
                      </a:solidFill>
                      <a:prstDash val="solid"/>
                      <a:round/>
                      <a:headEnd type="none" w="med" len="med"/>
                      <a:tailEnd type="none" w="med" len="med"/>
                    </a:lnB>
                    <a:solidFill>
                      <a:srgbClr val="1A3350"/>
                    </a:solidFill>
                  </a:tcPr>
                </a:tc>
                <a:tc>
                  <a:txBody>
                    <a:bodyPr/>
                    <a:lstStyle/>
                    <a:p>
                      <a:pPr indent="0" marL="0">
                        <a:lnSpc>
                          <a:spcPts val="2240"/>
                        </a:lnSpc>
                        <a:buNone/>
                      </a:pPr>
                      <a:r>
                        <a:rPr lang="en-US" sz="1600" b="1" dirty="0">
                          <a:solidFill>
                            <a:srgbClr val="9FB3C5"/>
                          </a:solidFill>
                          <a:latin typeface="Noto Sans KR" pitchFamily="34" charset="0"/>
                          <a:ea typeface="Noto Sans KR" pitchFamily="34" charset="-122"/>
                          <a:cs typeface="Noto Sans KR" pitchFamily="34" charset="-120"/>
                        </a:rPr>
                        <a:t>0.5 미만</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B5F74"/>
                      </a:solidFill>
                      <a:prstDash val="solid"/>
                      <a:round/>
                      <a:headEnd type="none" w="med" len="med"/>
                      <a:tailEnd type="none" w="med" len="med"/>
                    </a:lnL>
                    <a:lnR w="12700" cap="flat" cmpd="sng" algn="ctr">
                      <a:solidFill>
                        <a:srgbClr val="4B5F74"/>
                      </a:solidFill>
                      <a:prstDash val="solid"/>
                      <a:round/>
                      <a:headEnd type="none" w="med" len="med"/>
                      <a:tailEnd type="none" w="med" len="med"/>
                    </a:lnR>
                    <a:lnT w="12700" cap="flat" cmpd="sng" algn="ctr">
                      <a:solidFill>
                        <a:srgbClr val="404854"/>
                      </a:solidFill>
                      <a:prstDash val="solid"/>
                      <a:round/>
                      <a:headEnd type="none" w="med" len="med"/>
                      <a:tailEnd type="none" w="med" len="med"/>
                    </a:lnT>
                    <a:lnB w="12700" cap="flat" cmpd="sng" algn="ctr">
                      <a:solidFill>
                        <a:srgbClr val="4B5F74"/>
                      </a:solidFill>
                      <a:prstDash val="solid"/>
                      <a:round/>
                      <a:headEnd type="none" w="med" len="med"/>
                      <a:tailEnd type="none" w="med" len="med"/>
                    </a:lnB>
                    <a:solidFill>
                      <a:srgbClr val="1A3350"/>
                    </a:solidFill>
                  </a:tcPr>
                </a:tc>
              </a:tr>
              <a:tr h="439241">
                <a:tc>
                  <a:txBody>
                    <a:bodyPr/>
                    <a:lstStyle/>
                    <a:p>
                      <a:pPr indent="0" marL="0">
                        <a:lnSpc>
                          <a:spcPts val="2240"/>
                        </a:lnSpc>
                        <a:buNone/>
                      </a:pPr>
                      <a:r>
                        <a:rPr lang="en-US" sz="1600" dirty="0">
                          <a:solidFill>
                            <a:srgbClr val="E6EEF2"/>
                          </a:solidFill>
                          <a:latin typeface="Noto Sans KR" pitchFamily="34" charset="0"/>
                          <a:ea typeface="Noto Sans KR" pitchFamily="34" charset="-122"/>
                          <a:cs typeface="Noto Sans KR" pitchFamily="34" charset="-120"/>
                        </a:rPr>
                        <a:t>Drone (3)</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04854"/>
                      </a:solidFill>
                      <a:prstDash val="solid"/>
                      <a:round/>
                      <a:headEnd type="none" w="med" len="med"/>
                      <a:tailEnd type="none" w="med" len="med"/>
                    </a:lnL>
                    <a:lnR w="12700" cap="flat" cmpd="sng" algn="ctr">
                      <a:solidFill>
                        <a:srgbClr val="445263"/>
                      </a:solidFill>
                      <a:prstDash val="solid"/>
                      <a:round/>
                      <a:headEnd type="none" w="med" len="med"/>
                      <a:tailEnd type="none" w="med" len="med"/>
                    </a:lnR>
                    <a:lnT w="12700" cap="flat" cmpd="sng" algn="ctr">
                      <a:solidFill>
                        <a:srgbClr val="4B5F74"/>
                      </a:solidFill>
                      <a:prstDash val="solid"/>
                      <a:round/>
                      <a:headEnd type="none" w="med" len="med"/>
                      <a:tailEnd type="none" w="med" len="med"/>
                    </a:lnT>
                    <a:lnB w="12700" cap="flat" cmpd="sng" algn="ctr">
                      <a:solidFill>
                        <a:srgbClr val="445263"/>
                      </a:solidFill>
                      <a:prstDash val="solid"/>
                      <a:round/>
                      <a:headEnd type="none" w="med" len="med"/>
                      <a:tailEnd type="none" w="med" len="med"/>
                    </a:lnB>
                    <a:solidFill>
                      <a:srgbClr val="11233A"/>
                    </a:solidFill>
                  </a:tcPr>
                </a:tc>
                <a:tc>
                  <a:txBody>
                    <a:bodyPr/>
                    <a:lstStyle/>
                    <a:p>
                      <a:pPr indent="0" marL="0">
                        <a:lnSpc>
                          <a:spcPts val="2240"/>
                        </a:lnSpc>
                        <a:buNone/>
                      </a:pPr>
                      <a:r>
                        <a:rPr lang="en-US" sz="1600" dirty="0">
                          <a:solidFill>
                            <a:srgbClr val="FF8A8A"/>
                          </a:solidFill>
                          <a:latin typeface="Noto Sans KR" pitchFamily="34" charset="0"/>
                          <a:ea typeface="Noto Sans KR" pitchFamily="34" charset="-122"/>
                          <a:cs typeface="Noto Sans KR" pitchFamily="34" charset="-120"/>
                        </a:rPr>
                        <a:t>Critical</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45263"/>
                      </a:solidFill>
                      <a:prstDash val="solid"/>
                      <a:round/>
                      <a:headEnd type="none" w="med" len="med"/>
                      <a:tailEnd type="none" w="med" len="med"/>
                    </a:lnL>
                    <a:lnR w="12700" cap="flat" cmpd="sng" algn="ctr">
                      <a:solidFill>
                        <a:srgbClr val="445263"/>
                      </a:solidFill>
                      <a:prstDash val="solid"/>
                      <a:round/>
                      <a:headEnd type="none" w="med" len="med"/>
                      <a:tailEnd type="none" w="med" len="med"/>
                    </a:lnR>
                    <a:lnT w="12700" cap="flat" cmpd="sng" algn="ctr">
                      <a:solidFill>
                        <a:srgbClr val="4B5F74"/>
                      </a:solidFill>
                      <a:prstDash val="solid"/>
                      <a:round/>
                      <a:headEnd type="none" w="med" len="med"/>
                      <a:tailEnd type="none" w="med" len="med"/>
                    </a:lnT>
                    <a:lnB w="12700" cap="flat" cmpd="sng" algn="ctr">
                      <a:solidFill>
                        <a:srgbClr val="445263"/>
                      </a:solidFill>
                      <a:prstDash val="solid"/>
                      <a:round/>
                      <a:headEnd type="none" w="med" len="med"/>
                      <a:tailEnd type="none" w="med" len="med"/>
                    </a:lnB>
                    <a:solidFill>
                      <a:srgbClr val="11233A"/>
                    </a:solidFill>
                  </a:tcPr>
                </a:tc>
                <a:tc>
                  <a:txBody>
                    <a:bodyPr/>
                    <a:lstStyle/>
                    <a:p>
                      <a:pPr indent="0" marL="0">
                        <a:lnSpc>
                          <a:spcPts val="2240"/>
                        </a:lnSpc>
                        <a:buNone/>
                      </a:pPr>
                      <a:r>
                        <a:rPr lang="en-US" sz="1600" dirty="0">
                          <a:solidFill>
                            <a:srgbClr val="FF8A8A"/>
                          </a:solidFill>
                          <a:latin typeface="Noto Sans KR" pitchFamily="34" charset="0"/>
                          <a:ea typeface="Noto Sans KR" pitchFamily="34" charset="-122"/>
                          <a:cs typeface="Noto Sans KR" pitchFamily="34" charset="-120"/>
                        </a:rPr>
                        <a:t>Critical</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45263"/>
                      </a:solidFill>
                      <a:prstDash val="solid"/>
                      <a:round/>
                      <a:headEnd type="none" w="med" len="med"/>
                      <a:tailEnd type="none" w="med" len="med"/>
                    </a:lnL>
                    <a:lnR w="12700" cap="flat" cmpd="sng" algn="ctr">
                      <a:solidFill>
                        <a:srgbClr val="445263"/>
                      </a:solidFill>
                      <a:prstDash val="solid"/>
                      <a:round/>
                      <a:headEnd type="none" w="med" len="med"/>
                      <a:tailEnd type="none" w="med" len="med"/>
                    </a:lnR>
                    <a:lnT w="12700" cap="flat" cmpd="sng" algn="ctr">
                      <a:solidFill>
                        <a:srgbClr val="4B5F74"/>
                      </a:solidFill>
                      <a:prstDash val="solid"/>
                      <a:round/>
                      <a:headEnd type="none" w="med" len="med"/>
                      <a:tailEnd type="none" w="med" len="med"/>
                    </a:lnT>
                    <a:lnB w="12700" cap="flat" cmpd="sng" algn="ctr">
                      <a:solidFill>
                        <a:srgbClr val="445263"/>
                      </a:solidFill>
                      <a:prstDash val="solid"/>
                      <a:round/>
                      <a:headEnd type="none" w="med" len="med"/>
                      <a:tailEnd type="none" w="med" len="med"/>
                    </a:lnB>
                    <a:solidFill>
                      <a:srgbClr val="11233A"/>
                    </a:solidFill>
                  </a:tcPr>
                </a:tc>
                <a:tc>
                  <a:txBody>
                    <a:bodyPr/>
                    <a:lstStyle/>
                    <a:p>
                      <a:pPr indent="0" marL="0">
                        <a:lnSpc>
                          <a:spcPts val="2240"/>
                        </a:lnSpc>
                        <a:buNone/>
                      </a:pPr>
                      <a:r>
                        <a:rPr lang="en-US" sz="1600" dirty="0">
                          <a:solidFill>
                            <a:srgbClr val="F5B642"/>
                          </a:solidFill>
                          <a:latin typeface="Noto Sans KR" pitchFamily="34" charset="0"/>
                          <a:ea typeface="Noto Sans KR" pitchFamily="34" charset="-122"/>
                          <a:cs typeface="Noto Sans KR" pitchFamily="34" charset="-120"/>
                        </a:rPr>
                        <a:t>High</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45263"/>
                      </a:solidFill>
                      <a:prstDash val="solid"/>
                      <a:round/>
                      <a:headEnd type="none" w="med" len="med"/>
                      <a:tailEnd type="none" w="med" len="med"/>
                    </a:lnL>
                    <a:lnR w="12700" cap="flat" cmpd="sng" algn="ctr">
                      <a:solidFill>
                        <a:srgbClr val="445263"/>
                      </a:solidFill>
                      <a:prstDash val="solid"/>
                      <a:round/>
                      <a:headEnd type="none" w="med" len="med"/>
                      <a:tailEnd type="none" w="med" len="med"/>
                    </a:lnR>
                    <a:lnT w="12700" cap="flat" cmpd="sng" algn="ctr">
                      <a:solidFill>
                        <a:srgbClr val="4B5F74"/>
                      </a:solidFill>
                      <a:prstDash val="solid"/>
                      <a:round/>
                      <a:headEnd type="none" w="med" len="med"/>
                      <a:tailEnd type="none" w="med" len="med"/>
                    </a:lnT>
                    <a:lnB w="12700" cap="flat" cmpd="sng" algn="ctr">
                      <a:solidFill>
                        <a:srgbClr val="445263"/>
                      </a:solidFill>
                      <a:prstDash val="solid"/>
                      <a:round/>
                      <a:headEnd type="none" w="med" len="med"/>
                      <a:tailEnd type="none" w="med" len="med"/>
                    </a:lnB>
                    <a:solidFill>
                      <a:srgbClr val="11233A"/>
                    </a:solidFill>
                  </a:tcPr>
                </a:tc>
              </a:tr>
              <a:tr h="439241">
                <a:tc>
                  <a:txBody>
                    <a:bodyPr/>
                    <a:lstStyle/>
                    <a:p>
                      <a:pPr indent="0" marL="0">
                        <a:lnSpc>
                          <a:spcPts val="2240"/>
                        </a:lnSpc>
                        <a:buNone/>
                      </a:pPr>
                      <a:r>
                        <a:rPr lang="en-US" sz="1600" dirty="0">
                          <a:solidFill>
                            <a:srgbClr val="E6EEF2"/>
                          </a:solidFill>
                          <a:latin typeface="Noto Sans KR" pitchFamily="34" charset="0"/>
                          <a:ea typeface="Noto Sans KR" pitchFamily="34" charset="-122"/>
                          <a:cs typeface="Noto Sans KR" pitchFamily="34" charset="-120"/>
                        </a:rPr>
                        <a:t>Helicopter (2)</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04854"/>
                      </a:solidFill>
                      <a:prstDash val="solid"/>
                      <a:round/>
                      <a:headEnd type="none" w="med" len="med"/>
                      <a:tailEnd type="none" w="med" len="med"/>
                    </a:lnL>
                    <a:lnR w="12700" cap="flat" cmpd="sng" algn="ctr">
                      <a:solidFill>
                        <a:srgbClr val="434D5C"/>
                      </a:solidFill>
                      <a:prstDash val="solid"/>
                      <a:round/>
                      <a:headEnd type="none" w="med" len="med"/>
                      <a:tailEnd type="none" w="med" len="med"/>
                    </a:lnR>
                    <a:lnT w="12700" cap="flat" cmpd="sng" algn="ctr">
                      <a:solidFill>
                        <a:srgbClr val="445263"/>
                      </a:solidFill>
                      <a:prstDash val="solid"/>
                      <a:round/>
                      <a:headEnd type="none" w="med" len="med"/>
                      <a:tailEnd type="none" w="med" len="med"/>
                    </a:lnT>
                    <a:lnB w="12700" cap="flat" cmpd="sng" algn="ctr">
                      <a:solidFill>
                        <a:srgbClr val="434D5C"/>
                      </a:solidFill>
                      <a:prstDash val="solid"/>
                      <a:round/>
                      <a:headEnd type="none" w="med" len="med"/>
                      <a:tailEnd type="none" w="med" len="med"/>
                    </a:lnB>
                    <a:solidFill>
                      <a:srgbClr val="0F1D31"/>
                    </a:solidFill>
                  </a:tcPr>
                </a:tc>
                <a:tc>
                  <a:txBody>
                    <a:bodyPr/>
                    <a:lstStyle/>
                    <a:p>
                      <a:pPr indent="0" marL="0">
                        <a:lnSpc>
                          <a:spcPts val="2240"/>
                        </a:lnSpc>
                        <a:buNone/>
                      </a:pPr>
                      <a:r>
                        <a:rPr lang="en-US" sz="1600" dirty="0">
                          <a:solidFill>
                            <a:srgbClr val="FF8A8A"/>
                          </a:solidFill>
                          <a:latin typeface="Noto Sans KR" pitchFamily="34" charset="0"/>
                          <a:ea typeface="Noto Sans KR" pitchFamily="34" charset="-122"/>
                          <a:cs typeface="Noto Sans KR" pitchFamily="34" charset="-120"/>
                        </a:rPr>
                        <a:t>Critical</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34D5C"/>
                      </a:solidFill>
                      <a:prstDash val="solid"/>
                      <a:round/>
                      <a:headEnd type="none" w="med" len="med"/>
                      <a:tailEnd type="none" w="med" len="med"/>
                    </a:lnL>
                    <a:lnR w="12700" cap="flat" cmpd="sng" algn="ctr">
                      <a:solidFill>
                        <a:srgbClr val="434D5C"/>
                      </a:solidFill>
                      <a:prstDash val="solid"/>
                      <a:round/>
                      <a:headEnd type="none" w="med" len="med"/>
                      <a:tailEnd type="none" w="med" len="med"/>
                    </a:lnR>
                    <a:lnT w="12700" cap="flat" cmpd="sng" algn="ctr">
                      <a:solidFill>
                        <a:srgbClr val="445263"/>
                      </a:solidFill>
                      <a:prstDash val="solid"/>
                      <a:round/>
                      <a:headEnd type="none" w="med" len="med"/>
                      <a:tailEnd type="none" w="med" len="med"/>
                    </a:lnT>
                    <a:lnB w="12700" cap="flat" cmpd="sng" algn="ctr">
                      <a:solidFill>
                        <a:srgbClr val="434D5C"/>
                      </a:solidFill>
                      <a:prstDash val="solid"/>
                      <a:round/>
                      <a:headEnd type="none" w="med" len="med"/>
                      <a:tailEnd type="none" w="med" len="med"/>
                    </a:lnB>
                    <a:solidFill>
                      <a:srgbClr val="0F1D31"/>
                    </a:solidFill>
                  </a:tcPr>
                </a:tc>
                <a:tc>
                  <a:txBody>
                    <a:bodyPr/>
                    <a:lstStyle/>
                    <a:p>
                      <a:pPr indent="0" marL="0">
                        <a:lnSpc>
                          <a:spcPts val="2240"/>
                        </a:lnSpc>
                        <a:buNone/>
                      </a:pPr>
                      <a:r>
                        <a:rPr lang="en-US" sz="1600" dirty="0">
                          <a:solidFill>
                            <a:srgbClr val="F5B642"/>
                          </a:solidFill>
                          <a:latin typeface="Noto Sans KR" pitchFamily="34" charset="0"/>
                          <a:ea typeface="Noto Sans KR" pitchFamily="34" charset="-122"/>
                          <a:cs typeface="Noto Sans KR" pitchFamily="34" charset="-120"/>
                        </a:rPr>
                        <a:t>High</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34D5C"/>
                      </a:solidFill>
                      <a:prstDash val="solid"/>
                      <a:round/>
                      <a:headEnd type="none" w="med" len="med"/>
                      <a:tailEnd type="none" w="med" len="med"/>
                    </a:lnL>
                    <a:lnR w="12700" cap="flat" cmpd="sng" algn="ctr">
                      <a:solidFill>
                        <a:srgbClr val="434D5C"/>
                      </a:solidFill>
                      <a:prstDash val="solid"/>
                      <a:round/>
                      <a:headEnd type="none" w="med" len="med"/>
                      <a:tailEnd type="none" w="med" len="med"/>
                    </a:lnR>
                    <a:lnT w="12700" cap="flat" cmpd="sng" algn="ctr">
                      <a:solidFill>
                        <a:srgbClr val="445263"/>
                      </a:solidFill>
                      <a:prstDash val="solid"/>
                      <a:round/>
                      <a:headEnd type="none" w="med" len="med"/>
                      <a:tailEnd type="none" w="med" len="med"/>
                    </a:lnT>
                    <a:lnB w="12700" cap="flat" cmpd="sng" algn="ctr">
                      <a:solidFill>
                        <a:srgbClr val="434D5C"/>
                      </a:solidFill>
                      <a:prstDash val="solid"/>
                      <a:round/>
                      <a:headEnd type="none" w="med" len="med"/>
                      <a:tailEnd type="none" w="med" len="med"/>
                    </a:lnB>
                    <a:solidFill>
                      <a:srgbClr val="0F1D31"/>
                    </a:solidFill>
                  </a:tcPr>
                </a:tc>
                <a:tc>
                  <a:txBody>
                    <a:bodyPr/>
                    <a:lstStyle/>
                    <a:p>
                      <a:pPr indent="0" marL="0">
                        <a:lnSpc>
                          <a:spcPts val="2240"/>
                        </a:lnSpc>
                        <a:buNone/>
                      </a:pPr>
                      <a:r>
                        <a:rPr lang="en-US" sz="1600" dirty="0">
                          <a:solidFill>
                            <a:srgbClr val="7DD3FC"/>
                          </a:solidFill>
                          <a:latin typeface="Noto Sans KR" pitchFamily="34" charset="0"/>
                          <a:ea typeface="Noto Sans KR" pitchFamily="34" charset="-122"/>
                          <a:cs typeface="Noto Sans KR" pitchFamily="34" charset="-120"/>
                        </a:rPr>
                        <a:t>Medium</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34D5C"/>
                      </a:solidFill>
                      <a:prstDash val="solid"/>
                      <a:round/>
                      <a:headEnd type="none" w="med" len="med"/>
                      <a:tailEnd type="none" w="med" len="med"/>
                    </a:lnL>
                    <a:lnR w="12700" cap="flat" cmpd="sng" algn="ctr">
                      <a:solidFill>
                        <a:srgbClr val="434D5C"/>
                      </a:solidFill>
                      <a:prstDash val="solid"/>
                      <a:round/>
                      <a:headEnd type="none" w="med" len="med"/>
                      <a:tailEnd type="none" w="med" len="med"/>
                    </a:lnR>
                    <a:lnT w="12700" cap="flat" cmpd="sng" algn="ctr">
                      <a:solidFill>
                        <a:srgbClr val="445263"/>
                      </a:solidFill>
                      <a:prstDash val="solid"/>
                      <a:round/>
                      <a:headEnd type="none" w="med" len="med"/>
                      <a:tailEnd type="none" w="med" len="med"/>
                    </a:lnT>
                    <a:lnB w="12700" cap="flat" cmpd="sng" algn="ctr">
                      <a:solidFill>
                        <a:srgbClr val="434D5C"/>
                      </a:solidFill>
                      <a:prstDash val="solid"/>
                      <a:round/>
                      <a:headEnd type="none" w="med" len="med"/>
                      <a:tailEnd type="none" w="med" len="med"/>
                    </a:lnB>
                    <a:solidFill>
                      <a:srgbClr val="0F1D31"/>
                    </a:solidFill>
                  </a:tcPr>
                </a:tc>
              </a:tr>
              <a:tr h="439241">
                <a:tc>
                  <a:txBody>
                    <a:bodyPr/>
                    <a:lstStyle/>
                    <a:p>
                      <a:pPr indent="0" marL="0">
                        <a:lnSpc>
                          <a:spcPts val="2240"/>
                        </a:lnSpc>
                        <a:buNone/>
                      </a:pPr>
                      <a:r>
                        <a:rPr lang="en-US" sz="1600" dirty="0">
                          <a:solidFill>
                            <a:srgbClr val="E6EEF2"/>
                          </a:solidFill>
                          <a:latin typeface="Noto Sans KR" pitchFamily="34" charset="0"/>
                          <a:ea typeface="Noto Sans KR" pitchFamily="34" charset="-122"/>
                          <a:cs typeface="Noto Sans KR" pitchFamily="34" charset="-120"/>
                        </a:rPr>
                        <a:t>Airplane (1)</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04854"/>
                      </a:solidFill>
                      <a:prstDash val="solid"/>
                      <a:round/>
                      <a:headEnd type="none" w="med" len="med"/>
                      <a:tailEnd type="none" w="med" len="med"/>
                    </a:lnL>
                    <a:lnR w="12700" cap="flat" cmpd="sng" algn="ctr">
                      <a:solidFill>
                        <a:srgbClr val="445263"/>
                      </a:solidFill>
                      <a:prstDash val="solid"/>
                      <a:round/>
                      <a:headEnd type="none" w="med" len="med"/>
                      <a:tailEnd type="none" w="med" len="med"/>
                    </a:lnR>
                    <a:lnT w="12700" cap="flat" cmpd="sng" algn="ctr">
                      <a:solidFill>
                        <a:srgbClr val="434D5C"/>
                      </a:solidFill>
                      <a:prstDash val="solid"/>
                      <a:round/>
                      <a:headEnd type="none" w="med" len="med"/>
                      <a:tailEnd type="none" w="med" len="med"/>
                    </a:lnT>
                    <a:lnB w="12700" cap="flat" cmpd="sng" algn="ctr">
                      <a:solidFill>
                        <a:srgbClr val="445263"/>
                      </a:solidFill>
                      <a:prstDash val="solid"/>
                      <a:round/>
                      <a:headEnd type="none" w="med" len="med"/>
                      <a:tailEnd type="none" w="med" len="med"/>
                    </a:lnB>
                    <a:solidFill>
                      <a:srgbClr val="11233A"/>
                    </a:solidFill>
                  </a:tcPr>
                </a:tc>
                <a:tc>
                  <a:txBody>
                    <a:bodyPr/>
                    <a:lstStyle/>
                    <a:p>
                      <a:pPr indent="0" marL="0">
                        <a:lnSpc>
                          <a:spcPts val="2240"/>
                        </a:lnSpc>
                        <a:buNone/>
                      </a:pPr>
                      <a:r>
                        <a:rPr lang="en-US" sz="1600" dirty="0">
                          <a:solidFill>
                            <a:srgbClr val="F5B642"/>
                          </a:solidFill>
                          <a:latin typeface="Noto Sans KR" pitchFamily="34" charset="0"/>
                          <a:ea typeface="Noto Sans KR" pitchFamily="34" charset="-122"/>
                          <a:cs typeface="Noto Sans KR" pitchFamily="34" charset="-120"/>
                        </a:rPr>
                        <a:t>High</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45263"/>
                      </a:solidFill>
                      <a:prstDash val="solid"/>
                      <a:round/>
                      <a:headEnd type="none" w="med" len="med"/>
                      <a:tailEnd type="none" w="med" len="med"/>
                    </a:lnL>
                    <a:lnR w="12700" cap="flat" cmpd="sng" algn="ctr">
                      <a:solidFill>
                        <a:srgbClr val="445263"/>
                      </a:solidFill>
                      <a:prstDash val="solid"/>
                      <a:round/>
                      <a:headEnd type="none" w="med" len="med"/>
                      <a:tailEnd type="none" w="med" len="med"/>
                    </a:lnR>
                    <a:lnT w="12700" cap="flat" cmpd="sng" algn="ctr">
                      <a:solidFill>
                        <a:srgbClr val="434D5C"/>
                      </a:solidFill>
                      <a:prstDash val="solid"/>
                      <a:round/>
                      <a:headEnd type="none" w="med" len="med"/>
                      <a:tailEnd type="none" w="med" len="med"/>
                    </a:lnT>
                    <a:lnB w="12700" cap="flat" cmpd="sng" algn="ctr">
                      <a:solidFill>
                        <a:srgbClr val="445263"/>
                      </a:solidFill>
                      <a:prstDash val="solid"/>
                      <a:round/>
                      <a:headEnd type="none" w="med" len="med"/>
                      <a:tailEnd type="none" w="med" len="med"/>
                    </a:lnB>
                    <a:solidFill>
                      <a:srgbClr val="11233A"/>
                    </a:solidFill>
                  </a:tcPr>
                </a:tc>
                <a:tc>
                  <a:txBody>
                    <a:bodyPr/>
                    <a:lstStyle/>
                    <a:p>
                      <a:pPr indent="0" marL="0">
                        <a:lnSpc>
                          <a:spcPts val="2240"/>
                        </a:lnSpc>
                        <a:buNone/>
                      </a:pPr>
                      <a:r>
                        <a:rPr lang="en-US" sz="1600" dirty="0">
                          <a:solidFill>
                            <a:srgbClr val="7DD3FC"/>
                          </a:solidFill>
                          <a:latin typeface="Noto Sans KR" pitchFamily="34" charset="0"/>
                          <a:ea typeface="Noto Sans KR" pitchFamily="34" charset="-122"/>
                          <a:cs typeface="Noto Sans KR" pitchFamily="34" charset="-120"/>
                        </a:rPr>
                        <a:t>Medium</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45263"/>
                      </a:solidFill>
                      <a:prstDash val="solid"/>
                      <a:round/>
                      <a:headEnd type="none" w="med" len="med"/>
                      <a:tailEnd type="none" w="med" len="med"/>
                    </a:lnL>
                    <a:lnR w="12700" cap="flat" cmpd="sng" algn="ctr">
                      <a:solidFill>
                        <a:srgbClr val="445263"/>
                      </a:solidFill>
                      <a:prstDash val="solid"/>
                      <a:round/>
                      <a:headEnd type="none" w="med" len="med"/>
                      <a:tailEnd type="none" w="med" len="med"/>
                    </a:lnR>
                    <a:lnT w="12700" cap="flat" cmpd="sng" algn="ctr">
                      <a:solidFill>
                        <a:srgbClr val="434D5C"/>
                      </a:solidFill>
                      <a:prstDash val="solid"/>
                      <a:round/>
                      <a:headEnd type="none" w="med" len="med"/>
                      <a:tailEnd type="none" w="med" len="med"/>
                    </a:lnT>
                    <a:lnB w="12700" cap="flat" cmpd="sng" algn="ctr">
                      <a:solidFill>
                        <a:srgbClr val="445263"/>
                      </a:solidFill>
                      <a:prstDash val="solid"/>
                      <a:round/>
                      <a:headEnd type="none" w="med" len="med"/>
                      <a:tailEnd type="none" w="med" len="med"/>
                    </a:lnB>
                    <a:solidFill>
                      <a:srgbClr val="11233A"/>
                    </a:solidFill>
                  </a:tcPr>
                </a:tc>
                <a:tc>
                  <a:txBody>
                    <a:bodyPr/>
                    <a:lstStyle/>
                    <a:p>
                      <a:pPr indent="0" marL="0">
                        <a:lnSpc>
                          <a:spcPts val="2240"/>
                        </a:lnSpc>
                        <a:buNone/>
                      </a:pPr>
                      <a:r>
                        <a:rPr lang="en-US" sz="1600" dirty="0">
                          <a:solidFill>
                            <a:srgbClr val="9FB3C5"/>
                          </a:solidFill>
                          <a:latin typeface="Noto Sans KR" pitchFamily="34" charset="0"/>
                          <a:ea typeface="Noto Sans KR" pitchFamily="34" charset="-122"/>
                          <a:cs typeface="Noto Sans KR" pitchFamily="34" charset="-120"/>
                        </a:rPr>
                        <a:t>Low</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45263"/>
                      </a:solidFill>
                      <a:prstDash val="solid"/>
                      <a:round/>
                      <a:headEnd type="none" w="med" len="med"/>
                      <a:tailEnd type="none" w="med" len="med"/>
                    </a:lnL>
                    <a:lnR w="12700" cap="flat" cmpd="sng" algn="ctr">
                      <a:solidFill>
                        <a:srgbClr val="445263"/>
                      </a:solidFill>
                      <a:prstDash val="solid"/>
                      <a:round/>
                      <a:headEnd type="none" w="med" len="med"/>
                      <a:tailEnd type="none" w="med" len="med"/>
                    </a:lnR>
                    <a:lnT w="12700" cap="flat" cmpd="sng" algn="ctr">
                      <a:solidFill>
                        <a:srgbClr val="434D5C"/>
                      </a:solidFill>
                      <a:prstDash val="solid"/>
                      <a:round/>
                      <a:headEnd type="none" w="med" len="med"/>
                      <a:tailEnd type="none" w="med" len="med"/>
                    </a:lnT>
                    <a:lnB w="12700" cap="flat" cmpd="sng" algn="ctr">
                      <a:solidFill>
                        <a:srgbClr val="445263"/>
                      </a:solidFill>
                      <a:prstDash val="solid"/>
                      <a:round/>
                      <a:headEnd type="none" w="med" len="med"/>
                      <a:tailEnd type="none" w="med" len="med"/>
                    </a:lnB>
                    <a:solidFill>
                      <a:srgbClr val="11233A"/>
                    </a:solidFill>
                  </a:tcPr>
                </a:tc>
              </a:tr>
              <a:tr h="439241">
                <a:tc>
                  <a:txBody>
                    <a:bodyPr/>
                    <a:lstStyle/>
                    <a:p>
                      <a:pPr indent="0" marL="0">
                        <a:lnSpc>
                          <a:spcPts val="2240"/>
                        </a:lnSpc>
                        <a:buNone/>
                      </a:pPr>
                      <a:r>
                        <a:rPr lang="en-US" sz="1600" dirty="0">
                          <a:solidFill>
                            <a:srgbClr val="E6EEF2"/>
                          </a:solidFill>
                          <a:latin typeface="Noto Sans KR" pitchFamily="34" charset="0"/>
                          <a:ea typeface="Noto Sans KR" pitchFamily="34" charset="-122"/>
                          <a:cs typeface="Noto Sans KR" pitchFamily="34" charset="-120"/>
                        </a:rPr>
                        <a:t>Bird (0)</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04854"/>
                      </a:solidFill>
                      <a:prstDash val="solid"/>
                      <a:round/>
                      <a:headEnd type="none" w="med" len="med"/>
                      <a:tailEnd type="none" w="med" len="med"/>
                    </a:lnL>
                    <a:lnR w="12700" cap="flat" cmpd="sng" algn="ctr">
                      <a:solidFill>
                        <a:srgbClr val="434D5C"/>
                      </a:solidFill>
                      <a:prstDash val="solid"/>
                      <a:round/>
                      <a:headEnd type="none" w="med" len="med"/>
                      <a:tailEnd type="none" w="med" len="med"/>
                    </a:lnR>
                    <a:lnT w="12700" cap="flat" cmpd="sng" algn="ctr">
                      <a:solidFill>
                        <a:srgbClr val="445263"/>
                      </a:solidFill>
                      <a:prstDash val="solid"/>
                      <a:round/>
                      <a:headEnd type="none" w="med" len="med"/>
                      <a:tailEnd type="none" w="med" len="med"/>
                    </a:lnT>
                    <a:lnB w="12700" cap="flat" cmpd="sng" algn="ctr">
                      <a:solidFill>
                        <a:srgbClr val="434D5C"/>
                      </a:solidFill>
                      <a:prstDash val="solid"/>
                      <a:round/>
                      <a:headEnd type="none" w="med" len="med"/>
                      <a:tailEnd type="none" w="med" len="med"/>
                    </a:lnB>
                    <a:solidFill>
                      <a:srgbClr val="0F1D31"/>
                    </a:solidFill>
                  </a:tcPr>
                </a:tc>
                <a:tc>
                  <a:txBody>
                    <a:bodyPr/>
                    <a:lstStyle/>
                    <a:p>
                      <a:pPr indent="0" marL="0">
                        <a:lnSpc>
                          <a:spcPts val="2240"/>
                        </a:lnSpc>
                        <a:buNone/>
                      </a:pPr>
                      <a:r>
                        <a:rPr lang="en-US" sz="1600" dirty="0">
                          <a:solidFill>
                            <a:srgbClr val="7DD3FC"/>
                          </a:solidFill>
                          <a:latin typeface="Noto Sans KR" pitchFamily="34" charset="0"/>
                          <a:ea typeface="Noto Sans KR" pitchFamily="34" charset="-122"/>
                          <a:cs typeface="Noto Sans KR" pitchFamily="34" charset="-120"/>
                        </a:rPr>
                        <a:t>Medium</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34D5C"/>
                      </a:solidFill>
                      <a:prstDash val="solid"/>
                      <a:round/>
                      <a:headEnd type="none" w="med" len="med"/>
                      <a:tailEnd type="none" w="med" len="med"/>
                    </a:lnL>
                    <a:lnR w="12700" cap="flat" cmpd="sng" algn="ctr">
                      <a:solidFill>
                        <a:srgbClr val="434D5C"/>
                      </a:solidFill>
                      <a:prstDash val="solid"/>
                      <a:round/>
                      <a:headEnd type="none" w="med" len="med"/>
                      <a:tailEnd type="none" w="med" len="med"/>
                    </a:lnR>
                    <a:lnT w="12700" cap="flat" cmpd="sng" algn="ctr">
                      <a:solidFill>
                        <a:srgbClr val="445263"/>
                      </a:solidFill>
                      <a:prstDash val="solid"/>
                      <a:round/>
                      <a:headEnd type="none" w="med" len="med"/>
                      <a:tailEnd type="none" w="med" len="med"/>
                    </a:lnT>
                    <a:lnB w="12700" cap="flat" cmpd="sng" algn="ctr">
                      <a:solidFill>
                        <a:srgbClr val="434D5C"/>
                      </a:solidFill>
                      <a:prstDash val="solid"/>
                      <a:round/>
                      <a:headEnd type="none" w="med" len="med"/>
                      <a:tailEnd type="none" w="med" len="med"/>
                    </a:lnB>
                    <a:solidFill>
                      <a:srgbClr val="0F1D31"/>
                    </a:solidFill>
                  </a:tcPr>
                </a:tc>
                <a:tc>
                  <a:txBody>
                    <a:bodyPr/>
                    <a:lstStyle/>
                    <a:p>
                      <a:pPr indent="0" marL="0">
                        <a:lnSpc>
                          <a:spcPts val="2240"/>
                        </a:lnSpc>
                        <a:buNone/>
                      </a:pPr>
                      <a:r>
                        <a:rPr lang="en-US" sz="1600" dirty="0">
                          <a:solidFill>
                            <a:srgbClr val="9FB3C5"/>
                          </a:solidFill>
                          <a:latin typeface="Noto Sans KR" pitchFamily="34" charset="0"/>
                          <a:ea typeface="Noto Sans KR" pitchFamily="34" charset="-122"/>
                          <a:cs typeface="Noto Sans KR" pitchFamily="34" charset="-120"/>
                        </a:rPr>
                        <a:t>Low</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34D5C"/>
                      </a:solidFill>
                      <a:prstDash val="solid"/>
                      <a:round/>
                      <a:headEnd type="none" w="med" len="med"/>
                      <a:tailEnd type="none" w="med" len="med"/>
                    </a:lnL>
                    <a:lnR w="12700" cap="flat" cmpd="sng" algn="ctr">
                      <a:solidFill>
                        <a:srgbClr val="434D5C"/>
                      </a:solidFill>
                      <a:prstDash val="solid"/>
                      <a:round/>
                      <a:headEnd type="none" w="med" len="med"/>
                      <a:tailEnd type="none" w="med" len="med"/>
                    </a:lnR>
                    <a:lnT w="12700" cap="flat" cmpd="sng" algn="ctr">
                      <a:solidFill>
                        <a:srgbClr val="445263"/>
                      </a:solidFill>
                      <a:prstDash val="solid"/>
                      <a:round/>
                      <a:headEnd type="none" w="med" len="med"/>
                      <a:tailEnd type="none" w="med" len="med"/>
                    </a:lnT>
                    <a:lnB w="12700" cap="flat" cmpd="sng" algn="ctr">
                      <a:solidFill>
                        <a:srgbClr val="434D5C"/>
                      </a:solidFill>
                      <a:prstDash val="solid"/>
                      <a:round/>
                      <a:headEnd type="none" w="med" len="med"/>
                      <a:tailEnd type="none" w="med" len="med"/>
                    </a:lnB>
                    <a:solidFill>
                      <a:srgbClr val="0F1D31"/>
                    </a:solidFill>
                  </a:tcPr>
                </a:tc>
                <a:tc>
                  <a:txBody>
                    <a:bodyPr/>
                    <a:lstStyle/>
                    <a:p>
                      <a:pPr indent="0" marL="0">
                        <a:lnSpc>
                          <a:spcPts val="2240"/>
                        </a:lnSpc>
                        <a:buNone/>
                      </a:pPr>
                      <a:r>
                        <a:rPr lang="en-US" sz="1600" dirty="0">
                          <a:solidFill>
                            <a:srgbClr val="9FB3C5"/>
                          </a:solidFill>
                          <a:latin typeface="Noto Sans KR" pitchFamily="34" charset="0"/>
                          <a:ea typeface="Noto Sans KR" pitchFamily="34" charset="-122"/>
                          <a:cs typeface="Noto Sans KR" pitchFamily="34" charset="-120"/>
                        </a:rPr>
                        <a:t>Low</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34D5C"/>
                      </a:solidFill>
                      <a:prstDash val="solid"/>
                      <a:round/>
                      <a:headEnd type="none" w="med" len="med"/>
                      <a:tailEnd type="none" w="med" len="med"/>
                    </a:lnL>
                    <a:lnR w="12700" cap="flat" cmpd="sng" algn="ctr">
                      <a:solidFill>
                        <a:srgbClr val="434D5C"/>
                      </a:solidFill>
                      <a:prstDash val="solid"/>
                      <a:round/>
                      <a:headEnd type="none" w="med" len="med"/>
                      <a:tailEnd type="none" w="med" len="med"/>
                    </a:lnR>
                    <a:lnT w="12700" cap="flat" cmpd="sng" algn="ctr">
                      <a:solidFill>
                        <a:srgbClr val="445263"/>
                      </a:solidFill>
                      <a:prstDash val="solid"/>
                      <a:round/>
                      <a:headEnd type="none" w="med" len="med"/>
                      <a:tailEnd type="none" w="med" len="med"/>
                    </a:lnT>
                    <a:lnB w="12700" cap="flat" cmpd="sng" algn="ctr">
                      <a:solidFill>
                        <a:srgbClr val="434D5C"/>
                      </a:solidFill>
                      <a:prstDash val="solid"/>
                      <a:round/>
                      <a:headEnd type="none" w="med" len="med"/>
                      <a:tailEnd type="none" w="med" len="med"/>
                    </a:lnB>
                    <a:solidFill>
                      <a:srgbClr val="0F1D31"/>
                    </a:solidFill>
                  </a:tcPr>
                </a:tc>
              </a:tr>
            </a:tbl>
          </a:graphicData>
        </a:graphic>
      </p:graphicFrame>
      <p:sp>
        <p:nvSpPr>
          <p:cNvPr id="4" name="Text 1"/>
          <p:cNvSpPr/>
          <p:nvPr/>
        </p:nvSpPr>
        <p:spPr>
          <a:xfrm>
            <a:off x="812800" y="4134148"/>
            <a:ext cx="10883392" cy="338435"/>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E6EEF2"/>
                </a:solidFill>
                <a:latin typeface="Noto Sans KR" pitchFamily="34" charset="0"/>
                <a:ea typeface="Noto Sans KR" pitchFamily="34" charset="-122"/>
                <a:cs typeface="Noto Sans KR" pitchFamily="34" charset="-120"/>
              </a:rPr>
              <a:t>탐지할 때마다 점수를 계산해 </a:t>
            </a:r>
            <a:r>
              <a:rPr lang="en-US" sz="1700" dirty="0">
                <a:solidFill>
                  <a:srgbClr val="2DD4BF"/>
                </a:solidFill>
                <a:latin typeface="Noto Sans KR" pitchFamily="34" charset="0"/>
                <a:ea typeface="Noto Sans KR" pitchFamily="34" charset="-122"/>
                <a:cs typeface="Noto Sans KR" pitchFamily="34" charset="-120"/>
              </a:rPr>
              <a:t>등급을 DB에 함께 저장</a:t>
            </a:r>
            <a:r>
              <a:rPr lang="en-US" sz="1700" dirty="0">
                <a:solidFill>
                  <a:srgbClr val="E6EEF2"/>
                </a:solidFill>
                <a:latin typeface="Noto Sans KR" pitchFamily="34" charset="0"/>
                <a:ea typeface="Noto Sans KR" pitchFamily="34" charset="-122"/>
                <a:cs typeface="Noto Sans KR" pitchFamily="34" charset="-120"/>
              </a:rPr>
              <a:t>하고, 경보 탭에서는 High · Critical만 조회합니다.</a:t>
            </a:r>
            <a:endParaRPr lang="en-US" sz="1700" dirty="0"/>
          </a:p>
        </p:txBody>
      </p:sp>
      <p:sp>
        <p:nvSpPr>
          <p:cNvPr id="5" name="Text 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95A8"/>
                </a:solidFill>
                <a:latin typeface="Noto Sans KR" pitchFamily="34" charset="0"/>
                <a:ea typeface="Noto Sans KR" pitchFamily="34" charset="-122"/>
                <a:cs typeface="Noto Sans KR" pitchFamily="34" charset="-120"/>
              </a:rPr>
              <a:t>AegisVision · 5 / 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62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6EEF2"/>
                </a:solidFill>
                <a:latin typeface="Noto Sans KR" pitchFamily="34" charset="0"/>
                <a:ea typeface="Noto Sans KR" pitchFamily="34" charset="-122"/>
                <a:cs typeface="Noto Sans KR" pitchFamily="34" charset="-120"/>
              </a:rPr>
              <a:t>방산 스타일 지표와 보안</a:t>
            </a:r>
            <a:endParaRPr lang="en-US" sz="3600" dirty="0"/>
          </a:p>
        </p:txBody>
      </p:sp>
      <p:sp>
        <p:nvSpPr>
          <p:cNvPr id="3" name="Shape 1"/>
          <p:cNvSpPr/>
          <p:nvPr/>
        </p:nvSpPr>
        <p:spPr>
          <a:xfrm>
            <a:off x="815975" y="1623616"/>
            <a:ext cx="4914900" cy="1644551"/>
          </a:xfrm>
          <a:prstGeom prst="roundRect">
            <a:avLst>
              <a:gd name="adj" fmla="val 5985"/>
            </a:avLst>
          </a:prstGeom>
          <a:solidFill>
            <a:srgbClr val="11233A"/>
          </a:solidFill>
          <a:ln w="6350">
            <a:solidFill>
              <a:srgbClr val="24405E"/>
            </a:solidFill>
            <a:prstDash val="solid"/>
          </a:ln>
        </p:spPr>
      </p:sp>
      <p:sp>
        <p:nvSpPr>
          <p:cNvPr id="4" name="Text 2"/>
          <p:cNvSpPr/>
          <p:nvPr/>
        </p:nvSpPr>
        <p:spPr>
          <a:xfrm>
            <a:off x="1073150" y="1829991"/>
            <a:ext cx="4532567" cy="66546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2DD4BF"/>
                </a:solidFill>
                <a:latin typeface="Noto Sans KR" pitchFamily="34" charset="0"/>
                <a:ea typeface="Noto Sans KR" pitchFamily="34" charset="-122"/>
                <a:cs typeface="Noto Sans KR" pitchFamily="34" charset="-120"/>
              </a:rPr>
              <a:t>97.6%</a:t>
            </a:r>
            <a:endParaRPr lang="en-US" sz="4800" dirty="0"/>
          </a:p>
        </p:txBody>
      </p:sp>
      <p:sp>
        <p:nvSpPr>
          <p:cNvPr id="5" name="Text 3"/>
          <p:cNvSpPr/>
          <p:nvPr/>
        </p:nvSpPr>
        <p:spPr>
          <a:xfrm>
            <a:off x="1073150" y="2508151"/>
            <a:ext cx="453256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6EEF2"/>
                </a:solidFill>
                <a:latin typeface="Noto Sans KR" pitchFamily="34" charset="0"/>
                <a:ea typeface="Noto Sans KR" pitchFamily="34" charset="-122"/>
                <a:cs typeface="Noto Sans KR" pitchFamily="34" charset="-120"/>
              </a:rPr>
              <a:t>Low-FPR 재현율</a:t>
            </a:r>
            <a:endParaRPr lang="en-US" sz="1600" dirty="0"/>
          </a:p>
        </p:txBody>
      </p:sp>
      <p:sp>
        <p:nvSpPr>
          <p:cNvPr id="6" name="Text 4"/>
          <p:cNvSpPr/>
          <p:nvPr/>
        </p:nvSpPr>
        <p:spPr>
          <a:xfrm>
            <a:off x="1073150" y="2830711"/>
            <a:ext cx="45325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FB3C5"/>
                </a:solidFill>
                <a:latin typeface="Noto Sans KR" pitchFamily="34" charset="0"/>
                <a:ea typeface="Noto Sans KR" pitchFamily="34" charset="-122"/>
                <a:cs typeface="Noto Sans KR" pitchFamily="34" charset="-120"/>
              </a:rPr>
              <a:t>신뢰도 0.3 기준, 정밀도 96.5%일 때</a:t>
            </a:r>
            <a:endParaRPr lang="en-US" sz="1300" dirty="0"/>
          </a:p>
        </p:txBody>
      </p:sp>
      <p:sp>
        <p:nvSpPr>
          <p:cNvPr id="7" name="Shape 5"/>
          <p:cNvSpPr/>
          <p:nvPr/>
        </p:nvSpPr>
        <p:spPr>
          <a:xfrm>
            <a:off x="815975" y="3401516"/>
            <a:ext cx="4914900" cy="1644551"/>
          </a:xfrm>
          <a:prstGeom prst="roundRect">
            <a:avLst>
              <a:gd name="adj" fmla="val 5985"/>
            </a:avLst>
          </a:prstGeom>
          <a:solidFill>
            <a:srgbClr val="11233A"/>
          </a:solidFill>
          <a:ln w="6350">
            <a:solidFill>
              <a:srgbClr val="24405E"/>
            </a:solidFill>
            <a:prstDash val="solid"/>
          </a:ln>
        </p:spPr>
      </p:sp>
      <p:sp>
        <p:nvSpPr>
          <p:cNvPr id="8" name="Text 6"/>
          <p:cNvSpPr/>
          <p:nvPr/>
        </p:nvSpPr>
        <p:spPr>
          <a:xfrm>
            <a:off x="1073150" y="3607891"/>
            <a:ext cx="4532567" cy="66546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2DD4BF"/>
                </a:solidFill>
                <a:latin typeface="Noto Sans KR" pitchFamily="34" charset="0"/>
                <a:ea typeface="Noto Sans KR" pitchFamily="34" charset="-122"/>
                <a:cs typeface="Noto Sans KR" pitchFamily="34" charset="-120"/>
              </a:rPr>
              <a:t>78.75</a:t>
            </a:r>
            <a:endParaRPr lang="en-US" sz="4800" dirty="0"/>
          </a:p>
        </p:txBody>
      </p:sp>
      <p:sp>
        <p:nvSpPr>
          <p:cNvPr id="9" name="Text 7"/>
          <p:cNvSpPr/>
          <p:nvPr/>
        </p:nvSpPr>
        <p:spPr>
          <a:xfrm>
            <a:off x="1073150" y="4286052"/>
            <a:ext cx="453256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6EEF2"/>
                </a:solidFill>
                <a:latin typeface="Noto Sans KR" pitchFamily="34" charset="0"/>
                <a:ea typeface="Noto Sans KR" pitchFamily="34" charset="-122"/>
                <a:cs typeface="Noto Sans KR" pitchFamily="34" charset="-120"/>
              </a:rPr>
              <a:t>처리 속도 (FPS)</a:t>
            </a:r>
            <a:endParaRPr lang="en-US" sz="1600" dirty="0"/>
          </a:p>
        </p:txBody>
      </p:sp>
      <p:sp>
        <p:nvSpPr>
          <p:cNvPr id="10" name="Text 8"/>
          <p:cNvSpPr/>
          <p:nvPr/>
        </p:nvSpPr>
        <p:spPr>
          <a:xfrm>
            <a:off x="1073150" y="4608612"/>
            <a:ext cx="45325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FB3C5"/>
                </a:solidFill>
                <a:latin typeface="Noto Sans KR" pitchFamily="34" charset="0"/>
                <a:ea typeface="Noto Sans KR" pitchFamily="34" charset="-122"/>
                <a:cs typeface="Noto Sans KR" pitchFamily="34" charset="-120"/>
              </a:rPr>
              <a:t>100장 벤치마크, 1.27초</a:t>
            </a:r>
            <a:endParaRPr lang="en-US" sz="1300" dirty="0"/>
          </a:p>
        </p:txBody>
      </p:sp>
      <p:sp>
        <p:nvSpPr>
          <p:cNvPr id="11" name="Shape 9"/>
          <p:cNvSpPr/>
          <p:nvPr/>
        </p:nvSpPr>
        <p:spPr>
          <a:xfrm>
            <a:off x="5940425" y="1623616"/>
            <a:ext cx="5435600" cy="3422452"/>
          </a:xfrm>
          <a:prstGeom prst="roundRect">
            <a:avLst>
              <a:gd name="adj" fmla="val 2876"/>
            </a:avLst>
          </a:prstGeom>
          <a:solidFill>
            <a:srgbClr val="11233A"/>
          </a:solidFill>
          <a:ln w="6350">
            <a:solidFill>
              <a:srgbClr val="24405E"/>
            </a:solidFill>
            <a:prstDash val="solid"/>
          </a:ln>
        </p:spPr>
      </p:sp>
      <p:sp>
        <p:nvSpPr>
          <p:cNvPr id="12" name="Text 10"/>
          <p:cNvSpPr/>
          <p:nvPr/>
        </p:nvSpPr>
        <p:spPr>
          <a:xfrm>
            <a:off x="6197600" y="1880791"/>
            <a:ext cx="506888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DD4BF"/>
                </a:solidFill>
                <a:latin typeface="Noto Sans KR" pitchFamily="34" charset="0"/>
                <a:ea typeface="Noto Sans KR" pitchFamily="34" charset="-122"/>
                <a:cs typeface="Noto Sans KR" pitchFamily="34" charset="-120"/>
              </a:rPr>
              <a:t>인증 · 보안</a:t>
            </a:r>
            <a:endParaRPr lang="en-US" sz="2200" dirty="0"/>
          </a:p>
        </p:txBody>
      </p:sp>
      <p:sp>
        <p:nvSpPr>
          <p:cNvPr id="13" name="Text 11"/>
          <p:cNvSpPr/>
          <p:nvPr/>
        </p:nvSpPr>
        <p:spPr>
          <a:xfrm>
            <a:off x="6197600" y="2355751"/>
            <a:ext cx="5068888" cy="319980"/>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E6EEF2"/>
                </a:solidFill>
                <a:latin typeface="Noto Sans KR" pitchFamily="34" charset="0"/>
                <a:ea typeface="Noto Sans KR" pitchFamily="34" charset="-122"/>
                <a:cs typeface="Noto Sans KR" pitchFamily="34" charset="-120"/>
              </a:rPr>
              <a:t>X-API-Key</a:t>
            </a:r>
            <a:r>
              <a:rPr lang="en-US" sz="1600" dirty="0">
                <a:solidFill>
                  <a:srgbClr val="E6EEF2"/>
                </a:solidFill>
                <a:latin typeface="Noto Sans KR" pitchFamily="34" charset="0"/>
                <a:ea typeface="Noto Sans KR" pitchFamily="34" charset="-122"/>
                <a:cs typeface="Noto Sans KR" pitchFamily="34" charset="-120"/>
              </a:rPr>
              <a:t> 인증, 클라이언트별 키 발급</a:t>
            </a:r>
            <a:endParaRPr lang="en-US" sz="1600" dirty="0"/>
          </a:p>
        </p:txBody>
      </p:sp>
      <p:sp>
        <p:nvSpPr>
          <p:cNvPr id="14" name="Text 12"/>
          <p:cNvSpPr/>
          <p:nvPr/>
        </p:nvSpPr>
        <p:spPr>
          <a:xfrm>
            <a:off x="6197600" y="2790031"/>
            <a:ext cx="5068888" cy="319980"/>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E6EEF2"/>
                </a:solidFill>
                <a:latin typeface="Noto Sans KR" pitchFamily="34" charset="0"/>
                <a:ea typeface="Noto Sans KR" pitchFamily="34" charset="-122"/>
                <a:cs typeface="Noto Sans KR" pitchFamily="34" charset="-120"/>
              </a:rPr>
              <a:t>JWT</a:t>
            </a:r>
            <a:r>
              <a:rPr lang="en-US" sz="1600" dirty="0">
                <a:solidFill>
                  <a:srgbClr val="E6EEF2"/>
                </a:solidFill>
                <a:latin typeface="Noto Sans KR" pitchFamily="34" charset="0"/>
                <a:ea typeface="Noto Sans KR" pitchFamily="34" charset="-122"/>
                <a:cs typeface="Noto Sans KR" pitchFamily="34" charset="-120"/>
              </a:rPr>
              <a:t> 관리자 로그인 + </a:t>
            </a:r>
            <a:r>
              <a:rPr lang="en-US" sz="1600" b="1" dirty="0">
                <a:solidFill>
                  <a:srgbClr val="E6EEF2"/>
                </a:solidFill>
                <a:latin typeface="Noto Sans KR" pitchFamily="34" charset="0"/>
                <a:ea typeface="Noto Sans KR" pitchFamily="34" charset="-122"/>
                <a:cs typeface="Noto Sans KR" pitchFamily="34" charset="-120"/>
              </a:rPr>
              <a:t>Rate Limit</a:t>
            </a:r>
            <a:r>
              <a:rPr lang="en-US" sz="1600" dirty="0">
                <a:solidFill>
                  <a:srgbClr val="E6EEF2"/>
                </a:solidFill>
                <a:latin typeface="Noto Sans KR" pitchFamily="34" charset="0"/>
                <a:ea typeface="Noto Sans KR" pitchFamily="34" charset="-122"/>
                <a:cs typeface="Noto Sans KR" pitchFamily="34" charset="-120"/>
              </a:rPr>
              <a:t>으로 무차별 대입 방지</a:t>
            </a:r>
            <a:endParaRPr lang="en-US" sz="1600" dirty="0"/>
          </a:p>
        </p:txBody>
      </p:sp>
      <p:sp>
        <p:nvSpPr>
          <p:cNvPr id="15" name="Text 13"/>
          <p:cNvSpPr/>
          <p:nvPr/>
        </p:nvSpPr>
        <p:spPr>
          <a:xfrm>
            <a:off x="6197600" y="3224312"/>
            <a:ext cx="5068888" cy="3199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E6EEF2"/>
                </a:solidFill>
                <a:latin typeface="Noto Sans KR" pitchFamily="34" charset="0"/>
                <a:ea typeface="Noto Sans KR" pitchFamily="34" charset="-122"/>
                <a:cs typeface="Noto Sans KR" pitchFamily="34" charset="-120"/>
              </a:rPr>
              <a:t>업로드 파일의 </a:t>
            </a:r>
            <a:r>
              <a:rPr lang="en-US" sz="1600" b="1" dirty="0">
                <a:solidFill>
                  <a:srgbClr val="E6EEF2"/>
                </a:solidFill>
                <a:latin typeface="Noto Sans KR" pitchFamily="34" charset="0"/>
                <a:ea typeface="Noto Sans KR" pitchFamily="34" charset="-122"/>
                <a:cs typeface="Noto Sans KR" pitchFamily="34" charset="-120"/>
              </a:rPr>
              <a:t>실제 내용 검증</a:t>
            </a:r>
            <a:r>
              <a:rPr lang="en-US" sz="1600" dirty="0">
                <a:solidFill>
                  <a:srgbClr val="E6EEF2"/>
                </a:solidFill>
                <a:latin typeface="Noto Sans KR" pitchFamily="34" charset="0"/>
                <a:ea typeface="Noto Sans KR" pitchFamily="34" charset="-122"/>
                <a:cs typeface="Noto Sans KR" pitchFamily="34" charset="-120"/>
              </a:rPr>
              <a:t>, 크기 제한</a:t>
            </a:r>
            <a:endParaRPr lang="en-US" sz="1600" dirty="0"/>
          </a:p>
        </p:txBody>
      </p:sp>
      <p:sp>
        <p:nvSpPr>
          <p:cNvPr id="16" name="Text 14"/>
          <p:cNvSpPr/>
          <p:nvPr/>
        </p:nvSpPr>
        <p:spPr>
          <a:xfrm>
            <a:off x="6197600" y="3658592"/>
            <a:ext cx="5068888" cy="3199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E6EEF2"/>
                </a:solidFill>
                <a:latin typeface="Noto Sans KR" pitchFamily="34" charset="0"/>
                <a:ea typeface="Noto Sans KR" pitchFamily="34" charset="-122"/>
                <a:cs typeface="Noto Sans KR" pitchFamily="34" charset="-120"/>
              </a:rPr>
              <a:t>모든 요청을 </a:t>
            </a:r>
            <a:r>
              <a:rPr lang="en-US" sz="1600" b="1" dirty="0">
                <a:solidFill>
                  <a:srgbClr val="E6EEF2"/>
                </a:solidFill>
                <a:latin typeface="Noto Sans KR" pitchFamily="34" charset="0"/>
                <a:ea typeface="Noto Sans KR" pitchFamily="34" charset="-122"/>
                <a:cs typeface="Noto Sans KR" pitchFamily="34" charset="-120"/>
              </a:rPr>
              <a:t>감사 로그</a:t>
            </a:r>
            <a:r>
              <a:rPr lang="en-US" sz="1600" dirty="0">
                <a:solidFill>
                  <a:srgbClr val="E6EEF2"/>
                </a:solidFill>
                <a:latin typeface="Noto Sans KR" pitchFamily="34" charset="0"/>
                <a:ea typeface="Noto Sans KR" pitchFamily="34" charset="-122"/>
                <a:cs typeface="Noto Sans KR" pitchFamily="34" charset="-120"/>
              </a:rPr>
              <a:t>로 기록 (호출자, 경로, 응답 시간)</a:t>
            </a:r>
            <a:endParaRPr lang="en-US" sz="1600" dirty="0"/>
          </a:p>
        </p:txBody>
      </p:sp>
      <p:sp>
        <p:nvSpPr>
          <p:cNvPr id="17" name="Text 1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95A8"/>
                </a:solidFill>
                <a:latin typeface="Noto Sans KR" pitchFamily="34" charset="0"/>
                <a:ea typeface="Noto Sans KR" pitchFamily="34" charset="-122"/>
                <a:cs typeface="Noto Sans KR" pitchFamily="34" charset="-120"/>
              </a:rPr>
              <a:t>AegisVision · 6 / 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62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6EEF2"/>
                </a:solidFill>
                <a:latin typeface="Noto Sans KR" pitchFamily="34" charset="0"/>
                <a:ea typeface="Noto Sans KR" pitchFamily="34" charset="-122"/>
                <a:cs typeface="Noto Sans KR" pitchFamily="34" charset="-120"/>
              </a:rPr>
              <a:t>React 관제 대시보드 · 라이브 데모</a:t>
            </a:r>
            <a:endParaRPr lang="en-US" sz="3600" dirty="0"/>
          </a:p>
        </p:txBody>
      </p:sp>
      <p:sp>
        <p:nvSpPr>
          <p:cNvPr id="3" name="Shape 1"/>
          <p:cNvSpPr/>
          <p:nvPr/>
        </p:nvSpPr>
        <p:spPr>
          <a:xfrm>
            <a:off x="815975" y="1623616"/>
            <a:ext cx="2617887" cy="666750"/>
          </a:xfrm>
          <a:prstGeom prst="roundRect">
            <a:avLst>
              <a:gd name="adj" fmla="val 14762"/>
            </a:avLst>
          </a:prstGeom>
          <a:solidFill>
            <a:srgbClr val="11233A"/>
          </a:solidFill>
          <a:ln w="6350">
            <a:solidFill>
              <a:srgbClr val="24405E"/>
            </a:solidFill>
            <a:prstDash val="solid"/>
          </a:ln>
        </p:spPr>
      </p:sp>
      <p:pic>
        <p:nvPicPr>
          <p:cNvPr id="4" name="Image 0" descr="Chart">    </p:cNvPr>
          <p:cNvPicPr>
            <a:picLocks noChangeAspect="1"/>
          </p:cNvPicPr>
          <p:nvPr/>
        </p:nvPicPr>
        <p:blipFill>
          <a:blip r:embed="rId1"/>
          <a:srcRect l="0" r="0" t="0" b="0"/>
          <a:stretch/>
        </p:blipFill>
        <p:spPr>
          <a:xfrm>
            <a:off x="996950" y="1804591"/>
            <a:ext cx="304800" cy="304800"/>
          </a:xfrm>
          <a:prstGeom prst="rect">
            <a:avLst/>
          </a:prstGeom>
        </p:spPr>
      </p:pic>
      <p:sp>
        <p:nvSpPr>
          <p:cNvPr id="5" name="Text 2"/>
          <p:cNvSpPr/>
          <p:nvPr/>
        </p:nvSpPr>
        <p:spPr>
          <a:xfrm>
            <a:off x="1428750" y="1814711"/>
            <a:ext cx="140136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6EEF2"/>
                </a:solidFill>
                <a:latin typeface="Noto Sans KR" pitchFamily="34" charset="0"/>
                <a:ea typeface="Noto Sans KR" pitchFamily="34" charset="-122"/>
                <a:cs typeface="Noto Sans KR" pitchFamily="34" charset="-120"/>
              </a:rPr>
              <a:t>운영 대시보드</a:t>
            </a:r>
            <a:endParaRPr lang="en-US" sz="1600" dirty="0"/>
          </a:p>
        </p:txBody>
      </p:sp>
      <p:sp>
        <p:nvSpPr>
          <p:cNvPr id="6" name="Shape 3"/>
          <p:cNvSpPr/>
          <p:nvPr/>
        </p:nvSpPr>
        <p:spPr>
          <a:xfrm>
            <a:off x="3567212" y="1623616"/>
            <a:ext cx="2617986" cy="666750"/>
          </a:xfrm>
          <a:prstGeom prst="roundRect">
            <a:avLst>
              <a:gd name="adj" fmla="val 14762"/>
            </a:avLst>
          </a:prstGeom>
          <a:solidFill>
            <a:srgbClr val="11233A"/>
          </a:solidFill>
          <a:ln w="6350">
            <a:solidFill>
              <a:srgbClr val="24405E"/>
            </a:solidFill>
            <a:prstDash val="solid"/>
          </a:ln>
        </p:spPr>
      </p:sp>
      <p:pic>
        <p:nvPicPr>
          <p:cNvPr id="7" name="Image 1" descr="Warning">    </p:cNvPr>
          <p:cNvPicPr>
            <a:picLocks noChangeAspect="1"/>
          </p:cNvPicPr>
          <p:nvPr/>
        </p:nvPicPr>
        <p:blipFill>
          <a:blip r:embed="rId2"/>
          <a:srcRect l="0" r="0" t="0" b="0"/>
          <a:stretch/>
        </p:blipFill>
        <p:spPr>
          <a:xfrm>
            <a:off x="3748187" y="1804591"/>
            <a:ext cx="304800" cy="304800"/>
          </a:xfrm>
          <a:prstGeom prst="rect">
            <a:avLst/>
          </a:prstGeom>
        </p:spPr>
      </p:pic>
      <p:sp>
        <p:nvSpPr>
          <p:cNvPr id="8" name="Text 4"/>
          <p:cNvSpPr/>
          <p:nvPr/>
        </p:nvSpPr>
        <p:spPr>
          <a:xfrm>
            <a:off x="4179987" y="1814711"/>
            <a:ext cx="44874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6EEF2"/>
                </a:solidFill>
                <a:latin typeface="Noto Sans KR" pitchFamily="34" charset="0"/>
                <a:ea typeface="Noto Sans KR" pitchFamily="34" charset="-122"/>
                <a:cs typeface="Noto Sans KR" pitchFamily="34" charset="-120"/>
              </a:rPr>
              <a:t>경보</a:t>
            </a:r>
            <a:endParaRPr lang="en-US" sz="1600" dirty="0"/>
          </a:p>
        </p:txBody>
      </p:sp>
      <p:sp>
        <p:nvSpPr>
          <p:cNvPr id="9" name="Shape 5"/>
          <p:cNvSpPr/>
          <p:nvPr/>
        </p:nvSpPr>
        <p:spPr>
          <a:xfrm>
            <a:off x="815975" y="2423716"/>
            <a:ext cx="2617887" cy="666750"/>
          </a:xfrm>
          <a:prstGeom prst="roundRect">
            <a:avLst>
              <a:gd name="adj" fmla="val 14762"/>
            </a:avLst>
          </a:prstGeom>
          <a:solidFill>
            <a:srgbClr val="11233A"/>
          </a:solidFill>
          <a:ln w="6350">
            <a:solidFill>
              <a:srgbClr val="24405E"/>
            </a:solidFill>
            <a:prstDash val="solid"/>
          </a:ln>
        </p:spPr>
      </p:sp>
      <p:pic>
        <p:nvPicPr>
          <p:cNvPr id="10" name="Image 2" descr="Search">    </p:cNvPr>
          <p:cNvPicPr>
            <a:picLocks noChangeAspect="1"/>
          </p:cNvPicPr>
          <p:nvPr/>
        </p:nvPicPr>
        <p:blipFill>
          <a:blip r:embed="rId3"/>
          <a:srcRect l="0" r="0" t="0" b="0"/>
          <a:stretch/>
        </p:blipFill>
        <p:spPr>
          <a:xfrm>
            <a:off x="996950" y="2604691"/>
            <a:ext cx="304800" cy="304800"/>
          </a:xfrm>
          <a:prstGeom prst="rect">
            <a:avLst/>
          </a:prstGeom>
        </p:spPr>
      </p:pic>
      <p:sp>
        <p:nvSpPr>
          <p:cNvPr id="11" name="Text 6"/>
          <p:cNvSpPr/>
          <p:nvPr/>
        </p:nvSpPr>
        <p:spPr>
          <a:xfrm>
            <a:off x="1428750" y="2614811"/>
            <a:ext cx="95273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6EEF2"/>
                </a:solidFill>
                <a:latin typeface="Noto Sans KR" pitchFamily="34" charset="0"/>
                <a:ea typeface="Noto Sans KR" pitchFamily="34" charset="-122"/>
                <a:cs typeface="Noto Sans KR" pitchFamily="34" charset="-120"/>
              </a:rPr>
              <a:t>객체 탐지</a:t>
            </a:r>
            <a:endParaRPr lang="en-US" sz="1600" dirty="0"/>
          </a:p>
        </p:txBody>
      </p:sp>
      <p:sp>
        <p:nvSpPr>
          <p:cNvPr id="12" name="Shape 7"/>
          <p:cNvSpPr/>
          <p:nvPr/>
        </p:nvSpPr>
        <p:spPr>
          <a:xfrm>
            <a:off x="3567212" y="2423716"/>
            <a:ext cx="2617986" cy="666750"/>
          </a:xfrm>
          <a:prstGeom prst="roundRect">
            <a:avLst>
              <a:gd name="adj" fmla="val 14762"/>
            </a:avLst>
          </a:prstGeom>
          <a:solidFill>
            <a:srgbClr val="11233A"/>
          </a:solidFill>
          <a:ln w="6350">
            <a:solidFill>
              <a:srgbClr val="24405E"/>
            </a:solidFill>
            <a:prstDash val="solid"/>
          </a:ln>
        </p:spPr>
      </p:sp>
      <p:pic>
        <p:nvPicPr>
          <p:cNvPr id="13" name="Image 3" descr="Play">    </p:cNvPr>
          <p:cNvPicPr>
            <a:picLocks noChangeAspect="1"/>
          </p:cNvPicPr>
          <p:nvPr/>
        </p:nvPicPr>
        <p:blipFill>
          <a:blip r:embed="rId4"/>
          <a:srcRect l="0" r="0" t="0" b="0"/>
          <a:stretch/>
        </p:blipFill>
        <p:spPr>
          <a:xfrm>
            <a:off x="3748187" y="2604691"/>
            <a:ext cx="304800" cy="304800"/>
          </a:xfrm>
          <a:prstGeom prst="rect">
            <a:avLst/>
          </a:prstGeom>
        </p:spPr>
      </p:pic>
      <p:sp>
        <p:nvSpPr>
          <p:cNvPr id="14" name="Text 8"/>
          <p:cNvSpPr/>
          <p:nvPr/>
        </p:nvSpPr>
        <p:spPr>
          <a:xfrm>
            <a:off x="4179987" y="2614811"/>
            <a:ext cx="117705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6EEF2"/>
                </a:solidFill>
                <a:latin typeface="Noto Sans KR" pitchFamily="34" charset="0"/>
                <a:ea typeface="Noto Sans KR" pitchFamily="34" charset="-122"/>
                <a:cs typeface="Noto Sans KR" pitchFamily="34" charset="-120"/>
              </a:rPr>
              <a:t>비디오 탐지</a:t>
            </a:r>
            <a:endParaRPr lang="en-US" sz="1600" dirty="0"/>
          </a:p>
        </p:txBody>
      </p:sp>
      <p:sp>
        <p:nvSpPr>
          <p:cNvPr id="15" name="Shape 9"/>
          <p:cNvSpPr/>
          <p:nvPr/>
        </p:nvSpPr>
        <p:spPr>
          <a:xfrm>
            <a:off x="815975" y="3223816"/>
            <a:ext cx="2617887" cy="666750"/>
          </a:xfrm>
          <a:prstGeom prst="roundRect">
            <a:avLst>
              <a:gd name="adj" fmla="val 14762"/>
            </a:avLst>
          </a:prstGeom>
          <a:solidFill>
            <a:srgbClr val="11233A"/>
          </a:solidFill>
          <a:ln w="6350">
            <a:solidFill>
              <a:srgbClr val="24405E"/>
            </a:solidFill>
            <a:prstDash val="solid"/>
          </a:ln>
        </p:spPr>
      </p:sp>
      <p:pic>
        <p:nvPicPr>
          <p:cNvPr id="16" name="Image 4" descr="Activity">    </p:cNvPr>
          <p:cNvPicPr>
            <a:picLocks noChangeAspect="1"/>
          </p:cNvPicPr>
          <p:nvPr/>
        </p:nvPicPr>
        <p:blipFill>
          <a:blip r:embed="rId5"/>
          <a:srcRect l="0" r="0" t="0" b="0"/>
          <a:stretch/>
        </p:blipFill>
        <p:spPr>
          <a:xfrm>
            <a:off x="996950" y="3404791"/>
            <a:ext cx="304800" cy="304800"/>
          </a:xfrm>
          <a:prstGeom prst="rect">
            <a:avLst/>
          </a:prstGeom>
        </p:spPr>
      </p:pic>
      <p:sp>
        <p:nvSpPr>
          <p:cNvPr id="17" name="Text 10"/>
          <p:cNvSpPr/>
          <p:nvPr/>
        </p:nvSpPr>
        <p:spPr>
          <a:xfrm>
            <a:off x="1428750" y="3414911"/>
            <a:ext cx="95273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6EEF2"/>
                </a:solidFill>
                <a:latin typeface="Noto Sans KR" pitchFamily="34" charset="0"/>
                <a:ea typeface="Noto Sans KR" pitchFamily="34" charset="-122"/>
                <a:cs typeface="Noto Sans KR" pitchFamily="34" charset="-120"/>
              </a:rPr>
              <a:t>학습 이력</a:t>
            </a:r>
            <a:endParaRPr lang="en-US" sz="1600" dirty="0"/>
          </a:p>
        </p:txBody>
      </p:sp>
      <p:sp>
        <p:nvSpPr>
          <p:cNvPr id="18" name="Shape 11"/>
          <p:cNvSpPr/>
          <p:nvPr/>
        </p:nvSpPr>
        <p:spPr>
          <a:xfrm>
            <a:off x="3567212" y="3223816"/>
            <a:ext cx="2617986" cy="666750"/>
          </a:xfrm>
          <a:prstGeom prst="roundRect">
            <a:avLst>
              <a:gd name="adj" fmla="val 14762"/>
            </a:avLst>
          </a:prstGeom>
          <a:solidFill>
            <a:srgbClr val="11233A"/>
          </a:solidFill>
          <a:ln w="6350">
            <a:solidFill>
              <a:srgbClr val="24405E"/>
            </a:solidFill>
            <a:prstDash val="solid"/>
          </a:ln>
        </p:spPr>
      </p:sp>
      <p:pic>
        <p:nvPicPr>
          <p:cNvPr id="19" name="Image 5" descr="Settings">    </p:cNvPr>
          <p:cNvPicPr>
            <a:picLocks noChangeAspect="1"/>
          </p:cNvPicPr>
          <p:nvPr/>
        </p:nvPicPr>
        <p:blipFill>
          <a:blip r:embed="rId6"/>
          <a:srcRect l="0" r="0" t="0" b="0"/>
          <a:stretch/>
        </p:blipFill>
        <p:spPr>
          <a:xfrm>
            <a:off x="3748187" y="3404791"/>
            <a:ext cx="304800" cy="304800"/>
          </a:xfrm>
          <a:prstGeom prst="rect">
            <a:avLst/>
          </a:prstGeom>
        </p:spPr>
      </p:pic>
      <p:sp>
        <p:nvSpPr>
          <p:cNvPr id="20" name="Text 12"/>
          <p:cNvSpPr/>
          <p:nvPr/>
        </p:nvSpPr>
        <p:spPr>
          <a:xfrm>
            <a:off x="4179987" y="3414911"/>
            <a:ext cx="95273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6EEF2"/>
                </a:solidFill>
                <a:latin typeface="Noto Sans KR" pitchFamily="34" charset="0"/>
                <a:ea typeface="Noto Sans KR" pitchFamily="34" charset="-122"/>
                <a:cs typeface="Noto Sans KR" pitchFamily="34" charset="-120"/>
              </a:rPr>
              <a:t>모델 정보</a:t>
            </a:r>
            <a:endParaRPr lang="en-US" sz="1600" dirty="0"/>
          </a:p>
        </p:txBody>
      </p:sp>
      <p:sp>
        <p:nvSpPr>
          <p:cNvPr id="21" name="Shape 13"/>
          <p:cNvSpPr/>
          <p:nvPr/>
        </p:nvSpPr>
        <p:spPr>
          <a:xfrm>
            <a:off x="6391573" y="1620441"/>
            <a:ext cx="4987627" cy="2273300"/>
          </a:xfrm>
          <a:prstGeom prst="roundRect">
            <a:avLst>
              <a:gd name="adj" fmla="val 4469"/>
            </a:avLst>
          </a:prstGeom>
          <a:solidFill>
            <a:srgbClr val="2DD4BF"/>
          </a:solidFill>
          <a:ln/>
        </p:spPr>
      </p:sp>
      <p:sp>
        <p:nvSpPr>
          <p:cNvPr id="22" name="Text 14"/>
          <p:cNvSpPr/>
          <p:nvPr/>
        </p:nvSpPr>
        <p:spPr>
          <a:xfrm>
            <a:off x="6645573" y="1874441"/>
            <a:ext cx="461401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B1626"/>
                </a:solidFill>
                <a:latin typeface="Noto Sans KR" pitchFamily="34" charset="0"/>
                <a:ea typeface="Noto Sans KR" pitchFamily="34" charset="-122"/>
                <a:cs typeface="Noto Sans KR" pitchFamily="34" charset="-120"/>
              </a:rPr>
              <a:t>라이브 데모 순서</a:t>
            </a:r>
            <a:endParaRPr lang="en-US" sz="2200" dirty="0"/>
          </a:p>
        </p:txBody>
      </p:sp>
      <p:sp>
        <p:nvSpPr>
          <p:cNvPr id="23" name="Text 15"/>
          <p:cNvSpPr/>
          <p:nvPr/>
        </p:nvSpPr>
        <p:spPr>
          <a:xfrm>
            <a:off x="6677323" y="2336701"/>
            <a:ext cx="4574646" cy="1244600"/>
          </a:xfrm>
          <a:prstGeom prst="rect">
            <a:avLst/>
          </a:prstGeom>
          <a:noFill/>
          <a:ln/>
        </p:spPr>
        <p:txBody>
          <a:bodyPr wrap="square" lIns="0" tIns="0" rIns="0" bIns="0" rtlCol="0" anchor="t">
            <a:normAutofit/>
          </a:bodyPr>
          <a:lstStyle/>
          <a:p>
            <a:pPr algn="l" marL="222250" indent="-222250">
              <a:lnSpc>
                <a:spcPts val="2400"/>
              </a:lnSpc>
              <a:buSzPct val="100000"/>
              <a:buFontTx/>
              <a:buAutoNum type="arabicPeriod" startAt="1"/>
            </a:pPr>
            <a:r>
              <a:rPr lang="en-US" sz="1600" dirty="0">
                <a:solidFill>
                  <a:srgbClr val="0B1626"/>
                </a:solidFill>
                <a:latin typeface="Noto Sans KR" pitchFamily="34" charset="0"/>
                <a:ea typeface="Noto Sans KR" pitchFamily="34" charset="-122"/>
                <a:cs typeface="Noto Sans KR" pitchFamily="34" charset="-120"/>
              </a:rPr>
              <a:t>이미지 업로드 → 박스와 신뢰도 확인</a:t>
            </a:r>
            <a:endParaRPr lang="en-US" sz="1600" dirty="0"/>
          </a:p>
          <a:p>
            <a:pPr algn="l" marL="222250" indent="-222250">
              <a:lnSpc>
                <a:spcPts val="2400"/>
              </a:lnSpc>
              <a:buSzPct val="100000"/>
              <a:buFontTx/>
              <a:buAutoNum type="arabicPeriod" startAt="1"/>
            </a:pPr>
            <a:r>
              <a:rPr lang="en-US" sz="1600" dirty="0">
                <a:solidFill>
                  <a:srgbClr val="0B1626"/>
                </a:solidFill>
                <a:latin typeface="Noto Sans KR" pitchFamily="34" charset="0"/>
                <a:ea typeface="Noto Sans KR" pitchFamily="34" charset="-122"/>
                <a:cs typeface="Noto Sans KR" pitchFamily="34" charset="-120"/>
              </a:rPr>
              <a:t>경보 탭에서 위협 등급 확인</a:t>
            </a:r>
            <a:endParaRPr lang="en-US" sz="1600" dirty="0"/>
          </a:p>
          <a:p>
            <a:pPr algn="l" marL="222250" indent="-222250">
              <a:lnSpc>
                <a:spcPts val="2400"/>
              </a:lnSpc>
              <a:buSzPct val="100000"/>
              <a:buFontTx/>
              <a:buAutoNum type="arabicPeriod" startAt="1"/>
            </a:pPr>
            <a:r>
              <a:rPr lang="en-US" sz="1600" dirty="0">
                <a:solidFill>
                  <a:srgbClr val="0B1626"/>
                </a:solidFill>
                <a:latin typeface="Noto Sans KR" pitchFamily="34" charset="0"/>
                <a:ea typeface="Noto Sans KR" pitchFamily="34" charset="-122"/>
                <a:cs typeface="Noto Sans KR" pitchFamily="34" charset="-120"/>
              </a:rPr>
              <a:t>운영 대시보드 지표 변화 확인</a:t>
            </a:r>
            <a:endParaRPr lang="en-US" sz="1600" dirty="0"/>
          </a:p>
          <a:p>
            <a:pPr algn="l" marL="222250" indent="-222250">
              <a:lnSpc>
                <a:spcPts val="2400"/>
              </a:lnSpc>
              <a:buSzPct val="100000"/>
              <a:buFontTx/>
              <a:buAutoNum type="arabicPeriod" startAt="1"/>
            </a:pPr>
            <a:r>
              <a:rPr lang="en-US" sz="1600" dirty="0">
                <a:solidFill>
                  <a:srgbClr val="0B1626"/>
                </a:solidFill>
                <a:latin typeface="Noto Sans KR" pitchFamily="34" charset="0"/>
                <a:ea typeface="Noto Sans KR" pitchFamily="34" charset="-122"/>
                <a:cs typeface="Noto Sans KR" pitchFamily="34" charset="-120"/>
              </a:rPr>
              <a:t>학습 이력 곡선 비교</a:t>
            </a:r>
            <a:endParaRPr lang="en-US" sz="1600" dirty="0"/>
          </a:p>
        </p:txBody>
      </p:sp>
      <p:sp>
        <p:nvSpPr>
          <p:cNvPr id="24"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95A8"/>
                </a:solidFill>
                <a:latin typeface="Noto Sans KR" pitchFamily="34" charset="0"/>
                <a:ea typeface="Noto Sans KR" pitchFamily="34" charset="-122"/>
                <a:cs typeface="Noto Sans KR" pitchFamily="34" charset="-120"/>
              </a:rPr>
              <a:t>AegisVision · 7 / 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62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6EEF2"/>
                </a:solidFill>
                <a:latin typeface="Noto Sans KR" pitchFamily="34" charset="0"/>
                <a:ea typeface="Noto Sans KR" pitchFamily="34" charset="-122"/>
                <a:cs typeface="Noto Sans KR" pitchFamily="34" charset="-120"/>
              </a:rPr>
              <a:t>트러블슈팅</a:t>
            </a:r>
            <a:endParaRPr lang="en-US" sz="3600" dirty="0"/>
          </a:p>
        </p:txBody>
      </p:sp>
      <p:sp>
        <p:nvSpPr>
          <p:cNvPr id="3" name="Shape 1"/>
          <p:cNvSpPr/>
          <p:nvPr/>
        </p:nvSpPr>
        <p:spPr>
          <a:xfrm>
            <a:off x="815975" y="1572816"/>
            <a:ext cx="5200650" cy="1560513"/>
          </a:xfrm>
          <a:prstGeom prst="roundRect">
            <a:avLst>
              <a:gd name="adj" fmla="val 6307"/>
            </a:avLst>
          </a:prstGeom>
          <a:solidFill>
            <a:srgbClr val="11233A"/>
          </a:solidFill>
          <a:ln w="6350">
            <a:solidFill>
              <a:srgbClr val="24405E"/>
            </a:solidFill>
            <a:prstDash val="solid"/>
          </a:ln>
        </p:spPr>
      </p:sp>
      <p:sp>
        <p:nvSpPr>
          <p:cNvPr id="4" name="Text 2"/>
          <p:cNvSpPr/>
          <p:nvPr/>
        </p:nvSpPr>
        <p:spPr>
          <a:xfrm>
            <a:off x="1022350" y="1779191"/>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6EEF2"/>
                </a:solidFill>
                <a:latin typeface="Noto Sans KR" pitchFamily="34" charset="0"/>
                <a:ea typeface="Noto Sans KR" pitchFamily="34" charset="-122"/>
                <a:cs typeface="Noto Sans KR" pitchFamily="34" charset="-120"/>
              </a:rPr>
              <a:t>다른 컴퓨터에서 이어서 학습</a:t>
            </a:r>
            <a:endParaRPr lang="en-US" sz="1800" dirty="0"/>
          </a:p>
        </p:txBody>
      </p:sp>
      <p:sp>
        <p:nvSpPr>
          <p:cNvPr id="5" name="Text 3"/>
          <p:cNvSpPr/>
          <p:nvPr/>
        </p:nvSpPr>
        <p:spPr>
          <a:xfrm>
            <a:off x="1022350" y="2116931"/>
            <a:ext cx="493153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B642"/>
                </a:solidFill>
                <a:latin typeface="Noto Sans KR" pitchFamily="34" charset="0"/>
                <a:ea typeface="Noto Sans KR" pitchFamily="34" charset="-122"/>
                <a:cs typeface="Noto Sans KR" pitchFamily="34" charset="-120"/>
              </a:rPr>
              <a:t>원인</a:t>
            </a:r>
            <a:r>
              <a:rPr lang="en-US" sz="1400" dirty="0">
                <a:solidFill>
                  <a:srgbClr val="9FB3C5"/>
                </a:solidFill>
                <a:latin typeface="Noto Sans KR" pitchFamily="34" charset="0"/>
                <a:ea typeface="Noto Sans KR" pitchFamily="34" charset="-122"/>
                <a:cs typeface="Noto Sans KR" pitchFamily="34" charset="-120"/>
              </a:rPr>
              <a:t> resume이 저장된 절대경로를 재사용해 PermissionError</a:t>
            </a:r>
            <a:endParaRPr lang="en-US" sz="1400" dirty="0"/>
          </a:p>
        </p:txBody>
      </p:sp>
      <p:sp>
        <p:nvSpPr>
          <p:cNvPr id="6" name="Text 4"/>
          <p:cNvSpPr/>
          <p:nvPr/>
        </p:nvSpPr>
        <p:spPr>
          <a:xfrm>
            <a:off x="1022350" y="2429272"/>
            <a:ext cx="493153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D4BF"/>
                </a:solidFill>
                <a:latin typeface="Noto Sans KR" pitchFamily="34" charset="0"/>
                <a:ea typeface="Noto Sans KR" pitchFamily="34" charset="-122"/>
                <a:cs typeface="Noto Sans KR" pitchFamily="34" charset="-120"/>
              </a:rPr>
              <a:t>해결</a:t>
            </a:r>
            <a:r>
              <a:rPr lang="en-US" sz="1400" dirty="0">
                <a:solidFill>
                  <a:srgbClr val="E6EEF2"/>
                </a:solidFill>
                <a:latin typeface="Noto Sans KR" pitchFamily="34" charset="0"/>
                <a:ea typeface="Noto Sans KR" pitchFamily="34" charset="-122"/>
                <a:cs typeface="Noto Sans KR" pitchFamily="34" charset="-120"/>
              </a:rPr>
              <a:t> last.pt를 새 학습의 시작 가중치로 사용</a:t>
            </a:r>
            <a:endParaRPr lang="en-US" sz="1400" dirty="0"/>
          </a:p>
        </p:txBody>
      </p:sp>
      <p:sp>
        <p:nvSpPr>
          <p:cNvPr id="7" name="Shape 5"/>
          <p:cNvSpPr/>
          <p:nvPr/>
        </p:nvSpPr>
        <p:spPr>
          <a:xfrm>
            <a:off x="6175375" y="1572816"/>
            <a:ext cx="5200650" cy="1560513"/>
          </a:xfrm>
          <a:prstGeom prst="roundRect">
            <a:avLst>
              <a:gd name="adj" fmla="val 6307"/>
            </a:avLst>
          </a:prstGeom>
          <a:solidFill>
            <a:srgbClr val="11233A"/>
          </a:solidFill>
          <a:ln w="6350">
            <a:solidFill>
              <a:srgbClr val="24405E"/>
            </a:solidFill>
            <a:prstDash val="solid"/>
          </a:ln>
        </p:spPr>
      </p:sp>
      <p:sp>
        <p:nvSpPr>
          <p:cNvPr id="8" name="Text 6"/>
          <p:cNvSpPr/>
          <p:nvPr/>
        </p:nvSpPr>
        <p:spPr>
          <a:xfrm>
            <a:off x="6381750" y="1779191"/>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6EEF2"/>
                </a:solidFill>
                <a:latin typeface="Noto Sans KR" pitchFamily="34" charset="0"/>
                <a:ea typeface="Noto Sans KR" pitchFamily="34" charset="-122"/>
                <a:cs typeface="Noto Sans KR" pitchFamily="34" charset="-120"/>
              </a:rPr>
              <a:t>MLflow 버전 불일치</a:t>
            </a:r>
            <a:endParaRPr lang="en-US" sz="1800" dirty="0"/>
          </a:p>
        </p:txBody>
      </p:sp>
      <p:sp>
        <p:nvSpPr>
          <p:cNvPr id="9" name="Text 7"/>
          <p:cNvSpPr/>
          <p:nvPr/>
        </p:nvSpPr>
        <p:spPr>
          <a:xfrm>
            <a:off x="6381750" y="2116931"/>
            <a:ext cx="4931537"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B642"/>
                </a:solidFill>
                <a:latin typeface="Noto Sans KR" pitchFamily="34" charset="0"/>
                <a:ea typeface="Noto Sans KR" pitchFamily="34" charset="-122"/>
                <a:cs typeface="Noto Sans KR" pitchFamily="34" charset="-120"/>
              </a:rPr>
              <a:t>원인</a:t>
            </a:r>
            <a:r>
              <a:rPr lang="en-US" sz="1400" dirty="0">
                <a:solidFill>
                  <a:srgbClr val="9FB3C5"/>
                </a:solidFill>
                <a:latin typeface="Noto Sans KR" pitchFamily="34" charset="0"/>
                <a:ea typeface="Noto Sans KR" pitchFamily="34" charset="-122"/>
                <a:cs typeface="Noto Sans KR" pitchFamily="34" charset="-120"/>
              </a:rPr>
              <a:t> 오류는 DB가 옛날이라 안내했지만 실제로는 설치된 MLflow가 더 옛날</a:t>
            </a:r>
            <a:endParaRPr lang="en-US" sz="1400" dirty="0"/>
          </a:p>
        </p:txBody>
      </p:sp>
      <p:sp>
        <p:nvSpPr>
          <p:cNvPr id="10" name="Text 8"/>
          <p:cNvSpPr/>
          <p:nvPr/>
        </p:nvSpPr>
        <p:spPr>
          <a:xfrm>
            <a:off x="6381750" y="2678113"/>
            <a:ext cx="493153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D4BF"/>
                </a:solidFill>
                <a:latin typeface="Noto Sans KR" pitchFamily="34" charset="0"/>
                <a:ea typeface="Noto Sans KR" pitchFamily="34" charset="-122"/>
                <a:cs typeface="Noto Sans KR" pitchFamily="34" charset="-120"/>
              </a:rPr>
              <a:t>해결</a:t>
            </a:r>
            <a:r>
              <a:rPr lang="en-US" sz="1400" dirty="0">
                <a:solidFill>
                  <a:srgbClr val="E6EEF2"/>
                </a:solidFill>
                <a:latin typeface="Noto Sans KR" pitchFamily="34" charset="0"/>
                <a:ea typeface="Noto Sans KR" pitchFamily="34" charset="-122"/>
                <a:cs typeface="Noto Sans KR" pitchFamily="34" charset="-120"/>
              </a:rPr>
              <a:t> DB가 아닌 MLflow를 올려 환경별 버전 통일</a:t>
            </a:r>
            <a:endParaRPr lang="en-US" sz="1400" dirty="0"/>
          </a:p>
        </p:txBody>
      </p:sp>
      <p:sp>
        <p:nvSpPr>
          <p:cNvPr id="11" name="Shape 9"/>
          <p:cNvSpPr/>
          <p:nvPr/>
        </p:nvSpPr>
        <p:spPr>
          <a:xfrm>
            <a:off x="815975" y="3292078"/>
            <a:ext cx="5200650" cy="1560513"/>
          </a:xfrm>
          <a:prstGeom prst="roundRect">
            <a:avLst>
              <a:gd name="adj" fmla="val 6307"/>
            </a:avLst>
          </a:prstGeom>
          <a:solidFill>
            <a:srgbClr val="11233A"/>
          </a:solidFill>
          <a:ln w="6350">
            <a:solidFill>
              <a:srgbClr val="24405E"/>
            </a:solidFill>
            <a:prstDash val="solid"/>
          </a:ln>
        </p:spPr>
      </p:sp>
      <p:sp>
        <p:nvSpPr>
          <p:cNvPr id="12" name="Text 10"/>
          <p:cNvSpPr/>
          <p:nvPr/>
        </p:nvSpPr>
        <p:spPr>
          <a:xfrm>
            <a:off x="1022350" y="3498453"/>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6EEF2"/>
                </a:solidFill>
                <a:latin typeface="Noto Sans KR" pitchFamily="34" charset="0"/>
                <a:ea typeface="Noto Sans KR" pitchFamily="34" charset="-122"/>
                <a:cs typeface="Noto Sans KR" pitchFamily="34" charset="-120"/>
              </a:rPr>
              <a:t>요청 하나가 DB에 반쪽만 저장</a:t>
            </a:r>
            <a:endParaRPr lang="en-US" sz="1800" dirty="0"/>
          </a:p>
        </p:txBody>
      </p:sp>
      <p:sp>
        <p:nvSpPr>
          <p:cNvPr id="13" name="Text 11"/>
          <p:cNvSpPr/>
          <p:nvPr/>
        </p:nvSpPr>
        <p:spPr>
          <a:xfrm>
            <a:off x="1022350" y="3836194"/>
            <a:ext cx="4931537"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B642"/>
                </a:solidFill>
                <a:latin typeface="Noto Sans KR" pitchFamily="34" charset="0"/>
                <a:ea typeface="Noto Sans KR" pitchFamily="34" charset="-122"/>
                <a:cs typeface="Noto Sans KR" pitchFamily="34" charset="-120"/>
              </a:rPr>
              <a:t>원인</a:t>
            </a:r>
            <a:r>
              <a:rPr lang="en-US" sz="1400" dirty="0">
                <a:solidFill>
                  <a:srgbClr val="9FB3C5"/>
                </a:solidFill>
                <a:latin typeface="Noto Sans KR" pitchFamily="34" charset="0"/>
                <a:ea typeface="Noto Sans KR" pitchFamily="34" charset="-122"/>
                <a:cs typeface="Noto Sans KR" pitchFamily="34" charset="-120"/>
              </a:rPr>
              <a:t> commit 후 탐지 결과를 따로 저장해 중간 실패 시 반쪽 데이터가 남음</a:t>
            </a:r>
            <a:endParaRPr lang="en-US" sz="1400" dirty="0"/>
          </a:p>
        </p:txBody>
      </p:sp>
      <p:sp>
        <p:nvSpPr>
          <p:cNvPr id="14" name="Text 12"/>
          <p:cNvSpPr/>
          <p:nvPr/>
        </p:nvSpPr>
        <p:spPr>
          <a:xfrm>
            <a:off x="1022350" y="4397375"/>
            <a:ext cx="493153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D4BF"/>
                </a:solidFill>
                <a:latin typeface="Noto Sans KR" pitchFamily="34" charset="0"/>
                <a:ea typeface="Noto Sans KR" pitchFamily="34" charset="-122"/>
                <a:cs typeface="Noto Sans KR" pitchFamily="34" charset="-120"/>
              </a:rPr>
              <a:t>해결</a:t>
            </a:r>
            <a:r>
              <a:rPr lang="en-US" sz="1400" dirty="0">
                <a:solidFill>
                  <a:srgbClr val="E6EEF2"/>
                </a:solidFill>
                <a:latin typeface="Noto Sans KR" pitchFamily="34" charset="0"/>
                <a:ea typeface="Noto Sans KR" pitchFamily="34" charset="-122"/>
                <a:cs typeface="Noto Sans KR" pitchFamily="34" charset="-120"/>
              </a:rPr>
              <a:t> flush와 rollback으로 하나의 트랜잭션으로 묶음</a:t>
            </a:r>
            <a:endParaRPr lang="en-US" sz="1400" dirty="0"/>
          </a:p>
        </p:txBody>
      </p:sp>
      <p:sp>
        <p:nvSpPr>
          <p:cNvPr id="15" name="Shape 13"/>
          <p:cNvSpPr/>
          <p:nvPr/>
        </p:nvSpPr>
        <p:spPr>
          <a:xfrm>
            <a:off x="6175375" y="3292078"/>
            <a:ext cx="5200650" cy="1560513"/>
          </a:xfrm>
          <a:prstGeom prst="roundRect">
            <a:avLst>
              <a:gd name="adj" fmla="val 6307"/>
            </a:avLst>
          </a:prstGeom>
          <a:solidFill>
            <a:srgbClr val="11233A"/>
          </a:solidFill>
          <a:ln w="6350">
            <a:solidFill>
              <a:srgbClr val="24405E"/>
            </a:solidFill>
            <a:prstDash val="solid"/>
          </a:ln>
        </p:spPr>
      </p:sp>
      <p:sp>
        <p:nvSpPr>
          <p:cNvPr id="16" name="Text 14"/>
          <p:cNvSpPr/>
          <p:nvPr/>
        </p:nvSpPr>
        <p:spPr>
          <a:xfrm>
            <a:off x="6381750" y="3498453"/>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6EEF2"/>
                </a:solidFill>
                <a:latin typeface="Noto Sans KR" pitchFamily="34" charset="0"/>
                <a:ea typeface="Noto Sans KR" pitchFamily="34" charset="-122"/>
                <a:cs typeface="Noto Sans KR" pitchFamily="34" charset="-120"/>
              </a:rPr>
              <a:t>키를 바꿔도 계속 401</a:t>
            </a:r>
            <a:endParaRPr lang="en-US" sz="1800" dirty="0"/>
          </a:p>
        </p:txBody>
      </p:sp>
      <p:sp>
        <p:nvSpPr>
          <p:cNvPr id="17" name="Text 15"/>
          <p:cNvSpPr/>
          <p:nvPr/>
        </p:nvSpPr>
        <p:spPr>
          <a:xfrm>
            <a:off x="6381750" y="3836194"/>
            <a:ext cx="493153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B642"/>
                </a:solidFill>
                <a:latin typeface="Noto Sans KR" pitchFamily="34" charset="0"/>
                <a:ea typeface="Noto Sans KR" pitchFamily="34" charset="-122"/>
                <a:cs typeface="Noto Sans KR" pitchFamily="34" charset="-120"/>
              </a:rPr>
              <a:t>원인</a:t>
            </a:r>
            <a:r>
              <a:rPr lang="en-US" sz="1400" dirty="0">
                <a:solidFill>
                  <a:srgbClr val="9FB3C5"/>
                </a:solidFill>
                <a:latin typeface="Noto Sans KR" pitchFamily="34" charset="0"/>
                <a:ea typeface="Noto Sans KR" pitchFamily="34" charset="-122"/>
                <a:cs typeface="Noto Sans KR" pitchFamily="34" charset="-120"/>
              </a:rPr>
              <a:t> React의 환경 변수는 빌드 시점에 코드에 고정됨</a:t>
            </a:r>
            <a:endParaRPr lang="en-US" sz="1400" dirty="0"/>
          </a:p>
        </p:txBody>
      </p:sp>
      <p:sp>
        <p:nvSpPr>
          <p:cNvPr id="18" name="Text 16"/>
          <p:cNvSpPr/>
          <p:nvPr/>
        </p:nvSpPr>
        <p:spPr>
          <a:xfrm>
            <a:off x="6381750" y="4148534"/>
            <a:ext cx="493153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D4BF"/>
                </a:solidFill>
                <a:latin typeface="Noto Sans KR" pitchFamily="34" charset="0"/>
                <a:ea typeface="Noto Sans KR" pitchFamily="34" charset="-122"/>
                <a:cs typeface="Noto Sans KR" pitchFamily="34" charset="-120"/>
              </a:rPr>
              <a:t>해결</a:t>
            </a:r>
            <a:r>
              <a:rPr lang="en-US" sz="1400" dirty="0">
                <a:solidFill>
                  <a:srgbClr val="E6EEF2"/>
                </a:solidFill>
                <a:latin typeface="Noto Sans KR" pitchFamily="34" charset="0"/>
                <a:ea typeface="Noto Sans KR" pitchFamily="34" charset="-122"/>
                <a:cs typeface="Noto Sans KR" pitchFamily="34" charset="-120"/>
              </a:rPr>
              <a:t> 이미지를 다시 빌드하고 서버 키 목록과 맞춤</a:t>
            </a:r>
            <a:endParaRPr lang="en-US" sz="1400" dirty="0"/>
          </a:p>
        </p:txBody>
      </p:sp>
      <p:sp>
        <p:nvSpPr>
          <p:cNvPr id="19" name="Text 1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95A8"/>
                </a:solidFill>
                <a:latin typeface="Noto Sans KR" pitchFamily="34" charset="0"/>
                <a:ea typeface="Noto Sans KR" pitchFamily="34" charset="-122"/>
                <a:cs typeface="Noto Sans KR" pitchFamily="34" charset="-120"/>
              </a:rPr>
              <a:t>AegisVision · 8 / 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62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6EEF2"/>
                </a:solidFill>
                <a:latin typeface="Noto Sans KR" pitchFamily="34" charset="0"/>
                <a:ea typeface="Noto Sans KR" pitchFamily="34" charset="-122"/>
                <a:cs typeface="Noto Sans KR" pitchFamily="34" charset="-120"/>
              </a:rPr>
              <a:t>배운 점과 향후 과제</a:t>
            </a:r>
            <a:endParaRPr lang="en-US" sz="3600" dirty="0"/>
          </a:p>
        </p:txBody>
      </p:sp>
      <p:sp>
        <p:nvSpPr>
          <p:cNvPr id="3" name="Shape 1"/>
          <p:cNvSpPr/>
          <p:nvPr/>
        </p:nvSpPr>
        <p:spPr>
          <a:xfrm>
            <a:off x="815975" y="1623616"/>
            <a:ext cx="5175250" cy="2535932"/>
          </a:xfrm>
          <a:prstGeom prst="roundRect">
            <a:avLst>
              <a:gd name="adj" fmla="val 3881"/>
            </a:avLst>
          </a:prstGeom>
          <a:solidFill>
            <a:srgbClr val="11233A"/>
          </a:solidFill>
          <a:ln w="6350">
            <a:solidFill>
              <a:srgbClr val="24405E"/>
            </a:solidFill>
            <a:prstDash val="solid"/>
          </a:ln>
        </p:spPr>
      </p:sp>
      <p:sp>
        <p:nvSpPr>
          <p:cNvPr id="4" name="Text 2"/>
          <p:cNvSpPr/>
          <p:nvPr/>
        </p:nvSpPr>
        <p:spPr>
          <a:xfrm>
            <a:off x="1073150" y="1880791"/>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DD4BF"/>
                </a:solidFill>
                <a:latin typeface="Noto Sans KR" pitchFamily="34" charset="0"/>
                <a:ea typeface="Noto Sans KR" pitchFamily="34" charset="-122"/>
                <a:cs typeface="Noto Sans KR" pitchFamily="34" charset="-120"/>
              </a:rPr>
              <a:t>배운 점</a:t>
            </a:r>
            <a:endParaRPr lang="en-US" sz="2200" dirty="0"/>
          </a:p>
        </p:txBody>
      </p:sp>
      <p:sp>
        <p:nvSpPr>
          <p:cNvPr id="5" name="Text 3"/>
          <p:cNvSpPr/>
          <p:nvPr/>
        </p:nvSpPr>
        <p:spPr>
          <a:xfrm>
            <a:off x="1073150" y="2343051"/>
            <a:ext cx="4800727"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E6EEF2"/>
                </a:solidFill>
                <a:latin typeface="Noto Sans KR" pitchFamily="34" charset="0"/>
                <a:ea typeface="Noto Sans KR" pitchFamily="34" charset="-122"/>
                <a:cs typeface="Noto Sans KR" pitchFamily="34" charset="-120"/>
              </a:rPr>
              <a:t>모델 학습 이후의 </a:t>
            </a:r>
            <a:r>
              <a:rPr lang="en-US" sz="1600" b="1" dirty="0">
                <a:solidFill>
                  <a:srgbClr val="E6EEF2"/>
                </a:solidFill>
                <a:latin typeface="Noto Sans KR" pitchFamily="34" charset="0"/>
                <a:ea typeface="Noto Sans KR" pitchFamily="34" charset="-122"/>
                <a:cs typeface="Noto Sans KR" pitchFamily="34" charset="-120"/>
              </a:rPr>
              <a:t>운영 구조</a:t>
            </a:r>
            <a:r>
              <a:rPr lang="en-US" sz="1600" dirty="0">
                <a:solidFill>
                  <a:srgbClr val="E6EEF2"/>
                </a:solidFill>
                <a:latin typeface="Noto Sans KR" pitchFamily="34" charset="0"/>
                <a:ea typeface="Noto Sans KR" pitchFamily="34" charset="-122"/>
                <a:cs typeface="Noto Sans KR" pitchFamily="34" charset="-120"/>
              </a:rPr>
              <a:t>(분리, 보안, 재현성)가 더 큰 과제였다</a:t>
            </a:r>
            <a:endParaRPr lang="en-US" sz="1600" dirty="0"/>
          </a:p>
        </p:txBody>
      </p:sp>
      <p:sp>
        <p:nvSpPr>
          <p:cNvPr id="6" name="Text 4"/>
          <p:cNvSpPr/>
          <p:nvPr/>
        </p:nvSpPr>
        <p:spPr>
          <a:xfrm>
            <a:off x="1073150" y="3059212"/>
            <a:ext cx="4800727" cy="3199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E6EEF2"/>
                </a:solidFill>
                <a:latin typeface="Noto Sans KR" pitchFamily="34" charset="0"/>
                <a:ea typeface="Noto Sans KR" pitchFamily="34" charset="-122"/>
                <a:cs typeface="Noto Sans KR" pitchFamily="34" charset="-120"/>
              </a:rPr>
              <a:t>오류의 원인은 코드뿐 아니라 </a:t>
            </a:r>
            <a:r>
              <a:rPr lang="en-US" sz="1600" b="1" dirty="0">
                <a:solidFill>
                  <a:srgbClr val="E6EEF2"/>
                </a:solidFill>
                <a:latin typeface="Noto Sans KR" pitchFamily="34" charset="0"/>
                <a:ea typeface="Noto Sans KR" pitchFamily="34" charset="-122"/>
                <a:cs typeface="Noto Sans KR" pitchFamily="34" charset="-120"/>
              </a:rPr>
              <a:t>환경과 설정</a:t>
            </a:r>
            <a:r>
              <a:rPr lang="en-US" sz="1600" dirty="0">
                <a:solidFill>
                  <a:srgbClr val="E6EEF2"/>
                </a:solidFill>
                <a:latin typeface="Noto Sans KR" pitchFamily="34" charset="0"/>
                <a:ea typeface="Noto Sans KR" pitchFamily="34" charset="-122"/>
                <a:cs typeface="Noto Sans KR" pitchFamily="34" charset="-120"/>
              </a:rPr>
              <a:t>에도 있다</a:t>
            </a:r>
            <a:endParaRPr lang="en-US" sz="1600" dirty="0"/>
          </a:p>
        </p:txBody>
      </p:sp>
      <p:sp>
        <p:nvSpPr>
          <p:cNvPr id="7" name="Text 5"/>
          <p:cNvSpPr/>
          <p:nvPr/>
        </p:nvSpPr>
        <p:spPr>
          <a:xfrm>
            <a:off x="1073150" y="3480792"/>
            <a:ext cx="4800727" cy="319980"/>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E6EEF2"/>
                </a:solidFill>
                <a:latin typeface="Noto Sans KR" pitchFamily="34" charset="0"/>
                <a:ea typeface="Noto Sans KR" pitchFamily="34" charset="-122"/>
                <a:cs typeface="Noto Sans KR" pitchFamily="34" charset="-120"/>
              </a:rPr>
              <a:t>한 번에 기동</a:t>
            </a:r>
            <a:r>
              <a:rPr lang="en-US" sz="1600" dirty="0">
                <a:solidFill>
                  <a:srgbClr val="E6EEF2"/>
                </a:solidFill>
                <a:latin typeface="Noto Sans KR" pitchFamily="34" charset="0"/>
                <a:ea typeface="Noto Sans KR" pitchFamily="34" charset="-122"/>
                <a:cs typeface="Noto Sans KR" pitchFamily="34" charset="-120"/>
              </a:rPr>
              <a:t>되는 구조가 협업과 제출의 기본이다</a:t>
            </a:r>
            <a:endParaRPr lang="en-US" sz="1600" dirty="0"/>
          </a:p>
        </p:txBody>
      </p:sp>
      <p:sp>
        <p:nvSpPr>
          <p:cNvPr id="8" name="Shape 6"/>
          <p:cNvSpPr/>
          <p:nvPr/>
        </p:nvSpPr>
        <p:spPr>
          <a:xfrm>
            <a:off x="6200775" y="1623616"/>
            <a:ext cx="5175250" cy="2535932"/>
          </a:xfrm>
          <a:prstGeom prst="roundRect">
            <a:avLst>
              <a:gd name="adj" fmla="val 3881"/>
            </a:avLst>
          </a:prstGeom>
          <a:solidFill>
            <a:srgbClr val="11233A"/>
          </a:solidFill>
          <a:ln w="6350">
            <a:solidFill>
              <a:srgbClr val="24405E"/>
            </a:solidFill>
            <a:prstDash val="solid"/>
          </a:ln>
        </p:spPr>
      </p:sp>
      <p:sp>
        <p:nvSpPr>
          <p:cNvPr id="9" name="Text 7"/>
          <p:cNvSpPr/>
          <p:nvPr/>
        </p:nvSpPr>
        <p:spPr>
          <a:xfrm>
            <a:off x="6457950" y="1880791"/>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DD4BF"/>
                </a:solidFill>
                <a:latin typeface="Noto Sans KR" pitchFamily="34" charset="0"/>
                <a:ea typeface="Noto Sans KR" pitchFamily="34" charset="-122"/>
                <a:cs typeface="Noto Sans KR" pitchFamily="34" charset="-120"/>
              </a:rPr>
              <a:t>향후 과제</a:t>
            </a:r>
            <a:endParaRPr lang="en-US" sz="2200" dirty="0"/>
          </a:p>
        </p:txBody>
      </p:sp>
      <p:sp>
        <p:nvSpPr>
          <p:cNvPr id="10" name="Text 8"/>
          <p:cNvSpPr/>
          <p:nvPr/>
        </p:nvSpPr>
        <p:spPr>
          <a:xfrm>
            <a:off x="6457950" y="2343051"/>
            <a:ext cx="4800727" cy="3199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E6EEF2"/>
                </a:solidFill>
                <a:latin typeface="Noto Sans KR" pitchFamily="34" charset="0"/>
                <a:ea typeface="Noto Sans KR" pitchFamily="34" charset="-122"/>
                <a:cs typeface="Noto Sans KR" pitchFamily="34" charset="-120"/>
              </a:rPr>
              <a:t>도메인 연결과 </a:t>
            </a:r>
            <a:r>
              <a:rPr lang="en-US" sz="1600" b="1" dirty="0">
                <a:solidFill>
                  <a:srgbClr val="E6EEF2"/>
                </a:solidFill>
                <a:latin typeface="Noto Sans KR" pitchFamily="34" charset="0"/>
                <a:ea typeface="Noto Sans KR" pitchFamily="34" charset="-122"/>
                <a:cs typeface="Noto Sans KR" pitchFamily="34" charset="-120"/>
              </a:rPr>
              <a:t>HTTPS</a:t>
            </a:r>
            <a:r>
              <a:rPr lang="en-US" sz="1600" dirty="0">
                <a:solidFill>
                  <a:srgbClr val="E6EEF2"/>
                </a:solidFill>
                <a:latin typeface="Noto Sans KR" pitchFamily="34" charset="0"/>
                <a:ea typeface="Noto Sans KR" pitchFamily="34" charset="-122"/>
                <a:cs typeface="Noto Sans KR" pitchFamily="34" charset="-120"/>
              </a:rPr>
              <a:t> 적용 (현재 HTTP)</a:t>
            </a:r>
            <a:endParaRPr lang="en-US" sz="1600" dirty="0"/>
          </a:p>
        </p:txBody>
      </p:sp>
      <p:sp>
        <p:nvSpPr>
          <p:cNvPr id="11" name="Text 9"/>
          <p:cNvSpPr/>
          <p:nvPr/>
        </p:nvSpPr>
        <p:spPr>
          <a:xfrm>
            <a:off x="6457950" y="2764631"/>
            <a:ext cx="4800727" cy="3199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E6EEF2"/>
                </a:solidFill>
                <a:latin typeface="Noto Sans KR" pitchFamily="34" charset="0"/>
                <a:ea typeface="Noto Sans KR" pitchFamily="34" charset="-122"/>
                <a:cs typeface="Noto Sans KR" pitchFamily="34" charset="-120"/>
              </a:rPr>
              <a:t>JWT 로그인으로 </a:t>
            </a:r>
            <a:r>
              <a:rPr lang="en-US" sz="1600" b="1" dirty="0">
                <a:solidFill>
                  <a:srgbClr val="E6EEF2"/>
                </a:solidFill>
                <a:latin typeface="Noto Sans KR" pitchFamily="34" charset="0"/>
                <a:ea typeface="Noto Sans KR" pitchFamily="34" charset="-122"/>
                <a:cs typeface="Noto Sans KR" pitchFamily="34" charset="-120"/>
              </a:rPr>
              <a:t>화면의 API 키 제거</a:t>
            </a:r>
            <a:endParaRPr lang="en-US" sz="1600" dirty="0"/>
          </a:p>
        </p:txBody>
      </p:sp>
      <p:sp>
        <p:nvSpPr>
          <p:cNvPr id="12" name="Text 10"/>
          <p:cNvSpPr/>
          <p:nvPr/>
        </p:nvSpPr>
        <p:spPr>
          <a:xfrm>
            <a:off x="6457950" y="3186212"/>
            <a:ext cx="4800727" cy="3199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E6EEF2"/>
                </a:solidFill>
                <a:latin typeface="Noto Sans KR" pitchFamily="34" charset="0"/>
                <a:ea typeface="Noto Sans KR" pitchFamily="34" charset="-122"/>
                <a:cs typeface="Noto Sans KR" pitchFamily="34" charset="-120"/>
              </a:rPr>
              <a:t>RTSP </a:t>
            </a:r>
            <a:r>
              <a:rPr lang="en-US" sz="1600" b="1" dirty="0">
                <a:solidFill>
                  <a:srgbClr val="E6EEF2"/>
                </a:solidFill>
                <a:latin typeface="Noto Sans KR" pitchFamily="34" charset="0"/>
                <a:ea typeface="Noto Sans KR" pitchFamily="34" charset="-122"/>
                <a:cs typeface="Noto Sans KR" pitchFamily="34" charset="-120"/>
              </a:rPr>
              <a:t>실시간 스트림</a:t>
            </a:r>
            <a:r>
              <a:rPr lang="en-US" sz="1600" dirty="0">
                <a:solidFill>
                  <a:srgbClr val="E6EEF2"/>
                </a:solidFill>
                <a:latin typeface="Noto Sans KR" pitchFamily="34" charset="0"/>
                <a:ea typeface="Noto Sans KR" pitchFamily="34" charset="-122"/>
                <a:cs typeface="Noto Sans KR" pitchFamily="34" charset="-120"/>
              </a:rPr>
              <a:t>과 객체 추적</a:t>
            </a:r>
            <a:endParaRPr lang="en-US" sz="1600" dirty="0"/>
          </a:p>
        </p:txBody>
      </p:sp>
      <p:sp>
        <p:nvSpPr>
          <p:cNvPr id="13" name="Text 11"/>
          <p:cNvSpPr/>
          <p:nvPr/>
        </p:nvSpPr>
        <p:spPr>
          <a:xfrm>
            <a:off x="6457950" y="3607792"/>
            <a:ext cx="4800727" cy="3199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E6EEF2"/>
                </a:solidFill>
                <a:latin typeface="Noto Sans KR" pitchFamily="34" charset="0"/>
                <a:ea typeface="Noto Sans KR" pitchFamily="34" charset="-122"/>
                <a:cs typeface="Noto Sans KR" pitchFamily="34" charset="-120"/>
              </a:rPr>
              <a:t>웹훅 · 이메일 </a:t>
            </a:r>
            <a:r>
              <a:rPr lang="en-US" sz="1600" b="1" dirty="0">
                <a:solidFill>
                  <a:srgbClr val="E6EEF2"/>
                </a:solidFill>
                <a:latin typeface="Noto Sans KR" pitchFamily="34" charset="0"/>
                <a:ea typeface="Noto Sans KR" pitchFamily="34" charset="-122"/>
                <a:cs typeface="Noto Sans KR" pitchFamily="34" charset="-120"/>
              </a:rPr>
              <a:t>알림</a:t>
            </a:r>
            <a:endParaRPr lang="en-US" sz="1600" dirty="0"/>
          </a:p>
        </p:txBody>
      </p:sp>
      <p:sp>
        <p:nvSpPr>
          <p:cNvPr id="14" name="Text 12"/>
          <p:cNvSpPr/>
          <p:nvPr/>
        </p:nvSpPr>
        <p:spPr>
          <a:xfrm>
            <a:off x="812800" y="4467523"/>
            <a:ext cx="10883392"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DD4BF"/>
                </a:solidFill>
                <a:latin typeface="Noto Sans KR" pitchFamily="34" charset="0"/>
                <a:ea typeface="Noto Sans KR" pitchFamily="34" charset="-122"/>
                <a:cs typeface="Noto Sans KR" pitchFamily="34" charset="-120"/>
              </a:rPr>
              <a:t>감사합니다 · Q&amp;A</a:t>
            </a:r>
            <a:endParaRPr lang="en-US" sz="2800" dirty="0"/>
          </a:p>
        </p:txBody>
      </p:sp>
      <p:sp>
        <p:nvSpPr>
          <p:cNvPr id="15" name="Text 1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95A8"/>
                </a:solidFill>
                <a:latin typeface="Noto Sans KR" pitchFamily="34" charset="0"/>
                <a:ea typeface="Noto Sans KR" pitchFamily="34" charset="-122"/>
                <a:cs typeface="Noto Sans KR" pitchFamily="34" charset="-120"/>
              </a:rPr>
              <a:t>AegisVision · 9 / 9</a:t>
            </a:r>
            <a:endParaRPr lang="en-US" sz="1200" dirty="0"/>
          </a:p>
        </p:txBody>
      </p:sp>
    </p:spTree>
  </p:cSld>
  <p:clrMapOvr>
    <a:masterClrMapping/>
  </p:clrMapOvr>
</p:sld>
</file>

<file path=ppt/theme/theme1.xml><?xml version="1.0" encoding="utf-8"?>
<a:theme xmlns:a="http://schemas.openxmlformats.org/drawingml/2006/main" name="AegisVision 발표자료">
  <a:themeElements>
    <a:clrScheme name="AegisVision 발표자료">
      <a:dk1>
        <a:srgbClr val="0B1626"/>
      </a:dk1>
      <a:lt1>
        <a:srgbClr val="E6EEF2"/>
      </a:lt1>
      <a:dk2>
        <a:srgbClr val="212C3A"/>
      </a:dk2>
      <a:lt2>
        <a:srgbClr val="AFB8BF"/>
      </a:lt2>
      <a:accent1>
        <a:srgbClr val="2DD4BF"/>
      </a:accent1>
      <a:accent2>
        <a:srgbClr val="7F95A8"/>
      </a:accent2>
      <a:accent3>
        <a:srgbClr val="9FB3C5"/>
      </a:accent3>
      <a:accent4>
        <a:srgbClr val="4A5B6B"/>
      </a:accent4>
      <a:accent5>
        <a:srgbClr val="9AA0A6"/>
      </a:accent5>
      <a:accent6>
        <a:srgbClr val="8E98A0"/>
      </a:accent6>
      <a:hlink>
        <a:srgbClr val="0563C1"/>
      </a:hlink>
      <a:folHlink>
        <a:srgbClr val="954F72"/>
      </a:folHlink>
    </a:clrScheme>
    <a:fontScheme name="AegisVision 발표자료">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AegisVision 발표자료</dc:title>
  <dc:subject/>
  <dc:creator/>
  <cp:lastModifiedBy/>
  <cp:revision>1</cp:revision>
  <dcterms:created xsi:type="dcterms:W3CDTF">2026-10-19T01:24:55Z</dcterms:created>
  <dcterms:modified xsi:type="dcterms:W3CDTF">2026-10-19T01:24:55Z</dcterms:modified>
</cp:coreProperties>
</file>