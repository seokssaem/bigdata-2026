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69" r:id="rId4"/>
    <p:sldId id="270" r:id="rId5"/>
    <p:sldId id="271" r:id="rId6"/>
    <p:sldId id="272" r:id="rId7"/>
    <p:sldId id="259" r:id="rId8"/>
    <p:sldId id="260" r:id="rId9"/>
    <p:sldId id="261" r:id="rId10"/>
    <p:sldId id="262" r:id="rId11"/>
    <p:sldId id="263" r:id="rId12"/>
    <p:sldId id="264" r:id="rId13"/>
    <p:sldId id="265" r:id="rId14"/>
    <p:sldId id="266" r:id="rId15"/>
    <p:sldId id="267"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Consolas" panose="020B0609020204030204" pitchFamily="49" charset="0"/>
      <p:regular r:id="rId22"/>
      <p:bold r:id="rId23"/>
      <p:italic r:id="rId24"/>
      <p:boldItalic r:id="rId25"/>
    </p:embeddedFont>
    <p:embeddedFont>
      <p:font typeface="Noto Sans KR" panose="020B0200000000000000" pitchFamily="50" charset="-127"/>
      <p:regular r:id="rId26"/>
      <p:bold r:id="rId27"/>
    </p:embeddedFont>
    <p:embeddedFont>
      <p:font typeface="맑은 고딕" panose="020B0503020000020004" pitchFamily="50" charset="-127"/>
      <p:regular r:id="rId28"/>
      <p:bold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8" d="100"/>
          <a:sy n="108" d="100"/>
        </p:scale>
        <p:origin x="67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034942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안녕하세요. B2B 주문·재고 관리 및 수요 예측 기반 발주 지원 시스템, STOCKFLOW를 소개하겠습니다.</a:t>
            </a:r>
          </a:p>
          <a:p>
            <a:endParaRPr/>
          </a:p>
          <a:p>
            <a:r>
              <a:t>이 프로젝트는 상품과 거래처, 주문, 현재 재고를 한곳에서 관리하고, 과거 주문 이력으로 상품별 주간 수요를 예측해 발주 판단에 필요한 정보를 제공하는 웹 애플리케이션입니다.</a:t>
            </a:r>
          </a:p>
          <a:p>
            <a:endParaRPr/>
          </a:p>
          <a:p>
            <a:r>
              <a:t>백엔드는 FastAPI로 구현했고, 데이터베이스는 PostgreSQL을 기본 배포 구성으로 사용하며 로컬 실행과 테스트에는 SQLite도 사용할 수 있습니다. 지금부터 프로젝트의 목적과 주요 기능, 예측 및 발주 로직, 구현 과정에서 고려한 예외와 개선 방향을 설명드리겠습니다.</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먼저 프로젝트를 진행한 배경입니다.</a:t>
            </a:r>
          </a:p>
          <a:p>
            <a:endParaRPr/>
          </a:p>
          <a:p>
            <a:r>
              <a:t>B2B 환경에서는 거래처 주문과 상품별 현재 재고, 과거 판매 이력을 함께 확인해야 합니다. 하지만 과거 주문이 별도 파일로 관리되면 현재 재고가 충분한지, 입고까지 버틸 수 있는지, 앞으로 얼마를 주문해야 하는지를 한 번에 판단하기 어렵습니다.</a:t>
            </a:r>
          </a:p>
          <a:p>
            <a:endParaRPr/>
          </a:p>
          <a:p>
            <a:r>
              <a:t>STOCKFLOW는 상품·거래처·주문·재고 정보를 하나의 시스템에서 관리하고, 과거 주문 데이터로 미래 수요를 예측합니다. 그리고 예측값을 단순히 보여주는 데 그치지 않고, 입고 소요 시간과 안전재고를 반영해 예상 품절 시점과 추천 발주량으로 연결하는 것을 목표로 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주요 기능은 네 가지로 정리할 수 있습니다.</a:t>
            </a:r>
          </a:p>
          <a:p>
            <a:endParaRPr/>
          </a:p>
          <a:p>
            <a:r>
              <a:t>첫째, 운영 대시보드에서 누적 주문 금액과 주문 수, 상품 수, 거래처 수, 재고 부족 상품 등을 확인할 수 있습니다. 둘째, 주문 등록 시 여러 상품의 수량을 합산해 재고를 확인하고 자동 차감하며, 재고가 음수가 되는 상황을 방지합니다.</a:t>
            </a:r>
          </a:p>
          <a:p>
            <a:endParaRPr/>
          </a:p>
          <a:p>
            <a:r>
              <a:t>셋째, CSV 파일로 과거 주문 이력을 일괄 등록할 수 있습니다. 파일에 없는 상품이나 거래처는 자동으로 생성합니다. 마지막으로, 상품별 주간 수요를 예측하고 그 결과를 현재 재고와 결합해 안전재고와 추천 발주량을 제공합니다.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70483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주요 기능은 네 가지로 정리할 수 있습니다.</a:t>
            </a:r>
          </a:p>
          <a:p>
            <a:endParaRPr/>
          </a:p>
          <a:p>
            <a:r>
              <a:t>첫째, 운영 대시보드에서 누적 주문 금액과 주문 수, 상품 수, 거래처 수, 재고 부족 상품 등을 확인할 수 있습니다. 둘째, 주문 등록 시 여러 상품의 수량을 합산해 재고를 확인하고 자동 차감하며, 재고가 음수가 되는 상황을 방지합니다.</a:t>
            </a:r>
          </a:p>
          <a:p>
            <a:endParaRPr/>
          </a:p>
          <a:p>
            <a:r>
              <a:t>셋째, CSV 파일로 과거 주문 이력을 일괄 등록할 수 있습니다. 파일에 없는 상품이나 거래처는 자동으로 생성합니다. 마지막으로, 상품별 주간 수요를 예측하고 그 결과를 현재 재고와 결합해 안전재고와 추천 발주량을 제공합니다.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85673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주요 기능은 네 가지로 정리할 수 있습니다.</a:t>
            </a:r>
          </a:p>
          <a:p>
            <a:endParaRPr/>
          </a:p>
          <a:p>
            <a:r>
              <a:t>첫째, 운영 대시보드에서 누적 주문 금액과 주문 수, 상품 수, 거래처 수, 재고 부족 상품 등을 확인할 수 있습니다. 둘째, 주문 등록 시 여러 상품의 수량을 합산해 재고를 확인하고 자동 차감하며, 재고가 음수가 되는 상황을 방지합니다.</a:t>
            </a:r>
          </a:p>
          <a:p>
            <a:endParaRPr/>
          </a:p>
          <a:p>
            <a:r>
              <a:t>셋째, CSV 파일로 과거 주문 이력을 일괄 등록할 수 있습니다. 파일에 없는 상품이나 거래처는 자동으로 생성합니다. 마지막으로, 상품별 주간 수요를 예측하고 그 결과를 현재 재고와 결합해 안전재고와 추천 발주량을 제공합니다.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066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주요 기능은 네 가지로 정리할 수 있습니다.</a:t>
            </a:r>
          </a:p>
          <a:p>
            <a:endParaRPr/>
          </a:p>
          <a:p>
            <a:r>
              <a:t>첫째, 운영 대시보드에서 누적 주문 금액과 주문 수, 상품 수, 거래처 수, 재고 부족 상품 등을 확인할 수 있습니다. 둘째, 주문 등록 시 여러 상품의 수량을 합산해 재고를 확인하고 자동 차감하며, 재고가 음수가 되는 상황을 방지합니다.</a:t>
            </a:r>
          </a:p>
          <a:p>
            <a:endParaRPr/>
          </a:p>
          <a:p>
            <a:r>
              <a:t>셋째, CSV 파일로 과거 주문 이력을 일괄 등록할 수 있습니다. 파일에 없는 상품이나 거래처는 자동으로 생성합니다. 마지막으로, 상품별 주간 수요를 예측하고 그 결과를 현재 재고와 결합해 안전재고와 추천 발주량을 제공합니다.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01729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다음은 기술 스택과 시스템 구조입니다.</a:t>
            </a:r>
          </a:p>
          <a:p>
            <a:endParaRPr/>
          </a:p>
          <a:p>
            <a:r>
              <a:t>사용자가 브라우저에서 Jinja2 기반 관리 화면을 이용하면, 화면의 JavaScript fetch 요청이 FastAPI 라우터로 전달됩니다. 라우터에서는 요청과 응답 형식을 검증하고, 서비스 계층에서 주문이나 재고 변경 같은 업무 규칙을 처리합니다. 데이터 조회와 저장은 Repository 계층과 SQLAlchemy를 통해 데이터베이스에 연결됩니다.</a:t>
            </a:r>
          </a:p>
          <a:p>
            <a:endParaRPr/>
          </a:p>
          <a:p>
            <a:r>
              <a:t>예측과 발주 계산은 별도 모듈로 분리해 업무 처리 코드와 구분했습니다. 분석에는 Pandas와 NumPy, scikit-learn을 사용했고, Docker Compose 구성으로 API와 PostgreSQL을 함께 실행할 수 있도록 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데이터베이스의 주요 관계를 보여줍니다.</a:t>
            </a:r>
          </a:p>
          <a:p>
            <a:endParaRPr/>
          </a:p>
          <a:p>
            <a:r>
              <a:t>products는 상품 기준 정보를, inventories는 상품별 현재 재고를 저장합니다. customers는 거래처 정보를 저장하고, orders와 order_items는 주문과 주문에 포함된 상품별 수량 및 단가를 관리합니다.</a:t>
            </a:r>
          </a:p>
          <a:p>
            <a:endParaRPr/>
          </a:p>
          <a:p>
            <a:r>
              <a:t>상품이 등록될 때 해당 상품의 재고 레코드도 함께 생성되며, 상품 SKU와 거래처 사업자번호에는 중복을 방지하기 위한 고유 제약조건을 적용했습니다. 또한 주문 품목에는 주문 당시의 단가를 저장합니다. 따라서 이후 상품 단가가 바뀌더라도 과거 주문 금액은 당시 가격을 기준으로 계산할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다음은 과거 주문 CSV 적재 기능입니다.</a:t>
            </a:r>
          </a:p>
          <a:p>
            <a:endParaRPr/>
          </a:p>
          <a:p>
            <a:r>
              <a:t>CSV에는 주문 식별자, 주문 시각, 거래처 사업자번호와 이름, 상품 SKU와 이름, 수량, 단가 등의 정보가 들어갑니다. 시스템은 사업자번호와 SKU를 기준으로 기존 거래처와 상품을 찾고, 존재하지 않으면 새로 등록합니다.</a:t>
            </a:r>
          </a:p>
          <a:p>
            <a:endParaRPr/>
          </a:p>
          <a:p>
            <a:r>
              <a:t>중요한 점은 과거 주문 이력은 수요 예측을 위한 학습 데이터로 적재되기 때문에 현재 재고를 차감하지 않는다는 것입니다. 또한 저장 전에 파일의 행과 필수 항목을 검증하고, 저장 과정에서 실패하면 트랜잭션을 롤백하도록 했습니다. 파일은 UTF-8 또는 UTF-8 BOM 인코딩을 지원하며 최대 크기는 10MB입니다.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프로젝트의 핵심인 수요 예측 과정을 설명드리겠습니다.</a:t>
            </a:r>
          </a:p>
          <a:p>
            <a:endParaRPr/>
          </a:p>
          <a:p>
            <a:r>
              <a:t>먼저 주문 시각을 기준으로 월요일부터 시작하는 주간 단위로 수량을 집계하고, 주문이 없었던 주는 0으로 채웁니다. 일부 주간과 아직 끝나지 않은 이번 주는 제외합니다. 예측 대상은 완료된 주간이 26주 이상이고, 최근 최대 52주 중 주문이 있었던 주의 비율이 80% 이상인 상품으로 선정합니다.</a:t>
            </a:r>
          </a:p>
          <a:p>
            <a:endParaRPr/>
          </a:p>
          <a:p>
            <a:r>
              <a:t>모델은 상품별 RandomForestRegressor입니다. 직전 1주부터 4주까지의 주문량과 최근 4주 평균, 월초 1일부터 7일까지가 해당 주에 며칠 포함되는지를 입력 특성으로 사용합니다. 미래 수량은 한 주씩 예측하고, 앞서 예측한 값을 다음 주 입력에 반영하는 재귀 방식으로 최대 12주까지 계산할 수 있습니다.</a:t>
            </a:r>
          </a:p>
          <a:p>
            <a:endParaRPr/>
          </a:p>
          <a:p>
            <a:r>
              <a:t>평가는 마지막 8주를 학습에서 제외하고 다음 1주 예측 오차를 백테스트합니다. WAPE는 실제 수량 대비 절대 오차 비율이고, RMSE는 수량 기준 오차 크기입니다. 특히 RMSE는 뒤에서 설명할 안전재고 계산에도 사용합니다.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수요 예측 결과는 발주 추천 로직으로 이어집니다.</a:t>
            </a:r>
          </a:p>
          <a:p>
            <a:endParaRPr/>
          </a:p>
          <a:p>
            <a:r>
              <a:t>안전재고는 목표 서비스 수준에 해당하는 정규분포 분위수와 주간 RMSE, 입고 소요 일수를 이용해 계산합니다. 재주문 수준은 입고까지 예상되는 수요에 안전재고를 더한 값입니다. 목표 재고는 입고 소요 기간과 추가 확보 기간의 예상 수요에 안전재고를 더해 구하고, 추천 발주량은 목표 재고에서 현재 재고를 뺀 값이 음수가 되지 않도록 계산합니다.</a:t>
            </a:r>
          </a:p>
          <a:p>
            <a:endParaRPr/>
          </a:p>
          <a:p>
            <a:r>
              <a:t>재고 상태는 세 가지로 나눕니다. 현재 재고가 입고까지의 예상 수요보다 적으면 URGENT, 재주문 수준보다 적으면 ORDER_NOW, 그 외에는 OK로 표시합니다. 다만 서비스 수준은 계산에 사용하는 목표값이며 실제 품절 방지 확률을 보장하는 수치는 아닙니다. 예측 대상에서 제외된 상품은 고정 재주문 기준으로 발주 필요 여부를 판단합니다.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슬라이드에서는 주요 REST API를 소개하겠습니다.</a:t>
            </a:r>
          </a:p>
          <a:p>
            <a:endParaRPr/>
          </a:p>
          <a:p>
            <a:r>
              <a:t>주문 생성 API는 거래처와 상품별 수량을 받아 주문을 등록하고 재고를 자동 차감합니다. 재고 조정 API는 양수로 입고를, 음수로 출고를 반영합니다. CSV 업로드 API는 과거 주문 이력을 등록하고, 상품별 예측 API는 선택한 상품의 주간 수요 예측 결과를 반환합니다. 발주 추천 API는 입고 소요 일수와 추가 확보 기간, 서비스 수준을 입력받아 추천 결과를 조회합니다.</a:t>
            </a:r>
          </a:p>
          <a:p>
            <a:endParaRPr/>
          </a:p>
          <a:p>
            <a:r>
              <a:t>예를 들어 재고가 부족한 주문은 409, 음수 재고를 만드는 조정은 400으로 처리합니다. CSV 파일이 10MB를 초과하면 413을 반환합니다. 상세 요청과 응답 구조는 FastAPI의 Swagger 문서에서 확인할 수 있도록 구성했습니다.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배포 환경은 Docker Compose를 기준으로 구성했습니다.</a:t>
            </a:r>
          </a:p>
          <a:p>
            <a:endParaRPr/>
          </a:p>
          <a:p>
            <a:r>
              <a:t>API 컨테이너는 Python 3.12 기반에서 FastAPI와 Jinja2 화면을 제공하고, 별도의 PostgreSQL 17 컨테이너가 데이터를 저장합니다. 두 컨테이너는 Compose 네트워크 안에서 서비스 이름인 db를 통해 통신하도록 설정했습니다. 컨테이너 내부에서 localhost를 사용하면 API 컨테이너 자신을 가리키기 때문에 데이터베이스 주소로 사용하지 않는 것이 중요합니다.</a:t>
            </a:r>
          </a:p>
          <a:p>
            <a:endParaRPr/>
          </a:p>
          <a:p>
            <a:r>
              <a:t>또한 PostgreSQL의 헬스체크가 정상 상태가 된 뒤 API가 시작되도록 의존성을 설정했고, named volume을 사용해 컨테이너를 종료해도 데이터가 유지되도록 구성했습니다. 실행 후 관리 화면은 8000번 포트의 UI 경로에서, API 명세는 /docs에서 확인하도록 안내했습니다.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구현 과정에서 고려한 주요 예외와 문제 해결 사례입니다.</a:t>
            </a:r>
          </a:p>
          <a:p>
            <a:endParaRPr/>
          </a:p>
          <a:p>
            <a:r>
              <a:t>첫째, 예측에 필요한 완료 주간이 26주보다 적으면 예측을 수행할 수 없습니다. 이때는 과거 주문 이력을 추가로 적재해야 하며, 예측 대상 조건에 맞지 않는 상품은 고정 재주문 기준으로 판단합니다.</a:t>
            </a:r>
          </a:p>
          <a:p>
            <a:endParaRPr/>
          </a:p>
          <a:p>
            <a:r>
              <a:t>둘째, 데이터가 수정됐는데 캐시 서명이 데이터 크기와 전체 수량 합계 중심이라 변경을 감지하지 못할 수 있습니다. 현재는 애플리케이션을 재시작해 메모리 캐시를 초기화할 수 있지만, 향후에는 데이터 변경을 더 정확히 감지하는 해시나 버전 기반 방식이 필요합니다.</a:t>
            </a:r>
          </a:p>
          <a:p>
            <a:endParaRPr/>
          </a:p>
          <a:p>
            <a:r>
              <a:t>셋째, Docker에서 DB 주소를 localhost로 설정하면 연결에 실패할 수 있어 서비스 이름 db와 포트 5432를 사용하도록 했습니다. 마지막으로 동시 주문이 들어올 때 재고 조회와 차감 사이에 경쟁 상태가 발생할 가능성이 있어, 트랜잭션 잠금이나 조건부 갱신을 통한 보완이 향후 과제입니다.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마지막으로 향후 개선 계획입니다.</a:t>
            </a:r>
          </a:p>
          <a:p>
            <a:endParaRPr/>
          </a:p>
          <a:p>
            <a:r>
              <a:t>첫째, 사용자 인증과 역할별 권한 관리를 도입해 관리자와 일반 사용자의 접근 범위를 구분할 계획입니다. 둘째, 현재는 발주 추천 정보를 조회하는 단계이므로, 추천 수량을 바탕으로 실제 발주서를 생성하고 입고 상태까지 관리하는 기능을 추가할 수 있습니다.</a:t>
            </a:r>
          </a:p>
          <a:p>
            <a:endParaRPr/>
          </a:p>
          <a:p>
            <a:r>
              <a:t>셋째, 주문이 드물게 발생하는 간헐적 수요 상품은 현재 모델의 예측 대상에서 제외될 수 있기 때문에, Croston이나 Prophet 같은 대안 모델을 검토해 상품 특성에 맞는 예측 방식을 적용할 계획입니다.</a:t>
            </a:r>
          </a:p>
          <a:p>
            <a:endParaRPr/>
          </a:p>
          <a:p>
            <a:r>
              <a:t>STOCKFLOW는 주문과 재고 관리, 과거 데이터 적재, 수요 예측, 발주 판단을 하나의 흐름으로 연결한 프로젝트입니다. 이상으로 발표를 마치겠습니다. 경청해 주셔서 감사합니다.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762000" y="4530030"/>
            <a:ext cx="10668000" cy="571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2000" y="4530030"/>
            <a:ext cx="106680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404020" y="4768155"/>
            <a:ext cx="9525" cy="33337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702224" y="4768155"/>
            <a:ext cx="9525" cy="33337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762000" y="1756469"/>
            <a:ext cx="237083" cy="304800"/>
          </a:xfrm>
          <a:prstGeom prst="rect">
            <a:avLst/>
          </a:prstGeom>
        </p:spPr>
      </p:pic>
      <p:sp>
        <p:nvSpPr>
          <p:cNvPr id="7" name="TextBox 6"/>
          <p:cNvSpPr txBox="1"/>
          <p:nvPr/>
        </p:nvSpPr>
        <p:spPr>
          <a:xfrm>
            <a:off x="762000" y="2289869"/>
            <a:ext cx="9101137" cy="1097160"/>
          </a:xfrm>
          <a:prstGeom prst="rect">
            <a:avLst/>
          </a:prstGeom>
          <a:noFill/>
        </p:spPr>
        <p:txBody>
          <a:bodyPr wrap="square" lIns="0" tIns="0" rIns="0" bIns="0" anchor="t">
            <a:spAutoFit/>
          </a:bodyPr>
          <a:lstStyle/>
          <a:p>
            <a:pPr algn="l">
              <a:lnSpc>
                <a:spcPts val="4320"/>
              </a:lnSpc>
            </a:pPr>
            <a:r>
              <a:rPr sz="3600" b="1" i="0" u="none" dirty="0">
                <a:solidFill>
                  <a:srgbClr val="FFFFFF"/>
                </a:solidFill>
                <a:latin typeface="Noto Sans KR" panose="020B0200000000000000" pitchFamily="50" charset="-127"/>
              </a:rPr>
              <a:t>B2B </a:t>
            </a:r>
            <a:r>
              <a:rPr sz="3600" b="1" i="0" u="none" dirty="0" err="1">
                <a:solidFill>
                  <a:srgbClr val="FFFFFF"/>
                </a:solidFill>
                <a:latin typeface="Noto Sans KR" panose="020B0200000000000000" pitchFamily="50" charset="-127"/>
              </a:rPr>
              <a:t>주문·재고</a:t>
            </a:r>
            <a:r>
              <a:rPr sz="3600" b="1" i="0" u="none" dirty="0">
                <a:solidFill>
                  <a:srgbClr val="FFFFFF"/>
                </a:solidFill>
                <a:latin typeface="Noto Sans KR" panose="020B0200000000000000" pitchFamily="50" charset="-127"/>
              </a:rPr>
              <a:t> </a:t>
            </a:r>
            <a:r>
              <a:rPr sz="3600" b="1" i="0" u="none" dirty="0" err="1">
                <a:solidFill>
                  <a:srgbClr val="FFFFFF"/>
                </a:solidFill>
                <a:latin typeface="Noto Sans KR" panose="020B0200000000000000" pitchFamily="50" charset="-127"/>
              </a:rPr>
              <a:t>관리</a:t>
            </a:r>
            <a:r>
              <a:rPr sz="3600" b="1" i="0" u="none" dirty="0">
                <a:solidFill>
                  <a:srgbClr val="FFFFFF"/>
                </a:solidFill>
                <a:latin typeface="Noto Sans KR" panose="020B0200000000000000" pitchFamily="50" charset="-127"/>
              </a:rPr>
              <a:t> 및</a:t>
            </a:r>
            <a:r>
              <a:rPr dirty="0"/>
              <a:t>
</a:t>
            </a:r>
            <a:r>
              <a:rPr sz="3600" b="1" i="0" u="none" dirty="0">
                <a:solidFill>
                  <a:srgbClr val="FFFFFF"/>
                </a:solidFill>
                <a:latin typeface="Noto Sans KR" panose="020B0200000000000000" pitchFamily="50" charset="-127"/>
              </a:rPr>
              <a:t> </a:t>
            </a:r>
            <a:r>
              <a:rPr sz="3600" b="1" i="0" u="none" dirty="0" err="1">
                <a:solidFill>
                  <a:srgbClr val="FFFFFF"/>
                </a:solidFill>
                <a:latin typeface="Noto Sans KR" panose="020B0200000000000000" pitchFamily="50" charset="-127"/>
              </a:rPr>
              <a:t>수요</a:t>
            </a:r>
            <a:r>
              <a:rPr sz="3600" b="1" i="0" u="none" dirty="0">
                <a:solidFill>
                  <a:srgbClr val="FFFFFF"/>
                </a:solidFill>
                <a:latin typeface="Noto Sans KR" panose="020B0200000000000000" pitchFamily="50" charset="-127"/>
              </a:rPr>
              <a:t> </a:t>
            </a:r>
            <a:r>
              <a:rPr sz="3600" b="1" i="0" u="none" dirty="0" err="1">
                <a:solidFill>
                  <a:srgbClr val="FFFFFF"/>
                </a:solidFill>
                <a:latin typeface="Noto Sans KR" panose="020B0200000000000000" pitchFamily="50" charset="-127"/>
              </a:rPr>
              <a:t>예측</a:t>
            </a:r>
            <a:r>
              <a:rPr sz="3600" b="1" i="0" u="none" dirty="0">
                <a:solidFill>
                  <a:srgbClr val="FFFFFF"/>
                </a:solidFill>
                <a:latin typeface="Noto Sans KR" panose="020B0200000000000000" pitchFamily="50" charset="-127"/>
              </a:rPr>
              <a:t> </a:t>
            </a:r>
            <a:r>
              <a:rPr sz="3600" b="1" i="0" u="none" dirty="0" err="1">
                <a:solidFill>
                  <a:srgbClr val="FFFFFF"/>
                </a:solidFill>
                <a:latin typeface="Noto Sans KR" panose="020B0200000000000000" pitchFamily="50" charset="-127"/>
              </a:rPr>
              <a:t>기반</a:t>
            </a:r>
            <a:r>
              <a:rPr sz="3600" b="1" i="0" u="none" dirty="0">
                <a:solidFill>
                  <a:srgbClr val="FFFFFF"/>
                </a:solidFill>
                <a:latin typeface="Noto Sans KR" panose="020B0200000000000000" pitchFamily="50" charset="-127"/>
              </a:rPr>
              <a:t> </a:t>
            </a:r>
            <a:r>
              <a:rPr sz="3600" b="1" i="0" u="none" dirty="0" err="1">
                <a:solidFill>
                  <a:srgbClr val="FFFFFF"/>
                </a:solidFill>
                <a:latin typeface="Noto Sans KR" panose="020B0200000000000000" pitchFamily="50" charset="-127"/>
              </a:rPr>
              <a:t>발주</a:t>
            </a:r>
            <a:r>
              <a:rPr sz="3600" b="1" i="0" u="none" dirty="0">
                <a:solidFill>
                  <a:srgbClr val="FFFFFF"/>
                </a:solidFill>
                <a:latin typeface="Noto Sans KR" panose="020B0200000000000000" pitchFamily="50" charset="-127"/>
              </a:rPr>
              <a:t> </a:t>
            </a:r>
            <a:r>
              <a:rPr sz="3600" b="1" i="0" u="none" dirty="0" err="1">
                <a:solidFill>
                  <a:srgbClr val="FFFFFF"/>
                </a:solidFill>
                <a:latin typeface="Noto Sans KR" panose="020B0200000000000000" pitchFamily="50" charset="-127"/>
              </a:rPr>
              <a:t>지원</a:t>
            </a:r>
            <a:r>
              <a:rPr sz="3600" b="1" i="0" u="none" dirty="0">
                <a:solidFill>
                  <a:srgbClr val="FFFFFF"/>
                </a:solidFill>
                <a:latin typeface="Noto Sans KR" panose="020B0200000000000000" pitchFamily="50" charset="-127"/>
              </a:rPr>
              <a:t> </a:t>
            </a:r>
            <a:r>
              <a:rPr sz="3600" b="1" i="0" u="none" dirty="0" err="1">
                <a:solidFill>
                  <a:srgbClr val="FFFFFF"/>
                </a:solidFill>
                <a:latin typeface="Noto Sans KR" panose="020B0200000000000000" pitchFamily="50" charset="-127"/>
              </a:rPr>
              <a:t>시스템</a:t>
            </a:r>
            <a:endParaRPr sz="3600" b="1" i="0" u="none" dirty="0">
              <a:solidFill>
                <a:srgbClr val="FFFFFF"/>
              </a:solidFill>
              <a:latin typeface="Noto Sans KR" panose="020B0200000000000000" pitchFamily="50" charset="-127"/>
            </a:endParaRPr>
          </a:p>
        </p:txBody>
      </p:sp>
      <p:sp>
        <p:nvSpPr>
          <p:cNvPr id="8" name="TextBox 7"/>
          <p:cNvSpPr txBox="1"/>
          <p:nvPr/>
        </p:nvSpPr>
        <p:spPr>
          <a:xfrm>
            <a:off x="762000" y="3577530"/>
            <a:ext cx="6762750" cy="571500"/>
          </a:xfrm>
          <a:prstGeom prst="rect">
            <a:avLst/>
          </a:prstGeom>
          <a:noFill/>
        </p:spPr>
        <p:txBody>
          <a:bodyPr wrap="square" lIns="0" tIns="0" rIns="0" bIns="0" anchor="t">
            <a:spAutoFit/>
          </a:bodyPr>
          <a:lstStyle/>
          <a:p>
            <a:pPr algn="l">
              <a:lnSpc>
                <a:spcPts val="2250"/>
              </a:lnSpc>
            </a:pPr>
            <a:r>
              <a:rPr sz="1500" b="0" i="0" u="none" dirty="0" err="1">
                <a:solidFill>
                  <a:srgbClr val="94A3B8"/>
                </a:solidFill>
                <a:latin typeface="Noto Sans KR" panose="020B0200000000000000" pitchFamily="50" charset="-127"/>
              </a:rPr>
              <a:t>과거</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판매</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이력과</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머신러닝</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예측을</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결합하여</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품절</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위험을</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사전에</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방지하고</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최적의</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발주</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시점을</a:t>
            </a:r>
            <a:r>
              <a:rPr sz="1500" b="0" i="0" u="none" dirty="0">
                <a:solidFill>
                  <a:srgbClr val="94A3B8"/>
                </a:solidFill>
                <a:latin typeface="Noto Sans KR" panose="020B0200000000000000" pitchFamily="50" charset="-127"/>
              </a:rPr>
              <a:t> </a:t>
            </a:r>
            <a:r>
              <a:rPr sz="1500" b="0" i="0" u="none" dirty="0" err="1">
                <a:solidFill>
                  <a:srgbClr val="94A3B8"/>
                </a:solidFill>
                <a:latin typeface="Noto Sans KR" panose="020B0200000000000000" pitchFamily="50" charset="-127"/>
              </a:rPr>
              <a:t>제시합니다</a:t>
            </a:r>
            <a:r>
              <a:rPr sz="1500" b="0" i="0" u="none" dirty="0">
                <a:solidFill>
                  <a:srgbClr val="94A3B8"/>
                </a:solidFill>
                <a:latin typeface="Noto Sans KR" panose="020B0200000000000000" pitchFamily="50" charset="-127"/>
              </a:rPr>
              <a:t>.</a:t>
            </a:r>
          </a:p>
        </p:txBody>
      </p:sp>
      <p:sp>
        <p:nvSpPr>
          <p:cNvPr id="9" name="TextBox 8"/>
          <p:cNvSpPr txBox="1"/>
          <p:nvPr/>
        </p:nvSpPr>
        <p:spPr>
          <a:xfrm>
            <a:off x="1113383" y="1799332"/>
            <a:ext cx="1192634" cy="230832"/>
          </a:xfrm>
          <a:prstGeom prst="rect">
            <a:avLst/>
          </a:prstGeom>
          <a:noFill/>
        </p:spPr>
        <p:txBody>
          <a:bodyPr wrap="none" lIns="0" tIns="0" rIns="0" bIns="0" anchor="t">
            <a:spAutoFit/>
          </a:bodyPr>
          <a:lstStyle/>
          <a:p>
            <a:pPr algn="l"/>
            <a:r>
              <a:rPr sz="1500" b="1" i="0" u="none" dirty="0">
                <a:solidFill>
                  <a:srgbClr val="60A5FA"/>
                </a:solidFill>
                <a:latin typeface="Noto Sans KR" panose="020B0200000000000000" pitchFamily="50" charset="-127"/>
              </a:rPr>
              <a:t>STOCKFLOW</a:t>
            </a:r>
          </a:p>
        </p:txBody>
      </p:sp>
      <p:sp>
        <p:nvSpPr>
          <p:cNvPr id="10" name="TextBox 9"/>
          <p:cNvSpPr txBox="1"/>
          <p:nvPr/>
        </p:nvSpPr>
        <p:spPr>
          <a:xfrm>
            <a:off x="762000" y="4768155"/>
            <a:ext cx="806311" cy="138499"/>
          </a:xfrm>
          <a:prstGeom prst="rect">
            <a:avLst/>
          </a:prstGeom>
          <a:noFill/>
        </p:spPr>
        <p:txBody>
          <a:bodyPr wrap="none" lIns="0" tIns="0" rIns="0" bIns="0" anchor="t">
            <a:spAutoFit/>
          </a:bodyPr>
          <a:lstStyle/>
          <a:p>
            <a:pPr algn="l"/>
            <a:r>
              <a:rPr sz="900" b="1" i="0" u="none" dirty="0">
                <a:solidFill>
                  <a:srgbClr val="64748B"/>
                </a:solidFill>
                <a:latin typeface="Noto Sans KR" panose="020B0200000000000000" pitchFamily="50" charset="-127"/>
              </a:rPr>
              <a:t>BACKEND / ML</a:t>
            </a:r>
          </a:p>
        </p:txBody>
      </p:sp>
      <p:sp>
        <p:nvSpPr>
          <p:cNvPr id="11" name="TextBox 10"/>
          <p:cNvSpPr txBox="1"/>
          <p:nvPr/>
        </p:nvSpPr>
        <p:spPr>
          <a:xfrm>
            <a:off x="762000" y="4939605"/>
            <a:ext cx="1492396" cy="173124"/>
          </a:xfrm>
          <a:prstGeom prst="rect">
            <a:avLst/>
          </a:prstGeom>
          <a:noFill/>
        </p:spPr>
        <p:txBody>
          <a:bodyPr wrap="none" lIns="0" tIns="0" rIns="0" bIns="0" anchor="t">
            <a:spAutoFit/>
          </a:bodyPr>
          <a:lstStyle/>
          <a:p>
            <a:pPr algn="l"/>
            <a:r>
              <a:rPr sz="1125" b="1" i="0" u="none" dirty="0" err="1">
                <a:solidFill>
                  <a:srgbClr val="E2E8F0"/>
                </a:solidFill>
                <a:latin typeface="Noto Sans KR" panose="020B0200000000000000" pitchFamily="50" charset="-127"/>
              </a:rPr>
              <a:t>FastAPI</a:t>
            </a:r>
            <a:r>
              <a:rPr sz="1125" b="1" i="0" u="none" dirty="0">
                <a:solidFill>
                  <a:srgbClr val="E2E8F0"/>
                </a:solidFill>
                <a:latin typeface="Noto Sans KR" panose="020B0200000000000000" pitchFamily="50" charset="-127"/>
              </a:rPr>
              <a:t> · scikit-learn</a:t>
            </a:r>
          </a:p>
        </p:txBody>
      </p:sp>
      <p:sp>
        <p:nvSpPr>
          <p:cNvPr id="12" name="TextBox 11"/>
          <p:cNvSpPr txBox="1"/>
          <p:nvPr/>
        </p:nvSpPr>
        <p:spPr>
          <a:xfrm>
            <a:off x="2642145" y="4768155"/>
            <a:ext cx="596317" cy="138499"/>
          </a:xfrm>
          <a:prstGeom prst="rect">
            <a:avLst/>
          </a:prstGeom>
          <a:noFill/>
        </p:spPr>
        <p:txBody>
          <a:bodyPr wrap="none" lIns="0" tIns="0" rIns="0" bIns="0" anchor="t">
            <a:spAutoFit/>
          </a:bodyPr>
          <a:lstStyle/>
          <a:p>
            <a:pPr algn="l"/>
            <a:r>
              <a:rPr sz="900" b="1" i="0" u="none" dirty="0">
                <a:solidFill>
                  <a:srgbClr val="64748B"/>
                </a:solidFill>
                <a:latin typeface="Noto Sans KR" panose="020B0200000000000000" pitchFamily="50" charset="-127"/>
              </a:rPr>
              <a:t>DATABASE</a:t>
            </a:r>
          </a:p>
        </p:txBody>
      </p:sp>
      <p:sp>
        <p:nvSpPr>
          <p:cNvPr id="13" name="TextBox 12"/>
          <p:cNvSpPr txBox="1"/>
          <p:nvPr/>
        </p:nvSpPr>
        <p:spPr>
          <a:xfrm>
            <a:off x="2642145" y="4939605"/>
            <a:ext cx="1851469" cy="173124"/>
          </a:xfrm>
          <a:prstGeom prst="rect">
            <a:avLst/>
          </a:prstGeom>
          <a:noFill/>
        </p:spPr>
        <p:txBody>
          <a:bodyPr wrap="none" lIns="0" tIns="0" rIns="0" bIns="0" anchor="t">
            <a:spAutoFit/>
          </a:bodyPr>
          <a:lstStyle/>
          <a:p>
            <a:pPr algn="l"/>
            <a:r>
              <a:rPr sz="1125" b="1" i="0" u="none" dirty="0">
                <a:solidFill>
                  <a:srgbClr val="E2E8F0"/>
                </a:solidFill>
                <a:latin typeface="Noto Sans KR" panose="020B0200000000000000" pitchFamily="50" charset="-127"/>
              </a:rPr>
              <a:t>PostgreSQL / </a:t>
            </a:r>
            <a:r>
              <a:rPr sz="1125" b="1" i="0" u="none" dirty="0" err="1">
                <a:solidFill>
                  <a:srgbClr val="E2E8F0"/>
                </a:solidFill>
                <a:latin typeface="Noto Sans KR" panose="020B0200000000000000" pitchFamily="50" charset="-127"/>
              </a:rPr>
              <a:t>SQLAlchemy</a:t>
            </a:r>
            <a:endParaRPr sz="1125" b="1" i="0" u="none" dirty="0">
              <a:solidFill>
                <a:srgbClr val="E2E8F0"/>
              </a:solidFill>
              <a:latin typeface="Noto Sans KR" panose="020B0200000000000000" pitchFamily="50" charset="-127"/>
            </a:endParaRPr>
          </a:p>
        </p:txBody>
      </p:sp>
      <p:sp>
        <p:nvSpPr>
          <p:cNvPr id="14" name="TextBox 13"/>
          <p:cNvSpPr txBox="1"/>
          <p:nvPr/>
        </p:nvSpPr>
        <p:spPr>
          <a:xfrm>
            <a:off x="4940349" y="4768155"/>
            <a:ext cx="633187" cy="138499"/>
          </a:xfrm>
          <a:prstGeom prst="rect">
            <a:avLst/>
          </a:prstGeom>
          <a:noFill/>
        </p:spPr>
        <p:txBody>
          <a:bodyPr wrap="none" lIns="0" tIns="0" rIns="0" bIns="0" anchor="t">
            <a:spAutoFit/>
          </a:bodyPr>
          <a:lstStyle/>
          <a:p>
            <a:pPr algn="l"/>
            <a:r>
              <a:rPr sz="900" b="1" i="0" u="none" dirty="0">
                <a:solidFill>
                  <a:srgbClr val="64748B"/>
                </a:solidFill>
                <a:latin typeface="Noto Sans KR" panose="020B0200000000000000" pitchFamily="50" charset="-127"/>
              </a:rPr>
              <a:t>INTERFACE</a:t>
            </a:r>
          </a:p>
        </p:txBody>
      </p:sp>
      <p:sp>
        <p:nvSpPr>
          <p:cNvPr id="15" name="TextBox 14"/>
          <p:cNvSpPr txBox="1"/>
          <p:nvPr/>
        </p:nvSpPr>
        <p:spPr>
          <a:xfrm>
            <a:off x="4940349" y="4939605"/>
            <a:ext cx="1428276" cy="173124"/>
          </a:xfrm>
          <a:prstGeom prst="rect">
            <a:avLst/>
          </a:prstGeom>
          <a:noFill/>
        </p:spPr>
        <p:txBody>
          <a:bodyPr wrap="none" lIns="0" tIns="0" rIns="0" bIns="0" anchor="t">
            <a:spAutoFit/>
          </a:bodyPr>
          <a:lstStyle/>
          <a:p>
            <a:pPr algn="l"/>
            <a:r>
              <a:rPr sz="1125" b="1" i="0" u="none" dirty="0">
                <a:solidFill>
                  <a:srgbClr val="E2E8F0"/>
                </a:solidFill>
                <a:latin typeface="Noto Sans KR" panose="020B0200000000000000" pitchFamily="50" charset="-127"/>
              </a:rPr>
              <a:t>Jinja2 · Async Fetch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1500" y="1196280"/>
            <a:ext cx="5372100" cy="5280719"/>
          </a:xfrm>
          <a:prstGeom prst="roundRect">
            <a:avLst>
              <a:gd name="adj" fmla="val 28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1196280"/>
            <a:ext cx="5372100" cy="5280719"/>
          </a:xfrm>
          <a:prstGeom prst="roundRect">
            <a:avLst>
              <a:gd name="adj" fmla="val 2885"/>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85825" y="5686425"/>
            <a:ext cx="4743450" cy="476250"/>
          </a:xfrm>
          <a:prstGeom prst="roundRect">
            <a:avLst>
              <a:gd name="adj" fmla="val 1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62725" y="5686425"/>
            <a:ext cx="4743450" cy="476250"/>
          </a:xfrm>
          <a:prstGeom prst="roundRect">
            <a:avLst>
              <a:gd name="adj" fmla="val 1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885825" y="1510605"/>
            <a:ext cx="342900" cy="342900"/>
          </a:xfrm>
          <a:prstGeom prst="rect">
            <a:avLst/>
          </a:prstGeom>
        </p:spPr>
      </p:pic>
      <p:pic>
        <p:nvPicPr>
          <p:cNvPr id="7" name="Picture 6" descr="image.png"/>
          <p:cNvPicPr>
            <a:picLocks noChangeAspect="1"/>
          </p:cNvPicPr>
          <p:nvPr/>
        </p:nvPicPr>
        <p:blipFill>
          <a:blip r:embed="rId4"/>
          <a:stretch>
            <a:fillRect/>
          </a:stretch>
        </p:blipFill>
        <p:spPr>
          <a:xfrm>
            <a:off x="6562725" y="1510605"/>
            <a:ext cx="342900" cy="342900"/>
          </a:xfrm>
          <a:prstGeom prst="rect">
            <a:avLst/>
          </a:prstGeom>
        </p:spPr>
      </p:pic>
      <p:pic>
        <p:nvPicPr>
          <p:cNvPr id="8" name="Picture 7" descr="image.png"/>
          <p:cNvPicPr>
            <a:picLocks noChangeAspect="1"/>
          </p:cNvPicPr>
          <p:nvPr/>
        </p:nvPicPr>
        <p:blipFill>
          <a:blip r:embed="rId5"/>
          <a:stretch>
            <a:fillRect/>
          </a:stretch>
        </p:blipFill>
        <p:spPr>
          <a:xfrm>
            <a:off x="997892" y="1605855"/>
            <a:ext cx="118616" cy="152400"/>
          </a:xfrm>
          <a:prstGeom prst="rect">
            <a:avLst/>
          </a:prstGeom>
        </p:spPr>
      </p:pic>
      <p:pic>
        <p:nvPicPr>
          <p:cNvPr id="9" name="Picture 8" descr="image.png"/>
          <p:cNvPicPr>
            <a:picLocks noChangeAspect="1"/>
          </p:cNvPicPr>
          <p:nvPr/>
        </p:nvPicPr>
        <p:blipFill>
          <a:blip r:embed="rId6"/>
          <a:stretch>
            <a:fillRect/>
          </a:stretch>
        </p:blipFill>
        <p:spPr>
          <a:xfrm>
            <a:off x="6674792" y="1605855"/>
            <a:ext cx="118616" cy="152400"/>
          </a:xfrm>
          <a:prstGeom prst="rect">
            <a:avLst/>
          </a:prstGeom>
        </p:spPr>
      </p:pic>
      <p:pic>
        <p:nvPicPr>
          <p:cNvPr id="10" name="Picture 9" descr="image.png"/>
          <p:cNvPicPr>
            <a:picLocks noChangeAspect="1"/>
          </p:cNvPicPr>
          <p:nvPr/>
        </p:nvPicPr>
        <p:blipFill>
          <a:blip r:embed="rId7"/>
          <a:stretch>
            <a:fillRect/>
          </a:stretch>
        </p:blipFill>
        <p:spPr>
          <a:xfrm>
            <a:off x="885825" y="2072580"/>
            <a:ext cx="118616" cy="171450"/>
          </a:xfrm>
          <a:prstGeom prst="rect">
            <a:avLst/>
          </a:prstGeom>
        </p:spPr>
      </p:pic>
      <p:pic>
        <p:nvPicPr>
          <p:cNvPr id="11" name="Picture 10" descr="image.png"/>
          <p:cNvPicPr>
            <a:picLocks noChangeAspect="1"/>
          </p:cNvPicPr>
          <p:nvPr/>
        </p:nvPicPr>
        <p:blipFill>
          <a:blip r:embed="rId7"/>
          <a:stretch>
            <a:fillRect/>
          </a:stretch>
        </p:blipFill>
        <p:spPr>
          <a:xfrm>
            <a:off x="885825" y="2651521"/>
            <a:ext cx="118616" cy="171450"/>
          </a:xfrm>
          <a:prstGeom prst="rect">
            <a:avLst/>
          </a:prstGeom>
        </p:spPr>
      </p:pic>
      <p:pic>
        <p:nvPicPr>
          <p:cNvPr id="12" name="Picture 11" descr="image.png"/>
          <p:cNvPicPr>
            <a:picLocks noChangeAspect="1"/>
          </p:cNvPicPr>
          <p:nvPr/>
        </p:nvPicPr>
        <p:blipFill>
          <a:blip r:embed="rId7"/>
          <a:stretch>
            <a:fillRect/>
          </a:stretch>
        </p:blipFill>
        <p:spPr>
          <a:xfrm>
            <a:off x="885825" y="3230463"/>
            <a:ext cx="118616" cy="171450"/>
          </a:xfrm>
          <a:prstGeom prst="rect">
            <a:avLst/>
          </a:prstGeom>
        </p:spPr>
      </p:pic>
      <p:pic>
        <p:nvPicPr>
          <p:cNvPr id="13" name="Picture 12" descr="image.png"/>
          <p:cNvPicPr>
            <a:picLocks noChangeAspect="1"/>
          </p:cNvPicPr>
          <p:nvPr/>
        </p:nvPicPr>
        <p:blipFill>
          <a:blip r:embed="rId8"/>
          <a:stretch>
            <a:fillRect/>
          </a:stretch>
        </p:blipFill>
        <p:spPr>
          <a:xfrm>
            <a:off x="6562725" y="2072580"/>
            <a:ext cx="118616" cy="171450"/>
          </a:xfrm>
          <a:prstGeom prst="rect">
            <a:avLst/>
          </a:prstGeom>
        </p:spPr>
      </p:pic>
      <p:pic>
        <p:nvPicPr>
          <p:cNvPr id="14" name="Picture 13" descr="image.png"/>
          <p:cNvPicPr>
            <a:picLocks noChangeAspect="1"/>
          </p:cNvPicPr>
          <p:nvPr/>
        </p:nvPicPr>
        <p:blipFill>
          <a:blip r:embed="rId8"/>
          <a:stretch>
            <a:fillRect/>
          </a:stretch>
        </p:blipFill>
        <p:spPr>
          <a:xfrm>
            <a:off x="6562725" y="2651521"/>
            <a:ext cx="118616" cy="171450"/>
          </a:xfrm>
          <a:prstGeom prst="rect">
            <a:avLst/>
          </a:prstGeom>
        </p:spPr>
      </p:pic>
      <p:pic>
        <p:nvPicPr>
          <p:cNvPr id="15" name="Picture 14" descr="image.png"/>
          <p:cNvPicPr>
            <a:picLocks noChangeAspect="1"/>
          </p:cNvPicPr>
          <p:nvPr/>
        </p:nvPicPr>
        <p:blipFill>
          <a:blip r:embed="rId8"/>
          <a:stretch>
            <a:fillRect/>
          </a:stretch>
        </p:blipFill>
        <p:spPr>
          <a:xfrm>
            <a:off x="6562725" y="3230463"/>
            <a:ext cx="118616" cy="171450"/>
          </a:xfrm>
          <a:prstGeom prst="rect">
            <a:avLst/>
          </a:prstGeom>
        </p:spPr>
      </p:pic>
      <p:sp>
        <p:nvSpPr>
          <p:cNvPr id="16" name="TextBox 15"/>
          <p:cNvSpPr txBox="1"/>
          <p:nvPr/>
        </p:nvSpPr>
        <p:spPr>
          <a:xfrm>
            <a:off x="571500" y="381000"/>
            <a:ext cx="1628651"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1. BACKGROUND &amp; GOAL</a:t>
            </a:r>
          </a:p>
        </p:txBody>
      </p:sp>
      <p:sp>
        <p:nvSpPr>
          <p:cNvPr id="17" name="TextBox 16"/>
          <p:cNvSpPr txBox="1"/>
          <p:nvPr/>
        </p:nvSpPr>
        <p:spPr>
          <a:xfrm>
            <a:off x="571500" y="590550"/>
            <a:ext cx="2976777"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프로젝트</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추진</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배경</a:t>
            </a:r>
            <a:r>
              <a:rPr sz="2100" b="1" i="0" u="none" dirty="0">
                <a:solidFill>
                  <a:srgbClr val="0F172A"/>
                </a:solidFill>
                <a:latin typeface="Noto Sans KR" panose="020B0200000000000000" pitchFamily="50" charset="-127"/>
              </a:rPr>
              <a:t> 및 </a:t>
            </a:r>
            <a:r>
              <a:rPr sz="2100" b="1" i="0" u="none" dirty="0" err="1">
                <a:solidFill>
                  <a:srgbClr val="0F172A"/>
                </a:solidFill>
                <a:latin typeface="Noto Sans KR" panose="020B0200000000000000" pitchFamily="50" charset="-127"/>
              </a:rPr>
              <a:t>목적</a:t>
            </a:r>
            <a:endParaRPr sz="2100" b="1" i="0" u="none" dirty="0">
              <a:solidFill>
                <a:srgbClr val="0F172A"/>
              </a:solidFill>
              <a:latin typeface="Noto Sans KR" panose="020B0200000000000000" pitchFamily="50" charset="-127"/>
            </a:endParaRPr>
          </a:p>
        </p:txBody>
      </p:sp>
      <p:sp>
        <p:nvSpPr>
          <p:cNvPr id="18" name="TextBox 17"/>
          <p:cNvSpPr txBox="1"/>
          <p:nvPr/>
        </p:nvSpPr>
        <p:spPr>
          <a:xfrm>
            <a:off x="1038225" y="5838825"/>
            <a:ext cx="4533900" cy="161583"/>
          </a:xfrm>
          <a:prstGeom prst="rect">
            <a:avLst/>
          </a:prstGeom>
          <a:noFill/>
        </p:spPr>
        <p:txBody>
          <a:bodyPr wrap="square" lIns="0" tIns="0" rIns="0" bIns="0" anchor="t">
            <a:spAutoFit/>
          </a:bodyPr>
          <a:lstStyle/>
          <a:p>
            <a:pPr algn="l"/>
            <a:r>
              <a:rPr sz="1050" b="0" i="0" u="none" dirty="0" err="1">
                <a:solidFill>
                  <a:srgbClr val="64748B"/>
                </a:solidFill>
                <a:latin typeface="Noto Sans KR" panose="020B0200000000000000" pitchFamily="50" charset="-127"/>
              </a:rPr>
              <a:t>결과</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리드타임</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지연</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안전재고</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부족</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과다</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재고</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또는</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품절</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위험</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상존</a:t>
            </a:r>
            <a:endParaRPr sz="1050" b="0" i="0" u="none" dirty="0">
              <a:solidFill>
                <a:srgbClr val="64748B"/>
              </a:solidFill>
              <a:latin typeface="Noto Sans KR" panose="020B0200000000000000" pitchFamily="50" charset="-127"/>
            </a:endParaRPr>
          </a:p>
        </p:txBody>
      </p:sp>
      <p:sp>
        <p:nvSpPr>
          <p:cNvPr id="19" name="TextBox 18"/>
          <p:cNvSpPr txBox="1"/>
          <p:nvPr/>
        </p:nvSpPr>
        <p:spPr>
          <a:xfrm>
            <a:off x="6715125" y="5838825"/>
            <a:ext cx="4533900" cy="161583"/>
          </a:xfrm>
          <a:prstGeom prst="rect">
            <a:avLst/>
          </a:prstGeom>
          <a:noFill/>
        </p:spPr>
        <p:txBody>
          <a:bodyPr wrap="square" lIns="0" tIns="0" rIns="0" bIns="0" anchor="t">
            <a:spAutoFit/>
          </a:bodyPr>
          <a:lstStyle/>
          <a:p>
            <a:pPr algn="l"/>
            <a:r>
              <a:rPr sz="1050" b="1" i="0" u="none" dirty="0" err="1">
                <a:solidFill>
                  <a:srgbClr val="1D4ED8"/>
                </a:solidFill>
                <a:latin typeface="Noto Sans KR" panose="020B0200000000000000" pitchFamily="50" charset="-127"/>
              </a:rPr>
              <a:t>목표</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예측</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데이터를</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실제</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재고</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운영</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판단</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정보로</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자동</a:t>
            </a:r>
            <a:r>
              <a:rPr sz="1050" b="1" i="0" u="none" dirty="0">
                <a:solidFill>
                  <a:srgbClr val="1D4ED8"/>
                </a:solidFill>
                <a:latin typeface="Noto Sans KR" panose="020B0200000000000000" pitchFamily="50" charset="-127"/>
              </a:rPr>
              <a:t> </a:t>
            </a:r>
            <a:r>
              <a:rPr sz="1050" b="1" i="0" u="none" dirty="0" err="1">
                <a:solidFill>
                  <a:srgbClr val="1D4ED8"/>
                </a:solidFill>
                <a:latin typeface="Noto Sans KR" panose="020B0200000000000000" pitchFamily="50" charset="-127"/>
              </a:rPr>
              <a:t>변환</a:t>
            </a:r>
            <a:endParaRPr sz="1050" b="1" i="0" u="none" dirty="0">
              <a:solidFill>
                <a:srgbClr val="1D4ED8"/>
              </a:solidFill>
              <a:latin typeface="Noto Sans KR" panose="020B0200000000000000" pitchFamily="50" charset="-127"/>
            </a:endParaRPr>
          </a:p>
        </p:txBody>
      </p:sp>
      <p:sp>
        <p:nvSpPr>
          <p:cNvPr id="20" name="TextBox 19"/>
          <p:cNvSpPr txBox="1"/>
          <p:nvPr/>
        </p:nvSpPr>
        <p:spPr>
          <a:xfrm>
            <a:off x="1323975" y="1553467"/>
            <a:ext cx="2313134" cy="230832"/>
          </a:xfrm>
          <a:prstGeom prst="rect">
            <a:avLst/>
          </a:prstGeom>
          <a:noFill/>
        </p:spPr>
        <p:txBody>
          <a:bodyPr wrap="none" lIns="0" tIns="0" rIns="0" bIns="0" anchor="t">
            <a:spAutoFit/>
          </a:bodyPr>
          <a:lstStyle/>
          <a:p>
            <a:pPr algn="l"/>
            <a:r>
              <a:rPr sz="1500" b="1" i="0" u="none" dirty="0" err="1">
                <a:solidFill>
                  <a:srgbClr val="0F172A"/>
                </a:solidFill>
                <a:latin typeface="Noto Sans KR" panose="020B0200000000000000" pitchFamily="50" charset="-127"/>
              </a:rPr>
              <a:t>기존</a:t>
            </a:r>
            <a:r>
              <a:rPr sz="1500" b="1" i="0" u="none" dirty="0">
                <a:solidFill>
                  <a:srgbClr val="0F172A"/>
                </a:solidFill>
                <a:latin typeface="Noto Sans KR" panose="020B0200000000000000" pitchFamily="50" charset="-127"/>
              </a:rPr>
              <a:t> B2B </a:t>
            </a:r>
            <a:r>
              <a:rPr sz="1500" b="1" i="0" u="none" dirty="0" err="1">
                <a:solidFill>
                  <a:srgbClr val="0F172A"/>
                </a:solidFill>
                <a:latin typeface="Noto Sans KR" panose="020B0200000000000000" pitchFamily="50" charset="-127"/>
              </a:rPr>
              <a:t>재고</a:t>
            </a:r>
            <a:r>
              <a:rPr sz="1500" b="1" i="0" u="none" dirty="0">
                <a:solidFill>
                  <a:srgbClr val="0F172A"/>
                </a:solidFill>
                <a:latin typeface="Noto Sans KR" panose="020B0200000000000000" pitchFamily="50" charset="-127"/>
              </a:rPr>
              <a:t> </a:t>
            </a:r>
            <a:r>
              <a:rPr sz="1500" b="1" i="0" u="none" dirty="0" err="1">
                <a:solidFill>
                  <a:srgbClr val="0F172A"/>
                </a:solidFill>
                <a:latin typeface="Noto Sans KR" panose="020B0200000000000000" pitchFamily="50" charset="-127"/>
              </a:rPr>
              <a:t>관리의</a:t>
            </a:r>
            <a:r>
              <a:rPr sz="1500" b="1" i="0" u="none" dirty="0">
                <a:solidFill>
                  <a:srgbClr val="0F172A"/>
                </a:solidFill>
                <a:latin typeface="Noto Sans KR" panose="020B0200000000000000" pitchFamily="50" charset="-127"/>
              </a:rPr>
              <a:t> </a:t>
            </a:r>
            <a:r>
              <a:rPr sz="1500" b="1" i="0" u="none" dirty="0" err="1">
                <a:solidFill>
                  <a:srgbClr val="0F172A"/>
                </a:solidFill>
                <a:latin typeface="Noto Sans KR" panose="020B0200000000000000" pitchFamily="50" charset="-127"/>
              </a:rPr>
              <a:t>문제점</a:t>
            </a:r>
            <a:endParaRPr sz="1500" b="1" i="0" u="none" dirty="0">
              <a:solidFill>
                <a:srgbClr val="0F172A"/>
              </a:solidFill>
              <a:latin typeface="Noto Sans KR" panose="020B0200000000000000" pitchFamily="50" charset="-127"/>
            </a:endParaRPr>
          </a:p>
        </p:txBody>
      </p:sp>
      <p:sp>
        <p:nvSpPr>
          <p:cNvPr id="21" name="TextBox 20"/>
          <p:cNvSpPr txBox="1"/>
          <p:nvPr/>
        </p:nvSpPr>
        <p:spPr>
          <a:xfrm>
            <a:off x="7000875" y="1553467"/>
            <a:ext cx="2160848" cy="230832"/>
          </a:xfrm>
          <a:prstGeom prst="rect">
            <a:avLst/>
          </a:prstGeom>
          <a:noFill/>
        </p:spPr>
        <p:txBody>
          <a:bodyPr wrap="none" lIns="0" tIns="0" rIns="0" bIns="0" anchor="t">
            <a:spAutoFit/>
          </a:bodyPr>
          <a:lstStyle/>
          <a:p>
            <a:pPr algn="l"/>
            <a:r>
              <a:rPr sz="1500" b="1" i="0" u="none" dirty="0" err="1">
                <a:solidFill>
                  <a:srgbClr val="1E3A8A"/>
                </a:solidFill>
                <a:latin typeface="Noto Sans KR" panose="020B0200000000000000" pitchFamily="50" charset="-127"/>
              </a:rPr>
              <a:t>STOCKFLOW의</a:t>
            </a:r>
            <a:r>
              <a:rPr sz="1500" b="1" i="0" u="none" dirty="0">
                <a:solidFill>
                  <a:srgbClr val="1E3A8A"/>
                </a:solidFill>
                <a:latin typeface="Noto Sans KR" panose="020B0200000000000000" pitchFamily="50" charset="-127"/>
              </a:rPr>
              <a:t> </a:t>
            </a:r>
            <a:r>
              <a:rPr sz="1500" b="1" i="0" u="none" dirty="0" err="1">
                <a:solidFill>
                  <a:srgbClr val="1E3A8A"/>
                </a:solidFill>
                <a:latin typeface="Noto Sans KR" panose="020B0200000000000000" pitchFamily="50" charset="-127"/>
              </a:rPr>
              <a:t>해결</a:t>
            </a:r>
            <a:r>
              <a:rPr sz="1500" b="1" i="0" u="none" dirty="0">
                <a:solidFill>
                  <a:srgbClr val="1E3A8A"/>
                </a:solidFill>
                <a:latin typeface="Noto Sans KR" panose="020B0200000000000000" pitchFamily="50" charset="-127"/>
              </a:rPr>
              <a:t> </a:t>
            </a:r>
            <a:r>
              <a:rPr sz="1500" b="1" i="0" u="none" dirty="0" err="1">
                <a:solidFill>
                  <a:srgbClr val="1E3A8A"/>
                </a:solidFill>
                <a:latin typeface="Noto Sans KR" panose="020B0200000000000000" pitchFamily="50" charset="-127"/>
              </a:rPr>
              <a:t>방식</a:t>
            </a:r>
            <a:endParaRPr sz="1500" b="1" i="0" u="none" dirty="0">
              <a:solidFill>
                <a:srgbClr val="1E3A8A"/>
              </a:solidFill>
              <a:latin typeface="Noto Sans KR" panose="020B0200000000000000" pitchFamily="50" charset="-127"/>
            </a:endParaRPr>
          </a:p>
        </p:txBody>
      </p:sp>
      <p:sp>
        <p:nvSpPr>
          <p:cNvPr id="22" name="TextBox 21"/>
          <p:cNvSpPr txBox="1"/>
          <p:nvPr/>
        </p:nvSpPr>
        <p:spPr>
          <a:xfrm>
            <a:off x="1118741" y="2044005"/>
            <a:ext cx="4605783" cy="200248"/>
          </a:xfrm>
          <a:prstGeom prst="rect">
            <a:avLst/>
          </a:prstGeom>
          <a:noFill/>
        </p:spPr>
        <p:txBody>
          <a:bodyPr wrap="square" lIns="0" tIns="0" rIns="0" bIns="0" anchor="t">
            <a:spAutoFit/>
          </a:bodyPr>
          <a:lstStyle/>
          <a:p>
            <a:pPr algn="l">
              <a:lnSpc>
                <a:spcPts val="1679"/>
              </a:lnSpc>
            </a:pPr>
            <a:r>
              <a:rPr sz="1200" b="1" i="0" u="none" dirty="0" err="1">
                <a:solidFill>
                  <a:srgbClr val="475569"/>
                </a:solidFill>
                <a:latin typeface="Noto Sans KR" panose="020B0200000000000000" pitchFamily="50" charset="-127"/>
              </a:rPr>
              <a:t>파편화된</a:t>
            </a:r>
            <a:r>
              <a:rPr sz="1200" b="1" i="0" u="none" dirty="0">
                <a:solidFill>
                  <a:srgbClr val="475569"/>
                </a:solidFill>
                <a:latin typeface="Noto Sans KR" panose="020B0200000000000000" pitchFamily="50" charset="-127"/>
              </a:rPr>
              <a:t> </a:t>
            </a:r>
            <a:r>
              <a:rPr sz="1200" b="1" i="0" u="none" dirty="0" err="1">
                <a:solidFill>
                  <a:srgbClr val="475569"/>
                </a:solidFill>
                <a:latin typeface="Noto Sans KR" panose="020B0200000000000000" pitchFamily="50" charset="-127"/>
              </a:rPr>
              <a:t>이력</a:t>
            </a:r>
            <a:r>
              <a:rPr sz="1200" b="1" i="0" u="none" dirty="0">
                <a:solidFill>
                  <a:srgbClr val="475569"/>
                </a:solidFill>
                <a:latin typeface="Noto Sans KR" panose="020B0200000000000000" pitchFamily="50" charset="-127"/>
              </a:rPr>
              <a:t> </a:t>
            </a:r>
            <a:r>
              <a:rPr sz="1200" b="1" i="0" u="none" dirty="0" err="1">
                <a:solidFill>
                  <a:srgbClr val="475569"/>
                </a:solidFill>
                <a:latin typeface="Noto Sans KR" panose="020B0200000000000000" pitchFamily="50" charset="-127"/>
              </a:rPr>
              <a:t>관리</a:t>
            </a:r>
            <a:r>
              <a:rPr sz="1200" b="1" i="0" u="none" dirty="0">
                <a:solidFill>
                  <a:srgbClr val="475569"/>
                </a:solidFill>
                <a:latin typeface="Noto Sans KR" panose="020B0200000000000000" pitchFamily="50" charset="-127"/>
              </a:rPr>
              <a:t>:</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과거</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주문</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데이터가</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엑셀</a:t>
            </a:r>
            <a:r>
              <a:rPr sz="1200" b="0" i="0" u="none" dirty="0">
                <a:solidFill>
                  <a:srgbClr val="475569"/>
                </a:solidFill>
                <a:latin typeface="Noto Sans KR" panose="020B0200000000000000" pitchFamily="50" charset="-127"/>
              </a:rPr>
              <a:t> 등 </a:t>
            </a:r>
            <a:r>
              <a:rPr sz="1200" b="0" i="0" u="none" dirty="0" err="1">
                <a:solidFill>
                  <a:srgbClr val="475569"/>
                </a:solidFill>
                <a:latin typeface="Noto Sans KR" panose="020B0200000000000000" pitchFamily="50" charset="-127"/>
              </a:rPr>
              <a:t>별도</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파일로</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분산</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관리됨</a:t>
            </a:r>
            <a:endParaRPr sz="1200" b="0" i="0" u="none" dirty="0">
              <a:solidFill>
                <a:srgbClr val="475569"/>
              </a:solidFill>
              <a:latin typeface="Noto Sans KR" panose="020B0200000000000000" pitchFamily="50" charset="-127"/>
            </a:endParaRPr>
          </a:p>
        </p:txBody>
      </p:sp>
      <p:sp>
        <p:nvSpPr>
          <p:cNvPr id="23" name="TextBox 22"/>
          <p:cNvSpPr txBox="1"/>
          <p:nvPr/>
        </p:nvSpPr>
        <p:spPr>
          <a:xfrm>
            <a:off x="1118741" y="2622946"/>
            <a:ext cx="4605783" cy="426541"/>
          </a:xfrm>
          <a:prstGeom prst="rect">
            <a:avLst/>
          </a:prstGeom>
          <a:noFill/>
        </p:spPr>
        <p:txBody>
          <a:bodyPr wrap="square" lIns="0" tIns="0" rIns="0" bIns="0" anchor="t">
            <a:spAutoFit/>
          </a:bodyPr>
          <a:lstStyle/>
          <a:p>
            <a:pPr algn="l">
              <a:lnSpc>
                <a:spcPts val="1679"/>
              </a:lnSpc>
            </a:pPr>
            <a:r>
              <a:rPr sz="1200" b="1" i="0" u="none" dirty="0" err="1">
                <a:solidFill>
                  <a:srgbClr val="475569"/>
                </a:solidFill>
                <a:latin typeface="Noto Sans KR" panose="020B0200000000000000" pitchFamily="50" charset="-127"/>
              </a:rPr>
              <a:t>수동</a:t>
            </a:r>
            <a:r>
              <a:rPr sz="1200" b="1" i="0" u="none" dirty="0">
                <a:solidFill>
                  <a:srgbClr val="475569"/>
                </a:solidFill>
                <a:latin typeface="Noto Sans KR" panose="020B0200000000000000" pitchFamily="50" charset="-127"/>
              </a:rPr>
              <a:t> </a:t>
            </a:r>
            <a:r>
              <a:rPr sz="1200" b="1" i="0" u="none" dirty="0" err="1">
                <a:solidFill>
                  <a:srgbClr val="475569"/>
                </a:solidFill>
                <a:latin typeface="Noto Sans KR" panose="020B0200000000000000" pitchFamily="50" charset="-127"/>
              </a:rPr>
              <a:t>발주</a:t>
            </a:r>
            <a:r>
              <a:rPr sz="1200" b="1" i="0" u="none" dirty="0">
                <a:solidFill>
                  <a:srgbClr val="475569"/>
                </a:solidFill>
                <a:latin typeface="Noto Sans KR" panose="020B0200000000000000" pitchFamily="50" charset="-127"/>
              </a:rPr>
              <a:t> </a:t>
            </a:r>
            <a:r>
              <a:rPr sz="1200" b="1" i="0" u="none" dirty="0" err="1">
                <a:solidFill>
                  <a:srgbClr val="475569"/>
                </a:solidFill>
                <a:latin typeface="Noto Sans KR" panose="020B0200000000000000" pitchFamily="50" charset="-127"/>
              </a:rPr>
              <a:t>판단의</a:t>
            </a:r>
            <a:r>
              <a:rPr sz="1200" b="1" i="0" u="none" dirty="0">
                <a:solidFill>
                  <a:srgbClr val="475569"/>
                </a:solidFill>
                <a:latin typeface="Noto Sans KR" panose="020B0200000000000000" pitchFamily="50" charset="-127"/>
              </a:rPr>
              <a:t> </a:t>
            </a:r>
            <a:r>
              <a:rPr sz="1200" b="1" i="0" u="none" dirty="0" err="1">
                <a:solidFill>
                  <a:srgbClr val="475569"/>
                </a:solidFill>
                <a:latin typeface="Noto Sans KR" panose="020B0200000000000000" pitchFamily="50" charset="-127"/>
              </a:rPr>
              <a:t>한계</a:t>
            </a:r>
            <a:r>
              <a:rPr sz="1200" b="1" i="0" u="none" dirty="0">
                <a:solidFill>
                  <a:srgbClr val="475569"/>
                </a:solidFill>
                <a:latin typeface="Noto Sans KR" panose="020B0200000000000000" pitchFamily="50" charset="-127"/>
              </a:rPr>
              <a:t>:</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현재</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재고</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수준과</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미래</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요구량</a:t>
            </a:r>
            <a:r>
              <a:rPr sz="1200" b="0" i="0" u="none" dirty="0">
                <a:solidFill>
                  <a:srgbClr val="475569"/>
                </a:solidFill>
                <a:latin typeface="Noto Sans KR" panose="020B0200000000000000" pitchFamily="50" charset="-127"/>
              </a:rPr>
              <a:t> 간 </a:t>
            </a:r>
            <a:r>
              <a:rPr sz="1200" b="0" i="0" u="none" dirty="0" err="1">
                <a:solidFill>
                  <a:srgbClr val="475569"/>
                </a:solidFill>
                <a:latin typeface="Noto Sans KR" panose="020B0200000000000000" pitchFamily="50" charset="-127"/>
              </a:rPr>
              <a:t>연계</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부족으로</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자주</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품절</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발생</a:t>
            </a:r>
            <a:endParaRPr sz="1200" b="0" i="0" u="none" dirty="0">
              <a:solidFill>
                <a:srgbClr val="475569"/>
              </a:solidFill>
              <a:latin typeface="Noto Sans KR" panose="020B0200000000000000" pitchFamily="50" charset="-127"/>
            </a:endParaRPr>
          </a:p>
        </p:txBody>
      </p:sp>
      <p:sp>
        <p:nvSpPr>
          <p:cNvPr id="24" name="TextBox 23"/>
          <p:cNvSpPr txBox="1"/>
          <p:nvPr/>
        </p:nvSpPr>
        <p:spPr>
          <a:xfrm>
            <a:off x="1118741" y="3201888"/>
            <a:ext cx="4605783" cy="426541"/>
          </a:xfrm>
          <a:prstGeom prst="rect">
            <a:avLst/>
          </a:prstGeom>
          <a:noFill/>
        </p:spPr>
        <p:txBody>
          <a:bodyPr wrap="square" lIns="0" tIns="0" rIns="0" bIns="0" anchor="t">
            <a:spAutoFit/>
          </a:bodyPr>
          <a:lstStyle/>
          <a:p>
            <a:pPr algn="l">
              <a:lnSpc>
                <a:spcPts val="1679"/>
              </a:lnSpc>
            </a:pPr>
            <a:r>
              <a:rPr sz="1200" b="1" i="0" u="none" dirty="0" err="1">
                <a:solidFill>
                  <a:srgbClr val="475569"/>
                </a:solidFill>
                <a:latin typeface="Noto Sans KR" panose="020B0200000000000000" pitchFamily="50" charset="-127"/>
              </a:rPr>
              <a:t>예측치</a:t>
            </a:r>
            <a:r>
              <a:rPr sz="1200" b="1" i="0" u="none" dirty="0">
                <a:solidFill>
                  <a:srgbClr val="475569"/>
                </a:solidFill>
                <a:latin typeface="Noto Sans KR" panose="020B0200000000000000" pitchFamily="50" charset="-127"/>
              </a:rPr>
              <a:t> </a:t>
            </a:r>
            <a:r>
              <a:rPr sz="1200" b="1" i="0" u="none" dirty="0" err="1">
                <a:solidFill>
                  <a:srgbClr val="475569"/>
                </a:solidFill>
                <a:latin typeface="Noto Sans KR" panose="020B0200000000000000" pitchFamily="50" charset="-127"/>
              </a:rPr>
              <a:t>활용</a:t>
            </a:r>
            <a:r>
              <a:rPr sz="1200" b="1" i="0" u="none" dirty="0">
                <a:solidFill>
                  <a:srgbClr val="475569"/>
                </a:solidFill>
                <a:latin typeface="Noto Sans KR" panose="020B0200000000000000" pitchFamily="50" charset="-127"/>
              </a:rPr>
              <a:t> </a:t>
            </a:r>
            <a:r>
              <a:rPr sz="1200" b="1" i="0" u="none" dirty="0" err="1">
                <a:solidFill>
                  <a:srgbClr val="475569"/>
                </a:solidFill>
                <a:latin typeface="Noto Sans KR" panose="020B0200000000000000" pitchFamily="50" charset="-127"/>
              </a:rPr>
              <a:t>미흡</a:t>
            </a:r>
            <a:r>
              <a:rPr sz="1200" b="1" i="0" u="none" dirty="0">
                <a:solidFill>
                  <a:srgbClr val="475569"/>
                </a:solidFill>
                <a:latin typeface="Noto Sans KR" panose="020B0200000000000000" pitchFamily="50" charset="-127"/>
              </a:rPr>
              <a:t>:</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단순</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추정치</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수치만</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제공되고</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실무</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발주량</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계산으로</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이어지지</a:t>
            </a:r>
            <a:r>
              <a:rPr sz="1200" b="0" i="0" u="none" dirty="0">
                <a:solidFill>
                  <a:srgbClr val="475569"/>
                </a:solidFill>
                <a:latin typeface="Noto Sans KR" panose="020B0200000000000000" pitchFamily="50" charset="-127"/>
              </a:rPr>
              <a:t> </a:t>
            </a:r>
            <a:r>
              <a:rPr sz="1200" b="0" i="0" u="none" dirty="0" err="1">
                <a:solidFill>
                  <a:srgbClr val="475569"/>
                </a:solidFill>
                <a:latin typeface="Noto Sans KR" panose="020B0200000000000000" pitchFamily="50" charset="-127"/>
              </a:rPr>
              <a:t>못함</a:t>
            </a:r>
            <a:endParaRPr sz="1200" b="0" i="0" u="none" dirty="0">
              <a:solidFill>
                <a:srgbClr val="475569"/>
              </a:solidFill>
              <a:latin typeface="Noto Sans KR" panose="020B0200000000000000" pitchFamily="50" charset="-127"/>
            </a:endParaRPr>
          </a:p>
        </p:txBody>
      </p:sp>
      <p:sp>
        <p:nvSpPr>
          <p:cNvPr id="25" name="TextBox 24"/>
          <p:cNvSpPr txBox="1"/>
          <p:nvPr/>
        </p:nvSpPr>
        <p:spPr>
          <a:xfrm>
            <a:off x="6795641" y="2044005"/>
            <a:ext cx="4605783" cy="426541"/>
          </a:xfrm>
          <a:prstGeom prst="rect">
            <a:avLst/>
          </a:prstGeom>
          <a:noFill/>
        </p:spPr>
        <p:txBody>
          <a:bodyPr wrap="square" lIns="0" tIns="0" rIns="0" bIns="0" anchor="t">
            <a:spAutoFit/>
          </a:bodyPr>
          <a:lstStyle/>
          <a:p>
            <a:pPr algn="l">
              <a:lnSpc>
                <a:spcPts val="1679"/>
              </a:lnSpc>
            </a:pPr>
            <a:r>
              <a:rPr sz="1200" b="1" i="0" u="none" dirty="0" err="1">
                <a:solidFill>
                  <a:srgbClr val="1E40AF"/>
                </a:solidFill>
                <a:latin typeface="Noto Sans KR" panose="020B0200000000000000" pitchFamily="50" charset="-127"/>
              </a:rPr>
              <a:t>통합</a:t>
            </a:r>
            <a:r>
              <a:rPr sz="1200" b="1" i="0" u="none" dirty="0">
                <a:solidFill>
                  <a:srgbClr val="1E40AF"/>
                </a:solidFill>
                <a:latin typeface="Noto Sans KR" panose="020B0200000000000000" pitchFamily="50" charset="-127"/>
              </a:rPr>
              <a:t> </a:t>
            </a:r>
            <a:r>
              <a:rPr sz="1200" b="1" i="0" u="none" dirty="0" err="1">
                <a:solidFill>
                  <a:srgbClr val="1E40AF"/>
                </a:solidFill>
                <a:latin typeface="Noto Sans KR" panose="020B0200000000000000" pitchFamily="50" charset="-127"/>
              </a:rPr>
              <a:t>데이터</a:t>
            </a:r>
            <a:r>
              <a:rPr sz="1200" b="1" i="0" u="none" dirty="0">
                <a:solidFill>
                  <a:srgbClr val="1E40AF"/>
                </a:solidFill>
                <a:latin typeface="Noto Sans KR" panose="020B0200000000000000" pitchFamily="50" charset="-127"/>
              </a:rPr>
              <a:t> </a:t>
            </a:r>
            <a:r>
              <a:rPr sz="1200" b="1" i="0" u="none" dirty="0" err="1">
                <a:solidFill>
                  <a:srgbClr val="1E40AF"/>
                </a:solidFill>
                <a:latin typeface="Noto Sans KR" panose="020B0200000000000000" pitchFamily="50" charset="-127"/>
              </a:rPr>
              <a:t>워크플로우</a:t>
            </a:r>
            <a:r>
              <a:rPr sz="1200" b="1" i="0" u="none" dirty="0">
                <a:solidFill>
                  <a:srgbClr val="1E40AF"/>
                </a:solidFill>
                <a:latin typeface="Noto Sans KR" panose="020B0200000000000000" pitchFamily="50" charset="-127"/>
              </a:rPr>
              <a:t>:</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수주·재고·과거</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이력을</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단일</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FastAPI</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시스템</a:t>
            </a:r>
            <a:r>
              <a:rPr sz="1200" b="0" i="0" u="none" dirty="0">
                <a:solidFill>
                  <a:srgbClr val="1E40AF"/>
                </a:solidFill>
                <a:latin typeface="Noto Sans KR" panose="020B0200000000000000" pitchFamily="50" charset="-127"/>
              </a:rPr>
              <a:t> 내 </a:t>
            </a:r>
            <a:r>
              <a:rPr sz="1200" b="0" i="0" u="none" dirty="0" err="1">
                <a:solidFill>
                  <a:srgbClr val="1E40AF"/>
                </a:solidFill>
                <a:latin typeface="Noto Sans KR" panose="020B0200000000000000" pitchFamily="50" charset="-127"/>
              </a:rPr>
              <a:t>축적</a:t>
            </a:r>
            <a:endParaRPr sz="1200" b="0" i="0" u="none" dirty="0">
              <a:solidFill>
                <a:srgbClr val="1E40AF"/>
              </a:solidFill>
              <a:latin typeface="Noto Sans KR" panose="020B0200000000000000" pitchFamily="50" charset="-127"/>
            </a:endParaRPr>
          </a:p>
        </p:txBody>
      </p:sp>
      <p:sp>
        <p:nvSpPr>
          <p:cNvPr id="26" name="TextBox 25"/>
          <p:cNvSpPr txBox="1"/>
          <p:nvPr/>
        </p:nvSpPr>
        <p:spPr>
          <a:xfrm>
            <a:off x="6795641" y="2622946"/>
            <a:ext cx="4605783" cy="426541"/>
          </a:xfrm>
          <a:prstGeom prst="rect">
            <a:avLst/>
          </a:prstGeom>
          <a:noFill/>
        </p:spPr>
        <p:txBody>
          <a:bodyPr wrap="square" lIns="0" tIns="0" rIns="0" bIns="0" anchor="t">
            <a:spAutoFit/>
          </a:bodyPr>
          <a:lstStyle/>
          <a:p>
            <a:pPr algn="l">
              <a:lnSpc>
                <a:spcPts val="1679"/>
              </a:lnSpc>
            </a:pPr>
            <a:r>
              <a:rPr sz="1200" b="1" i="0" u="none" dirty="0">
                <a:solidFill>
                  <a:srgbClr val="1E40AF"/>
                </a:solidFill>
                <a:latin typeface="Noto Sans KR" panose="020B0200000000000000" pitchFamily="50" charset="-127"/>
              </a:rPr>
              <a:t>Random Forest </a:t>
            </a:r>
            <a:r>
              <a:rPr sz="1200" b="1" i="0" u="none" dirty="0" err="1">
                <a:solidFill>
                  <a:srgbClr val="1E40AF"/>
                </a:solidFill>
                <a:latin typeface="Noto Sans KR" panose="020B0200000000000000" pitchFamily="50" charset="-127"/>
              </a:rPr>
              <a:t>예측</a:t>
            </a:r>
            <a:r>
              <a:rPr sz="1200" b="1" i="0" u="none" dirty="0">
                <a:solidFill>
                  <a:srgbClr val="1E40AF"/>
                </a:solidFill>
                <a:latin typeface="Noto Sans KR" panose="020B0200000000000000" pitchFamily="50" charset="-127"/>
              </a:rPr>
              <a:t> </a:t>
            </a:r>
            <a:r>
              <a:rPr sz="1200" b="1" i="0" u="none" dirty="0" err="1">
                <a:solidFill>
                  <a:srgbClr val="1E40AF"/>
                </a:solidFill>
                <a:latin typeface="Noto Sans KR" panose="020B0200000000000000" pitchFamily="50" charset="-127"/>
              </a:rPr>
              <a:t>모델</a:t>
            </a:r>
            <a:r>
              <a:rPr sz="1200" b="1" i="0" u="none" dirty="0">
                <a:solidFill>
                  <a:srgbClr val="1E40AF"/>
                </a:solidFill>
                <a:latin typeface="Noto Sans KR" panose="020B0200000000000000" pitchFamily="50" charset="-127"/>
              </a:rPr>
              <a:t>:</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주간</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판매</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추이</a:t>
            </a:r>
            <a:r>
              <a:rPr sz="1200" b="0" i="0" u="none" dirty="0">
                <a:solidFill>
                  <a:srgbClr val="1E40AF"/>
                </a:solidFill>
                <a:latin typeface="Noto Sans KR" panose="020B0200000000000000" pitchFamily="50" charset="-127"/>
              </a:rPr>
              <a:t> 및 </a:t>
            </a:r>
            <a:r>
              <a:rPr sz="1200" b="0" i="0" u="none" dirty="0" err="1">
                <a:solidFill>
                  <a:srgbClr val="1E40AF"/>
                </a:solidFill>
                <a:latin typeface="Noto Sans KR" panose="020B0200000000000000" pitchFamily="50" charset="-127"/>
              </a:rPr>
              <a:t>계절성</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파악을</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통한</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최적</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수요</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산출</a:t>
            </a:r>
            <a:endParaRPr sz="1200" b="0" i="0" u="none" dirty="0">
              <a:solidFill>
                <a:srgbClr val="1E40AF"/>
              </a:solidFill>
              <a:latin typeface="Noto Sans KR" panose="020B0200000000000000" pitchFamily="50" charset="-127"/>
            </a:endParaRPr>
          </a:p>
        </p:txBody>
      </p:sp>
      <p:sp>
        <p:nvSpPr>
          <p:cNvPr id="27" name="TextBox 26"/>
          <p:cNvSpPr txBox="1"/>
          <p:nvPr/>
        </p:nvSpPr>
        <p:spPr>
          <a:xfrm>
            <a:off x="6795641" y="3201888"/>
            <a:ext cx="4605783" cy="200248"/>
          </a:xfrm>
          <a:prstGeom prst="rect">
            <a:avLst/>
          </a:prstGeom>
          <a:noFill/>
        </p:spPr>
        <p:txBody>
          <a:bodyPr wrap="square" lIns="0" tIns="0" rIns="0" bIns="0" anchor="t">
            <a:spAutoFit/>
          </a:bodyPr>
          <a:lstStyle/>
          <a:p>
            <a:pPr algn="l">
              <a:lnSpc>
                <a:spcPts val="1679"/>
              </a:lnSpc>
            </a:pPr>
            <a:r>
              <a:rPr sz="1200" b="1" i="0" u="none" dirty="0" err="1">
                <a:solidFill>
                  <a:srgbClr val="1E40AF"/>
                </a:solidFill>
                <a:latin typeface="Noto Sans KR" panose="020B0200000000000000" pitchFamily="50" charset="-127"/>
              </a:rPr>
              <a:t>지능형</a:t>
            </a:r>
            <a:r>
              <a:rPr sz="1200" b="1" i="0" u="none" dirty="0">
                <a:solidFill>
                  <a:srgbClr val="1E40AF"/>
                </a:solidFill>
                <a:latin typeface="Noto Sans KR" panose="020B0200000000000000" pitchFamily="50" charset="-127"/>
              </a:rPr>
              <a:t> </a:t>
            </a:r>
            <a:r>
              <a:rPr sz="1200" b="1" i="0" u="none" dirty="0" err="1">
                <a:solidFill>
                  <a:srgbClr val="1E40AF"/>
                </a:solidFill>
                <a:latin typeface="Noto Sans KR" panose="020B0200000000000000" pitchFamily="50" charset="-127"/>
              </a:rPr>
              <a:t>발주</a:t>
            </a:r>
            <a:r>
              <a:rPr sz="1200" b="1" i="0" u="none" dirty="0">
                <a:solidFill>
                  <a:srgbClr val="1E40AF"/>
                </a:solidFill>
                <a:latin typeface="Noto Sans KR" panose="020B0200000000000000" pitchFamily="50" charset="-127"/>
              </a:rPr>
              <a:t> </a:t>
            </a:r>
            <a:r>
              <a:rPr sz="1200" b="1" i="0" u="none" dirty="0" err="1">
                <a:solidFill>
                  <a:srgbClr val="1E40AF"/>
                </a:solidFill>
                <a:latin typeface="Noto Sans KR" panose="020B0200000000000000" pitchFamily="50" charset="-127"/>
              </a:rPr>
              <a:t>추천</a:t>
            </a:r>
            <a:r>
              <a:rPr sz="1200" b="1" i="0" u="none" dirty="0">
                <a:solidFill>
                  <a:srgbClr val="1E40AF"/>
                </a:solidFill>
                <a:latin typeface="Noto Sans KR" panose="020B0200000000000000" pitchFamily="50" charset="-127"/>
              </a:rPr>
              <a:t> </a:t>
            </a:r>
            <a:r>
              <a:rPr sz="1200" b="1" i="0" u="none" dirty="0" err="1">
                <a:solidFill>
                  <a:srgbClr val="1E40AF"/>
                </a:solidFill>
                <a:latin typeface="Noto Sans KR" panose="020B0200000000000000" pitchFamily="50" charset="-127"/>
              </a:rPr>
              <a:t>엔진</a:t>
            </a:r>
            <a:r>
              <a:rPr sz="1200" b="1" i="0" u="none" dirty="0">
                <a:solidFill>
                  <a:srgbClr val="1E40AF"/>
                </a:solidFill>
                <a:latin typeface="Noto Sans KR" panose="020B0200000000000000" pitchFamily="50" charset="-127"/>
              </a:rPr>
              <a:t>:</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입고</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소요</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시간</a:t>
            </a:r>
            <a:r>
              <a:rPr sz="1200" b="0" i="0" u="none" dirty="0">
                <a:solidFill>
                  <a:srgbClr val="1E40AF"/>
                </a:solidFill>
                <a:latin typeface="Noto Sans KR" panose="020B0200000000000000" pitchFamily="50" charset="-127"/>
              </a:rPr>
              <a:t>(Lead Time) 및 </a:t>
            </a:r>
            <a:r>
              <a:rPr sz="1200" b="0" i="0" u="none" dirty="0" err="1">
                <a:solidFill>
                  <a:srgbClr val="1E40AF"/>
                </a:solidFill>
                <a:latin typeface="Noto Sans KR" panose="020B0200000000000000" pitchFamily="50" charset="-127"/>
              </a:rPr>
              <a:t>안전재고</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자동</a:t>
            </a:r>
            <a:r>
              <a:rPr sz="1200" b="0" i="0" u="none" dirty="0">
                <a:solidFill>
                  <a:srgbClr val="1E40AF"/>
                </a:solidFill>
                <a:latin typeface="Noto Sans KR" panose="020B0200000000000000" pitchFamily="50" charset="-127"/>
              </a:rPr>
              <a:t> </a:t>
            </a:r>
            <a:r>
              <a:rPr sz="1200" b="0" i="0" u="none" dirty="0" err="1">
                <a:solidFill>
                  <a:srgbClr val="1E40AF"/>
                </a:solidFill>
                <a:latin typeface="Noto Sans KR" panose="020B0200000000000000" pitchFamily="50" charset="-127"/>
              </a:rPr>
              <a:t>산정</a:t>
            </a:r>
            <a:endParaRPr sz="1200" b="0" i="0" u="none" dirty="0">
              <a:solidFill>
                <a:srgbClr val="1E40AF"/>
              </a:solidFill>
              <a:latin typeface="Noto Sans KR" panose="020B0200000000000000"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71499" y="1373476"/>
            <a:ext cx="4346729" cy="847724"/>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3"/>
          <a:stretch>
            <a:fillRect/>
          </a:stretch>
        </p:blipFill>
        <p:spPr>
          <a:xfrm>
            <a:off x="771525" y="1475842"/>
            <a:ext cx="137125" cy="176255"/>
          </a:xfrm>
          <a:prstGeom prst="rect">
            <a:avLst/>
          </a:prstGeom>
        </p:spPr>
      </p:pic>
      <p:sp>
        <p:nvSpPr>
          <p:cNvPr id="14" name="TextBox 13"/>
          <p:cNvSpPr txBox="1"/>
          <p:nvPr/>
        </p:nvSpPr>
        <p:spPr>
          <a:xfrm>
            <a:off x="571500" y="381000"/>
            <a:ext cx="1131720"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2. KEY FEATURES</a:t>
            </a:r>
          </a:p>
        </p:txBody>
      </p:sp>
      <p:sp>
        <p:nvSpPr>
          <p:cNvPr id="15" name="TextBox 14"/>
          <p:cNvSpPr txBox="1"/>
          <p:nvPr/>
        </p:nvSpPr>
        <p:spPr>
          <a:xfrm>
            <a:off x="571500" y="590550"/>
            <a:ext cx="2170466"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주요</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업무</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기능</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구성</a:t>
            </a:r>
            <a:endParaRPr sz="2100" b="1" i="0" u="none" dirty="0">
              <a:solidFill>
                <a:srgbClr val="0F172A"/>
              </a:solidFill>
              <a:latin typeface="Noto Sans KR" panose="020B0200000000000000" pitchFamily="50" charset="-127"/>
            </a:endParaRPr>
          </a:p>
        </p:txBody>
      </p:sp>
      <p:sp>
        <p:nvSpPr>
          <p:cNvPr id="16" name="TextBox 15"/>
          <p:cNvSpPr txBox="1"/>
          <p:nvPr/>
        </p:nvSpPr>
        <p:spPr>
          <a:xfrm>
            <a:off x="1066800" y="1509897"/>
            <a:ext cx="1659729" cy="150041"/>
          </a:xfrm>
          <a:prstGeom prst="rect">
            <a:avLst/>
          </a:prstGeom>
          <a:noFill/>
        </p:spPr>
        <p:txBody>
          <a:bodyPr wrap="square" lIns="0" tIns="0" rIns="0" bIns="0" anchor="t">
            <a:spAutoFit/>
          </a:bodyPr>
          <a:lstStyle/>
          <a:p>
            <a:pPr algn="l"/>
            <a:r>
              <a:rPr sz="975" b="1" i="0" u="none" dirty="0" err="1">
                <a:solidFill>
                  <a:srgbClr val="2563EB"/>
                </a:solidFill>
                <a:latin typeface="Noto Sans KR" panose="020B0200000000000000" pitchFamily="50" charset="-127"/>
              </a:rPr>
              <a:t>실시간</a:t>
            </a:r>
            <a:r>
              <a:rPr sz="975" b="1" i="0" u="none" dirty="0">
                <a:solidFill>
                  <a:srgbClr val="2563EB"/>
                </a:solidFill>
                <a:latin typeface="Noto Sans KR" panose="020B0200000000000000" pitchFamily="50" charset="-127"/>
              </a:rPr>
              <a:t> </a:t>
            </a:r>
            <a:r>
              <a:rPr sz="975" b="1" i="0" u="none" dirty="0" err="1">
                <a:solidFill>
                  <a:srgbClr val="2563EB"/>
                </a:solidFill>
                <a:latin typeface="Noto Sans KR" panose="020B0200000000000000" pitchFamily="50" charset="-127"/>
              </a:rPr>
              <a:t>집계</a:t>
            </a:r>
            <a:endParaRPr sz="975" b="1" i="0" u="none" dirty="0">
              <a:solidFill>
                <a:srgbClr val="2563EB"/>
              </a:solidFill>
              <a:latin typeface="Noto Sans KR" panose="020B0200000000000000" pitchFamily="50" charset="-127"/>
            </a:endParaRPr>
          </a:p>
        </p:txBody>
      </p:sp>
      <p:sp>
        <p:nvSpPr>
          <p:cNvPr id="20" name="TextBox 19"/>
          <p:cNvSpPr txBox="1"/>
          <p:nvPr/>
        </p:nvSpPr>
        <p:spPr>
          <a:xfrm>
            <a:off x="771525" y="1711277"/>
            <a:ext cx="1731977" cy="207749"/>
          </a:xfrm>
          <a:prstGeom prst="rect">
            <a:avLst/>
          </a:prstGeom>
          <a:noFill/>
        </p:spPr>
        <p:txBody>
          <a:bodyPr wrap="square" lIns="0" tIns="0" rIns="0" bIns="0" anchor="t">
            <a:spAutoFit/>
          </a:bodyPr>
          <a:lstStyle/>
          <a:p>
            <a:pPr algn="l"/>
            <a:r>
              <a:rPr sz="1350" b="1" i="0" u="none" dirty="0" err="1">
                <a:solidFill>
                  <a:srgbClr val="0F172A"/>
                </a:solidFill>
                <a:latin typeface="Noto Sans KR" panose="020B0200000000000000" pitchFamily="50" charset="-127"/>
              </a:rPr>
              <a:t>운영</a:t>
            </a:r>
            <a:r>
              <a:rPr sz="1350" b="1" i="0" u="none" dirty="0">
                <a:solidFill>
                  <a:srgbClr val="0F172A"/>
                </a:solidFill>
                <a:latin typeface="Noto Sans KR" panose="020B0200000000000000" pitchFamily="50" charset="-127"/>
              </a:rPr>
              <a:t> </a:t>
            </a:r>
            <a:r>
              <a:rPr sz="1350" b="1" i="0" u="none" dirty="0" err="1">
                <a:solidFill>
                  <a:srgbClr val="0F172A"/>
                </a:solidFill>
                <a:latin typeface="Noto Sans KR" panose="020B0200000000000000" pitchFamily="50" charset="-127"/>
              </a:rPr>
              <a:t>대시보드</a:t>
            </a:r>
            <a:endParaRPr sz="1350" b="1" i="0" u="none" dirty="0">
              <a:solidFill>
                <a:srgbClr val="0F172A"/>
              </a:solidFill>
              <a:latin typeface="Noto Sans KR" panose="020B0200000000000000" pitchFamily="50" charset="-127"/>
            </a:endParaRPr>
          </a:p>
        </p:txBody>
      </p:sp>
      <p:sp>
        <p:nvSpPr>
          <p:cNvPr id="21" name="TextBox 20"/>
          <p:cNvSpPr txBox="1"/>
          <p:nvPr/>
        </p:nvSpPr>
        <p:spPr>
          <a:xfrm>
            <a:off x="771525" y="1963264"/>
            <a:ext cx="3596289" cy="176395"/>
          </a:xfrm>
          <a:prstGeom prst="rect">
            <a:avLst/>
          </a:prstGeom>
          <a:noFill/>
        </p:spPr>
        <p:txBody>
          <a:bodyPr wrap="square" lIns="0" tIns="0" rIns="0" bIns="0" anchor="t">
            <a:spAutoFit/>
          </a:bodyPr>
          <a:lstStyle/>
          <a:p>
            <a:pPr algn="l">
              <a:lnSpc>
                <a:spcPts val="1470"/>
              </a:lnSpc>
            </a:pPr>
            <a:r>
              <a:rPr sz="1050" b="0" i="0" u="none" dirty="0" err="1">
                <a:solidFill>
                  <a:srgbClr val="64748B"/>
                </a:solidFill>
                <a:latin typeface="Noto Sans KR" panose="020B0200000000000000" pitchFamily="50" charset="-127"/>
              </a:rPr>
              <a:t>누적</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수주액</a:t>
            </a:r>
            <a:r>
              <a:rPr sz="1050" b="0" i="0" u="none" dirty="0">
                <a:solidFill>
                  <a:srgbClr val="64748B"/>
                </a:solidFill>
                <a:latin typeface="Noto Sans KR" panose="020B0200000000000000" pitchFamily="50" charset="-127"/>
              </a:rPr>
              <a:t>, 총 </a:t>
            </a:r>
            <a:r>
              <a:rPr sz="1050" b="0" i="0" u="none" dirty="0" err="1">
                <a:solidFill>
                  <a:srgbClr val="64748B"/>
                </a:solidFill>
                <a:latin typeface="Noto Sans KR" panose="020B0200000000000000" pitchFamily="50" charset="-127"/>
              </a:rPr>
              <a:t>주문</a:t>
            </a:r>
            <a:r>
              <a:rPr sz="1050" b="0" i="0" u="none" dirty="0">
                <a:solidFill>
                  <a:srgbClr val="64748B"/>
                </a:solidFill>
                <a:latin typeface="Noto Sans KR" panose="020B0200000000000000" pitchFamily="50" charset="-127"/>
              </a:rPr>
              <a:t> 수, </a:t>
            </a:r>
            <a:r>
              <a:rPr sz="1050" b="0" i="0" u="none" dirty="0" err="1">
                <a:solidFill>
                  <a:srgbClr val="64748B"/>
                </a:solidFill>
                <a:latin typeface="Noto Sans KR" panose="020B0200000000000000" pitchFamily="50" charset="-127"/>
              </a:rPr>
              <a:t>재고</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부족</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상품</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실시간</a:t>
            </a:r>
            <a:r>
              <a:rPr sz="1050" b="0" i="0" u="none" dirty="0">
                <a:solidFill>
                  <a:srgbClr val="64748B"/>
                </a:solidFill>
                <a:latin typeface="Noto Sans KR" panose="020B0200000000000000" pitchFamily="50" charset="-127"/>
              </a:rPr>
              <a:t> </a:t>
            </a:r>
            <a:r>
              <a:rPr sz="1050" b="0" i="0" u="none" dirty="0" err="1">
                <a:solidFill>
                  <a:srgbClr val="64748B"/>
                </a:solidFill>
                <a:latin typeface="Noto Sans KR" panose="020B0200000000000000" pitchFamily="50" charset="-127"/>
              </a:rPr>
              <a:t>모니터링</a:t>
            </a:r>
            <a:endParaRPr sz="1050" b="0" i="0" u="none" dirty="0">
              <a:solidFill>
                <a:srgbClr val="64748B"/>
              </a:solidFill>
              <a:latin typeface="Noto Sans KR" panose="020B0200000000000000" pitchFamily="50" charset="-127"/>
            </a:endParaRPr>
          </a:p>
        </p:txBody>
      </p:sp>
      <p:pic>
        <p:nvPicPr>
          <p:cNvPr id="28" name="Screenshot 대시보드" descr="운영 대시보드 화면"/>
          <p:cNvPicPr>
            <a:picLocks noChangeAspect="1"/>
          </p:cNvPicPr>
          <p:nvPr/>
        </p:nvPicPr>
        <p:blipFill>
          <a:blip r:embed="rId4"/>
          <a:stretch>
            <a:fillRect/>
          </a:stretch>
        </p:blipFill>
        <p:spPr>
          <a:xfrm>
            <a:off x="571498" y="2357621"/>
            <a:ext cx="8563624" cy="4140112"/>
          </a:xfrm>
          <a:prstGeom prst="roundRect">
            <a:avLst>
              <a:gd name="adj" fmla="val 3500"/>
            </a:avLst>
          </a:prstGeom>
          <a:ln w="9525">
            <a:solidFill>
              <a:srgbClr val="E2E8F0"/>
            </a:solidFill>
          </a:ln>
        </p:spPr>
      </p:pic>
    </p:spTree>
    <p:extLst>
      <p:ext uri="{BB962C8B-B14F-4D97-AF65-F5344CB8AC3E}">
        <p14:creationId xmlns:p14="http://schemas.microsoft.com/office/powerpoint/2010/main" val="303989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71499" y="1373476"/>
            <a:ext cx="4346729" cy="847724"/>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1500" y="381000"/>
            <a:ext cx="1131720"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2. KEY FEATURES</a:t>
            </a:r>
          </a:p>
        </p:txBody>
      </p:sp>
      <p:sp>
        <p:nvSpPr>
          <p:cNvPr id="15" name="TextBox 14"/>
          <p:cNvSpPr txBox="1"/>
          <p:nvPr/>
        </p:nvSpPr>
        <p:spPr>
          <a:xfrm>
            <a:off x="571500" y="590550"/>
            <a:ext cx="2170466"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주요</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업무</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기능</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구성</a:t>
            </a:r>
            <a:endParaRPr sz="2100" b="1" i="0" u="none" dirty="0">
              <a:solidFill>
                <a:srgbClr val="0F172A"/>
              </a:solidFill>
              <a:latin typeface="Noto Sans KR" panose="020B0200000000000000" pitchFamily="50" charset="-127"/>
            </a:endParaRPr>
          </a:p>
        </p:txBody>
      </p:sp>
      <p:sp>
        <p:nvSpPr>
          <p:cNvPr id="16" name="TextBox 15"/>
          <p:cNvSpPr txBox="1"/>
          <p:nvPr/>
        </p:nvSpPr>
        <p:spPr>
          <a:xfrm>
            <a:off x="1066800" y="1509897"/>
            <a:ext cx="1659729" cy="150041"/>
          </a:xfrm>
          <a:prstGeom prst="rect">
            <a:avLst/>
          </a:prstGeom>
          <a:noFill/>
        </p:spPr>
        <p:txBody>
          <a:bodyPr wrap="square" lIns="0" tIns="0" rIns="0" bIns="0" anchor="t">
            <a:spAutoFit/>
          </a:bodyPr>
          <a:lstStyle/>
          <a:p>
            <a:pPr algn="l"/>
            <a:r>
              <a:rPr lang="ko-KR" altLang="en-US" sz="975" b="1" dirty="0">
                <a:solidFill>
                  <a:srgbClr val="2563EB"/>
                </a:solidFill>
                <a:latin typeface="Noto Sans KR" panose="020B0200000000000000" pitchFamily="50" charset="-127"/>
                <a:ea typeface="Noto Sans KR" panose="020B0200000000000000" pitchFamily="50" charset="-127"/>
              </a:rPr>
              <a:t>원자적 처리</a:t>
            </a:r>
            <a:endParaRPr sz="975" b="1" i="0" u="none" dirty="0">
              <a:solidFill>
                <a:srgbClr val="2563EB"/>
              </a:solidFill>
              <a:latin typeface="Noto Sans KR" panose="020B0200000000000000" pitchFamily="50" charset="-127"/>
              <a:ea typeface="Noto Sans KR" panose="020B0200000000000000" pitchFamily="50" charset="-127"/>
            </a:endParaRPr>
          </a:p>
        </p:txBody>
      </p:sp>
      <p:sp>
        <p:nvSpPr>
          <p:cNvPr id="20" name="TextBox 19"/>
          <p:cNvSpPr txBox="1"/>
          <p:nvPr/>
        </p:nvSpPr>
        <p:spPr>
          <a:xfrm>
            <a:off x="771525" y="1711277"/>
            <a:ext cx="1731977" cy="207749"/>
          </a:xfrm>
          <a:prstGeom prst="rect">
            <a:avLst/>
          </a:prstGeom>
          <a:noFill/>
        </p:spPr>
        <p:txBody>
          <a:bodyPr wrap="square" lIns="0" tIns="0" rIns="0" bIns="0" anchor="t">
            <a:spAutoFit/>
          </a:bodyPr>
          <a:lstStyle/>
          <a:p>
            <a:pPr algn="l"/>
            <a:r>
              <a:rPr lang="ko-KR" altLang="en-US" sz="1350" b="1" i="0" u="none" dirty="0">
                <a:solidFill>
                  <a:srgbClr val="0F172A"/>
                </a:solidFill>
                <a:latin typeface="Noto Sans KR" panose="020B0200000000000000" pitchFamily="50" charset="-127"/>
                <a:ea typeface="Noto Sans KR" panose="020B0200000000000000" pitchFamily="50" charset="-127"/>
              </a:rPr>
              <a:t>주문 및 재고 차감</a:t>
            </a:r>
            <a:endParaRPr sz="1350" b="1" i="0" u="none" dirty="0">
              <a:solidFill>
                <a:srgbClr val="0F172A"/>
              </a:solidFill>
              <a:latin typeface="Noto Sans KR" panose="020B0200000000000000" pitchFamily="50" charset="-127"/>
              <a:ea typeface="Noto Sans KR" panose="020B0200000000000000" pitchFamily="50" charset="-127"/>
            </a:endParaRPr>
          </a:p>
        </p:txBody>
      </p:sp>
      <p:sp>
        <p:nvSpPr>
          <p:cNvPr id="21" name="TextBox 20"/>
          <p:cNvSpPr txBox="1"/>
          <p:nvPr/>
        </p:nvSpPr>
        <p:spPr>
          <a:xfrm>
            <a:off x="771525" y="1963264"/>
            <a:ext cx="3596289" cy="176395"/>
          </a:xfrm>
          <a:prstGeom prst="rect">
            <a:avLst/>
          </a:prstGeom>
          <a:noFill/>
        </p:spPr>
        <p:txBody>
          <a:bodyPr wrap="square" lIns="0" tIns="0" rIns="0" bIns="0" anchor="t">
            <a:spAutoFit/>
          </a:bodyPr>
          <a:lstStyle/>
          <a:p>
            <a:pPr algn="l">
              <a:lnSpc>
                <a:spcPts val="1470"/>
              </a:lnSpc>
            </a:pPr>
            <a:r>
              <a:rPr lang="ko-KR" altLang="en-US" sz="1050" b="0" i="0" u="none" dirty="0">
                <a:solidFill>
                  <a:srgbClr val="64748B"/>
                </a:solidFill>
                <a:latin typeface="Noto Sans KR" panose="020B0200000000000000" pitchFamily="50" charset="-127"/>
                <a:ea typeface="Noto Sans KR" panose="020B0200000000000000" pitchFamily="50" charset="-127"/>
              </a:rPr>
              <a:t>다중 상품 동시 주문</a:t>
            </a:r>
            <a:r>
              <a:rPr lang="en-US" altLang="ko-KR" sz="1050" b="0" i="0" u="none" dirty="0">
                <a:solidFill>
                  <a:srgbClr val="64748B"/>
                </a:solidFill>
                <a:latin typeface="Noto Sans KR" panose="020B0200000000000000" pitchFamily="50" charset="-127"/>
                <a:ea typeface="Noto Sans KR" panose="020B0200000000000000" pitchFamily="50" charset="-127"/>
              </a:rPr>
              <a:t>, </a:t>
            </a:r>
            <a:r>
              <a:rPr lang="ko-KR" altLang="en-US" sz="1050" b="0" i="0" u="none" dirty="0">
                <a:solidFill>
                  <a:srgbClr val="64748B"/>
                </a:solidFill>
                <a:latin typeface="Noto Sans KR" panose="020B0200000000000000" pitchFamily="50" charset="-127"/>
                <a:ea typeface="Noto Sans KR" panose="020B0200000000000000" pitchFamily="50" charset="-127"/>
              </a:rPr>
              <a:t>수량 합산 처리 및 음수 재고 자동 방지</a:t>
            </a:r>
          </a:p>
        </p:txBody>
      </p:sp>
      <p:pic>
        <p:nvPicPr>
          <p:cNvPr id="11" name="Screenshot 주문등록" descr="주문 등록 및 재고 자동 차감 화면">
            <a:extLst>
              <a:ext uri="{FF2B5EF4-FFF2-40B4-BE49-F238E27FC236}">
                <a16:creationId xmlns:a16="http://schemas.microsoft.com/office/drawing/2014/main" id="{1A5EA865-9748-475E-8E4D-04E6D2442DB9}"/>
              </a:ext>
            </a:extLst>
          </p:cNvPr>
          <p:cNvPicPr>
            <a:picLocks noChangeAspect="1"/>
          </p:cNvPicPr>
          <p:nvPr/>
        </p:nvPicPr>
        <p:blipFill>
          <a:blip r:embed="rId3"/>
          <a:stretch>
            <a:fillRect/>
          </a:stretch>
        </p:blipFill>
        <p:spPr>
          <a:xfrm>
            <a:off x="571498" y="2357622"/>
            <a:ext cx="8554747" cy="4135820"/>
          </a:xfrm>
          <a:prstGeom prst="roundRect">
            <a:avLst>
              <a:gd name="adj" fmla="val 3500"/>
            </a:avLst>
          </a:prstGeom>
          <a:ln w="9525">
            <a:solidFill>
              <a:srgbClr val="E2E8F0"/>
            </a:solidFill>
          </a:ln>
        </p:spPr>
      </p:pic>
      <p:pic>
        <p:nvPicPr>
          <p:cNvPr id="12" name="Picture 10" descr="image.png">
            <a:extLst>
              <a:ext uri="{FF2B5EF4-FFF2-40B4-BE49-F238E27FC236}">
                <a16:creationId xmlns:a16="http://schemas.microsoft.com/office/drawing/2014/main" id="{8262315A-D9F4-4731-9856-7B6B5B73D16C}"/>
              </a:ext>
            </a:extLst>
          </p:cNvPr>
          <p:cNvPicPr>
            <a:picLocks noChangeAspect="1"/>
          </p:cNvPicPr>
          <p:nvPr/>
        </p:nvPicPr>
        <p:blipFill>
          <a:blip r:embed="rId4"/>
          <a:stretch>
            <a:fillRect/>
          </a:stretch>
        </p:blipFill>
        <p:spPr>
          <a:xfrm>
            <a:off x="780403" y="1448648"/>
            <a:ext cx="177849" cy="228600"/>
          </a:xfrm>
          <a:prstGeom prst="rect">
            <a:avLst/>
          </a:prstGeom>
        </p:spPr>
      </p:pic>
    </p:spTree>
    <p:extLst>
      <p:ext uri="{BB962C8B-B14F-4D97-AF65-F5344CB8AC3E}">
        <p14:creationId xmlns:p14="http://schemas.microsoft.com/office/powerpoint/2010/main" val="139794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71499" y="1373476"/>
            <a:ext cx="4346729" cy="847724"/>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1500" y="381000"/>
            <a:ext cx="1131720"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2. KEY FEATURES</a:t>
            </a:r>
          </a:p>
        </p:txBody>
      </p:sp>
      <p:sp>
        <p:nvSpPr>
          <p:cNvPr id="15" name="TextBox 14"/>
          <p:cNvSpPr txBox="1"/>
          <p:nvPr/>
        </p:nvSpPr>
        <p:spPr>
          <a:xfrm>
            <a:off x="571500" y="590550"/>
            <a:ext cx="2170466"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주요</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업무</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기능</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구성</a:t>
            </a:r>
            <a:endParaRPr sz="2100" b="1" i="0" u="none" dirty="0">
              <a:solidFill>
                <a:srgbClr val="0F172A"/>
              </a:solidFill>
              <a:latin typeface="Noto Sans KR" panose="020B0200000000000000" pitchFamily="50" charset="-127"/>
            </a:endParaRPr>
          </a:p>
        </p:txBody>
      </p:sp>
      <p:sp>
        <p:nvSpPr>
          <p:cNvPr id="16" name="TextBox 15"/>
          <p:cNvSpPr txBox="1"/>
          <p:nvPr/>
        </p:nvSpPr>
        <p:spPr>
          <a:xfrm>
            <a:off x="1066800" y="1509897"/>
            <a:ext cx="1659729" cy="150041"/>
          </a:xfrm>
          <a:prstGeom prst="rect">
            <a:avLst/>
          </a:prstGeom>
          <a:noFill/>
        </p:spPr>
        <p:txBody>
          <a:bodyPr wrap="square" lIns="0" tIns="0" rIns="0" bIns="0" anchor="t">
            <a:spAutoFit/>
          </a:bodyPr>
          <a:lstStyle/>
          <a:p>
            <a:pPr algn="l"/>
            <a:r>
              <a:rPr lang="ko-KR" altLang="en-US" sz="975" b="1" i="0" u="none" dirty="0">
                <a:solidFill>
                  <a:srgbClr val="2563EB"/>
                </a:solidFill>
                <a:latin typeface="Noto Sans KR" panose="020B0200000000000000" pitchFamily="50" charset="-127"/>
                <a:ea typeface="Noto Sans KR" panose="020B0200000000000000" pitchFamily="50" charset="-127"/>
              </a:rPr>
              <a:t>최대 </a:t>
            </a:r>
            <a:r>
              <a:rPr lang="en-US" altLang="ko-KR" sz="975" b="1" i="0" u="none" dirty="0">
                <a:solidFill>
                  <a:srgbClr val="2563EB"/>
                </a:solidFill>
                <a:latin typeface="Noto Sans KR" panose="020B0200000000000000" pitchFamily="50" charset="-127"/>
                <a:ea typeface="Noto Sans KR" panose="020B0200000000000000" pitchFamily="50" charset="-127"/>
              </a:rPr>
              <a:t>10MB </a:t>
            </a:r>
            <a:r>
              <a:rPr lang="ko-KR" altLang="en-US" sz="975" b="1" i="0" u="none" dirty="0">
                <a:solidFill>
                  <a:srgbClr val="2563EB"/>
                </a:solidFill>
                <a:latin typeface="Noto Sans KR" panose="020B0200000000000000" pitchFamily="50" charset="-127"/>
                <a:ea typeface="Noto Sans KR" panose="020B0200000000000000" pitchFamily="50" charset="-127"/>
              </a:rPr>
              <a:t>지원</a:t>
            </a:r>
          </a:p>
        </p:txBody>
      </p:sp>
      <p:sp>
        <p:nvSpPr>
          <p:cNvPr id="20" name="TextBox 19"/>
          <p:cNvSpPr txBox="1"/>
          <p:nvPr/>
        </p:nvSpPr>
        <p:spPr>
          <a:xfrm>
            <a:off x="771525" y="1711277"/>
            <a:ext cx="1731977" cy="207749"/>
          </a:xfrm>
          <a:prstGeom prst="rect">
            <a:avLst/>
          </a:prstGeom>
          <a:noFill/>
        </p:spPr>
        <p:txBody>
          <a:bodyPr wrap="square" lIns="0" tIns="0" rIns="0" bIns="0" anchor="t">
            <a:spAutoFit/>
          </a:bodyPr>
          <a:lstStyle/>
          <a:p>
            <a:pPr algn="l"/>
            <a:r>
              <a:rPr lang="en-US" altLang="ko-KR" sz="1350" b="1" i="0" u="none" dirty="0">
                <a:solidFill>
                  <a:srgbClr val="0F172A"/>
                </a:solidFill>
                <a:latin typeface="Noto Sans KR" panose="020B0200000000000000" pitchFamily="50" charset="-127"/>
                <a:ea typeface="Noto Sans KR" panose="020B0200000000000000" pitchFamily="50" charset="-127"/>
              </a:rPr>
              <a:t>CSV </a:t>
            </a:r>
            <a:r>
              <a:rPr lang="ko-KR" altLang="en-US" sz="1350" b="1" i="0" u="none" dirty="0">
                <a:solidFill>
                  <a:srgbClr val="0F172A"/>
                </a:solidFill>
                <a:latin typeface="Noto Sans KR" panose="020B0200000000000000" pitchFamily="50" charset="-127"/>
                <a:ea typeface="Noto Sans KR" panose="020B0200000000000000" pitchFamily="50" charset="-127"/>
              </a:rPr>
              <a:t>이력 가져오기</a:t>
            </a:r>
          </a:p>
        </p:txBody>
      </p:sp>
      <p:sp>
        <p:nvSpPr>
          <p:cNvPr id="21" name="TextBox 20"/>
          <p:cNvSpPr txBox="1"/>
          <p:nvPr/>
        </p:nvSpPr>
        <p:spPr>
          <a:xfrm>
            <a:off x="771525" y="1963264"/>
            <a:ext cx="3596289" cy="176395"/>
          </a:xfrm>
          <a:prstGeom prst="rect">
            <a:avLst/>
          </a:prstGeom>
          <a:noFill/>
        </p:spPr>
        <p:txBody>
          <a:bodyPr wrap="square" lIns="0" tIns="0" rIns="0" bIns="0" anchor="t">
            <a:spAutoFit/>
          </a:bodyPr>
          <a:lstStyle/>
          <a:p>
            <a:pPr algn="l">
              <a:lnSpc>
                <a:spcPts val="1470"/>
              </a:lnSpc>
            </a:pPr>
            <a:r>
              <a:rPr lang="ko-KR" altLang="en-US" sz="1050" b="0" i="0" u="none" dirty="0">
                <a:solidFill>
                  <a:srgbClr val="64748B"/>
                </a:solidFill>
                <a:latin typeface="Noto Sans KR" panose="020B0200000000000000" pitchFamily="50" charset="-127"/>
                <a:ea typeface="Noto Sans KR" panose="020B0200000000000000" pitchFamily="50" charset="-127"/>
              </a:rPr>
              <a:t>과거 수주 이력 일괄 적재</a:t>
            </a:r>
            <a:r>
              <a:rPr lang="en-US" altLang="ko-KR" sz="1050" b="0" i="0" u="none" dirty="0">
                <a:solidFill>
                  <a:srgbClr val="64748B"/>
                </a:solidFill>
                <a:latin typeface="Noto Sans KR" panose="020B0200000000000000" pitchFamily="50" charset="-127"/>
                <a:ea typeface="Noto Sans KR" panose="020B0200000000000000" pitchFamily="50" charset="-127"/>
              </a:rPr>
              <a:t>, </a:t>
            </a:r>
            <a:r>
              <a:rPr lang="ko-KR" altLang="en-US" sz="1050" b="0" i="0" u="none" dirty="0">
                <a:solidFill>
                  <a:srgbClr val="64748B"/>
                </a:solidFill>
                <a:latin typeface="Noto Sans KR" panose="020B0200000000000000" pitchFamily="50" charset="-127"/>
                <a:ea typeface="Noto Sans KR" panose="020B0200000000000000" pitchFamily="50" charset="-127"/>
              </a:rPr>
              <a:t>신규 </a:t>
            </a:r>
            <a:r>
              <a:rPr lang="en-US" altLang="ko-KR" sz="1050" b="0" i="0" u="none" dirty="0">
                <a:solidFill>
                  <a:srgbClr val="64748B"/>
                </a:solidFill>
                <a:latin typeface="Noto Sans KR" panose="020B0200000000000000" pitchFamily="50" charset="-127"/>
                <a:ea typeface="Noto Sans KR" panose="020B0200000000000000" pitchFamily="50" charset="-127"/>
              </a:rPr>
              <a:t>SKU/</a:t>
            </a:r>
            <a:r>
              <a:rPr lang="ko-KR" altLang="en-US" sz="1050" b="0" i="0" u="none" dirty="0">
                <a:solidFill>
                  <a:srgbClr val="64748B"/>
                </a:solidFill>
                <a:latin typeface="Noto Sans KR" panose="020B0200000000000000" pitchFamily="50" charset="-127"/>
                <a:ea typeface="Noto Sans KR" panose="020B0200000000000000" pitchFamily="50" charset="-127"/>
              </a:rPr>
              <a:t>거래처 자동 생성</a:t>
            </a:r>
          </a:p>
        </p:txBody>
      </p:sp>
      <p:pic>
        <p:nvPicPr>
          <p:cNvPr id="12" name="Picture 11" descr="image.png">
            <a:extLst>
              <a:ext uri="{FF2B5EF4-FFF2-40B4-BE49-F238E27FC236}">
                <a16:creationId xmlns:a16="http://schemas.microsoft.com/office/drawing/2014/main" id="{15361F9F-83E8-4C67-BBF5-19B7E2C927C6}"/>
              </a:ext>
            </a:extLst>
          </p:cNvPr>
          <p:cNvPicPr>
            <a:picLocks noChangeAspect="1"/>
          </p:cNvPicPr>
          <p:nvPr/>
        </p:nvPicPr>
        <p:blipFill>
          <a:blip r:embed="rId3"/>
          <a:stretch>
            <a:fillRect/>
          </a:stretch>
        </p:blipFill>
        <p:spPr>
          <a:xfrm>
            <a:off x="782726" y="1470981"/>
            <a:ext cx="161627" cy="207749"/>
          </a:xfrm>
          <a:prstGeom prst="rect">
            <a:avLst/>
          </a:prstGeom>
        </p:spPr>
      </p:pic>
      <p:pic>
        <p:nvPicPr>
          <p:cNvPr id="13" name="Screenshot CSV" descr="CSV 주문 이력 가져오기 화면">
            <a:extLst>
              <a:ext uri="{FF2B5EF4-FFF2-40B4-BE49-F238E27FC236}">
                <a16:creationId xmlns:a16="http://schemas.microsoft.com/office/drawing/2014/main" id="{BDE44397-E2B9-4F2C-96BF-B7F5D606A504}"/>
              </a:ext>
            </a:extLst>
          </p:cNvPr>
          <p:cNvPicPr>
            <a:picLocks noChangeAspect="1"/>
          </p:cNvPicPr>
          <p:nvPr/>
        </p:nvPicPr>
        <p:blipFill>
          <a:blip r:embed="rId4"/>
          <a:stretch>
            <a:fillRect/>
          </a:stretch>
        </p:blipFill>
        <p:spPr>
          <a:xfrm>
            <a:off x="571499" y="2322164"/>
            <a:ext cx="8599134" cy="4157279"/>
          </a:xfrm>
          <a:prstGeom prst="roundRect">
            <a:avLst>
              <a:gd name="adj" fmla="val 3500"/>
            </a:avLst>
          </a:prstGeom>
          <a:ln w="9525">
            <a:solidFill>
              <a:srgbClr val="E2E8F0"/>
            </a:solidFill>
          </a:ln>
        </p:spPr>
      </p:pic>
    </p:spTree>
    <p:extLst>
      <p:ext uri="{BB962C8B-B14F-4D97-AF65-F5344CB8AC3E}">
        <p14:creationId xmlns:p14="http://schemas.microsoft.com/office/powerpoint/2010/main" val="2043218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4">
            <a:extLst>
              <a:ext uri="{FF2B5EF4-FFF2-40B4-BE49-F238E27FC236}">
                <a16:creationId xmlns:a16="http://schemas.microsoft.com/office/drawing/2014/main" id="{19B1325F-0A0F-4047-B5DD-770048F69D3B}"/>
              </a:ext>
            </a:extLst>
          </p:cNvPr>
          <p:cNvSpPr/>
          <p:nvPr/>
        </p:nvSpPr>
        <p:spPr>
          <a:xfrm>
            <a:off x="571499" y="1381078"/>
            <a:ext cx="4027134" cy="1050550"/>
          </a:xfrm>
          <a:prstGeom prst="roundRect">
            <a:avLst>
              <a:gd name="adj" fmla="val 571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1500" y="381000"/>
            <a:ext cx="1131720"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2. KEY FEATURES</a:t>
            </a:r>
          </a:p>
        </p:txBody>
      </p:sp>
      <p:sp>
        <p:nvSpPr>
          <p:cNvPr id="15" name="TextBox 14"/>
          <p:cNvSpPr txBox="1"/>
          <p:nvPr/>
        </p:nvSpPr>
        <p:spPr>
          <a:xfrm>
            <a:off x="571500" y="590550"/>
            <a:ext cx="2170466"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주요</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업무</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기능</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구성</a:t>
            </a:r>
            <a:endParaRPr sz="2100" b="1" i="0" u="none" dirty="0">
              <a:solidFill>
                <a:srgbClr val="0F172A"/>
              </a:solidFill>
              <a:latin typeface="Noto Sans KR" panose="020B0200000000000000" pitchFamily="50" charset="-127"/>
            </a:endParaRPr>
          </a:p>
        </p:txBody>
      </p:sp>
      <p:sp>
        <p:nvSpPr>
          <p:cNvPr id="16" name="TextBox 15"/>
          <p:cNvSpPr txBox="1"/>
          <p:nvPr/>
        </p:nvSpPr>
        <p:spPr>
          <a:xfrm>
            <a:off x="1000632" y="1622182"/>
            <a:ext cx="1659729" cy="150041"/>
          </a:xfrm>
          <a:prstGeom prst="rect">
            <a:avLst/>
          </a:prstGeom>
          <a:noFill/>
        </p:spPr>
        <p:txBody>
          <a:bodyPr wrap="square" lIns="0" tIns="0" rIns="0" bIns="0" anchor="t">
            <a:spAutoFit/>
          </a:bodyPr>
          <a:lstStyle/>
          <a:p>
            <a:pPr algn="l"/>
            <a:r>
              <a:rPr lang="ko-KR" altLang="en-US" sz="975" b="1" i="0" u="none" dirty="0">
                <a:solidFill>
                  <a:srgbClr val="1D4ED8"/>
                </a:solidFill>
                <a:latin typeface="Noto Sans KR" panose="020B0200000000000000" pitchFamily="50" charset="-127"/>
                <a:ea typeface="Noto Sans KR" panose="020B0200000000000000" pitchFamily="50" charset="-127"/>
              </a:rPr>
              <a:t>핵심 </a:t>
            </a:r>
            <a:r>
              <a:rPr lang="en-US" altLang="ko-KR" sz="975" b="1" i="0" u="none" dirty="0">
                <a:solidFill>
                  <a:srgbClr val="1D4ED8"/>
                </a:solidFill>
                <a:latin typeface="Noto Sans KR" panose="020B0200000000000000" pitchFamily="50" charset="-127"/>
                <a:ea typeface="Noto Sans KR" panose="020B0200000000000000" pitchFamily="50" charset="-127"/>
              </a:rPr>
              <a:t>AI </a:t>
            </a:r>
            <a:r>
              <a:rPr lang="ko-KR" altLang="en-US" sz="975" b="1" i="0" u="none" dirty="0">
                <a:solidFill>
                  <a:srgbClr val="1D4ED8"/>
                </a:solidFill>
                <a:latin typeface="Noto Sans KR" panose="020B0200000000000000" pitchFamily="50" charset="-127"/>
                <a:ea typeface="Noto Sans KR" panose="020B0200000000000000" pitchFamily="50" charset="-127"/>
              </a:rPr>
              <a:t>엔진</a:t>
            </a:r>
          </a:p>
        </p:txBody>
      </p:sp>
      <p:sp>
        <p:nvSpPr>
          <p:cNvPr id="20" name="TextBox 19"/>
          <p:cNvSpPr txBox="1"/>
          <p:nvPr/>
        </p:nvSpPr>
        <p:spPr>
          <a:xfrm>
            <a:off x="705357" y="1823562"/>
            <a:ext cx="1731977" cy="207749"/>
          </a:xfrm>
          <a:prstGeom prst="rect">
            <a:avLst/>
          </a:prstGeom>
          <a:noFill/>
        </p:spPr>
        <p:txBody>
          <a:bodyPr wrap="square" lIns="0" tIns="0" rIns="0" bIns="0" anchor="t">
            <a:spAutoFit/>
          </a:bodyPr>
          <a:lstStyle/>
          <a:p>
            <a:pPr algn="l"/>
            <a:r>
              <a:rPr lang="ko-KR" altLang="en-US" sz="1350" b="1" i="0" u="none" dirty="0">
                <a:solidFill>
                  <a:srgbClr val="1E3A8A"/>
                </a:solidFill>
                <a:latin typeface="Noto Sans KR" panose="020B0200000000000000" pitchFamily="50" charset="-127"/>
                <a:ea typeface="Noto Sans KR" panose="020B0200000000000000" pitchFamily="50" charset="-127"/>
              </a:rPr>
              <a:t>수요예측 </a:t>
            </a:r>
            <a:r>
              <a:rPr lang="en-US" altLang="ko-KR" sz="1350" b="1" i="0" u="none" dirty="0">
                <a:solidFill>
                  <a:srgbClr val="1E3A8A"/>
                </a:solidFill>
                <a:latin typeface="Noto Sans KR" panose="020B0200000000000000" pitchFamily="50" charset="-127"/>
                <a:ea typeface="Noto Sans KR" panose="020B0200000000000000" pitchFamily="50" charset="-127"/>
              </a:rPr>
              <a:t>&amp; </a:t>
            </a:r>
            <a:r>
              <a:rPr lang="ko-KR" altLang="en-US" sz="1350" b="1" i="0" u="none" dirty="0">
                <a:solidFill>
                  <a:srgbClr val="1E3A8A"/>
                </a:solidFill>
                <a:latin typeface="Noto Sans KR" panose="020B0200000000000000" pitchFamily="50" charset="-127"/>
                <a:ea typeface="Noto Sans KR" panose="020B0200000000000000" pitchFamily="50" charset="-127"/>
              </a:rPr>
              <a:t>발주추천</a:t>
            </a:r>
          </a:p>
        </p:txBody>
      </p:sp>
      <p:sp>
        <p:nvSpPr>
          <p:cNvPr id="21" name="TextBox 20"/>
          <p:cNvSpPr txBox="1"/>
          <p:nvPr/>
        </p:nvSpPr>
        <p:spPr>
          <a:xfrm>
            <a:off x="705357" y="2075549"/>
            <a:ext cx="3596289" cy="176395"/>
          </a:xfrm>
          <a:prstGeom prst="rect">
            <a:avLst/>
          </a:prstGeom>
          <a:noFill/>
        </p:spPr>
        <p:txBody>
          <a:bodyPr wrap="square" lIns="0" tIns="0" rIns="0" bIns="0" anchor="t">
            <a:spAutoFit/>
          </a:bodyPr>
          <a:lstStyle/>
          <a:p>
            <a:pPr algn="l">
              <a:lnSpc>
                <a:spcPts val="1470"/>
              </a:lnSpc>
            </a:pPr>
            <a:r>
              <a:rPr lang="en-US" altLang="ko-KR" sz="1050" b="0" i="0" u="none" dirty="0">
                <a:solidFill>
                  <a:srgbClr val="1E40AF"/>
                </a:solidFill>
                <a:latin typeface="Noto Sans KR" panose="020B0200000000000000" pitchFamily="50" charset="-127"/>
                <a:ea typeface="Noto Sans KR" panose="020B0200000000000000" pitchFamily="50" charset="-127"/>
              </a:rPr>
              <a:t>Random Forest </a:t>
            </a:r>
            <a:r>
              <a:rPr lang="ko-KR" altLang="en-US" sz="1050" b="0" i="0" u="none" dirty="0">
                <a:solidFill>
                  <a:srgbClr val="1E40AF"/>
                </a:solidFill>
                <a:latin typeface="Noto Sans KR" panose="020B0200000000000000" pitchFamily="50" charset="-127"/>
                <a:ea typeface="Noto Sans KR" panose="020B0200000000000000" pitchFamily="50" charset="-127"/>
              </a:rPr>
              <a:t>기반 주간 수요 예측 및 안전재고 추천</a:t>
            </a:r>
          </a:p>
        </p:txBody>
      </p:sp>
      <p:pic>
        <p:nvPicPr>
          <p:cNvPr id="12" name="Picture 12" descr="image.png">
            <a:extLst>
              <a:ext uri="{FF2B5EF4-FFF2-40B4-BE49-F238E27FC236}">
                <a16:creationId xmlns:a16="http://schemas.microsoft.com/office/drawing/2014/main" id="{7A6CBD5D-1BC9-4631-8408-6033E986CD1B}"/>
              </a:ext>
            </a:extLst>
          </p:cNvPr>
          <p:cNvPicPr>
            <a:picLocks noChangeAspect="1"/>
          </p:cNvPicPr>
          <p:nvPr/>
        </p:nvPicPr>
        <p:blipFill>
          <a:blip r:embed="rId3"/>
          <a:stretch>
            <a:fillRect/>
          </a:stretch>
        </p:blipFill>
        <p:spPr>
          <a:xfrm>
            <a:off x="705357" y="1566239"/>
            <a:ext cx="168992" cy="217216"/>
          </a:xfrm>
          <a:prstGeom prst="rect">
            <a:avLst/>
          </a:prstGeom>
        </p:spPr>
      </p:pic>
      <p:pic>
        <p:nvPicPr>
          <p:cNvPr id="13" name="Screenshot 수요예측" descr="수요 예측 화면">
            <a:extLst>
              <a:ext uri="{FF2B5EF4-FFF2-40B4-BE49-F238E27FC236}">
                <a16:creationId xmlns:a16="http://schemas.microsoft.com/office/drawing/2014/main" id="{644F44B6-620C-45B1-BE7F-09B599739A23}"/>
              </a:ext>
            </a:extLst>
          </p:cNvPr>
          <p:cNvPicPr>
            <a:picLocks noChangeAspect="1"/>
          </p:cNvPicPr>
          <p:nvPr/>
        </p:nvPicPr>
        <p:blipFill>
          <a:blip r:embed="rId4"/>
          <a:stretch>
            <a:fillRect/>
          </a:stretch>
        </p:blipFill>
        <p:spPr>
          <a:xfrm>
            <a:off x="4808138" y="436926"/>
            <a:ext cx="6058130" cy="2928822"/>
          </a:xfrm>
          <a:prstGeom prst="roundRect">
            <a:avLst>
              <a:gd name="adj" fmla="val 3500"/>
            </a:avLst>
          </a:prstGeom>
          <a:ln w="9525">
            <a:solidFill>
              <a:srgbClr val="BFDBFE"/>
            </a:solidFill>
          </a:ln>
        </p:spPr>
      </p:pic>
      <p:pic>
        <p:nvPicPr>
          <p:cNvPr id="17" name="Screenshot 발주추천" descr="발주 추천 화면">
            <a:extLst>
              <a:ext uri="{FF2B5EF4-FFF2-40B4-BE49-F238E27FC236}">
                <a16:creationId xmlns:a16="http://schemas.microsoft.com/office/drawing/2014/main" id="{7C64F1E5-8363-4BBF-B9F6-C7180E678304}"/>
              </a:ext>
            </a:extLst>
          </p:cNvPr>
          <p:cNvPicPr>
            <a:picLocks noChangeAspect="1"/>
          </p:cNvPicPr>
          <p:nvPr/>
        </p:nvPicPr>
        <p:blipFill>
          <a:blip r:embed="rId5"/>
          <a:stretch>
            <a:fillRect/>
          </a:stretch>
        </p:blipFill>
        <p:spPr>
          <a:xfrm>
            <a:off x="4808138" y="3492253"/>
            <a:ext cx="6058130" cy="2928822"/>
          </a:xfrm>
          <a:prstGeom prst="roundRect">
            <a:avLst>
              <a:gd name="adj" fmla="val 3500"/>
            </a:avLst>
          </a:prstGeom>
          <a:ln w="9525">
            <a:solidFill>
              <a:srgbClr val="BFDBFE"/>
            </a:solidFill>
          </a:ln>
        </p:spPr>
      </p:pic>
    </p:spTree>
    <p:extLst>
      <p:ext uri="{BB962C8B-B14F-4D97-AF65-F5344CB8AC3E}">
        <p14:creationId xmlns:p14="http://schemas.microsoft.com/office/powerpoint/2010/main" val="3707033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1500" y="2026890"/>
            <a:ext cx="6076950" cy="3619500"/>
          </a:xfrm>
          <a:prstGeom prst="roundRect">
            <a:avLst>
              <a:gd name="adj" fmla="val 315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953250" y="2607915"/>
            <a:ext cx="4667250" cy="400050"/>
          </a:xfrm>
          <a:prstGeom prst="roundRect">
            <a:avLst>
              <a:gd name="adj" fmla="val 1904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953250" y="3122265"/>
            <a:ext cx="4667250" cy="400050"/>
          </a:xfrm>
          <a:prstGeom prst="roundRect">
            <a:avLst>
              <a:gd name="adj" fmla="val 1904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953250" y="3636615"/>
            <a:ext cx="4667250" cy="400050"/>
          </a:xfrm>
          <a:prstGeom prst="roundRect">
            <a:avLst>
              <a:gd name="adj" fmla="val 1904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953250" y="4150965"/>
            <a:ext cx="4667250" cy="400050"/>
          </a:xfrm>
          <a:prstGeom prst="roundRect">
            <a:avLst>
              <a:gd name="adj" fmla="val 1904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953250" y="4665315"/>
            <a:ext cx="4667250" cy="400050"/>
          </a:xfrm>
          <a:prstGeom prst="roundRect">
            <a:avLst>
              <a:gd name="adj" fmla="val 1904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9625" y="2588865"/>
            <a:ext cx="5600700" cy="419100"/>
          </a:xfrm>
          <a:prstGeom prst="roundRect">
            <a:avLst>
              <a:gd name="adj" fmla="val 1818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9625" y="3369915"/>
            <a:ext cx="5600700" cy="400050"/>
          </a:xfrm>
          <a:prstGeom prst="roundRect">
            <a:avLst>
              <a:gd name="adj" fmla="val 19047"/>
            </a:avLst>
          </a:prstGeom>
          <a:solidFill>
            <a:srgbClr val="DBEAFE"/>
          </a:solidFill>
          <a:ln w="9525">
            <a:solidFill>
              <a:srgbClr val="93C5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9625" y="5027265"/>
            <a:ext cx="5600700" cy="381000"/>
          </a:xfrm>
          <a:prstGeom prst="roundRect">
            <a:avLst>
              <a:gd name="adj" fmla="val 2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9625" y="4131915"/>
            <a:ext cx="2743200" cy="533400"/>
          </a:xfrm>
          <a:prstGeom prst="roundRect">
            <a:avLst>
              <a:gd name="adj" fmla="val 1428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67125" y="4131915"/>
            <a:ext cx="2743200" cy="533400"/>
          </a:xfrm>
          <a:prstGeom prst="roundRect">
            <a:avLst>
              <a:gd name="adj" fmla="val 14285"/>
            </a:avLst>
          </a:prstGeom>
          <a:solidFill>
            <a:srgbClr val="FEF3C7"/>
          </a:solidFill>
          <a:ln w="9525">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3"/>
          <a:stretch>
            <a:fillRect/>
          </a:stretch>
        </p:blipFill>
        <p:spPr>
          <a:xfrm>
            <a:off x="3095327" y="3131790"/>
            <a:ext cx="88999" cy="114300"/>
          </a:xfrm>
          <a:prstGeom prst="rect">
            <a:avLst/>
          </a:prstGeom>
        </p:spPr>
      </p:pic>
      <p:pic>
        <p:nvPicPr>
          <p:cNvPr id="14" name="Picture 13" descr="image.png"/>
          <p:cNvPicPr>
            <a:picLocks noChangeAspect="1"/>
          </p:cNvPicPr>
          <p:nvPr/>
        </p:nvPicPr>
        <p:blipFill>
          <a:blip r:embed="rId3"/>
          <a:stretch>
            <a:fillRect/>
          </a:stretch>
        </p:blipFill>
        <p:spPr>
          <a:xfrm>
            <a:off x="2771179" y="3893790"/>
            <a:ext cx="88999" cy="114300"/>
          </a:xfrm>
          <a:prstGeom prst="rect">
            <a:avLst/>
          </a:prstGeom>
        </p:spPr>
      </p:pic>
      <p:pic>
        <p:nvPicPr>
          <p:cNvPr id="15" name="Picture 14" descr="image.png"/>
          <p:cNvPicPr>
            <a:picLocks noChangeAspect="1"/>
          </p:cNvPicPr>
          <p:nvPr/>
        </p:nvPicPr>
        <p:blipFill>
          <a:blip r:embed="rId4"/>
          <a:stretch>
            <a:fillRect/>
          </a:stretch>
        </p:blipFill>
        <p:spPr>
          <a:xfrm>
            <a:off x="3149351" y="4789140"/>
            <a:ext cx="88999" cy="114300"/>
          </a:xfrm>
          <a:prstGeom prst="rect">
            <a:avLst/>
          </a:prstGeom>
        </p:spPr>
      </p:pic>
      <p:sp>
        <p:nvSpPr>
          <p:cNvPr id="16" name="TextBox 15"/>
          <p:cNvSpPr txBox="1"/>
          <p:nvPr/>
        </p:nvSpPr>
        <p:spPr>
          <a:xfrm>
            <a:off x="571500" y="381000"/>
            <a:ext cx="2170466"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3. TECH STACK &amp; ARCHITECTURE</a:t>
            </a:r>
          </a:p>
        </p:txBody>
      </p:sp>
      <p:sp>
        <p:nvSpPr>
          <p:cNvPr id="17" name="TextBox 16"/>
          <p:cNvSpPr txBox="1"/>
          <p:nvPr/>
        </p:nvSpPr>
        <p:spPr>
          <a:xfrm>
            <a:off x="571500" y="590550"/>
            <a:ext cx="3534622"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기술</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스택</a:t>
            </a:r>
            <a:r>
              <a:rPr sz="2100" b="1" i="0" u="none" dirty="0">
                <a:solidFill>
                  <a:srgbClr val="0F172A"/>
                </a:solidFill>
                <a:latin typeface="Noto Sans KR" panose="020B0200000000000000" pitchFamily="50" charset="-127"/>
              </a:rPr>
              <a:t> 및 </a:t>
            </a:r>
            <a:r>
              <a:rPr sz="2100" b="1" i="0" u="none" dirty="0" err="1">
                <a:solidFill>
                  <a:srgbClr val="0F172A"/>
                </a:solidFill>
                <a:latin typeface="Noto Sans KR" panose="020B0200000000000000" pitchFamily="50" charset="-127"/>
              </a:rPr>
              <a:t>시스템</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레이어</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구조</a:t>
            </a:r>
            <a:endParaRPr sz="2100" b="1" i="0" u="none" dirty="0">
              <a:solidFill>
                <a:srgbClr val="0F172A"/>
              </a:solidFill>
              <a:latin typeface="Noto Sans KR" panose="020B0200000000000000" pitchFamily="50" charset="-127"/>
            </a:endParaRPr>
          </a:p>
        </p:txBody>
      </p:sp>
      <p:sp>
        <p:nvSpPr>
          <p:cNvPr id="18" name="TextBox 17"/>
          <p:cNvSpPr txBox="1"/>
          <p:nvPr/>
        </p:nvSpPr>
        <p:spPr>
          <a:xfrm>
            <a:off x="809625" y="2265015"/>
            <a:ext cx="1973297" cy="184666"/>
          </a:xfrm>
          <a:prstGeom prst="rect">
            <a:avLst/>
          </a:prstGeom>
          <a:noFill/>
        </p:spPr>
        <p:txBody>
          <a:bodyPr wrap="none" lIns="0" tIns="0" rIns="0" bIns="0" anchor="t">
            <a:spAutoFit/>
          </a:bodyPr>
          <a:lstStyle/>
          <a:p>
            <a:pPr algn="l"/>
            <a:r>
              <a:rPr sz="1200" b="1" i="0" u="none" dirty="0">
                <a:solidFill>
                  <a:srgbClr val="0F172A"/>
                </a:solidFill>
                <a:latin typeface="Noto Sans KR" panose="020B0200000000000000" pitchFamily="50" charset="-127"/>
              </a:rPr>
              <a:t>System Data Flow Pattern</a:t>
            </a:r>
          </a:p>
        </p:txBody>
      </p:sp>
      <p:sp>
        <p:nvSpPr>
          <p:cNvPr id="19" name="TextBox 18"/>
          <p:cNvSpPr txBox="1"/>
          <p:nvPr/>
        </p:nvSpPr>
        <p:spPr>
          <a:xfrm>
            <a:off x="223837" y="2703165"/>
            <a:ext cx="6772275" cy="161583"/>
          </a:xfrm>
          <a:prstGeom prst="rect">
            <a:avLst/>
          </a:prstGeom>
          <a:noFill/>
        </p:spPr>
        <p:txBody>
          <a:bodyPr wrap="square" lIns="0" tIns="0" rIns="0" bIns="0" anchor="t">
            <a:spAutoFit/>
          </a:bodyPr>
          <a:lstStyle/>
          <a:p>
            <a:pPr algn="ctr"/>
            <a:r>
              <a:rPr sz="1050" b="1" i="0" u="none" dirty="0" err="1">
                <a:solidFill>
                  <a:srgbClr val="334155"/>
                </a:solidFill>
                <a:latin typeface="Noto Sans KR" panose="020B0200000000000000" pitchFamily="50" charset="-127"/>
              </a:rPr>
              <a:t>사용자</a:t>
            </a:r>
            <a:r>
              <a:rPr sz="1050" b="1" i="0" u="none" dirty="0">
                <a:solidFill>
                  <a:srgbClr val="334155"/>
                </a:solidFill>
                <a:latin typeface="Noto Sans KR" panose="020B0200000000000000" pitchFamily="50" charset="-127"/>
              </a:rPr>
              <a:t> </a:t>
            </a:r>
            <a:r>
              <a:rPr sz="1050" b="1" i="0" u="none" dirty="0" err="1">
                <a:solidFill>
                  <a:srgbClr val="334155"/>
                </a:solidFill>
                <a:latin typeface="Noto Sans KR" panose="020B0200000000000000" pitchFamily="50" charset="-127"/>
              </a:rPr>
              <a:t>브라우저</a:t>
            </a:r>
            <a:r>
              <a:rPr sz="1050" b="1" i="0" u="none" dirty="0">
                <a:solidFill>
                  <a:srgbClr val="334155"/>
                </a:solidFill>
                <a:latin typeface="Noto Sans KR" panose="020B0200000000000000" pitchFamily="50" charset="-127"/>
              </a:rPr>
              <a:t> (Jinja2 UI / Vanilla JS fetch)</a:t>
            </a:r>
          </a:p>
        </p:txBody>
      </p:sp>
      <p:sp>
        <p:nvSpPr>
          <p:cNvPr id="20" name="TextBox 19"/>
          <p:cNvSpPr txBox="1"/>
          <p:nvPr/>
        </p:nvSpPr>
        <p:spPr>
          <a:xfrm>
            <a:off x="3103375" y="3122265"/>
            <a:ext cx="1013198" cy="138499"/>
          </a:xfrm>
          <a:prstGeom prst="rect">
            <a:avLst/>
          </a:prstGeom>
          <a:noFill/>
        </p:spPr>
        <p:txBody>
          <a:bodyPr wrap="none" lIns="88999" tIns="0" rIns="0" bIns="0" anchor="t">
            <a:spAutoFit/>
          </a:bodyPr>
          <a:lstStyle/>
          <a:p>
            <a:pPr algn="ctr"/>
            <a:r>
              <a:rPr sz="900" b="0" i="0" u="none" dirty="0">
                <a:solidFill>
                  <a:srgbClr val="0F172A"/>
                </a:solidFill>
                <a:latin typeface="Noto Sans KR" panose="020B0200000000000000" pitchFamily="50" charset="-127"/>
              </a:rPr>
              <a:t>Relative API Calls</a:t>
            </a:r>
          </a:p>
        </p:txBody>
      </p:sp>
      <p:sp>
        <p:nvSpPr>
          <p:cNvPr id="21" name="TextBox 20"/>
          <p:cNvSpPr txBox="1"/>
          <p:nvPr/>
        </p:nvSpPr>
        <p:spPr>
          <a:xfrm>
            <a:off x="223837" y="3484215"/>
            <a:ext cx="6772275" cy="161583"/>
          </a:xfrm>
          <a:prstGeom prst="rect">
            <a:avLst/>
          </a:prstGeom>
          <a:noFill/>
        </p:spPr>
        <p:txBody>
          <a:bodyPr wrap="square" lIns="0" tIns="0" rIns="0" bIns="0" anchor="t">
            <a:spAutoFit/>
          </a:bodyPr>
          <a:lstStyle/>
          <a:p>
            <a:pPr algn="ctr"/>
            <a:r>
              <a:rPr sz="1050" b="1" i="0" u="none" dirty="0" err="1">
                <a:solidFill>
                  <a:srgbClr val="1E40AF"/>
                </a:solidFill>
                <a:latin typeface="Noto Sans KR" panose="020B0200000000000000" pitchFamily="50" charset="-127"/>
              </a:rPr>
              <a:t>FastAPI</a:t>
            </a:r>
            <a:r>
              <a:rPr sz="1050" b="1" i="0" u="none" dirty="0">
                <a:solidFill>
                  <a:srgbClr val="1E40AF"/>
                </a:solidFill>
                <a:latin typeface="Noto Sans KR" panose="020B0200000000000000" pitchFamily="50" charset="-127"/>
              </a:rPr>
              <a:t> Routers (</a:t>
            </a:r>
            <a:r>
              <a:rPr sz="1050" b="1" i="0" u="none" dirty="0" err="1">
                <a:solidFill>
                  <a:srgbClr val="1E40AF"/>
                </a:solidFill>
                <a:latin typeface="Noto Sans KR" panose="020B0200000000000000" pitchFamily="50" charset="-127"/>
              </a:rPr>
              <a:t>Pydantic</a:t>
            </a:r>
            <a:r>
              <a:rPr sz="1050" b="1" i="0" u="none" dirty="0">
                <a:solidFill>
                  <a:srgbClr val="1E40AF"/>
                </a:solidFill>
                <a:latin typeface="Noto Sans KR" panose="020B0200000000000000" pitchFamily="50" charset="-127"/>
              </a:rPr>
              <a:t> Schema Validation)</a:t>
            </a:r>
          </a:p>
        </p:txBody>
      </p:sp>
      <p:sp>
        <p:nvSpPr>
          <p:cNvPr id="22" name="TextBox 21"/>
          <p:cNvSpPr txBox="1"/>
          <p:nvPr/>
        </p:nvSpPr>
        <p:spPr>
          <a:xfrm>
            <a:off x="2753921" y="3884265"/>
            <a:ext cx="1712107" cy="138499"/>
          </a:xfrm>
          <a:prstGeom prst="rect">
            <a:avLst/>
          </a:prstGeom>
          <a:noFill/>
        </p:spPr>
        <p:txBody>
          <a:bodyPr wrap="none" lIns="88999" tIns="0" rIns="0" bIns="0" anchor="t">
            <a:spAutoFit/>
          </a:bodyPr>
          <a:lstStyle/>
          <a:p>
            <a:pPr algn="ctr"/>
            <a:r>
              <a:rPr sz="900" b="0" i="0" u="none" dirty="0">
                <a:solidFill>
                  <a:srgbClr val="0F172A"/>
                </a:solidFill>
                <a:latin typeface="Noto Sans KR" panose="020B0200000000000000" pitchFamily="50" charset="-127"/>
              </a:rPr>
              <a:t>Business Logic &amp; Transactions</a:t>
            </a:r>
          </a:p>
        </p:txBody>
      </p:sp>
      <p:sp>
        <p:nvSpPr>
          <p:cNvPr id="23" name="TextBox 22"/>
          <p:cNvSpPr txBox="1"/>
          <p:nvPr/>
        </p:nvSpPr>
        <p:spPr>
          <a:xfrm>
            <a:off x="3153870" y="4779615"/>
            <a:ext cx="912209" cy="138499"/>
          </a:xfrm>
          <a:prstGeom prst="rect">
            <a:avLst/>
          </a:prstGeom>
          <a:noFill/>
        </p:spPr>
        <p:txBody>
          <a:bodyPr wrap="none" lIns="88999" tIns="0" rIns="0" bIns="0" anchor="t">
            <a:spAutoFit/>
          </a:bodyPr>
          <a:lstStyle/>
          <a:p>
            <a:pPr algn="ctr"/>
            <a:r>
              <a:rPr sz="900" b="0" i="0" u="none" dirty="0">
                <a:solidFill>
                  <a:srgbClr val="0F172A"/>
                </a:solidFill>
                <a:latin typeface="Noto Sans KR" panose="020B0200000000000000" pitchFamily="50" charset="-127"/>
              </a:rPr>
              <a:t>Persist &amp; Query</a:t>
            </a:r>
          </a:p>
        </p:txBody>
      </p:sp>
      <p:sp>
        <p:nvSpPr>
          <p:cNvPr id="24" name="TextBox 23"/>
          <p:cNvSpPr txBox="1"/>
          <p:nvPr/>
        </p:nvSpPr>
        <p:spPr>
          <a:xfrm>
            <a:off x="223837" y="5141565"/>
            <a:ext cx="6772275" cy="161583"/>
          </a:xfrm>
          <a:prstGeom prst="rect">
            <a:avLst/>
          </a:prstGeom>
          <a:noFill/>
        </p:spPr>
        <p:txBody>
          <a:bodyPr wrap="square" lIns="0" tIns="0" rIns="0" bIns="0" anchor="t">
            <a:spAutoFit/>
          </a:bodyPr>
          <a:lstStyle/>
          <a:p>
            <a:pPr algn="ctr"/>
            <a:r>
              <a:rPr sz="1050" b="1" i="0" u="none" dirty="0">
                <a:solidFill>
                  <a:srgbClr val="F8FAFC"/>
                </a:solidFill>
                <a:latin typeface="Noto Sans KR" panose="020B0200000000000000" pitchFamily="50" charset="-127"/>
              </a:rPr>
              <a:t>PostgreSQL / SQLite Database</a:t>
            </a:r>
          </a:p>
        </p:txBody>
      </p:sp>
      <p:sp>
        <p:nvSpPr>
          <p:cNvPr id="25" name="TextBox 24"/>
          <p:cNvSpPr txBox="1"/>
          <p:nvPr/>
        </p:nvSpPr>
        <p:spPr>
          <a:xfrm>
            <a:off x="7115175" y="2731740"/>
            <a:ext cx="767839" cy="161583"/>
          </a:xfrm>
          <a:prstGeom prst="rect">
            <a:avLst/>
          </a:prstGeom>
          <a:noFill/>
        </p:spPr>
        <p:txBody>
          <a:bodyPr wrap="none" lIns="0" tIns="0" rIns="0" bIns="0" anchor="t">
            <a:spAutoFit/>
          </a:bodyPr>
          <a:lstStyle/>
          <a:p>
            <a:pPr algn="l"/>
            <a:r>
              <a:rPr sz="1050" b="1" i="0" u="none" dirty="0">
                <a:solidFill>
                  <a:srgbClr val="0F172A"/>
                </a:solidFill>
                <a:latin typeface="Noto Sans KR" panose="020B0200000000000000" pitchFamily="50" charset="-127"/>
              </a:rPr>
              <a:t>Framework</a:t>
            </a:r>
          </a:p>
        </p:txBody>
      </p:sp>
      <p:sp>
        <p:nvSpPr>
          <p:cNvPr id="26" name="TextBox 25"/>
          <p:cNvSpPr txBox="1"/>
          <p:nvPr/>
        </p:nvSpPr>
        <p:spPr>
          <a:xfrm>
            <a:off x="10391477" y="2731740"/>
            <a:ext cx="1098058" cy="161583"/>
          </a:xfrm>
          <a:prstGeom prst="rect">
            <a:avLst/>
          </a:prstGeom>
          <a:noFill/>
        </p:spPr>
        <p:txBody>
          <a:bodyPr wrap="none" lIns="0" tIns="0" rIns="0" bIns="0" anchor="t">
            <a:spAutoFit/>
          </a:bodyPr>
          <a:lstStyle/>
          <a:p>
            <a:pPr algn="l"/>
            <a:r>
              <a:rPr sz="1050" b="1" i="0" u="none" dirty="0" err="1">
                <a:solidFill>
                  <a:srgbClr val="2563EB"/>
                </a:solidFill>
                <a:latin typeface="Noto Sans KR" panose="020B0200000000000000" pitchFamily="50" charset="-127"/>
              </a:rPr>
              <a:t>FastAPI</a:t>
            </a:r>
            <a:r>
              <a:rPr sz="1050" b="1" i="0" u="none" dirty="0">
                <a:solidFill>
                  <a:srgbClr val="2563EB"/>
                </a:solidFill>
                <a:latin typeface="Noto Sans KR" panose="020B0200000000000000" pitchFamily="50" charset="-127"/>
              </a:rPr>
              <a:t>, </a:t>
            </a:r>
            <a:r>
              <a:rPr sz="1050" b="1" i="0" u="none" dirty="0" err="1">
                <a:solidFill>
                  <a:srgbClr val="2563EB"/>
                </a:solidFill>
                <a:latin typeface="Noto Sans KR" panose="020B0200000000000000" pitchFamily="50" charset="-127"/>
              </a:rPr>
              <a:t>Uvicorn</a:t>
            </a:r>
            <a:endParaRPr sz="1050" b="1" i="0" u="none" dirty="0">
              <a:solidFill>
                <a:srgbClr val="2563EB"/>
              </a:solidFill>
              <a:latin typeface="Noto Sans KR" panose="020B0200000000000000" pitchFamily="50" charset="-127"/>
            </a:endParaRPr>
          </a:p>
        </p:txBody>
      </p:sp>
      <p:sp>
        <p:nvSpPr>
          <p:cNvPr id="27" name="TextBox 26"/>
          <p:cNvSpPr txBox="1"/>
          <p:nvPr/>
        </p:nvSpPr>
        <p:spPr>
          <a:xfrm>
            <a:off x="7115175" y="3246090"/>
            <a:ext cx="658835" cy="161583"/>
          </a:xfrm>
          <a:prstGeom prst="rect">
            <a:avLst/>
          </a:prstGeom>
          <a:noFill/>
        </p:spPr>
        <p:txBody>
          <a:bodyPr wrap="none" lIns="0" tIns="0" rIns="0" bIns="0" anchor="t">
            <a:spAutoFit/>
          </a:bodyPr>
          <a:lstStyle/>
          <a:p>
            <a:pPr algn="l"/>
            <a:r>
              <a:rPr sz="1050" b="1" i="0" u="none" dirty="0">
                <a:solidFill>
                  <a:srgbClr val="0F172A"/>
                </a:solidFill>
                <a:latin typeface="Noto Sans KR" panose="020B0200000000000000" pitchFamily="50" charset="-127"/>
              </a:rPr>
              <a:t>ORM &amp; DB</a:t>
            </a:r>
          </a:p>
        </p:txBody>
      </p:sp>
      <p:sp>
        <p:nvSpPr>
          <p:cNvPr id="28" name="TextBox 27"/>
          <p:cNvSpPr txBox="1"/>
          <p:nvPr/>
        </p:nvSpPr>
        <p:spPr>
          <a:xfrm>
            <a:off x="9255174" y="3246090"/>
            <a:ext cx="2249014" cy="161583"/>
          </a:xfrm>
          <a:prstGeom prst="rect">
            <a:avLst/>
          </a:prstGeom>
          <a:noFill/>
        </p:spPr>
        <p:txBody>
          <a:bodyPr wrap="none" lIns="0" tIns="0" rIns="0" bIns="0" anchor="t">
            <a:spAutoFit/>
          </a:bodyPr>
          <a:lstStyle/>
          <a:p>
            <a:pPr algn="l"/>
            <a:r>
              <a:rPr sz="1050" b="1" i="0" u="none" dirty="0" err="1">
                <a:solidFill>
                  <a:srgbClr val="2563EB"/>
                </a:solidFill>
                <a:latin typeface="Noto Sans KR" panose="020B0200000000000000" pitchFamily="50" charset="-127"/>
              </a:rPr>
              <a:t>SQLAlchemy</a:t>
            </a:r>
            <a:r>
              <a:rPr sz="1050" b="1" i="0" u="none" dirty="0">
                <a:solidFill>
                  <a:srgbClr val="2563EB"/>
                </a:solidFill>
                <a:latin typeface="Noto Sans KR" panose="020B0200000000000000" pitchFamily="50" charset="-127"/>
              </a:rPr>
              <a:t>, PostgreSQL / SQLite</a:t>
            </a:r>
          </a:p>
        </p:txBody>
      </p:sp>
      <p:sp>
        <p:nvSpPr>
          <p:cNvPr id="29" name="TextBox 28"/>
          <p:cNvSpPr txBox="1"/>
          <p:nvPr/>
        </p:nvSpPr>
        <p:spPr>
          <a:xfrm>
            <a:off x="7115175" y="3760440"/>
            <a:ext cx="915315" cy="161583"/>
          </a:xfrm>
          <a:prstGeom prst="rect">
            <a:avLst/>
          </a:prstGeom>
          <a:noFill/>
        </p:spPr>
        <p:txBody>
          <a:bodyPr wrap="none" lIns="0" tIns="0" rIns="0" bIns="0" anchor="t">
            <a:spAutoFit/>
          </a:bodyPr>
          <a:lstStyle/>
          <a:p>
            <a:pPr algn="l"/>
            <a:r>
              <a:rPr sz="1050" b="1" i="0" u="none" dirty="0">
                <a:solidFill>
                  <a:srgbClr val="0F172A"/>
                </a:solidFill>
                <a:latin typeface="Noto Sans KR" panose="020B0200000000000000" pitchFamily="50" charset="-127"/>
              </a:rPr>
              <a:t>ML / Analytics</a:t>
            </a:r>
          </a:p>
        </p:txBody>
      </p:sp>
      <p:sp>
        <p:nvSpPr>
          <p:cNvPr id="30" name="TextBox 29"/>
          <p:cNvSpPr txBox="1"/>
          <p:nvPr/>
        </p:nvSpPr>
        <p:spPr>
          <a:xfrm>
            <a:off x="9672339" y="3760440"/>
            <a:ext cx="1877117"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scikit-learn, Pandas, NumPy</a:t>
            </a:r>
          </a:p>
        </p:txBody>
      </p:sp>
      <p:sp>
        <p:nvSpPr>
          <p:cNvPr id="31" name="TextBox 30"/>
          <p:cNvSpPr txBox="1"/>
          <p:nvPr/>
        </p:nvSpPr>
        <p:spPr>
          <a:xfrm>
            <a:off x="7115175" y="4274790"/>
            <a:ext cx="617157" cy="161583"/>
          </a:xfrm>
          <a:prstGeom prst="rect">
            <a:avLst/>
          </a:prstGeom>
          <a:noFill/>
        </p:spPr>
        <p:txBody>
          <a:bodyPr wrap="none" lIns="0" tIns="0" rIns="0" bIns="0" anchor="t">
            <a:spAutoFit/>
          </a:bodyPr>
          <a:lstStyle/>
          <a:p>
            <a:pPr algn="l"/>
            <a:r>
              <a:rPr sz="1050" b="1" i="0" u="none" dirty="0">
                <a:solidFill>
                  <a:srgbClr val="0F172A"/>
                </a:solidFill>
                <a:latin typeface="Noto Sans KR" panose="020B0200000000000000" pitchFamily="50" charset="-127"/>
              </a:rPr>
              <a:t>Frontend</a:t>
            </a:r>
          </a:p>
        </p:txBody>
      </p:sp>
      <p:sp>
        <p:nvSpPr>
          <p:cNvPr id="32" name="TextBox 31"/>
          <p:cNvSpPr txBox="1"/>
          <p:nvPr/>
        </p:nvSpPr>
        <p:spPr>
          <a:xfrm>
            <a:off x="9331672" y="4274790"/>
            <a:ext cx="2231380"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Jinja2, HTML5, JavaScript (Fetch)</a:t>
            </a:r>
          </a:p>
        </p:txBody>
      </p:sp>
      <p:sp>
        <p:nvSpPr>
          <p:cNvPr id="33" name="TextBox 32"/>
          <p:cNvSpPr txBox="1"/>
          <p:nvPr/>
        </p:nvSpPr>
        <p:spPr>
          <a:xfrm>
            <a:off x="7115175" y="4789140"/>
            <a:ext cx="509755" cy="161583"/>
          </a:xfrm>
          <a:prstGeom prst="rect">
            <a:avLst/>
          </a:prstGeom>
          <a:noFill/>
        </p:spPr>
        <p:txBody>
          <a:bodyPr wrap="none" lIns="0" tIns="0" rIns="0" bIns="0" anchor="t">
            <a:spAutoFit/>
          </a:bodyPr>
          <a:lstStyle/>
          <a:p>
            <a:pPr algn="l"/>
            <a:r>
              <a:rPr sz="1050" b="1" i="0" u="none" dirty="0">
                <a:solidFill>
                  <a:srgbClr val="0F172A"/>
                </a:solidFill>
                <a:latin typeface="Noto Sans KR" panose="020B0200000000000000" pitchFamily="50" charset="-127"/>
              </a:rPr>
              <a:t>DevOps</a:t>
            </a:r>
          </a:p>
        </p:txBody>
      </p:sp>
      <p:sp>
        <p:nvSpPr>
          <p:cNvPr id="34" name="TextBox 33"/>
          <p:cNvSpPr txBox="1"/>
          <p:nvPr/>
        </p:nvSpPr>
        <p:spPr>
          <a:xfrm>
            <a:off x="9842896" y="4789140"/>
            <a:ext cx="1667123"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Docker, Docker Compose</a:t>
            </a:r>
          </a:p>
        </p:txBody>
      </p:sp>
      <p:sp>
        <p:nvSpPr>
          <p:cNvPr id="35" name="TextBox 34"/>
          <p:cNvSpPr txBox="1"/>
          <p:nvPr/>
        </p:nvSpPr>
        <p:spPr>
          <a:xfrm>
            <a:off x="581025" y="4246215"/>
            <a:ext cx="3200400" cy="403957"/>
          </a:xfrm>
          <a:prstGeom prst="rect">
            <a:avLst/>
          </a:prstGeom>
          <a:noFill/>
        </p:spPr>
        <p:txBody>
          <a:bodyPr wrap="square" lIns="0" tIns="0" rIns="0" bIns="0" anchor="t">
            <a:spAutoFit/>
          </a:bodyPr>
          <a:lstStyle/>
          <a:p>
            <a:pPr algn="ctr"/>
            <a:r>
              <a:rPr sz="975" b="1" i="0" u="none" dirty="0">
                <a:solidFill>
                  <a:srgbClr val="334155"/>
                </a:solidFill>
                <a:latin typeface="Noto Sans KR" panose="020B0200000000000000" pitchFamily="50" charset="-127"/>
              </a:rPr>
              <a:t>Service &amp; Repository</a:t>
            </a:r>
            <a:r>
              <a:rPr dirty="0"/>
              <a:t>
</a:t>
            </a:r>
            <a:r>
              <a:rPr sz="825" b="1" i="0" u="none" dirty="0">
                <a:solidFill>
                  <a:srgbClr val="64748B"/>
                </a:solidFill>
                <a:latin typeface="Noto Sans KR" panose="020B0200000000000000" pitchFamily="50" charset="-127"/>
              </a:rPr>
              <a:t>(</a:t>
            </a:r>
            <a:r>
              <a:rPr sz="825" b="1" i="0" u="none" dirty="0" err="1">
                <a:solidFill>
                  <a:srgbClr val="64748B"/>
                </a:solidFill>
                <a:latin typeface="Noto Sans KR" panose="020B0200000000000000" pitchFamily="50" charset="-127"/>
              </a:rPr>
              <a:t>SQLAlchemy</a:t>
            </a:r>
            <a:r>
              <a:rPr sz="825" b="1" i="0" u="none" dirty="0">
                <a:solidFill>
                  <a:srgbClr val="64748B"/>
                </a:solidFill>
                <a:latin typeface="Noto Sans KR" panose="020B0200000000000000" pitchFamily="50" charset="-127"/>
              </a:rPr>
              <a:t> ORM)</a:t>
            </a:r>
          </a:p>
        </p:txBody>
      </p:sp>
      <p:sp>
        <p:nvSpPr>
          <p:cNvPr id="36" name="TextBox 35"/>
          <p:cNvSpPr txBox="1"/>
          <p:nvPr/>
        </p:nvSpPr>
        <p:spPr>
          <a:xfrm>
            <a:off x="3438525" y="4246215"/>
            <a:ext cx="3200400" cy="403957"/>
          </a:xfrm>
          <a:prstGeom prst="rect">
            <a:avLst/>
          </a:prstGeom>
          <a:noFill/>
        </p:spPr>
        <p:txBody>
          <a:bodyPr wrap="square" lIns="0" tIns="0" rIns="0" bIns="0" anchor="t">
            <a:spAutoFit/>
          </a:bodyPr>
          <a:lstStyle/>
          <a:p>
            <a:pPr algn="ctr"/>
            <a:r>
              <a:rPr sz="975" b="1" i="0" u="none" dirty="0">
                <a:solidFill>
                  <a:srgbClr val="92400E"/>
                </a:solidFill>
                <a:latin typeface="Noto Sans KR" panose="020B0200000000000000" pitchFamily="50" charset="-127"/>
              </a:rPr>
              <a:t>ML &amp; Replenishment</a:t>
            </a:r>
            <a:r>
              <a:rPr dirty="0"/>
              <a:t>
</a:t>
            </a:r>
            <a:r>
              <a:rPr sz="825" b="1" i="0" u="none" dirty="0">
                <a:solidFill>
                  <a:srgbClr val="B45309"/>
                </a:solidFill>
                <a:latin typeface="Noto Sans KR" panose="020B0200000000000000" pitchFamily="50" charset="-127"/>
              </a:rPr>
              <a:t>(forecasting / replenishment)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006530" y="2774602"/>
            <a:ext cx="4613969" cy="2124075"/>
          </a:xfrm>
          <a:prstGeom prst="roundRect">
            <a:avLst>
              <a:gd name="adj" fmla="val 538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71500" y="2455515"/>
            <a:ext cx="3027015" cy="1304925"/>
          </a:xfrm>
          <a:prstGeom prst="roundRect">
            <a:avLst>
              <a:gd name="adj" fmla="val 729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750915" y="2455515"/>
            <a:ext cx="3027015" cy="1304925"/>
          </a:xfrm>
          <a:prstGeom prst="roundRect">
            <a:avLst>
              <a:gd name="adj" fmla="val 729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1500" y="3912840"/>
            <a:ext cx="3027015" cy="1304925"/>
          </a:xfrm>
          <a:prstGeom prst="roundRect">
            <a:avLst>
              <a:gd name="adj" fmla="val 729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750915" y="3912840"/>
            <a:ext cx="3027015" cy="1304925"/>
          </a:xfrm>
          <a:prstGeom prst="roundRect">
            <a:avLst>
              <a:gd name="adj" fmla="val 729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7244655" y="3374677"/>
            <a:ext cx="103733" cy="152400"/>
          </a:xfrm>
          <a:prstGeom prst="rect">
            <a:avLst/>
          </a:prstGeom>
        </p:spPr>
      </p:pic>
      <p:pic>
        <p:nvPicPr>
          <p:cNvPr id="8" name="Picture 7" descr="image.png"/>
          <p:cNvPicPr>
            <a:picLocks noChangeAspect="1"/>
          </p:cNvPicPr>
          <p:nvPr/>
        </p:nvPicPr>
        <p:blipFill>
          <a:blip r:embed="rId3"/>
          <a:stretch>
            <a:fillRect/>
          </a:stretch>
        </p:blipFill>
        <p:spPr>
          <a:xfrm>
            <a:off x="7244655" y="3850927"/>
            <a:ext cx="103733" cy="152400"/>
          </a:xfrm>
          <a:prstGeom prst="rect">
            <a:avLst/>
          </a:prstGeom>
        </p:spPr>
      </p:pic>
      <p:pic>
        <p:nvPicPr>
          <p:cNvPr id="9" name="Picture 8" descr="image.png"/>
          <p:cNvPicPr>
            <a:picLocks noChangeAspect="1"/>
          </p:cNvPicPr>
          <p:nvPr/>
        </p:nvPicPr>
        <p:blipFill>
          <a:blip r:embed="rId3"/>
          <a:stretch>
            <a:fillRect/>
          </a:stretch>
        </p:blipFill>
        <p:spPr>
          <a:xfrm>
            <a:off x="7244655" y="4327177"/>
            <a:ext cx="103733" cy="152400"/>
          </a:xfrm>
          <a:prstGeom prst="rect">
            <a:avLst/>
          </a:prstGeom>
        </p:spPr>
      </p:pic>
      <p:sp>
        <p:nvSpPr>
          <p:cNvPr id="10" name="TextBox 9"/>
          <p:cNvSpPr txBox="1"/>
          <p:nvPr/>
        </p:nvSpPr>
        <p:spPr>
          <a:xfrm>
            <a:off x="571500" y="381000"/>
            <a:ext cx="1569340"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4. DATA ARCHITECTURE</a:t>
            </a:r>
          </a:p>
        </p:txBody>
      </p:sp>
      <p:sp>
        <p:nvSpPr>
          <p:cNvPr id="11" name="TextBox 10"/>
          <p:cNvSpPr txBox="1"/>
          <p:nvPr/>
        </p:nvSpPr>
        <p:spPr>
          <a:xfrm>
            <a:off x="571500" y="590550"/>
            <a:ext cx="2917465"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관계형</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데이터</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모델</a:t>
            </a:r>
            <a:r>
              <a:rPr sz="2100" b="1" i="0" u="none" dirty="0">
                <a:solidFill>
                  <a:srgbClr val="0F172A"/>
                </a:solidFill>
                <a:latin typeface="Noto Sans KR" panose="020B0200000000000000" pitchFamily="50" charset="-127"/>
              </a:rPr>
              <a:t> (ERD)</a:t>
            </a:r>
          </a:p>
        </p:txBody>
      </p:sp>
      <p:sp>
        <p:nvSpPr>
          <p:cNvPr id="12" name="TextBox 11"/>
          <p:cNvSpPr txBox="1"/>
          <p:nvPr/>
        </p:nvSpPr>
        <p:spPr>
          <a:xfrm>
            <a:off x="7244655" y="3012727"/>
            <a:ext cx="1833835" cy="184666"/>
          </a:xfrm>
          <a:prstGeom prst="rect">
            <a:avLst/>
          </a:prstGeom>
          <a:noFill/>
        </p:spPr>
        <p:txBody>
          <a:bodyPr wrap="none" lIns="0" tIns="0" rIns="0" bIns="0" anchor="t">
            <a:spAutoFit/>
          </a:bodyPr>
          <a:lstStyle/>
          <a:p>
            <a:pPr algn="l"/>
            <a:r>
              <a:rPr sz="1200" b="1" i="0" u="none" dirty="0" err="1">
                <a:solidFill>
                  <a:srgbClr val="0F172A"/>
                </a:solidFill>
                <a:latin typeface="Noto Sans KR" panose="020B0200000000000000" pitchFamily="50" charset="-127"/>
              </a:rPr>
              <a:t>데이터</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무결성</a:t>
            </a:r>
            <a:r>
              <a:rPr sz="1200" b="1" i="0" u="none" dirty="0">
                <a:solidFill>
                  <a:srgbClr val="0F172A"/>
                </a:solidFill>
                <a:latin typeface="Noto Sans KR" panose="020B0200000000000000" pitchFamily="50" charset="-127"/>
              </a:rPr>
              <a:t> 및 </a:t>
            </a:r>
            <a:r>
              <a:rPr sz="1200" b="1" i="0" u="none" dirty="0" err="1">
                <a:solidFill>
                  <a:srgbClr val="0F172A"/>
                </a:solidFill>
                <a:latin typeface="Noto Sans KR" panose="020B0200000000000000" pitchFamily="50" charset="-127"/>
              </a:rPr>
              <a:t>무결성</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제약</a:t>
            </a:r>
            <a:endParaRPr sz="1200" b="1" i="0" u="none" dirty="0">
              <a:solidFill>
                <a:srgbClr val="0F172A"/>
              </a:solidFill>
              <a:latin typeface="Noto Sans KR" panose="020B0200000000000000" pitchFamily="50" charset="-127"/>
            </a:endParaRPr>
          </a:p>
        </p:txBody>
      </p:sp>
      <p:sp>
        <p:nvSpPr>
          <p:cNvPr id="13" name="TextBox 12"/>
          <p:cNvSpPr txBox="1"/>
          <p:nvPr/>
        </p:nvSpPr>
        <p:spPr>
          <a:xfrm>
            <a:off x="733425" y="2617440"/>
            <a:ext cx="637995" cy="173124"/>
          </a:xfrm>
          <a:prstGeom prst="rect">
            <a:avLst/>
          </a:prstGeom>
          <a:noFill/>
        </p:spPr>
        <p:txBody>
          <a:bodyPr wrap="none" lIns="0" tIns="0" rIns="0" bIns="0" anchor="t">
            <a:spAutoFit/>
          </a:bodyPr>
          <a:lstStyle/>
          <a:p>
            <a:pPr algn="l"/>
            <a:r>
              <a:rPr sz="1125" b="1" i="0" u="none" dirty="0">
                <a:solidFill>
                  <a:srgbClr val="2563EB"/>
                </a:solidFill>
                <a:latin typeface="Noto Sans KR" panose="020B0200000000000000" pitchFamily="50" charset="-127"/>
              </a:rPr>
              <a:t>products</a:t>
            </a:r>
          </a:p>
        </p:txBody>
      </p:sp>
      <p:sp>
        <p:nvSpPr>
          <p:cNvPr id="14" name="TextBox 13"/>
          <p:cNvSpPr txBox="1"/>
          <p:nvPr/>
        </p:nvSpPr>
        <p:spPr>
          <a:xfrm>
            <a:off x="733425" y="2855565"/>
            <a:ext cx="2798415" cy="754374"/>
          </a:xfrm>
          <a:prstGeom prst="rect">
            <a:avLst/>
          </a:prstGeom>
          <a:noFill/>
        </p:spPr>
        <p:txBody>
          <a:bodyPr wrap="square" lIns="0" tIns="0" rIns="0" bIns="0" anchor="t">
            <a:spAutoFit/>
          </a:bodyPr>
          <a:lstStyle/>
          <a:p>
            <a:pPr algn="l">
              <a:lnSpc>
                <a:spcPts val="1462"/>
              </a:lnSpc>
            </a:pPr>
            <a:r>
              <a:rPr sz="975" b="0" i="0" u="none" dirty="0">
                <a:solidFill>
                  <a:srgbClr val="64748B"/>
                </a:solidFill>
                <a:latin typeface="Noto Sans KR" panose="020B0200000000000000" pitchFamily="50" charset="-127"/>
              </a:rPr>
              <a:t>• id (PK)</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sku</a:t>
            </a:r>
            <a:r>
              <a:rPr sz="975" b="0" i="0" u="none" dirty="0">
                <a:solidFill>
                  <a:srgbClr val="64748B"/>
                </a:solidFill>
                <a:latin typeface="Noto Sans KR" panose="020B0200000000000000" pitchFamily="50" charset="-127"/>
              </a:rPr>
              <a:t> (Unique Key)</a:t>
            </a:r>
            <a:r>
              <a:rPr dirty="0"/>
              <a:t>
</a:t>
            </a:r>
            <a:r>
              <a:rPr sz="975" b="0" i="0" u="none" dirty="0">
                <a:solidFill>
                  <a:srgbClr val="64748B"/>
                </a:solidFill>
                <a:latin typeface="Noto Sans KR" panose="020B0200000000000000" pitchFamily="50" charset="-127"/>
              </a:rPr>
              <a:t> • name, </a:t>
            </a:r>
            <a:r>
              <a:rPr sz="975" b="0" i="0" u="none" dirty="0" err="1">
                <a:solidFill>
                  <a:srgbClr val="64748B"/>
                </a:solidFill>
                <a:latin typeface="Noto Sans KR" panose="020B0200000000000000" pitchFamily="50" charset="-127"/>
              </a:rPr>
              <a:t>unit_price</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reorder_point</a:t>
            </a:r>
            <a:endParaRPr sz="975" b="0" i="0" u="none" dirty="0">
              <a:solidFill>
                <a:srgbClr val="64748B"/>
              </a:solidFill>
              <a:latin typeface="Noto Sans KR" panose="020B0200000000000000" pitchFamily="50" charset="-127"/>
            </a:endParaRPr>
          </a:p>
        </p:txBody>
      </p:sp>
      <p:sp>
        <p:nvSpPr>
          <p:cNvPr id="15" name="TextBox 14"/>
          <p:cNvSpPr txBox="1"/>
          <p:nvPr/>
        </p:nvSpPr>
        <p:spPr>
          <a:xfrm>
            <a:off x="3912840" y="2617440"/>
            <a:ext cx="807913" cy="173124"/>
          </a:xfrm>
          <a:prstGeom prst="rect">
            <a:avLst/>
          </a:prstGeom>
          <a:noFill/>
        </p:spPr>
        <p:txBody>
          <a:bodyPr wrap="none" lIns="0" tIns="0" rIns="0" bIns="0" anchor="t">
            <a:spAutoFit/>
          </a:bodyPr>
          <a:lstStyle/>
          <a:p>
            <a:pPr algn="l"/>
            <a:r>
              <a:rPr sz="1125" b="1" i="0" u="none" dirty="0">
                <a:solidFill>
                  <a:srgbClr val="2563EB"/>
                </a:solidFill>
                <a:latin typeface="Noto Sans KR" panose="020B0200000000000000" pitchFamily="50" charset="-127"/>
              </a:rPr>
              <a:t>inventories</a:t>
            </a:r>
          </a:p>
        </p:txBody>
      </p:sp>
      <p:sp>
        <p:nvSpPr>
          <p:cNvPr id="16" name="TextBox 15"/>
          <p:cNvSpPr txBox="1"/>
          <p:nvPr/>
        </p:nvSpPr>
        <p:spPr>
          <a:xfrm>
            <a:off x="3912840" y="2855565"/>
            <a:ext cx="2798415" cy="754374"/>
          </a:xfrm>
          <a:prstGeom prst="rect">
            <a:avLst/>
          </a:prstGeom>
          <a:noFill/>
        </p:spPr>
        <p:txBody>
          <a:bodyPr wrap="square" lIns="0" tIns="0" rIns="0" bIns="0" anchor="t">
            <a:spAutoFit/>
          </a:bodyPr>
          <a:lstStyle/>
          <a:p>
            <a:pPr algn="l">
              <a:lnSpc>
                <a:spcPts val="1462"/>
              </a:lnSpc>
            </a:pPr>
            <a:r>
              <a:rPr sz="975" b="0" i="0" u="none" dirty="0">
                <a:solidFill>
                  <a:srgbClr val="64748B"/>
                </a:solidFill>
                <a:latin typeface="Noto Sans KR" panose="020B0200000000000000" pitchFamily="50" charset="-127"/>
              </a:rPr>
              <a:t>• id (PK)</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product_id</a:t>
            </a:r>
            <a:r>
              <a:rPr sz="975" b="0" i="0" u="none" dirty="0">
                <a:solidFill>
                  <a:srgbClr val="64748B"/>
                </a:solidFill>
                <a:latin typeface="Noto Sans KR" panose="020B0200000000000000" pitchFamily="50" charset="-127"/>
              </a:rPr>
              <a:t> (FK, Unique)</a:t>
            </a:r>
            <a:r>
              <a:rPr dirty="0"/>
              <a:t>
</a:t>
            </a:r>
            <a:r>
              <a:rPr sz="975" b="0" i="0" u="none" dirty="0">
                <a:solidFill>
                  <a:srgbClr val="64748B"/>
                </a:solidFill>
                <a:latin typeface="Noto Sans KR" panose="020B0200000000000000" pitchFamily="50" charset="-127"/>
              </a:rPr>
              <a:t> • quantity</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updated_at</a:t>
            </a:r>
            <a:endParaRPr sz="975" b="0" i="0" u="none" dirty="0">
              <a:solidFill>
                <a:srgbClr val="64748B"/>
              </a:solidFill>
              <a:latin typeface="Noto Sans KR" panose="020B0200000000000000" pitchFamily="50" charset="-127"/>
            </a:endParaRPr>
          </a:p>
        </p:txBody>
      </p:sp>
      <p:sp>
        <p:nvSpPr>
          <p:cNvPr id="17" name="TextBox 16"/>
          <p:cNvSpPr txBox="1"/>
          <p:nvPr/>
        </p:nvSpPr>
        <p:spPr>
          <a:xfrm>
            <a:off x="733425" y="4074765"/>
            <a:ext cx="746999" cy="173124"/>
          </a:xfrm>
          <a:prstGeom prst="rect">
            <a:avLst/>
          </a:prstGeom>
          <a:noFill/>
        </p:spPr>
        <p:txBody>
          <a:bodyPr wrap="none" lIns="0" tIns="0" rIns="0" bIns="0" anchor="t">
            <a:spAutoFit/>
          </a:bodyPr>
          <a:lstStyle/>
          <a:p>
            <a:pPr algn="l"/>
            <a:r>
              <a:rPr sz="1125" b="1" i="0" u="none" dirty="0">
                <a:solidFill>
                  <a:srgbClr val="2563EB"/>
                </a:solidFill>
                <a:latin typeface="Noto Sans KR" panose="020B0200000000000000" pitchFamily="50" charset="-127"/>
              </a:rPr>
              <a:t>customers</a:t>
            </a:r>
          </a:p>
        </p:txBody>
      </p:sp>
      <p:sp>
        <p:nvSpPr>
          <p:cNvPr id="18" name="TextBox 17"/>
          <p:cNvSpPr txBox="1"/>
          <p:nvPr/>
        </p:nvSpPr>
        <p:spPr>
          <a:xfrm>
            <a:off x="733425" y="4312890"/>
            <a:ext cx="2798415" cy="754374"/>
          </a:xfrm>
          <a:prstGeom prst="rect">
            <a:avLst/>
          </a:prstGeom>
          <a:noFill/>
        </p:spPr>
        <p:txBody>
          <a:bodyPr wrap="square" lIns="0" tIns="0" rIns="0" bIns="0" anchor="t">
            <a:spAutoFit/>
          </a:bodyPr>
          <a:lstStyle/>
          <a:p>
            <a:pPr algn="l">
              <a:lnSpc>
                <a:spcPts val="1462"/>
              </a:lnSpc>
            </a:pPr>
            <a:r>
              <a:rPr sz="975" b="0" i="0" u="none" dirty="0">
                <a:solidFill>
                  <a:srgbClr val="64748B"/>
                </a:solidFill>
                <a:latin typeface="Noto Sans KR" panose="020B0200000000000000" pitchFamily="50" charset="-127"/>
              </a:rPr>
              <a:t>• id (PK)</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business_number</a:t>
            </a:r>
            <a:r>
              <a:rPr sz="975" b="0" i="0" u="none" dirty="0">
                <a:solidFill>
                  <a:srgbClr val="64748B"/>
                </a:solidFill>
                <a:latin typeface="Noto Sans KR" panose="020B0200000000000000" pitchFamily="50" charset="-127"/>
              </a:rPr>
              <a:t> (Unique)</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company_name</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contact_email</a:t>
            </a:r>
            <a:endParaRPr sz="975" b="0" i="0" u="none" dirty="0">
              <a:solidFill>
                <a:srgbClr val="64748B"/>
              </a:solidFill>
              <a:latin typeface="Noto Sans KR" panose="020B0200000000000000" pitchFamily="50" charset="-127"/>
            </a:endParaRPr>
          </a:p>
        </p:txBody>
      </p:sp>
      <p:sp>
        <p:nvSpPr>
          <p:cNvPr id="19" name="TextBox 18"/>
          <p:cNvSpPr txBox="1"/>
          <p:nvPr/>
        </p:nvSpPr>
        <p:spPr>
          <a:xfrm>
            <a:off x="3912840" y="4074765"/>
            <a:ext cx="1506823" cy="173124"/>
          </a:xfrm>
          <a:prstGeom prst="rect">
            <a:avLst/>
          </a:prstGeom>
          <a:noFill/>
        </p:spPr>
        <p:txBody>
          <a:bodyPr wrap="none" lIns="0" tIns="0" rIns="0" bIns="0" anchor="t">
            <a:spAutoFit/>
          </a:bodyPr>
          <a:lstStyle/>
          <a:p>
            <a:pPr algn="l"/>
            <a:r>
              <a:rPr sz="1125" b="1" i="0" u="none" dirty="0">
                <a:solidFill>
                  <a:srgbClr val="2563EB"/>
                </a:solidFill>
                <a:latin typeface="Noto Sans KR" panose="020B0200000000000000" pitchFamily="50" charset="-127"/>
              </a:rPr>
              <a:t>orders &amp; </a:t>
            </a:r>
            <a:r>
              <a:rPr sz="1125" b="1" i="0" u="none" dirty="0" err="1">
                <a:solidFill>
                  <a:srgbClr val="2563EB"/>
                </a:solidFill>
                <a:latin typeface="Noto Sans KR" panose="020B0200000000000000" pitchFamily="50" charset="-127"/>
              </a:rPr>
              <a:t>order_items</a:t>
            </a:r>
            <a:endParaRPr sz="1125" b="1" i="0" u="none" dirty="0">
              <a:solidFill>
                <a:srgbClr val="2563EB"/>
              </a:solidFill>
              <a:latin typeface="Noto Sans KR" panose="020B0200000000000000" pitchFamily="50" charset="-127"/>
            </a:endParaRPr>
          </a:p>
        </p:txBody>
      </p:sp>
      <p:sp>
        <p:nvSpPr>
          <p:cNvPr id="20" name="TextBox 19"/>
          <p:cNvSpPr txBox="1"/>
          <p:nvPr/>
        </p:nvSpPr>
        <p:spPr>
          <a:xfrm>
            <a:off x="3912840" y="4312890"/>
            <a:ext cx="2798415" cy="754374"/>
          </a:xfrm>
          <a:prstGeom prst="rect">
            <a:avLst/>
          </a:prstGeom>
          <a:noFill/>
        </p:spPr>
        <p:txBody>
          <a:bodyPr wrap="square" lIns="0" tIns="0" rIns="0" bIns="0" anchor="t">
            <a:spAutoFit/>
          </a:bodyPr>
          <a:lstStyle/>
          <a:p>
            <a:pPr algn="l">
              <a:lnSpc>
                <a:spcPts val="1462"/>
              </a:lnSpc>
            </a:pPr>
            <a:r>
              <a:rPr sz="975" b="0" i="0" u="none" dirty="0">
                <a:solidFill>
                  <a:srgbClr val="64748B"/>
                </a:solidFill>
                <a:latin typeface="Noto Sans KR" panose="020B0200000000000000" pitchFamily="50" charset="-127"/>
              </a:rPr>
              <a:t>• </a:t>
            </a:r>
            <a:r>
              <a:rPr sz="975" b="0" i="0" u="none" dirty="0" err="1">
                <a:solidFill>
                  <a:srgbClr val="64748B"/>
                </a:solidFill>
                <a:latin typeface="Noto Sans KR" panose="020B0200000000000000" pitchFamily="50" charset="-127"/>
              </a:rPr>
              <a:t>order_id</a:t>
            </a:r>
            <a:r>
              <a:rPr sz="975" b="0" i="0" u="none" dirty="0">
                <a:solidFill>
                  <a:srgbClr val="64748B"/>
                </a:solidFill>
                <a:latin typeface="Noto Sans KR" panose="020B0200000000000000" pitchFamily="50" charset="-127"/>
              </a:rPr>
              <a:t> (FK), </a:t>
            </a:r>
            <a:r>
              <a:rPr sz="975" b="0" i="0" u="none" dirty="0" err="1">
                <a:solidFill>
                  <a:srgbClr val="64748B"/>
                </a:solidFill>
                <a:latin typeface="Noto Sans KR" panose="020B0200000000000000" pitchFamily="50" charset="-127"/>
              </a:rPr>
              <a:t>customer_id</a:t>
            </a:r>
            <a:r>
              <a:rPr sz="975" b="0" i="0" u="none" dirty="0">
                <a:solidFill>
                  <a:srgbClr val="64748B"/>
                </a:solidFill>
                <a:latin typeface="Noto Sans KR" panose="020B0200000000000000" pitchFamily="50" charset="-127"/>
              </a:rPr>
              <a:t> (FK)</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product_id</a:t>
            </a:r>
            <a:r>
              <a:rPr sz="975" b="0" i="0" u="none" dirty="0">
                <a:solidFill>
                  <a:srgbClr val="64748B"/>
                </a:solidFill>
                <a:latin typeface="Noto Sans KR" panose="020B0200000000000000" pitchFamily="50" charset="-127"/>
              </a:rPr>
              <a:t> (FK)</a:t>
            </a:r>
            <a:r>
              <a:rPr dirty="0"/>
              <a:t>
</a:t>
            </a:r>
            <a:r>
              <a:rPr sz="975" b="0" i="0" u="none" dirty="0">
                <a:solidFill>
                  <a:srgbClr val="64748B"/>
                </a:solidFill>
                <a:latin typeface="Noto Sans KR" panose="020B0200000000000000" pitchFamily="50" charset="-127"/>
              </a:rPr>
              <a:t> • quantity, </a:t>
            </a:r>
            <a:r>
              <a:rPr sz="975" b="0" i="0" u="none" dirty="0" err="1">
                <a:solidFill>
                  <a:srgbClr val="64748B"/>
                </a:solidFill>
                <a:latin typeface="Noto Sans KR" panose="020B0200000000000000" pitchFamily="50" charset="-127"/>
              </a:rPr>
              <a:t>unit_price</a:t>
            </a:r>
            <a:r>
              <a:rPr dirty="0"/>
              <a:t>
</a:t>
            </a:r>
            <a:r>
              <a:rPr sz="975" b="0" i="0" u="none" dirty="0">
                <a:solidFill>
                  <a:srgbClr val="64748B"/>
                </a:solidFill>
                <a:latin typeface="Noto Sans KR" panose="020B0200000000000000" pitchFamily="50" charset="-127"/>
              </a:rPr>
              <a:t> • </a:t>
            </a:r>
            <a:r>
              <a:rPr sz="975" b="0" i="0" u="none" dirty="0" err="1">
                <a:solidFill>
                  <a:srgbClr val="64748B"/>
                </a:solidFill>
                <a:latin typeface="Noto Sans KR" panose="020B0200000000000000" pitchFamily="50" charset="-127"/>
              </a:rPr>
              <a:t>ordered_at</a:t>
            </a:r>
            <a:r>
              <a:rPr sz="975" b="0" i="0" u="none" dirty="0">
                <a:solidFill>
                  <a:srgbClr val="64748B"/>
                </a:solidFill>
                <a:latin typeface="Noto Sans KR" panose="020B0200000000000000" pitchFamily="50" charset="-127"/>
              </a:rPr>
              <a:t>, status</a:t>
            </a:r>
          </a:p>
        </p:txBody>
      </p:sp>
      <p:sp>
        <p:nvSpPr>
          <p:cNvPr id="21" name="TextBox 20"/>
          <p:cNvSpPr txBox="1"/>
          <p:nvPr/>
        </p:nvSpPr>
        <p:spPr>
          <a:xfrm>
            <a:off x="7443638" y="3365152"/>
            <a:ext cx="4033986" cy="323165"/>
          </a:xfrm>
          <a:prstGeom prst="rect">
            <a:avLst/>
          </a:prstGeom>
          <a:noFill/>
        </p:spPr>
        <p:txBody>
          <a:bodyPr wrap="square" lIns="0" tIns="0" rIns="0" bIns="0" anchor="t">
            <a:spAutoFit/>
          </a:bodyPr>
          <a:lstStyle/>
          <a:p>
            <a:pPr algn="l"/>
            <a:r>
              <a:rPr sz="1050" b="1" i="0" u="none" dirty="0">
                <a:solidFill>
                  <a:srgbClr val="16A34A"/>
                </a:solidFill>
                <a:latin typeface="Noto Sans KR" panose="020B0200000000000000" pitchFamily="50" charset="-127"/>
              </a:rPr>
              <a:t>1:1 </a:t>
            </a:r>
            <a:r>
              <a:rPr sz="1050" b="1" i="0" u="none" dirty="0" err="1">
                <a:solidFill>
                  <a:srgbClr val="16A34A"/>
                </a:solidFill>
                <a:latin typeface="Noto Sans KR" panose="020B0200000000000000" pitchFamily="50" charset="-127"/>
              </a:rPr>
              <a:t>재고</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매핑</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상품</a:t>
            </a:r>
            <a:r>
              <a:rPr sz="1050" b="1" i="0" u="none" dirty="0">
                <a:solidFill>
                  <a:srgbClr val="16A34A"/>
                </a:solidFill>
                <a:latin typeface="Noto Sans KR" panose="020B0200000000000000" pitchFamily="50" charset="-127"/>
              </a:rPr>
              <a:t>(product) </a:t>
            </a:r>
            <a:r>
              <a:rPr sz="1050" b="1" i="0" u="none" dirty="0" err="1">
                <a:solidFill>
                  <a:srgbClr val="16A34A"/>
                </a:solidFill>
                <a:latin typeface="Noto Sans KR" panose="020B0200000000000000" pitchFamily="50" charset="-127"/>
              </a:rPr>
              <a:t>생성</a:t>
            </a:r>
            <a:r>
              <a:rPr sz="1050" b="1" i="0" u="none" dirty="0">
                <a:solidFill>
                  <a:srgbClr val="16A34A"/>
                </a:solidFill>
                <a:latin typeface="Noto Sans KR" panose="020B0200000000000000" pitchFamily="50" charset="-127"/>
              </a:rPr>
              <a:t> 시 </a:t>
            </a:r>
            <a:r>
              <a:rPr sz="1050" b="1" i="0" u="none" dirty="0" err="1">
                <a:solidFill>
                  <a:srgbClr val="16A34A"/>
                </a:solidFill>
                <a:latin typeface="Noto Sans KR" panose="020B0200000000000000" pitchFamily="50" charset="-127"/>
              </a:rPr>
              <a:t>해당</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상품의</a:t>
            </a:r>
            <a:r>
              <a:rPr sz="1050" b="1" i="0" u="none" dirty="0">
                <a:solidFill>
                  <a:srgbClr val="16A34A"/>
                </a:solidFill>
                <a:latin typeface="Noto Sans KR" panose="020B0200000000000000" pitchFamily="50" charset="-127"/>
              </a:rPr>
              <a:t> inventory </a:t>
            </a:r>
            <a:r>
              <a:rPr sz="1050" b="1" i="0" u="none" dirty="0" err="1">
                <a:solidFill>
                  <a:srgbClr val="16A34A"/>
                </a:solidFill>
                <a:latin typeface="Noto Sans KR" panose="020B0200000000000000" pitchFamily="50" charset="-127"/>
              </a:rPr>
              <a:t>레코드가</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자동으로</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생성되어</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동기화</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유지</a:t>
            </a:r>
            <a:endParaRPr sz="1050" b="1" i="0" u="none" dirty="0">
              <a:solidFill>
                <a:srgbClr val="16A34A"/>
              </a:solidFill>
              <a:latin typeface="Noto Sans KR" panose="020B0200000000000000" pitchFamily="50" charset="-127"/>
            </a:endParaRPr>
          </a:p>
        </p:txBody>
      </p:sp>
      <p:sp>
        <p:nvSpPr>
          <p:cNvPr id="22" name="TextBox 21"/>
          <p:cNvSpPr txBox="1"/>
          <p:nvPr/>
        </p:nvSpPr>
        <p:spPr>
          <a:xfrm>
            <a:off x="7443638" y="3841402"/>
            <a:ext cx="4033986" cy="323165"/>
          </a:xfrm>
          <a:prstGeom prst="rect">
            <a:avLst/>
          </a:prstGeom>
          <a:noFill/>
        </p:spPr>
        <p:txBody>
          <a:bodyPr wrap="square" lIns="0" tIns="0" rIns="0" bIns="0" anchor="t">
            <a:spAutoFit/>
          </a:bodyPr>
          <a:lstStyle/>
          <a:p>
            <a:pPr algn="l"/>
            <a:r>
              <a:rPr sz="1050" b="1" i="0" u="none" dirty="0" err="1">
                <a:solidFill>
                  <a:srgbClr val="16A34A"/>
                </a:solidFill>
                <a:latin typeface="Noto Sans KR" panose="020B0200000000000000" pitchFamily="50" charset="-127"/>
              </a:rPr>
              <a:t>스냅샷</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단가</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저장</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order_items</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테이블에</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주문</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발생</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당시의</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단가를</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기록하여</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향후</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가격</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변동에</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영향받지</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않음</a:t>
            </a:r>
            <a:endParaRPr sz="1050" b="1" i="0" u="none" dirty="0">
              <a:solidFill>
                <a:srgbClr val="16A34A"/>
              </a:solidFill>
              <a:latin typeface="Noto Sans KR" panose="020B0200000000000000" pitchFamily="50" charset="-127"/>
            </a:endParaRPr>
          </a:p>
        </p:txBody>
      </p:sp>
      <p:sp>
        <p:nvSpPr>
          <p:cNvPr id="23" name="TextBox 22"/>
          <p:cNvSpPr txBox="1"/>
          <p:nvPr/>
        </p:nvSpPr>
        <p:spPr>
          <a:xfrm>
            <a:off x="7443638" y="4317652"/>
            <a:ext cx="4033986" cy="323165"/>
          </a:xfrm>
          <a:prstGeom prst="rect">
            <a:avLst/>
          </a:prstGeom>
          <a:noFill/>
        </p:spPr>
        <p:txBody>
          <a:bodyPr wrap="square" lIns="0" tIns="0" rIns="0" bIns="0" anchor="t">
            <a:spAutoFit/>
          </a:bodyPr>
          <a:lstStyle/>
          <a:p>
            <a:pPr algn="l"/>
            <a:r>
              <a:rPr sz="1050" b="1" i="0" u="none" dirty="0" err="1">
                <a:solidFill>
                  <a:srgbClr val="16A34A"/>
                </a:solidFill>
                <a:latin typeface="Noto Sans KR" panose="020B0200000000000000" pitchFamily="50" charset="-127"/>
              </a:rPr>
              <a:t>식별자</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유일성</a:t>
            </a:r>
            <a:r>
              <a:rPr sz="1050" b="1" i="0" u="none" dirty="0">
                <a:solidFill>
                  <a:srgbClr val="16A34A"/>
                </a:solidFill>
                <a:latin typeface="Noto Sans KR" panose="020B0200000000000000" pitchFamily="50" charset="-127"/>
              </a:rPr>
              <a:t>: SKU 및 </a:t>
            </a:r>
            <a:r>
              <a:rPr sz="1050" b="1" i="0" u="none" dirty="0" err="1">
                <a:solidFill>
                  <a:srgbClr val="16A34A"/>
                </a:solidFill>
                <a:latin typeface="Noto Sans KR" panose="020B0200000000000000" pitchFamily="50" charset="-127"/>
              </a:rPr>
              <a:t>사업자등록번호</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고유</a:t>
            </a:r>
            <a:r>
              <a:rPr sz="1050" b="1" i="0" u="none" dirty="0">
                <a:solidFill>
                  <a:srgbClr val="16A34A"/>
                </a:solidFill>
                <a:latin typeface="Noto Sans KR" panose="020B0200000000000000" pitchFamily="50" charset="-127"/>
              </a:rPr>
              <a:t> </a:t>
            </a:r>
            <a:r>
              <a:rPr sz="1050" b="1" i="0" u="none" dirty="0" err="1">
                <a:solidFill>
                  <a:srgbClr val="16A34A"/>
                </a:solidFill>
                <a:latin typeface="Noto Sans KR" panose="020B0200000000000000" pitchFamily="50" charset="-127"/>
              </a:rPr>
              <a:t>제약조건</a:t>
            </a:r>
            <a:r>
              <a:rPr sz="1050" b="1" i="0" u="none" dirty="0">
                <a:solidFill>
                  <a:srgbClr val="16A34A"/>
                </a:solidFill>
                <a:latin typeface="Noto Sans KR" panose="020B0200000000000000" pitchFamily="50" charset="-127"/>
              </a:rPr>
              <a:t>(Unique Constraint) </a:t>
            </a:r>
            <a:r>
              <a:rPr sz="1050" b="1" i="0" u="none" dirty="0" err="1">
                <a:solidFill>
                  <a:srgbClr val="16A34A"/>
                </a:solidFill>
                <a:latin typeface="Noto Sans KR" panose="020B0200000000000000" pitchFamily="50" charset="-127"/>
              </a:rPr>
              <a:t>적용</a:t>
            </a:r>
            <a:endParaRPr sz="1050" b="1" i="0" u="none" dirty="0">
              <a:solidFill>
                <a:srgbClr val="16A34A"/>
              </a:solidFill>
              <a:latin typeface="Noto Sans KR" panose="020B0200000000000000" pitchFamily="50" charset="-12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1500" y="2355502"/>
            <a:ext cx="3561159" cy="2962275"/>
          </a:xfrm>
          <a:prstGeom prst="roundRect">
            <a:avLst>
              <a:gd name="adj" fmla="val 385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37459" y="3327052"/>
            <a:ext cx="7183040" cy="981075"/>
          </a:xfrm>
          <a:prstGeom prst="roundRect">
            <a:avLst>
              <a:gd name="adj" fmla="val 1165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9625" y="2907952"/>
            <a:ext cx="3084909" cy="7620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9625" y="3784252"/>
            <a:ext cx="3084909" cy="590550"/>
          </a:xfrm>
          <a:prstGeom prst="roundRect">
            <a:avLst>
              <a:gd name="adj" fmla="val 1290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9625" y="4489102"/>
            <a:ext cx="3084909" cy="590550"/>
          </a:xfrm>
          <a:prstGeom prst="roundRect">
            <a:avLst>
              <a:gd name="adj" fmla="val 1290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4437459" y="4441477"/>
            <a:ext cx="96440" cy="123825"/>
          </a:xfrm>
          <a:prstGeom prst="rect">
            <a:avLst/>
          </a:prstGeom>
        </p:spPr>
      </p:pic>
      <p:pic>
        <p:nvPicPr>
          <p:cNvPr id="8" name="Picture 7" descr="image.png"/>
          <p:cNvPicPr>
            <a:picLocks noChangeAspect="1"/>
          </p:cNvPicPr>
          <p:nvPr/>
        </p:nvPicPr>
        <p:blipFill>
          <a:blip r:embed="rId3"/>
          <a:stretch>
            <a:fillRect/>
          </a:stretch>
        </p:blipFill>
        <p:spPr>
          <a:xfrm>
            <a:off x="6124128" y="4441477"/>
            <a:ext cx="96440" cy="123825"/>
          </a:xfrm>
          <a:prstGeom prst="rect">
            <a:avLst/>
          </a:prstGeom>
        </p:spPr>
      </p:pic>
      <p:sp>
        <p:nvSpPr>
          <p:cNvPr id="9" name="TextBox 8"/>
          <p:cNvSpPr txBox="1"/>
          <p:nvPr/>
        </p:nvSpPr>
        <p:spPr>
          <a:xfrm>
            <a:off x="571500" y="381000"/>
            <a:ext cx="1282402"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5. DATA INGESTION</a:t>
            </a:r>
          </a:p>
        </p:txBody>
      </p:sp>
      <p:sp>
        <p:nvSpPr>
          <p:cNvPr id="10" name="TextBox 9"/>
          <p:cNvSpPr txBox="1"/>
          <p:nvPr/>
        </p:nvSpPr>
        <p:spPr>
          <a:xfrm>
            <a:off x="571500" y="590550"/>
            <a:ext cx="3549048"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대용량</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과거</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주문</a:t>
            </a:r>
            <a:r>
              <a:rPr sz="2100" b="1" i="0" u="none" dirty="0">
                <a:solidFill>
                  <a:srgbClr val="0F172A"/>
                </a:solidFill>
                <a:latin typeface="Noto Sans KR" panose="020B0200000000000000" pitchFamily="50" charset="-127"/>
              </a:rPr>
              <a:t> CSV </a:t>
            </a:r>
            <a:r>
              <a:rPr sz="2100" b="1" i="0" u="none" dirty="0" err="1">
                <a:solidFill>
                  <a:srgbClr val="0F172A"/>
                </a:solidFill>
                <a:latin typeface="Noto Sans KR" panose="020B0200000000000000" pitchFamily="50" charset="-127"/>
              </a:rPr>
              <a:t>일괄</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적재</a:t>
            </a:r>
            <a:endParaRPr sz="2100" b="1" i="0" u="none" dirty="0">
              <a:solidFill>
                <a:srgbClr val="0F172A"/>
              </a:solidFill>
              <a:latin typeface="Noto Sans KR" panose="020B0200000000000000" pitchFamily="50" charset="-127"/>
            </a:endParaRPr>
          </a:p>
        </p:txBody>
      </p:sp>
      <p:sp>
        <p:nvSpPr>
          <p:cNvPr id="11" name="TextBox 10"/>
          <p:cNvSpPr txBox="1"/>
          <p:nvPr/>
        </p:nvSpPr>
        <p:spPr>
          <a:xfrm>
            <a:off x="809625" y="2593627"/>
            <a:ext cx="1737655" cy="184666"/>
          </a:xfrm>
          <a:prstGeom prst="rect">
            <a:avLst/>
          </a:prstGeom>
          <a:noFill/>
        </p:spPr>
        <p:txBody>
          <a:bodyPr wrap="none" lIns="0" tIns="0" rIns="0" bIns="0" anchor="t">
            <a:spAutoFit/>
          </a:bodyPr>
          <a:lstStyle/>
          <a:p>
            <a:pPr algn="l"/>
            <a:r>
              <a:rPr sz="1200" b="1" i="0" u="none" dirty="0">
                <a:solidFill>
                  <a:srgbClr val="0F172A"/>
                </a:solidFill>
                <a:latin typeface="Noto Sans KR" panose="020B0200000000000000" pitchFamily="50" charset="-127"/>
              </a:rPr>
              <a:t>CSV </a:t>
            </a:r>
            <a:r>
              <a:rPr sz="1200" b="1" i="0" u="none" dirty="0" err="1">
                <a:solidFill>
                  <a:srgbClr val="0F172A"/>
                </a:solidFill>
                <a:latin typeface="Noto Sans KR" panose="020B0200000000000000" pitchFamily="50" charset="-127"/>
              </a:rPr>
              <a:t>파싱</a:t>
            </a:r>
            <a:r>
              <a:rPr sz="1200" b="1" i="0" u="none" dirty="0">
                <a:solidFill>
                  <a:srgbClr val="0F172A"/>
                </a:solidFill>
                <a:latin typeface="Noto Sans KR" panose="020B0200000000000000" pitchFamily="50" charset="-127"/>
              </a:rPr>
              <a:t> 및 </a:t>
            </a:r>
            <a:r>
              <a:rPr sz="1200" b="1" i="0" u="none" dirty="0" err="1">
                <a:solidFill>
                  <a:srgbClr val="0F172A"/>
                </a:solidFill>
                <a:latin typeface="Noto Sans KR" panose="020B0200000000000000" pitchFamily="50" charset="-127"/>
              </a:rPr>
              <a:t>자동</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생성</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규칙</a:t>
            </a:r>
            <a:endParaRPr sz="1200" b="1" i="0" u="none" dirty="0">
              <a:solidFill>
                <a:srgbClr val="0F172A"/>
              </a:solidFill>
              <a:latin typeface="Noto Sans KR" panose="020B0200000000000000" pitchFamily="50" charset="-127"/>
            </a:endParaRPr>
          </a:p>
        </p:txBody>
      </p:sp>
      <p:sp>
        <p:nvSpPr>
          <p:cNvPr id="12" name="TextBox 11"/>
          <p:cNvSpPr txBox="1"/>
          <p:nvPr/>
        </p:nvSpPr>
        <p:spPr>
          <a:xfrm>
            <a:off x="4437459" y="3079402"/>
            <a:ext cx="1795363" cy="150041"/>
          </a:xfrm>
          <a:prstGeom prst="rect">
            <a:avLst/>
          </a:prstGeom>
          <a:noFill/>
        </p:spPr>
        <p:txBody>
          <a:bodyPr wrap="none" lIns="0" tIns="0" rIns="0" bIns="0" anchor="t">
            <a:spAutoFit/>
          </a:bodyPr>
          <a:lstStyle/>
          <a:p>
            <a:pPr algn="l"/>
            <a:r>
              <a:rPr sz="975" b="1" i="0" u="none" dirty="0" err="1">
                <a:solidFill>
                  <a:srgbClr val="64748B"/>
                </a:solidFill>
                <a:latin typeface="Noto Sans KR" panose="020B0200000000000000" pitchFamily="50" charset="-127"/>
              </a:rPr>
              <a:t>주문</a:t>
            </a:r>
            <a:r>
              <a:rPr sz="975" b="1" i="0" u="none" dirty="0">
                <a:solidFill>
                  <a:srgbClr val="64748B"/>
                </a:solidFill>
                <a:latin typeface="Noto Sans KR" panose="020B0200000000000000" pitchFamily="50" charset="-127"/>
              </a:rPr>
              <a:t> </a:t>
            </a:r>
            <a:r>
              <a:rPr sz="975" b="1" i="0" u="none" dirty="0" err="1">
                <a:solidFill>
                  <a:srgbClr val="64748B"/>
                </a:solidFill>
                <a:latin typeface="Noto Sans KR" panose="020B0200000000000000" pitchFamily="50" charset="-127"/>
              </a:rPr>
              <a:t>이력</a:t>
            </a:r>
            <a:r>
              <a:rPr sz="975" b="1" i="0" u="none" dirty="0">
                <a:solidFill>
                  <a:srgbClr val="64748B"/>
                </a:solidFill>
                <a:latin typeface="Noto Sans KR" panose="020B0200000000000000" pitchFamily="50" charset="-127"/>
              </a:rPr>
              <a:t> CSV </a:t>
            </a:r>
            <a:r>
              <a:rPr sz="975" b="1" i="0" u="none" dirty="0" err="1">
                <a:solidFill>
                  <a:srgbClr val="64748B"/>
                </a:solidFill>
                <a:latin typeface="Noto Sans KR" panose="020B0200000000000000" pitchFamily="50" charset="-127"/>
              </a:rPr>
              <a:t>표준</a:t>
            </a:r>
            <a:r>
              <a:rPr sz="975" b="1" i="0" u="none" dirty="0">
                <a:solidFill>
                  <a:srgbClr val="64748B"/>
                </a:solidFill>
                <a:latin typeface="Noto Sans KR" panose="020B0200000000000000" pitchFamily="50" charset="-127"/>
              </a:rPr>
              <a:t> </a:t>
            </a:r>
            <a:r>
              <a:rPr sz="975" b="1" i="0" u="none" dirty="0" err="1">
                <a:solidFill>
                  <a:srgbClr val="64748B"/>
                </a:solidFill>
                <a:latin typeface="Noto Sans KR" panose="020B0200000000000000" pitchFamily="50" charset="-127"/>
              </a:rPr>
              <a:t>입력</a:t>
            </a:r>
            <a:r>
              <a:rPr sz="975" b="1" i="0" u="none" dirty="0">
                <a:solidFill>
                  <a:srgbClr val="64748B"/>
                </a:solidFill>
                <a:latin typeface="Noto Sans KR" panose="020B0200000000000000" pitchFamily="50" charset="-127"/>
              </a:rPr>
              <a:t> </a:t>
            </a:r>
            <a:r>
              <a:rPr sz="975" b="1" i="0" u="none" dirty="0" err="1">
                <a:solidFill>
                  <a:srgbClr val="64748B"/>
                </a:solidFill>
                <a:latin typeface="Noto Sans KR" panose="020B0200000000000000" pitchFamily="50" charset="-127"/>
              </a:rPr>
              <a:t>포맷</a:t>
            </a:r>
            <a:r>
              <a:rPr sz="975" b="1" i="0" u="none" dirty="0">
                <a:solidFill>
                  <a:srgbClr val="64748B"/>
                </a:solidFill>
                <a:latin typeface="Noto Sans KR" panose="020B0200000000000000" pitchFamily="50" charset="-127"/>
              </a:rPr>
              <a:t> </a:t>
            </a:r>
            <a:r>
              <a:rPr sz="975" b="1" i="0" u="none" dirty="0" err="1">
                <a:solidFill>
                  <a:srgbClr val="64748B"/>
                </a:solidFill>
                <a:latin typeface="Noto Sans KR" panose="020B0200000000000000" pitchFamily="50" charset="-127"/>
              </a:rPr>
              <a:t>예시</a:t>
            </a:r>
            <a:endParaRPr sz="975" b="1" i="0" u="none" dirty="0">
              <a:solidFill>
                <a:srgbClr val="64748B"/>
              </a:solidFill>
              <a:latin typeface="Noto Sans KR" panose="020B0200000000000000" pitchFamily="50" charset="-127"/>
            </a:endParaRPr>
          </a:p>
        </p:txBody>
      </p:sp>
      <p:sp>
        <p:nvSpPr>
          <p:cNvPr id="13" name="TextBox 12"/>
          <p:cNvSpPr txBox="1"/>
          <p:nvPr/>
        </p:nvSpPr>
        <p:spPr>
          <a:xfrm>
            <a:off x="4627959" y="3517552"/>
            <a:ext cx="6897290" cy="600075"/>
          </a:xfrm>
          <a:prstGeom prst="rect">
            <a:avLst/>
          </a:prstGeom>
          <a:noFill/>
        </p:spPr>
        <p:txBody>
          <a:bodyPr wrap="square" lIns="0" tIns="0" rIns="0" bIns="0" anchor="t">
            <a:spAutoFit/>
          </a:bodyPr>
          <a:lstStyle/>
          <a:p>
            <a:pPr algn="l">
              <a:lnSpc>
                <a:spcPts val="1575"/>
              </a:lnSpc>
            </a:pPr>
            <a:r>
              <a:rPr sz="1050" b="0" i="0" u="none" dirty="0">
                <a:solidFill>
                  <a:srgbClr val="F8FAFC"/>
                </a:solidFill>
                <a:latin typeface="Consolas" panose="020B0609020204030204" pitchFamily="49" charset="0"/>
              </a:rPr>
              <a:t>order_id,ordered_at,business_number,company_name,sku,product_name,quantity,unit_price HIST-001,2026-01-05T12:30:00+09:00,123-45-67890,예시상사,SKU-001,사무용 복사용지,3,15000 HIST-001,2026-01-05T12:30:00+09:00,123-45-67890,예시상사,SKU-002,파일철,2,5000</a:t>
            </a:r>
          </a:p>
        </p:txBody>
      </p:sp>
      <p:sp>
        <p:nvSpPr>
          <p:cNvPr id="14" name="TextBox 13"/>
          <p:cNvSpPr txBox="1"/>
          <p:nvPr/>
        </p:nvSpPr>
        <p:spPr>
          <a:xfrm>
            <a:off x="923925" y="3022252"/>
            <a:ext cx="2951559" cy="323165"/>
          </a:xfrm>
          <a:prstGeom prst="rect">
            <a:avLst/>
          </a:prstGeom>
          <a:noFill/>
        </p:spPr>
        <p:txBody>
          <a:bodyPr wrap="square" lIns="0" tIns="0" rIns="0" bIns="0" anchor="t">
            <a:spAutoFit/>
          </a:bodyPr>
          <a:lstStyle/>
          <a:p>
            <a:pPr algn="l"/>
            <a:r>
              <a:rPr sz="1050" b="1" i="0" u="none" dirty="0">
                <a:solidFill>
                  <a:srgbClr val="475569"/>
                </a:solidFill>
                <a:latin typeface="Noto Sans KR" panose="020B0200000000000000" pitchFamily="50" charset="-127"/>
              </a:rPr>
              <a:t>1. </a:t>
            </a:r>
            <a:r>
              <a:rPr sz="1050" b="1" i="0" u="none" dirty="0" err="1">
                <a:solidFill>
                  <a:srgbClr val="475569"/>
                </a:solidFill>
                <a:latin typeface="Noto Sans KR" panose="020B0200000000000000" pitchFamily="50" charset="-127"/>
              </a:rPr>
              <a:t>자동</a:t>
            </a:r>
            <a:r>
              <a:rPr sz="1050" b="1" i="0" u="none" dirty="0">
                <a:solidFill>
                  <a:srgbClr val="475569"/>
                </a:solidFill>
                <a:latin typeface="Noto Sans KR" panose="020B0200000000000000" pitchFamily="50" charset="-127"/>
              </a:rPr>
              <a:t> </a:t>
            </a:r>
            <a:r>
              <a:rPr sz="1050" b="1" i="0" u="none" dirty="0" err="1">
                <a:solidFill>
                  <a:srgbClr val="475569"/>
                </a:solidFill>
                <a:latin typeface="Noto Sans KR" panose="020B0200000000000000" pitchFamily="50" charset="-127"/>
              </a:rPr>
              <a:t>엔티티</a:t>
            </a:r>
            <a:r>
              <a:rPr sz="1050" b="1" i="0" u="none" dirty="0">
                <a:solidFill>
                  <a:srgbClr val="475569"/>
                </a:solidFill>
                <a:latin typeface="Noto Sans KR" panose="020B0200000000000000" pitchFamily="50" charset="-127"/>
              </a:rPr>
              <a:t> </a:t>
            </a:r>
            <a:r>
              <a:rPr sz="1050" b="1" i="0" u="none" dirty="0" err="1">
                <a:solidFill>
                  <a:srgbClr val="475569"/>
                </a:solidFill>
                <a:latin typeface="Noto Sans KR" panose="020B0200000000000000" pitchFamily="50" charset="-127"/>
              </a:rPr>
              <a:t>생성</a:t>
            </a:r>
            <a:r>
              <a:rPr sz="1050" b="1" i="0" u="none" dirty="0">
                <a:solidFill>
                  <a:srgbClr val="475569"/>
                </a:solidFill>
                <a:latin typeface="Noto Sans KR" panose="020B0200000000000000" pitchFamily="50" charset="-127"/>
              </a:rPr>
              <a:t>:</a:t>
            </a:r>
            <a:r>
              <a:rPr sz="1050" b="0" i="0" u="none" dirty="0">
                <a:solidFill>
                  <a:srgbClr val="475569"/>
                </a:solidFill>
                <a:latin typeface="Noto Sans KR" panose="020B0200000000000000" pitchFamily="50" charset="-127"/>
              </a:rPr>
              <a:t> CSV 내 </a:t>
            </a:r>
            <a:r>
              <a:rPr sz="1050" b="0" i="0" u="none" dirty="0" err="1">
                <a:solidFill>
                  <a:srgbClr val="475569"/>
                </a:solidFill>
                <a:latin typeface="Noto Sans KR" panose="020B0200000000000000" pitchFamily="50" charset="-127"/>
              </a:rPr>
              <a:t>존재하지</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않는</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사업자번호나</a:t>
            </a:r>
            <a:r>
              <a:rPr sz="1050" b="0" i="0" u="none" dirty="0">
                <a:solidFill>
                  <a:srgbClr val="475569"/>
                </a:solidFill>
                <a:latin typeface="Noto Sans KR" panose="020B0200000000000000" pitchFamily="50" charset="-127"/>
              </a:rPr>
              <a:t> SKU </a:t>
            </a:r>
            <a:r>
              <a:rPr sz="1050" b="0" i="0" u="none" dirty="0" err="1">
                <a:solidFill>
                  <a:srgbClr val="475569"/>
                </a:solidFill>
                <a:latin typeface="Noto Sans KR" panose="020B0200000000000000" pitchFamily="50" charset="-127"/>
              </a:rPr>
              <a:t>발견</a:t>
            </a:r>
            <a:r>
              <a:rPr sz="1050" b="0" i="0" u="none" dirty="0">
                <a:solidFill>
                  <a:srgbClr val="475569"/>
                </a:solidFill>
                <a:latin typeface="Noto Sans KR" panose="020B0200000000000000" pitchFamily="50" charset="-127"/>
              </a:rPr>
              <a:t> 시 </a:t>
            </a:r>
            <a:r>
              <a:rPr sz="1050" b="0" i="0" u="none" dirty="0" err="1">
                <a:solidFill>
                  <a:srgbClr val="475569"/>
                </a:solidFill>
                <a:latin typeface="Noto Sans KR" panose="020B0200000000000000" pitchFamily="50" charset="-127"/>
              </a:rPr>
              <a:t>자동으로</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거래처</a:t>
            </a:r>
            <a:r>
              <a:rPr sz="1050" b="0" i="0" u="none" dirty="0">
                <a:solidFill>
                  <a:srgbClr val="475569"/>
                </a:solidFill>
                <a:latin typeface="Noto Sans KR" panose="020B0200000000000000" pitchFamily="50" charset="-127"/>
              </a:rPr>
              <a:t> 및 </a:t>
            </a:r>
            <a:r>
              <a:rPr sz="1050" b="0" i="0" u="none" dirty="0" err="1">
                <a:solidFill>
                  <a:srgbClr val="475569"/>
                </a:solidFill>
                <a:latin typeface="Noto Sans KR" panose="020B0200000000000000" pitchFamily="50" charset="-127"/>
              </a:rPr>
              <a:t>상품</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신규</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등록</a:t>
            </a:r>
            <a:endParaRPr sz="1050" b="0" i="0" u="none" dirty="0">
              <a:solidFill>
                <a:srgbClr val="475569"/>
              </a:solidFill>
              <a:latin typeface="Noto Sans KR" panose="020B0200000000000000" pitchFamily="50" charset="-127"/>
            </a:endParaRPr>
          </a:p>
        </p:txBody>
      </p:sp>
      <p:sp>
        <p:nvSpPr>
          <p:cNvPr id="15" name="TextBox 14"/>
          <p:cNvSpPr txBox="1"/>
          <p:nvPr/>
        </p:nvSpPr>
        <p:spPr>
          <a:xfrm>
            <a:off x="923925" y="3898552"/>
            <a:ext cx="2951559" cy="323165"/>
          </a:xfrm>
          <a:prstGeom prst="rect">
            <a:avLst/>
          </a:prstGeom>
          <a:noFill/>
        </p:spPr>
        <p:txBody>
          <a:bodyPr wrap="square" lIns="0" tIns="0" rIns="0" bIns="0" anchor="t">
            <a:spAutoFit/>
          </a:bodyPr>
          <a:lstStyle/>
          <a:p>
            <a:pPr algn="l"/>
            <a:r>
              <a:rPr sz="1050" b="1" i="0" u="none" dirty="0">
                <a:solidFill>
                  <a:srgbClr val="475569"/>
                </a:solidFill>
                <a:latin typeface="Noto Sans KR" panose="020B0200000000000000" pitchFamily="50" charset="-127"/>
              </a:rPr>
              <a:t>2. </a:t>
            </a:r>
            <a:r>
              <a:rPr sz="1050" b="1" i="0" u="none" dirty="0" err="1">
                <a:solidFill>
                  <a:srgbClr val="475569"/>
                </a:solidFill>
                <a:latin typeface="Noto Sans KR" panose="020B0200000000000000" pitchFamily="50" charset="-127"/>
              </a:rPr>
              <a:t>재고</a:t>
            </a:r>
            <a:r>
              <a:rPr sz="1050" b="1" i="0" u="none" dirty="0">
                <a:solidFill>
                  <a:srgbClr val="475569"/>
                </a:solidFill>
                <a:latin typeface="Noto Sans KR" panose="020B0200000000000000" pitchFamily="50" charset="-127"/>
              </a:rPr>
              <a:t> </a:t>
            </a:r>
            <a:r>
              <a:rPr sz="1050" b="1" i="0" u="none" dirty="0" err="1">
                <a:solidFill>
                  <a:srgbClr val="475569"/>
                </a:solidFill>
                <a:latin typeface="Noto Sans KR" panose="020B0200000000000000" pitchFamily="50" charset="-127"/>
              </a:rPr>
              <a:t>유지</a:t>
            </a:r>
            <a:r>
              <a:rPr sz="1050" b="1" i="0" u="none" dirty="0">
                <a:solidFill>
                  <a:srgbClr val="475569"/>
                </a:solidFill>
                <a:latin typeface="Noto Sans KR" panose="020B0200000000000000" pitchFamily="50" charset="-127"/>
              </a:rPr>
              <a:t> </a:t>
            </a:r>
            <a:r>
              <a:rPr sz="1050" b="1" i="0" u="none" dirty="0" err="1">
                <a:solidFill>
                  <a:srgbClr val="475569"/>
                </a:solidFill>
                <a:latin typeface="Noto Sans KR" panose="020B0200000000000000" pitchFamily="50" charset="-127"/>
              </a:rPr>
              <a:t>처리</a:t>
            </a:r>
            <a:r>
              <a:rPr sz="1050" b="1" i="0" u="none" dirty="0">
                <a:solidFill>
                  <a:srgbClr val="475569"/>
                </a:solidFill>
                <a:latin typeface="Noto Sans KR" panose="020B0200000000000000" pitchFamily="50" charset="-127"/>
              </a:rPr>
              <a:t>:</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과거</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주문</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이력</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적재</a:t>
            </a:r>
            <a:r>
              <a:rPr sz="1050" b="0" i="0" u="none" dirty="0">
                <a:solidFill>
                  <a:srgbClr val="475569"/>
                </a:solidFill>
                <a:latin typeface="Noto Sans KR" panose="020B0200000000000000" pitchFamily="50" charset="-127"/>
              </a:rPr>
              <a:t> 시 </a:t>
            </a:r>
            <a:r>
              <a:rPr sz="1050" b="0" i="0" u="none" dirty="0" err="1">
                <a:solidFill>
                  <a:srgbClr val="475569"/>
                </a:solidFill>
                <a:latin typeface="Noto Sans KR" panose="020B0200000000000000" pitchFamily="50" charset="-127"/>
              </a:rPr>
              <a:t>현재</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재고를</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차감하지</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않고</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학습용</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데이터로만</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보존</a:t>
            </a:r>
            <a:endParaRPr sz="1050" b="0" i="0" u="none" dirty="0">
              <a:solidFill>
                <a:srgbClr val="475569"/>
              </a:solidFill>
              <a:latin typeface="Noto Sans KR" panose="020B0200000000000000" pitchFamily="50" charset="-127"/>
            </a:endParaRPr>
          </a:p>
        </p:txBody>
      </p:sp>
      <p:sp>
        <p:nvSpPr>
          <p:cNvPr id="16" name="TextBox 15"/>
          <p:cNvSpPr txBox="1"/>
          <p:nvPr/>
        </p:nvSpPr>
        <p:spPr>
          <a:xfrm>
            <a:off x="923925" y="4603402"/>
            <a:ext cx="2951559" cy="323165"/>
          </a:xfrm>
          <a:prstGeom prst="rect">
            <a:avLst/>
          </a:prstGeom>
          <a:noFill/>
        </p:spPr>
        <p:txBody>
          <a:bodyPr wrap="square" lIns="0" tIns="0" rIns="0" bIns="0" anchor="t">
            <a:spAutoFit/>
          </a:bodyPr>
          <a:lstStyle/>
          <a:p>
            <a:pPr algn="l"/>
            <a:r>
              <a:rPr sz="1050" b="1" i="0" u="none" dirty="0">
                <a:solidFill>
                  <a:srgbClr val="475569"/>
                </a:solidFill>
                <a:latin typeface="Noto Sans KR" panose="020B0200000000000000" pitchFamily="50" charset="-127"/>
              </a:rPr>
              <a:t>3. </a:t>
            </a:r>
            <a:r>
              <a:rPr sz="1050" b="1" i="0" u="none" dirty="0" err="1">
                <a:solidFill>
                  <a:srgbClr val="475569"/>
                </a:solidFill>
                <a:latin typeface="Noto Sans KR" panose="020B0200000000000000" pitchFamily="50" charset="-127"/>
              </a:rPr>
              <a:t>트랜잭션</a:t>
            </a:r>
            <a:r>
              <a:rPr sz="1050" b="1" i="0" u="none" dirty="0">
                <a:solidFill>
                  <a:srgbClr val="475569"/>
                </a:solidFill>
                <a:latin typeface="Noto Sans KR" panose="020B0200000000000000" pitchFamily="50" charset="-127"/>
              </a:rPr>
              <a:t> </a:t>
            </a:r>
            <a:r>
              <a:rPr sz="1050" b="1" i="0" u="none" dirty="0" err="1">
                <a:solidFill>
                  <a:srgbClr val="475569"/>
                </a:solidFill>
                <a:latin typeface="Noto Sans KR" panose="020B0200000000000000" pitchFamily="50" charset="-127"/>
              </a:rPr>
              <a:t>원자성</a:t>
            </a:r>
            <a:r>
              <a:rPr sz="1050" b="1" i="0" u="none" dirty="0">
                <a:solidFill>
                  <a:srgbClr val="475569"/>
                </a:solidFill>
                <a:latin typeface="Noto Sans KR" panose="020B0200000000000000" pitchFamily="50" charset="-127"/>
              </a:rPr>
              <a:t>:</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행별</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형식을</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완벽</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검증</a:t>
            </a:r>
            <a:r>
              <a:rPr sz="1050" b="0" i="0" u="none" dirty="0">
                <a:solidFill>
                  <a:srgbClr val="475569"/>
                </a:solidFill>
                <a:latin typeface="Noto Sans KR" panose="020B0200000000000000" pitchFamily="50" charset="-127"/>
              </a:rPr>
              <a:t> 후 </a:t>
            </a:r>
            <a:r>
              <a:rPr sz="1050" b="0" i="0" u="none" dirty="0" err="1">
                <a:solidFill>
                  <a:srgbClr val="475569"/>
                </a:solidFill>
                <a:latin typeface="Noto Sans KR" panose="020B0200000000000000" pitchFamily="50" charset="-127"/>
              </a:rPr>
              <a:t>파싱</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실패</a:t>
            </a:r>
            <a:r>
              <a:rPr sz="1050" b="0" i="0" u="none" dirty="0">
                <a:solidFill>
                  <a:srgbClr val="475569"/>
                </a:solidFill>
                <a:latin typeface="Noto Sans KR" panose="020B0200000000000000" pitchFamily="50" charset="-127"/>
              </a:rPr>
              <a:t> 시 </a:t>
            </a:r>
            <a:r>
              <a:rPr sz="1050" b="0" i="0" u="none" dirty="0" err="1">
                <a:solidFill>
                  <a:srgbClr val="475569"/>
                </a:solidFill>
                <a:latin typeface="Noto Sans KR" panose="020B0200000000000000" pitchFamily="50" charset="-127"/>
              </a:rPr>
              <a:t>전체</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트랜잭션</a:t>
            </a:r>
            <a:r>
              <a:rPr sz="1050" b="0" i="0" u="none" dirty="0">
                <a:solidFill>
                  <a:srgbClr val="475569"/>
                </a:solidFill>
                <a:latin typeface="Noto Sans KR" panose="020B0200000000000000" pitchFamily="50" charset="-127"/>
              </a:rPr>
              <a:t> Rollback</a:t>
            </a:r>
          </a:p>
        </p:txBody>
      </p:sp>
      <p:sp>
        <p:nvSpPr>
          <p:cNvPr id="17" name="TextBox 16"/>
          <p:cNvSpPr txBox="1"/>
          <p:nvPr/>
        </p:nvSpPr>
        <p:spPr>
          <a:xfrm>
            <a:off x="4437459" y="4422427"/>
            <a:ext cx="1455126" cy="150041"/>
          </a:xfrm>
          <a:prstGeom prst="rect">
            <a:avLst/>
          </a:prstGeom>
          <a:noFill/>
        </p:spPr>
        <p:txBody>
          <a:bodyPr wrap="none" lIns="96440" tIns="0" rIns="0" bIns="0" anchor="t">
            <a:spAutoFit/>
          </a:bodyPr>
          <a:lstStyle/>
          <a:p>
            <a:pPr algn="l"/>
            <a:r>
              <a:rPr sz="975" b="0" i="0" u="none" dirty="0">
                <a:solidFill>
                  <a:srgbClr val="64748B"/>
                </a:solidFill>
                <a:latin typeface="Noto Sans KR" panose="020B0200000000000000" pitchFamily="50" charset="-127"/>
              </a:rPr>
              <a:t>UTF-8 / UTF-8 BOM </a:t>
            </a:r>
            <a:r>
              <a:rPr sz="975" b="0" i="0" u="none" dirty="0" err="1">
                <a:solidFill>
                  <a:srgbClr val="64748B"/>
                </a:solidFill>
                <a:latin typeface="Noto Sans KR" panose="020B0200000000000000" pitchFamily="50" charset="-127"/>
              </a:rPr>
              <a:t>지원</a:t>
            </a:r>
            <a:endParaRPr sz="975" b="0" i="0" u="none" dirty="0">
              <a:solidFill>
                <a:srgbClr val="64748B"/>
              </a:solidFill>
              <a:latin typeface="Noto Sans KR" panose="020B0200000000000000" pitchFamily="50" charset="-127"/>
            </a:endParaRPr>
          </a:p>
        </p:txBody>
      </p:sp>
      <p:sp>
        <p:nvSpPr>
          <p:cNvPr id="18" name="TextBox 17"/>
          <p:cNvSpPr txBox="1"/>
          <p:nvPr/>
        </p:nvSpPr>
        <p:spPr>
          <a:xfrm>
            <a:off x="6124128" y="4422427"/>
            <a:ext cx="934149" cy="150041"/>
          </a:xfrm>
          <a:prstGeom prst="rect">
            <a:avLst/>
          </a:prstGeom>
          <a:noFill/>
        </p:spPr>
        <p:txBody>
          <a:bodyPr wrap="none" lIns="96440" tIns="0" rIns="0" bIns="0" anchor="t">
            <a:spAutoFit/>
          </a:bodyPr>
          <a:lstStyle/>
          <a:p>
            <a:pPr algn="l"/>
            <a:r>
              <a:rPr sz="975" b="0" i="0" u="none" dirty="0" err="1">
                <a:solidFill>
                  <a:srgbClr val="64748B"/>
                </a:solidFill>
                <a:latin typeface="Noto Sans KR" panose="020B0200000000000000" pitchFamily="50" charset="-127"/>
              </a:rPr>
              <a:t>최대</a:t>
            </a:r>
            <a:r>
              <a:rPr sz="975" b="0" i="0" u="none" dirty="0">
                <a:solidFill>
                  <a:srgbClr val="64748B"/>
                </a:solidFill>
                <a:latin typeface="Noto Sans KR" panose="020B0200000000000000" pitchFamily="50" charset="-127"/>
              </a:rPr>
              <a:t> 10MB </a:t>
            </a:r>
            <a:r>
              <a:rPr sz="975" b="0" i="0" u="none" dirty="0" err="1">
                <a:solidFill>
                  <a:srgbClr val="64748B"/>
                </a:solidFill>
                <a:latin typeface="Noto Sans KR" panose="020B0200000000000000" pitchFamily="50" charset="-127"/>
              </a:rPr>
              <a:t>크기</a:t>
            </a:r>
            <a:endParaRPr sz="975" b="0" i="0" u="none" dirty="0">
              <a:solidFill>
                <a:srgbClr val="64748B"/>
              </a:solidFill>
              <a:latin typeface="Noto Sans KR" panose="020B0200000000000000" pitchFamily="50"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1500" y="1196280"/>
            <a:ext cx="3530649" cy="5280719"/>
          </a:xfrm>
          <a:prstGeom prst="roundRect">
            <a:avLst>
              <a:gd name="adj" fmla="val 32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30749" y="1196280"/>
            <a:ext cx="3530649" cy="5280719"/>
          </a:xfrm>
          <a:prstGeom prst="roundRect">
            <a:avLst>
              <a:gd name="adj" fmla="val 32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89999" y="1196280"/>
            <a:ext cx="3530649" cy="5280719"/>
          </a:xfrm>
          <a:prstGeom prst="roundRect">
            <a:avLst>
              <a:gd name="adj" fmla="val 3237"/>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09625" y="5791200"/>
            <a:ext cx="3054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68874" y="5953125"/>
            <a:ext cx="3054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328124" y="5791200"/>
            <a:ext cx="3054399" cy="9525"/>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9625" y="1434405"/>
            <a:ext cx="1642169" cy="247650"/>
          </a:xfrm>
          <a:prstGeom prst="roundRect">
            <a:avLst>
              <a:gd name="adj" fmla="val 23076"/>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68874" y="1434405"/>
            <a:ext cx="1518344" cy="247650"/>
          </a:xfrm>
          <a:prstGeom prst="roundRect">
            <a:avLst>
              <a:gd name="adj" fmla="val 23076"/>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328124" y="1434405"/>
            <a:ext cx="1483965" cy="247650"/>
          </a:xfrm>
          <a:prstGeom prst="roundRect">
            <a:avLst>
              <a:gd name="adj" fmla="val 23076"/>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1500" y="381000"/>
            <a:ext cx="2245808"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6. DEMAND FORECASTING ENGINE</a:t>
            </a:r>
          </a:p>
        </p:txBody>
      </p:sp>
      <p:sp>
        <p:nvSpPr>
          <p:cNvPr id="12" name="TextBox 11"/>
          <p:cNvSpPr txBox="1"/>
          <p:nvPr/>
        </p:nvSpPr>
        <p:spPr>
          <a:xfrm>
            <a:off x="571500" y="590550"/>
            <a:ext cx="4772140" cy="320601"/>
          </a:xfrm>
          <a:prstGeom prst="rect">
            <a:avLst/>
          </a:prstGeom>
          <a:noFill/>
        </p:spPr>
        <p:txBody>
          <a:bodyPr wrap="none" lIns="0" tIns="0" rIns="0" bIns="0" anchor="t">
            <a:spAutoFit/>
          </a:bodyPr>
          <a:lstStyle/>
          <a:p>
            <a:pPr algn="l">
              <a:lnSpc>
                <a:spcPts val="2520"/>
              </a:lnSpc>
            </a:pPr>
            <a:r>
              <a:rPr sz="2100" b="1" i="0" u="none" dirty="0">
                <a:solidFill>
                  <a:srgbClr val="0F172A"/>
                </a:solidFill>
                <a:latin typeface="Noto Sans KR" panose="020B0200000000000000" pitchFamily="50" charset="-127"/>
              </a:rPr>
              <a:t>Machine Learning </a:t>
            </a:r>
            <a:r>
              <a:rPr sz="2100" b="1" i="0" u="none" dirty="0" err="1">
                <a:solidFill>
                  <a:srgbClr val="0F172A"/>
                </a:solidFill>
                <a:latin typeface="Noto Sans KR" panose="020B0200000000000000" pitchFamily="50" charset="-127"/>
              </a:rPr>
              <a:t>수요</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예측</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파이프라인</a:t>
            </a:r>
            <a:endParaRPr sz="2100" b="1" i="0" u="none" dirty="0">
              <a:solidFill>
                <a:srgbClr val="0F172A"/>
              </a:solidFill>
              <a:latin typeface="Noto Sans KR" panose="020B0200000000000000" pitchFamily="50" charset="-127"/>
            </a:endParaRPr>
          </a:p>
        </p:txBody>
      </p:sp>
      <p:sp>
        <p:nvSpPr>
          <p:cNvPr id="13" name="TextBox 12"/>
          <p:cNvSpPr txBox="1"/>
          <p:nvPr/>
        </p:nvSpPr>
        <p:spPr>
          <a:xfrm>
            <a:off x="809625" y="5905500"/>
            <a:ext cx="3149649" cy="276999"/>
          </a:xfrm>
          <a:prstGeom prst="rect">
            <a:avLst/>
          </a:prstGeom>
          <a:noFill/>
        </p:spPr>
        <p:txBody>
          <a:bodyPr wrap="square" lIns="0" tIns="0" rIns="0" bIns="0" anchor="t">
            <a:spAutoFit/>
          </a:bodyPr>
          <a:lstStyle/>
          <a:p>
            <a:pPr algn="l"/>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조건</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미달</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상품은</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고정</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재주문</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기준점</a:t>
            </a:r>
            <a:r>
              <a:rPr sz="900" b="0" i="0" u="none" dirty="0">
                <a:solidFill>
                  <a:srgbClr val="64748B"/>
                </a:solidFill>
                <a:latin typeface="Noto Sans KR" panose="020B0200000000000000" pitchFamily="50" charset="-127"/>
              </a:rPr>
              <a:t>(Reorder Point) </a:t>
            </a:r>
            <a:r>
              <a:rPr sz="900" b="0" i="0" u="none" dirty="0" err="1">
                <a:solidFill>
                  <a:srgbClr val="64748B"/>
                </a:solidFill>
                <a:latin typeface="Noto Sans KR" panose="020B0200000000000000" pitchFamily="50" charset="-127"/>
              </a:rPr>
              <a:t>알고리즘으로</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폴백</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처리</a:t>
            </a:r>
            <a:endParaRPr sz="900" b="0" i="0" u="none" dirty="0">
              <a:solidFill>
                <a:srgbClr val="64748B"/>
              </a:solidFill>
              <a:latin typeface="Noto Sans KR" panose="020B0200000000000000" pitchFamily="50" charset="-127"/>
            </a:endParaRPr>
          </a:p>
        </p:txBody>
      </p:sp>
      <p:sp>
        <p:nvSpPr>
          <p:cNvPr id="14" name="TextBox 13"/>
          <p:cNvSpPr txBox="1"/>
          <p:nvPr/>
        </p:nvSpPr>
        <p:spPr>
          <a:xfrm>
            <a:off x="4568874" y="6067425"/>
            <a:ext cx="3149649" cy="138499"/>
          </a:xfrm>
          <a:prstGeom prst="rect">
            <a:avLst/>
          </a:prstGeom>
          <a:noFill/>
        </p:spPr>
        <p:txBody>
          <a:bodyPr wrap="square" lIns="0" tIns="0" rIns="0" bIns="0" anchor="t">
            <a:spAutoFit/>
          </a:bodyPr>
          <a:lstStyle/>
          <a:p>
            <a:pPr algn="l"/>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재귀</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예측을</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통해</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최대</a:t>
            </a:r>
            <a:r>
              <a:rPr sz="900" b="0" i="0" u="none" dirty="0">
                <a:solidFill>
                  <a:srgbClr val="64748B"/>
                </a:solidFill>
                <a:latin typeface="Noto Sans KR" panose="020B0200000000000000" pitchFamily="50" charset="-127"/>
              </a:rPr>
              <a:t> 12주 </a:t>
            </a:r>
            <a:r>
              <a:rPr sz="900" b="0" i="0" u="none" dirty="0" err="1">
                <a:solidFill>
                  <a:srgbClr val="64748B"/>
                </a:solidFill>
                <a:latin typeface="Noto Sans KR" panose="020B0200000000000000" pitchFamily="50" charset="-127"/>
              </a:rPr>
              <a:t>후까지의</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장기</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수요</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추정</a:t>
            </a:r>
            <a:r>
              <a:rPr sz="900" b="0" i="0" u="none" dirty="0">
                <a:solidFill>
                  <a:srgbClr val="64748B"/>
                </a:solidFill>
                <a:latin typeface="Noto Sans KR" panose="020B0200000000000000" pitchFamily="50" charset="-127"/>
              </a:rPr>
              <a:t> </a:t>
            </a:r>
            <a:r>
              <a:rPr sz="900" b="0" i="0" u="none" dirty="0" err="1">
                <a:solidFill>
                  <a:srgbClr val="64748B"/>
                </a:solidFill>
                <a:latin typeface="Noto Sans KR" panose="020B0200000000000000" pitchFamily="50" charset="-127"/>
              </a:rPr>
              <a:t>가능</a:t>
            </a:r>
            <a:endParaRPr sz="900" b="0" i="0" u="none" dirty="0">
              <a:solidFill>
                <a:srgbClr val="64748B"/>
              </a:solidFill>
              <a:latin typeface="Noto Sans KR" panose="020B0200000000000000" pitchFamily="50" charset="-127"/>
            </a:endParaRPr>
          </a:p>
        </p:txBody>
      </p:sp>
      <p:sp>
        <p:nvSpPr>
          <p:cNvPr id="15" name="TextBox 14"/>
          <p:cNvSpPr txBox="1"/>
          <p:nvPr/>
        </p:nvSpPr>
        <p:spPr>
          <a:xfrm>
            <a:off x="8328124" y="5905500"/>
            <a:ext cx="3149649" cy="138499"/>
          </a:xfrm>
          <a:prstGeom prst="rect">
            <a:avLst/>
          </a:prstGeom>
          <a:noFill/>
        </p:spPr>
        <p:txBody>
          <a:bodyPr wrap="square" lIns="0" tIns="0" rIns="0" bIns="0" anchor="t">
            <a:spAutoFit/>
          </a:bodyPr>
          <a:lstStyle/>
          <a:p>
            <a:pPr algn="l"/>
            <a:r>
              <a:rPr sz="900" b="1" i="0" u="none" dirty="0" err="1">
                <a:solidFill>
                  <a:srgbClr val="1D4ED8"/>
                </a:solidFill>
                <a:latin typeface="Noto Sans KR" panose="020B0200000000000000" pitchFamily="50" charset="-127"/>
              </a:rPr>
              <a:t>학습된</a:t>
            </a:r>
            <a:r>
              <a:rPr sz="900" b="1" i="0" u="none" dirty="0">
                <a:solidFill>
                  <a:srgbClr val="1D4ED8"/>
                </a:solidFill>
                <a:latin typeface="Noto Sans KR" panose="020B0200000000000000" pitchFamily="50" charset="-127"/>
              </a:rPr>
              <a:t> </a:t>
            </a:r>
            <a:r>
              <a:rPr sz="900" b="1" i="0" u="none" dirty="0" err="1">
                <a:solidFill>
                  <a:srgbClr val="1D4ED8"/>
                </a:solidFill>
                <a:latin typeface="Noto Sans KR" panose="020B0200000000000000" pitchFamily="50" charset="-127"/>
              </a:rPr>
              <a:t>모델</a:t>
            </a:r>
            <a:r>
              <a:rPr sz="900" b="1" i="0" u="none" dirty="0">
                <a:solidFill>
                  <a:srgbClr val="1D4ED8"/>
                </a:solidFill>
                <a:latin typeface="Noto Sans KR" panose="020B0200000000000000" pitchFamily="50" charset="-127"/>
              </a:rPr>
              <a:t> 및 </a:t>
            </a:r>
            <a:r>
              <a:rPr sz="900" b="1" i="0" u="none" dirty="0" err="1">
                <a:solidFill>
                  <a:srgbClr val="1D4ED8"/>
                </a:solidFill>
                <a:latin typeface="Noto Sans KR" panose="020B0200000000000000" pitchFamily="50" charset="-127"/>
              </a:rPr>
              <a:t>예측</a:t>
            </a:r>
            <a:r>
              <a:rPr sz="900" b="1" i="0" u="none" dirty="0">
                <a:solidFill>
                  <a:srgbClr val="1D4ED8"/>
                </a:solidFill>
                <a:latin typeface="Noto Sans KR" panose="020B0200000000000000" pitchFamily="50" charset="-127"/>
              </a:rPr>
              <a:t> </a:t>
            </a:r>
            <a:r>
              <a:rPr sz="900" b="1" i="0" u="none" dirty="0" err="1">
                <a:solidFill>
                  <a:srgbClr val="1D4ED8"/>
                </a:solidFill>
                <a:latin typeface="Noto Sans KR" panose="020B0200000000000000" pitchFamily="50" charset="-127"/>
              </a:rPr>
              <a:t>결과는</a:t>
            </a:r>
            <a:r>
              <a:rPr sz="900" b="1" i="0" u="none" dirty="0">
                <a:solidFill>
                  <a:srgbClr val="1D4ED8"/>
                </a:solidFill>
                <a:latin typeface="Noto Sans KR" panose="020B0200000000000000" pitchFamily="50" charset="-127"/>
              </a:rPr>
              <a:t> </a:t>
            </a:r>
            <a:r>
              <a:rPr sz="900" b="1" i="0" u="none" dirty="0" err="1">
                <a:solidFill>
                  <a:srgbClr val="1D4ED8"/>
                </a:solidFill>
                <a:latin typeface="Noto Sans KR" panose="020B0200000000000000" pitchFamily="50" charset="-127"/>
              </a:rPr>
              <a:t>메모리에</a:t>
            </a:r>
            <a:r>
              <a:rPr sz="900" b="1" i="0" u="none" dirty="0">
                <a:solidFill>
                  <a:srgbClr val="1D4ED8"/>
                </a:solidFill>
                <a:latin typeface="Noto Sans KR" panose="020B0200000000000000" pitchFamily="50" charset="-127"/>
              </a:rPr>
              <a:t> </a:t>
            </a:r>
            <a:r>
              <a:rPr sz="900" b="1" i="0" u="none" dirty="0" err="1">
                <a:solidFill>
                  <a:srgbClr val="1D4ED8"/>
                </a:solidFill>
                <a:latin typeface="Noto Sans KR" panose="020B0200000000000000" pitchFamily="50" charset="-127"/>
              </a:rPr>
              <a:t>캐싱되어</a:t>
            </a:r>
            <a:r>
              <a:rPr sz="900" b="1" i="0" u="none" dirty="0">
                <a:solidFill>
                  <a:srgbClr val="1D4ED8"/>
                </a:solidFill>
                <a:latin typeface="Noto Sans KR" panose="020B0200000000000000" pitchFamily="50" charset="-127"/>
              </a:rPr>
              <a:t> </a:t>
            </a:r>
            <a:r>
              <a:rPr sz="900" b="1" i="0" u="none" dirty="0" err="1">
                <a:solidFill>
                  <a:srgbClr val="1D4ED8"/>
                </a:solidFill>
                <a:latin typeface="Noto Sans KR" panose="020B0200000000000000" pitchFamily="50" charset="-127"/>
              </a:rPr>
              <a:t>빠른</a:t>
            </a:r>
            <a:r>
              <a:rPr sz="900" b="1" i="0" u="none" dirty="0">
                <a:solidFill>
                  <a:srgbClr val="1D4ED8"/>
                </a:solidFill>
                <a:latin typeface="Noto Sans KR" panose="020B0200000000000000" pitchFamily="50" charset="-127"/>
              </a:rPr>
              <a:t> API </a:t>
            </a:r>
            <a:r>
              <a:rPr sz="900" b="1" i="0" u="none" dirty="0" err="1">
                <a:solidFill>
                  <a:srgbClr val="1D4ED8"/>
                </a:solidFill>
                <a:latin typeface="Noto Sans KR" panose="020B0200000000000000" pitchFamily="50" charset="-127"/>
              </a:rPr>
              <a:t>응답</a:t>
            </a:r>
            <a:r>
              <a:rPr sz="900" b="1" i="0" u="none" dirty="0">
                <a:solidFill>
                  <a:srgbClr val="1D4ED8"/>
                </a:solidFill>
                <a:latin typeface="Noto Sans KR" panose="020B0200000000000000" pitchFamily="50" charset="-127"/>
              </a:rPr>
              <a:t> </a:t>
            </a:r>
            <a:r>
              <a:rPr sz="900" b="1" i="0" u="none" dirty="0" err="1">
                <a:solidFill>
                  <a:srgbClr val="1D4ED8"/>
                </a:solidFill>
                <a:latin typeface="Noto Sans KR" panose="020B0200000000000000" pitchFamily="50" charset="-127"/>
              </a:rPr>
              <a:t>보장</a:t>
            </a:r>
            <a:endParaRPr sz="900" b="1" i="0" u="none" dirty="0">
              <a:solidFill>
                <a:srgbClr val="1D4ED8"/>
              </a:solidFill>
              <a:latin typeface="Noto Sans KR" panose="020B0200000000000000" pitchFamily="50" charset="-127"/>
            </a:endParaRPr>
          </a:p>
        </p:txBody>
      </p:sp>
      <p:sp>
        <p:nvSpPr>
          <p:cNvPr id="16" name="TextBox 15"/>
          <p:cNvSpPr txBox="1"/>
          <p:nvPr/>
        </p:nvSpPr>
        <p:spPr>
          <a:xfrm>
            <a:off x="904875" y="1472505"/>
            <a:ext cx="1546919" cy="150041"/>
          </a:xfrm>
          <a:prstGeom prst="rect">
            <a:avLst/>
          </a:prstGeom>
          <a:noFill/>
        </p:spPr>
        <p:txBody>
          <a:bodyPr wrap="square" lIns="0" tIns="0" rIns="0" bIns="0" anchor="t">
            <a:spAutoFit/>
          </a:bodyPr>
          <a:lstStyle/>
          <a:p>
            <a:pPr algn="l"/>
            <a:r>
              <a:rPr sz="975" b="1" i="0" u="none" dirty="0">
                <a:solidFill>
                  <a:srgbClr val="2563EB"/>
                </a:solidFill>
                <a:latin typeface="Noto Sans KR" panose="020B0200000000000000" pitchFamily="50" charset="-127"/>
              </a:rPr>
              <a:t>1단계: </a:t>
            </a:r>
            <a:r>
              <a:rPr sz="975" b="1" i="0" u="none" dirty="0" err="1">
                <a:solidFill>
                  <a:srgbClr val="2563EB"/>
                </a:solidFill>
                <a:latin typeface="Noto Sans KR" panose="020B0200000000000000" pitchFamily="50" charset="-127"/>
              </a:rPr>
              <a:t>전처리</a:t>
            </a:r>
            <a:r>
              <a:rPr sz="975" b="1" i="0" u="none" dirty="0">
                <a:solidFill>
                  <a:srgbClr val="2563EB"/>
                </a:solidFill>
                <a:latin typeface="Noto Sans KR" panose="020B0200000000000000" pitchFamily="50" charset="-127"/>
              </a:rPr>
              <a:t> &amp; </a:t>
            </a:r>
            <a:r>
              <a:rPr sz="975" b="1" i="0" u="none" dirty="0" err="1">
                <a:solidFill>
                  <a:srgbClr val="2563EB"/>
                </a:solidFill>
                <a:latin typeface="Noto Sans KR" panose="020B0200000000000000" pitchFamily="50" charset="-127"/>
              </a:rPr>
              <a:t>대상</a:t>
            </a:r>
            <a:r>
              <a:rPr sz="975" b="1" i="0" u="none" dirty="0">
                <a:solidFill>
                  <a:srgbClr val="2563EB"/>
                </a:solidFill>
                <a:latin typeface="Noto Sans KR" panose="020B0200000000000000" pitchFamily="50" charset="-127"/>
              </a:rPr>
              <a:t> </a:t>
            </a:r>
            <a:r>
              <a:rPr sz="975" b="1" i="0" u="none" dirty="0" err="1">
                <a:solidFill>
                  <a:srgbClr val="2563EB"/>
                </a:solidFill>
                <a:latin typeface="Noto Sans KR" panose="020B0200000000000000" pitchFamily="50" charset="-127"/>
              </a:rPr>
              <a:t>선정</a:t>
            </a:r>
            <a:endParaRPr sz="975" b="1" i="0" u="none" dirty="0">
              <a:solidFill>
                <a:srgbClr val="2563EB"/>
              </a:solidFill>
              <a:latin typeface="Noto Sans KR" panose="020B0200000000000000" pitchFamily="50" charset="-127"/>
            </a:endParaRPr>
          </a:p>
        </p:txBody>
      </p:sp>
      <p:sp>
        <p:nvSpPr>
          <p:cNvPr id="17" name="TextBox 16"/>
          <p:cNvSpPr txBox="1"/>
          <p:nvPr/>
        </p:nvSpPr>
        <p:spPr>
          <a:xfrm>
            <a:off x="809625" y="1872555"/>
            <a:ext cx="1905971" cy="207749"/>
          </a:xfrm>
          <a:prstGeom prst="rect">
            <a:avLst/>
          </a:prstGeom>
          <a:noFill/>
        </p:spPr>
        <p:txBody>
          <a:bodyPr wrap="none" lIns="0" tIns="0" rIns="0" bIns="0" anchor="t">
            <a:spAutoFit/>
          </a:bodyPr>
          <a:lstStyle/>
          <a:p>
            <a:pPr algn="l"/>
            <a:r>
              <a:rPr sz="1350" b="1" i="0" u="none" dirty="0" err="1">
                <a:solidFill>
                  <a:srgbClr val="0F172A"/>
                </a:solidFill>
                <a:latin typeface="Noto Sans KR" panose="020B0200000000000000" pitchFamily="50" charset="-127"/>
              </a:rPr>
              <a:t>주간</a:t>
            </a:r>
            <a:r>
              <a:rPr sz="1350" b="1" i="0" u="none" dirty="0">
                <a:solidFill>
                  <a:srgbClr val="0F172A"/>
                </a:solidFill>
                <a:latin typeface="Noto Sans KR" panose="020B0200000000000000" pitchFamily="50" charset="-127"/>
              </a:rPr>
              <a:t> </a:t>
            </a:r>
            <a:r>
              <a:rPr sz="1350" b="1" i="0" u="none" dirty="0" err="1">
                <a:solidFill>
                  <a:srgbClr val="0F172A"/>
                </a:solidFill>
                <a:latin typeface="Noto Sans KR" panose="020B0200000000000000" pitchFamily="50" charset="-127"/>
              </a:rPr>
              <a:t>집계</a:t>
            </a:r>
            <a:r>
              <a:rPr sz="1350" b="1" i="0" u="none" dirty="0">
                <a:solidFill>
                  <a:srgbClr val="0F172A"/>
                </a:solidFill>
                <a:latin typeface="Noto Sans KR" panose="020B0200000000000000" pitchFamily="50" charset="-127"/>
              </a:rPr>
              <a:t> 및 </a:t>
            </a:r>
            <a:r>
              <a:rPr sz="1350" b="1" i="0" u="none" dirty="0" err="1">
                <a:solidFill>
                  <a:srgbClr val="0F172A"/>
                </a:solidFill>
                <a:latin typeface="Noto Sans KR" panose="020B0200000000000000" pitchFamily="50" charset="-127"/>
              </a:rPr>
              <a:t>데이터</a:t>
            </a:r>
            <a:r>
              <a:rPr sz="1350" b="1" i="0" u="none" dirty="0">
                <a:solidFill>
                  <a:srgbClr val="0F172A"/>
                </a:solidFill>
                <a:latin typeface="Noto Sans KR" panose="020B0200000000000000" pitchFamily="50" charset="-127"/>
              </a:rPr>
              <a:t> </a:t>
            </a:r>
            <a:r>
              <a:rPr sz="1350" b="1" i="0" u="none" dirty="0" err="1">
                <a:solidFill>
                  <a:srgbClr val="0F172A"/>
                </a:solidFill>
                <a:latin typeface="Noto Sans KR" panose="020B0200000000000000" pitchFamily="50" charset="-127"/>
              </a:rPr>
              <a:t>필터링</a:t>
            </a:r>
            <a:endParaRPr sz="1350" b="1" i="0" u="none" dirty="0">
              <a:solidFill>
                <a:srgbClr val="0F172A"/>
              </a:solidFill>
              <a:latin typeface="Noto Sans KR" panose="020B0200000000000000" pitchFamily="50" charset="-127"/>
            </a:endParaRPr>
          </a:p>
        </p:txBody>
      </p:sp>
      <p:sp>
        <p:nvSpPr>
          <p:cNvPr id="18" name="TextBox 17"/>
          <p:cNvSpPr txBox="1"/>
          <p:nvPr/>
        </p:nvSpPr>
        <p:spPr>
          <a:xfrm>
            <a:off x="809625" y="2215455"/>
            <a:ext cx="3149649" cy="803682"/>
          </a:xfrm>
          <a:prstGeom prst="rect">
            <a:avLst/>
          </a:prstGeom>
          <a:noFill/>
        </p:spPr>
        <p:txBody>
          <a:bodyPr wrap="square" lIns="0" tIns="0" rIns="0" bIns="0" anchor="t">
            <a:spAutoFit/>
          </a:bodyPr>
          <a:lstStyle/>
          <a:p>
            <a:pPr algn="l">
              <a:lnSpc>
                <a:spcPts val="1575"/>
              </a:lnSpc>
            </a:pP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주문</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시각을</a:t>
            </a:r>
            <a:r>
              <a:rPr sz="1050" b="0" i="0" u="none" dirty="0">
                <a:solidFill>
                  <a:srgbClr val="475569"/>
                </a:solidFill>
                <a:latin typeface="Noto Sans KR" panose="020B0200000000000000" pitchFamily="50" charset="-127"/>
              </a:rPr>
              <a:t> UTC </a:t>
            </a:r>
            <a:r>
              <a:rPr sz="1050" b="0" i="0" u="none" dirty="0" err="1">
                <a:solidFill>
                  <a:srgbClr val="475569"/>
                </a:solidFill>
                <a:latin typeface="Noto Sans KR" panose="020B0200000000000000" pitchFamily="50" charset="-127"/>
              </a:rPr>
              <a:t>기준</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월요일</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시작</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주간으로</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정규화</a:t>
            </a:r>
            <a:r>
              <a:rPr dirty="0"/>
              <a:t>
</a:t>
            </a:r>
            <a:r>
              <a:rPr sz="1050" b="0" i="0" u="none" dirty="0">
                <a:solidFill>
                  <a:srgbClr val="475569"/>
                </a:solidFill>
                <a:latin typeface="Noto Sans KR" panose="020B0200000000000000" pitchFamily="50" charset="-127"/>
              </a:rPr>
              <a:t> • </a:t>
            </a:r>
            <a:r>
              <a:rPr sz="1050" b="0" i="0" u="none" dirty="0" err="1">
                <a:solidFill>
                  <a:srgbClr val="475569"/>
                </a:solidFill>
                <a:latin typeface="Noto Sans KR" panose="020B0200000000000000" pitchFamily="50" charset="-127"/>
              </a:rPr>
              <a:t>주문</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미발생</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주간은</a:t>
            </a:r>
            <a:r>
              <a:rPr sz="1050" b="0" i="0" u="none" dirty="0">
                <a:solidFill>
                  <a:srgbClr val="475569"/>
                </a:solidFill>
                <a:latin typeface="Noto Sans KR" panose="020B0200000000000000" pitchFamily="50" charset="-127"/>
              </a:rPr>
              <a:t> 0으로 </a:t>
            </a:r>
            <a:r>
              <a:rPr sz="1050" b="0" i="0" u="none" dirty="0" err="1">
                <a:solidFill>
                  <a:srgbClr val="475569"/>
                </a:solidFill>
                <a:latin typeface="Noto Sans KR" panose="020B0200000000000000" pitchFamily="50" charset="-127"/>
              </a:rPr>
              <a:t>인필링</a:t>
            </a:r>
            <a:r>
              <a:rPr sz="1050" b="0" i="0" u="none" dirty="0">
                <a:solidFill>
                  <a:srgbClr val="475569"/>
                </a:solidFill>
                <a:latin typeface="Noto Sans KR" panose="020B0200000000000000" pitchFamily="50" charset="-127"/>
              </a:rPr>
              <a:t>(Infilling)</a:t>
            </a:r>
            <a:r>
              <a:rPr dirty="0"/>
              <a:t>
</a:t>
            </a:r>
            <a:r>
              <a:rPr sz="1050" b="0" i="0" u="none" dirty="0">
                <a:solidFill>
                  <a:srgbClr val="475569"/>
                </a:solidFill>
                <a:latin typeface="Noto Sans KR" panose="020B0200000000000000" pitchFamily="50" charset="-127"/>
              </a:rPr>
              <a:t> • </a:t>
            </a:r>
            <a:r>
              <a:rPr sz="1050" b="0" i="0" u="none" dirty="0" err="1">
                <a:solidFill>
                  <a:srgbClr val="475569"/>
                </a:solidFill>
                <a:latin typeface="Noto Sans KR" panose="020B0200000000000000" pitchFamily="50" charset="-127"/>
              </a:rPr>
              <a:t>완료된</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주간이</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최소</a:t>
            </a:r>
            <a:r>
              <a:rPr sz="1050" b="0" i="0" u="none" dirty="0">
                <a:solidFill>
                  <a:srgbClr val="475569"/>
                </a:solidFill>
                <a:latin typeface="Noto Sans KR" panose="020B0200000000000000" pitchFamily="50" charset="-127"/>
              </a:rPr>
              <a:t> </a:t>
            </a:r>
            <a:r>
              <a:rPr sz="1050" b="1" i="0" u="none" dirty="0">
                <a:solidFill>
                  <a:srgbClr val="475569"/>
                </a:solidFill>
                <a:latin typeface="Noto Sans KR" panose="020B0200000000000000" pitchFamily="50" charset="-127"/>
              </a:rPr>
              <a:t>26주 </a:t>
            </a:r>
            <a:r>
              <a:rPr sz="1050" b="1" i="0" u="none" dirty="0" err="1">
                <a:solidFill>
                  <a:srgbClr val="475569"/>
                </a:solidFill>
                <a:latin typeface="Noto Sans KR" panose="020B0200000000000000" pitchFamily="50" charset="-127"/>
              </a:rPr>
              <a:t>이상</a:t>
            </a:r>
            <a:r>
              <a:rPr sz="1050" b="0" i="0" u="none" dirty="0" err="1">
                <a:solidFill>
                  <a:srgbClr val="475569"/>
                </a:solidFill>
                <a:latin typeface="Noto Sans KR" panose="020B0200000000000000" pitchFamily="50" charset="-127"/>
              </a:rPr>
              <a:t>인</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상품</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선정</a:t>
            </a:r>
            <a:r>
              <a:rPr dirty="0"/>
              <a:t>
</a:t>
            </a:r>
            <a:r>
              <a:rPr sz="1050" b="0" i="0" u="none" dirty="0">
                <a:solidFill>
                  <a:srgbClr val="475569"/>
                </a:solidFill>
                <a:latin typeface="Noto Sans KR" panose="020B0200000000000000" pitchFamily="50" charset="-127"/>
              </a:rPr>
              <a:t> • </a:t>
            </a:r>
            <a:r>
              <a:rPr sz="1050" b="0" i="0" u="none" dirty="0" err="1">
                <a:solidFill>
                  <a:srgbClr val="475569"/>
                </a:solidFill>
                <a:latin typeface="Noto Sans KR" panose="020B0200000000000000" pitchFamily="50" charset="-127"/>
              </a:rPr>
              <a:t>최근</a:t>
            </a:r>
            <a:r>
              <a:rPr sz="1050" b="0" i="0" u="none" dirty="0">
                <a:solidFill>
                  <a:srgbClr val="475569"/>
                </a:solidFill>
                <a:latin typeface="Noto Sans KR" panose="020B0200000000000000" pitchFamily="50" charset="-127"/>
              </a:rPr>
              <a:t> 52주 중 </a:t>
            </a:r>
            <a:r>
              <a:rPr sz="1050" b="0" i="0" u="none" dirty="0" err="1">
                <a:solidFill>
                  <a:srgbClr val="475569"/>
                </a:solidFill>
                <a:latin typeface="Noto Sans KR" panose="020B0200000000000000" pitchFamily="50" charset="-127"/>
              </a:rPr>
              <a:t>주문</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활성화</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비율</a:t>
            </a:r>
            <a:r>
              <a:rPr sz="1050" b="0" i="0" u="none" dirty="0">
                <a:solidFill>
                  <a:srgbClr val="475569"/>
                </a:solidFill>
                <a:latin typeface="Noto Sans KR" panose="020B0200000000000000" pitchFamily="50" charset="-127"/>
              </a:rPr>
              <a:t> </a:t>
            </a:r>
            <a:r>
              <a:rPr sz="1050" b="1" i="0" u="none" dirty="0">
                <a:solidFill>
                  <a:srgbClr val="475569"/>
                </a:solidFill>
                <a:latin typeface="Noto Sans KR" panose="020B0200000000000000" pitchFamily="50" charset="-127"/>
              </a:rPr>
              <a:t>80% </a:t>
            </a:r>
            <a:r>
              <a:rPr sz="1050" b="1" i="0" u="none" dirty="0" err="1">
                <a:solidFill>
                  <a:srgbClr val="475569"/>
                </a:solidFill>
                <a:latin typeface="Noto Sans KR" panose="020B0200000000000000" pitchFamily="50" charset="-127"/>
              </a:rPr>
              <a:t>이상</a:t>
            </a:r>
            <a:r>
              <a:rPr sz="1050" b="0" i="0" u="none" dirty="0" err="1">
                <a:solidFill>
                  <a:srgbClr val="475569"/>
                </a:solidFill>
                <a:latin typeface="Noto Sans KR" panose="020B0200000000000000" pitchFamily="50" charset="-127"/>
              </a:rPr>
              <a:t>만</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학습</a:t>
            </a:r>
            <a:endParaRPr sz="1050" b="0" i="0" u="none" dirty="0">
              <a:solidFill>
                <a:srgbClr val="475569"/>
              </a:solidFill>
              <a:latin typeface="Noto Sans KR" panose="020B0200000000000000" pitchFamily="50" charset="-127"/>
            </a:endParaRPr>
          </a:p>
        </p:txBody>
      </p:sp>
      <p:sp>
        <p:nvSpPr>
          <p:cNvPr id="19" name="TextBox 18"/>
          <p:cNvSpPr txBox="1"/>
          <p:nvPr/>
        </p:nvSpPr>
        <p:spPr>
          <a:xfrm>
            <a:off x="4664124" y="1472505"/>
            <a:ext cx="1423094" cy="150041"/>
          </a:xfrm>
          <a:prstGeom prst="rect">
            <a:avLst/>
          </a:prstGeom>
          <a:noFill/>
        </p:spPr>
        <p:txBody>
          <a:bodyPr wrap="square" lIns="0" tIns="0" rIns="0" bIns="0" anchor="t">
            <a:spAutoFit/>
          </a:bodyPr>
          <a:lstStyle/>
          <a:p>
            <a:pPr algn="l"/>
            <a:r>
              <a:rPr sz="975" b="1" i="0" u="none" dirty="0">
                <a:solidFill>
                  <a:srgbClr val="2563EB"/>
                </a:solidFill>
                <a:latin typeface="Noto Sans KR" panose="020B0200000000000000" pitchFamily="50" charset="-127"/>
              </a:rPr>
              <a:t>2단계: </a:t>
            </a:r>
            <a:r>
              <a:rPr sz="975" b="1" i="0" u="none" dirty="0" err="1">
                <a:solidFill>
                  <a:srgbClr val="2563EB"/>
                </a:solidFill>
                <a:latin typeface="Noto Sans KR" panose="020B0200000000000000" pitchFamily="50" charset="-127"/>
              </a:rPr>
              <a:t>특성</a:t>
            </a:r>
            <a:r>
              <a:rPr sz="975" b="1" i="0" u="none" dirty="0">
                <a:solidFill>
                  <a:srgbClr val="2563EB"/>
                </a:solidFill>
                <a:latin typeface="Noto Sans KR" panose="020B0200000000000000" pitchFamily="50" charset="-127"/>
              </a:rPr>
              <a:t> </a:t>
            </a:r>
            <a:r>
              <a:rPr sz="975" b="1" i="0" u="none" dirty="0" err="1">
                <a:solidFill>
                  <a:srgbClr val="2563EB"/>
                </a:solidFill>
                <a:latin typeface="Noto Sans KR" panose="020B0200000000000000" pitchFamily="50" charset="-127"/>
              </a:rPr>
              <a:t>공학</a:t>
            </a:r>
            <a:r>
              <a:rPr sz="975" b="1" i="0" u="none" dirty="0">
                <a:solidFill>
                  <a:srgbClr val="2563EB"/>
                </a:solidFill>
                <a:latin typeface="Noto Sans KR" panose="020B0200000000000000" pitchFamily="50" charset="-127"/>
              </a:rPr>
              <a:t> &amp; </a:t>
            </a:r>
            <a:r>
              <a:rPr sz="975" b="1" i="0" u="none" dirty="0" err="1">
                <a:solidFill>
                  <a:srgbClr val="2563EB"/>
                </a:solidFill>
                <a:latin typeface="Noto Sans KR" panose="020B0200000000000000" pitchFamily="50" charset="-127"/>
              </a:rPr>
              <a:t>학습</a:t>
            </a:r>
            <a:endParaRPr sz="975" b="1" i="0" u="none" dirty="0">
              <a:solidFill>
                <a:srgbClr val="2563EB"/>
              </a:solidFill>
              <a:latin typeface="Noto Sans KR" panose="020B0200000000000000" pitchFamily="50" charset="-127"/>
            </a:endParaRPr>
          </a:p>
        </p:txBody>
      </p:sp>
      <p:sp>
        <p:nvSpPr>
          <p:cNvPr id="20" name="TextBox 19"/>
          <p:cNvSpPr txBox="1"/>
          <p:nvPr/>
        </p:nvSpPr>
        <p:spPr>
          <a:xfrm>
            <a:off x="4568874" y="1872555"/>
            <a:ext cx="2115964" cy="207749"/>
          </a:xfrm>
          <a:prstGeom prst="rect">
            <a:avLst/>
          </a:prstGeom>
          <a:noFill/>
        </p:spPr>
        <p:txBody>
          <a:bodyPr wrap="none" lIns="0" tIns="0" rIns="0" bIns="0" anchor="t">
            <a:spAutoFit/>
          </a:bodyPr>
          <a:lstStyle/>
          <a:p>
            <a:pPr algn="l"/>
            <a:r>
              <a:rPr sz="1350" b="1" i="0" u="none" dirty="0" err="1">
                <a:solidFill>
                  <a:srgbClr val="0F172A"/>
                </a:solidFill>
                <a:latin typeface="Noto Sans KR" panose="020B0200000000000000" pitchFamily="50" charset="-127"/>
              </a:rPr>
              <a:t>RandomForestRegressor</a:t>
            </a:r>
            <a:endParaRPr sz="1350" b="1" i="0" u="none" dirty="0">
              <a:solidFill>
                <a:srgbClr val="0F172A"/>
              </a:solidFill>
              <a:latin typeface="Noto Sans KR" panose="020B0200000000000000" pitchFamily="50" charset="-127"/>
            </a:endParaRPr>
          </a:p>
        </p:txBody>
      </p:sp>
      <p:sp>
        <p:nvSpPr>
          <p:cNvPr id="21" name="TextBox 20"/>
          <p:cNvSpPr txBox="1"/>
          <p:nvPr/>
        </p:nvSpPr>
        <p:spPr>
          <a:xfrm>
            <a:off x="4568874" y="2186880"/>
            <a:ext cx="3149649" cy="1000125"/>
          </a:xfrm>
          <a:prstGeom prst="rect">
            <a:avLst/>
          </a:prstGeom>
          <a:noFill/>
        </p:spPr>
        <p:txBody>
          <a:bodyPr wrap="square" lIns="0" tIns="0" rIns="0" bIns="0" anchor="t">
            <a:spAutoFit/>
          </a:bodyPr>
          <a:lstStyle/>
          <a:p>
            <a:pPr algn="l">
              <a:lnSpc>
                <a:spcPts val="1575"/>
              </a:lnSpc>
            </a:pPr>
            <a:r>
              <a:rPr sz="1050" b="0" i="0" u="none" dirty="0">
                <a:solidFill>
                  <a:srgbClr val="475569"/>
                </a:solidFill>
                <a:latin typeface="Noto Sans KR" panose="020B0200000000000000" pitchFamily="50" charset="-127"/>
              </a:rPr>
              <a:t>• </a:t>
            </a:r>
            <a:r>
              <a:rPr sz="1050" b="1" i="0" u="none" dirty="0" err="1">
                <a:solidFill>
                  <a:srgbClr val="475569"/>
                </a:solidFill>
                <a:latin typeface="Noto Sans KR" panose="020B0200000000000000" pitchFamily="50" charset="-127"/>
              </a:rPr>
              <a:t>입력</a:t>
            </a:r>
            <a:r>
              <a:rPr sz="1050" b="1" i="0" u="none" dirty="0">
                <a:solidFill>
                  <a:srgbClr val="475569"/>
                </a:solidFill>
                <a:latin typeface="Noto Sans KR" panose="020B0200000000000000" pitchFamily="50" charset="-127"/>
              </a:rPr>
              <a:t> </a:t>
            </a:r>
            <a:r>
              <a:rPr sz="1050" b="1" i="0" u="none" dirty="0" err="1">
                <a:solidFill>
                  <a:srgbClr val="475569"/>
                </a:solidFill>
                <a:latin typeface="Noto Sans KR" panose="020B0200000000000000" pitchFamily="50" charset="-127"/>
              </a:rPr>
              <a:t>피처</a:t>
            </a:r>
            <a:r>
              <a:rPr sz="1050" b="1" i="0" u="none" dirty="0">
                <a:solidFill>
                  <a:srgbClr val="475569"/>
                </a:solidFill>
                <a:latin typeface="Noto Sans KR" panose="020B0200000000000000" pitchFamily="50" charset="-127"/>
              </a:rPr>
              <a:t>:</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직전</a:t>
            </a:r>
            <a:r>
              <a:rPr sz="1050" b="0" i="0" u="none" dirty="0">
                <a:solidFill>
                  <a:srgbClr val="475569"/>
                </a:solidFill>
                <a:latin typeface="Noto Sans KR" panose="020B0200000000000000" pitchFamily="50" charset="-127"/>
              </a:rPr>
              <a:t> 1~4주 </a:t>
            </a:r>
            <a:r>
              <a:rPr sz="1050" b="0" i="0" u="none" dirty="0" err="1">
                <a:solidFill>
                  <a:srgbClr val="475569"/>
                </a:solidFill>
                <a:latin typeface="Noto Sans KR" panose="020B0200000000000000" pitchFamily="50" charset="-127"/>
              </a:rPr>
              <a:t>주문</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수량</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최근</a:t>
            </a:r>
            <a:r>
              <a:rPr sz="1050" b="0" i="0" u="none" dirty="0">
                <a:solidFill>
                  <a:srgbClr val="475569"/>
                </a:solidFill>
                <a:latin typeface="Noto Sans KR" panose="020B0200000000000000" pitchFamily="50" charset="-127"/>
              </a:rPr>
              <a:t> 4주 </a:t>
            </a:r>
            <a:r>
              <a:rPr sz="1050" b="0" i="0" u="none" dirty="0" err="1">
                <a:solidFill>
                  <a:srgbClr val="475569"/>
                </a:solidFill>
                <a:latin typeface="Noto Sans KR" panose="020B0200000000000000" pitchFamily="50" charset="-127"/>
              </a:rPr>
              <a:t>이동평균</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월초</a:t>
            </a:r>
            <a:r>
              <a:rPr sz="1050" b="0" i="0" u="none" dirty="0">
                <a:solidFill>
                  <a:srgbClr val="475569"/>
                </a:solidFill>
                <a:latin typeface="Noto Sans KR" panose="020B0200000000000000" pitchFamily="50" charset="-127"/>
              </a:rPr>
              <a:t> 1~7일 </a:t>
            </a:r>
            <a:r>
              <a:rPr sz="1050" b="0" i="0" u="none" dirty="0" err="1">
                <a:solidFill>
                  <a:srgbClr val="475569"/>
                </a:solidFill>
                <a:latin typeface="Noto Sans KR" panose="020B0200000000000000" pitchFamily="50" charset="-127"/>
              </a:rPr>
              <a:t>포함</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일수</a:t>
            </a:r>
            <a:r>
              <a:rPr dirty="0"/>
              <a:t>
</a:t>
            </a:r>
            <a:r>
              <a:rPr sz="1050" b="0" i="0" u="none" dirty="0">
                <a:solidFill>
                  <a:srgbClr val="475569"/>
                </a:solidFill>
                <a:latin typeface="Noto Sans KR" panose="020B0200000000000000" pitchFamily="50" charset="-127"/>
              </a:rPr>
              <a:t> • </a:t>
            </a:r>
            <a:r>
              <a:rPr sz="1050" b="1" i="0" u="none" dirty="0" err="1">
                <a:solidFill>
                  <a:srgbClr val="475569"/>
                </a:solidFill>
                <a:latin typeface="Noto Sans KR" panose="020B0200000000000000" pitchFamily="50" charset="-127"/>
              </a:rPr>
              <a:t>하이퍼파라미터</a:t>
            </a:r>
            <a:r>
              <a:rPr sz="1050" b="1" i="0" u="none" dirty="0">
                <a:solidFill>
                  <a:srgbClr val="475569"/>
                </a:solidFill>
                <a:latin typeface="Noto Sans KR" panose="020B0200000000000000" pitchFamily="50" charset="-127"/>
              </a:rPr>
              <a:t>:</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n_estimators</a:t>
            </a:r>
            <a:r>
              <a:rPr sz="1050" b="0" i="0" u="none" dirty="0">
                <a:solidFill>
                  <a:srgbClr val="475569"/>
                </a:solidFill>
                <a:latin typeface="Noto Sans KR" panose="020B0200000000000000" pitchFamily="50" charset="-127"/>
              </a:rPr>
              <a:t>=200, </a:t>
            </a:r>
            <a:r>
              <a:rPr sz="1050" b="0" i="0" u="none" dirty="0" err="1">
                <a:solidFill>
                  <a:srgbClr val="475569"/>
                </a:solidFill>
                <a:latin typeface="Noto Sans KR" panose="020B0200000000000000" pitchFamily="50" charset="-127"/>
              </a:rPr>
              <a:t>min_samples_leaf</a:t>
            </a:r>
            <a:r>
              <a:rPr sz="1050" b="0" i="0" u="none" dirty="0">
                <a:solidFill>
                  <a:srgbClr val="475569"/>
                </a:solidFill>
                <a:latin typeface="Noto Sans KR" panose="020B0200000000000000" pitchFamily="50" charset="-127"/>
              </a:rPr>
              <a:t>=2</a:t>
            </a:r>
            <a:r>
              <a:rPr dirty="0"/>
              <a:t>
</a:t>
            </a:r>
            <a:r>
              <a:rPr sz="1050" b="0" i="0" u="none" dirty="0">
                <a:solidFill>
                  <a:srgbClr val="475569"/>
                </a:solidFill>
                <a:latin typeface="Noto Sans KR" panose="020B0200000000000000" pitchFamily="50" charset="-127"/>
              </a:rPr>
              <a:t> • </a:t>
            </a:r>
            <a:r>
              <a:rPr sz="1050" b="1" i="0" u="none" dirty="0" err="1">
                <a:solidFill>
                  <a:srgbClr val="475569"/>
                </a:solidFill>
                <a:latin typeface="Noto Sans KR" panose="020B0200000000000000" pitchFamily="50" charset="-127"/>
              </a:rPr>
              <a:t>예측</a:t>
            </a:r>
            <a:r>
              <a:rPr sz="1050" b="1" i="0" u="none" dirty="0">
                <a:solidFill>
                  <a:srgbClr val="475569"/>
                </a:solidFill>
                <a:latin typeface="Noto Sans KR" panose="020B0200000000000000" pitchFamily="50" charset="-127"/>
              </a:rPr>
              <a:t> </a:t>
            </a:r>
            <a:r>
              <a:rPr sz="1050" b="1" i="0" u="none" dirty="0" err="1">
                <a:solidFill>
                  <a:srgbClr val="475569"/>
                </a:solidFill>
                <a:latin typeface="Noto Sans KR" panose="020B0200000000000000" pitchFamily="50" charset="-127"/>
              </a:rPr>
              <a:t>방식</a:t>
            </a:r>
            <a:r>
              <a:rPr sz="1050" b="1" i="0" u="none" dirty="0">
                <a:solidFill>
                  <a:srgbClr val="475569"/>
                </a:solidFill>
                <a:latin typeface="Noto Sans KR" panose="020B0200000000000000" pitchFamily="50" charset="-127"/>
              </a:rPr>
              <a:t>:</a:t>
            </a:r>
            <a:r>
              <a:rPr sz="1050" b="0" i="0" u="none" dirty="0">
                <a:solidFill>
                  <a:srgbClr val="475569"/>
                </a:solidFill>
                <a:latin typeface="Noto Sans KR" panose="020B0200000000000000" pitchFamily="50" charset="-127"/>
              </a:rPr>
              <a:t> 1주씩 </a:t>
            </a:r>
            <a:r>
              <a:rPr sz="1050" b="0" i="0" u="none" dirty="0" err="1">
                <a:solidFill>
                  <a:srgbClr val="475569"/>
                </a:solidFill>
                <a:latin typeface="Noto Sans KR" panose="020B0200000000000000" pitchFamily="50" charset="-127"/>
              </a:rPr>
              <a:t>재귀적</a:t>
            </a:r>
            <a:r>
              <a:rPr sz="1050" b="0" i="0" u="none" dirty="0">
                <a:solidFill>
                  <a:srgbClr val="475569"/>
                </a:solidFill>
                <a:latin typeface="Noto Sans KR" panose="020B0200000000000000" pitchFamily="50" charset="-127"/>
              </a:rPr>
              <a:t>(Recursive) </a:t>
            </a:r>
            <a:r>
              <a:rPr sz="1050" b="0" i="0" u="none" dirty="0" err="1">
                <a:solidFill>
                  <a:srgbClr val="475569"/>
                </a:solidFill>
                <a:latin typeface="Noto Sans KR" panose="020B0200000000000000" pitchFamily="50" charset="-127"/>
              </a:rPr>
              <a:t>예측</a:t>
            </a:r>
            <a:r>
              <a:rPr sz="1050" b="0" i="0" u="none" dirty="0">
                <a:solidFill>
                  <a:srgbClr val="475569"/>
                </a:solidFill>
                <a:latin typeface="Noto Sans KR" panose="020B0200000000000000" pitchFamily="50" charset="-127"/>
              </a:rPr>
              <a:t> </a:t>
            </a:r>
            <a:r>
              <a:rPr sz="1050" b="0" i="0" u="none" dirty="0" err="1">
                <a:solidFill>
                  <a:srgbClr val="475569"/>
                </a:solidFill>
                <a:latin typeface="Noto Sans KR" panose="020B0200000000000000" pitchFamily="50" charset="-127"/>
              </a:rPr>
              <a:t>적용</a:t>
            </a:r>
            <a:endParaRPr sz="1050" b="0" i="0" u="none" dirty="0">
              <a:solidFill>
                <a:srgbClr val="475569"/>
              </a:solidFill>
              <a:latin typeface="Noto Sans KR" panose="020B0200000000000000" pitchFamily="50" charset="-127"/>
            </a:endParaRPr>
          </a:p>
        </p:txBody>
      </p:sp>
      <p:sp>
        <p:nvSpPr>
          <p:cNvPr id="22" name="TextBox 21"/>
          <p:cNvSpPr txBox="1"/>
          <p:nvPr/>
        </p:nvSpPr>
        <p:spPr>
          <a:xfrm>
            <a:off x="8423374" y="1472505"/>
            <a:ext cx="1388715" cy="150041"/>
          </a:xfrm>
          <a:prstGeom prst="rect">
            <a:avLst/>
          </a:prstGeom>
          <a:noFill/>
        </p:spPr>
        <p:txBody>
          <a:bodyPr wrap="square" lIns="0" tIns="0" rIns="0" bIns="0" anchor="t">
            <a:spAutoFit/>
          </a:bodyPr>
          <a:lstStyle/>
          <a:p>
            <a:pPr algn="l"/>
            <a:r>
              <a:rPr sz="975" b="1" i="0" u="none" dirty="0">
                <a:solidFill>
                  <a:srgbClr val="16A34A"/>
                </a:solidFill>
                <a:latin typeface="Noto Sans KR" panose="020B0200000000000000" pitchFamily="50" charset="-127"/>
              </a:rPr>
              <a:t>3단계: </a:t>
            </a:r>
            <a:r>
              <a:rPr sz="975" b="1" i="0" u="none" dirty="0" err="1">
                <a:solidFill>
                  <a:srgbClr val="16A34A"/>
                </a:solidFill>
                <a:latin typeface="Noto Sans KR" panose="020B0200000000000000" pitchFamily="50" charset="-127"/>
              </a:rPr>
              <a:t>백테스트</a:t>
            </a:r>
            <a:r>
              <a:rPr sz="975" b="1" i="0" u="none" dirty="0">
                <a:solidFill>
                  <a:srgbClr val="16A34A"/>
                </a:solidFill>
                <a:latin typeface="Noto Sans KR" panose="020B0200000000000000" pitchFamily="50" charset="-127"/>
              </a:rPr>
              <a:t> &amp; </a:t>
            </a:r>
            <a:r>
              <a:rPr sz="975" b="1" i="0" u="none" dirty="0" err="1">
                <a:solidFill>
                  <a:srgbClr val="16A34A"/>
                </a:solidFill>
                <a:latin typeface="Noto Sans KR" panose="020B0200000000000000" pitchFamily="50" charset="-127"/>
              </a:rPr>
              <a:t>평가</a:t>
            </a:r>
            <a:endParaRPr sz="975" b="1" i="0" u="none" dirty="0">
              <a:solidFill>
                <a:srgbClr val="16A34A"/>
              </a:solidFill>
              <a:latin typeface="Noto Sans KR" panose="020B0200000000000000" pitchFamily="50" charset="-127"/>
            </a:endParaRPr>
          </a:p>
        </p:txBody>
      </p:sp>
      <p:sp>
        <p:nvSpPr>
          <p:cNvPr id="23" name="TextBox 22"/>
          <p:cNvSpPr txBox="1"/>
          <p:nvPr/>
        </p:nvSpPr>
        <p:spPr>
          <a:xfrm>
            <a:off x="8328124" y="1872555"/>
            <a:ext cx="1535677" cy="207749"/>
          </a:xfrm>
          <a:prstGeom prst="rect">
            <a:avLst/>
          </a:prstGeom>
          <a:noFill/>
        </p:spPr>
        <p:txBody>
          <a:bodyPr wrap="none" lIns="0" tIns="0" rIns="0" bIns="0" anchor="t">
            <a:spAutoFit/>
          </a:bodyPr>
          <a:lstStyle/>
          <a:p>
            <a:pPr algn="l"/>
            <a:r>
              <a:rPr sz="1350" b="1" i="0" u="none" dirty="0">
                <a:solidFill>
                  <a:srgbClr val="1E3A8A"/>
                </a:solidFill>
                <a:latin typeface="Noto Sans KR" panose="020B0200000000000000" pitchFamily="50" charset="-127"/>
              </a:rPr>
              <a:t>WAPE &amp; RMSE </a:t>
            </a:r>
            <a:r>
              <a:rPr sz="1350" b="1" i="0" u="none" dirty="0" err="1">
                <a:solidFill>
                  <a:srgbClr val="1E3A8A"/>
                </a:solidFill>
                <a:latin typeface="Noto Sans KR" panose="020B0200000000000000" pitchFamily="50" charset="-127"/>
              </a:rPr>
              <a:t>검증</a:t>
            </a:r>
            <a:endParaRPr sz="1350" b="1" i="0" u="none" dirty="0">
              <a:solidFill>
                <a:srgbClr val="1E3A8A"/>
              </a:solidFill>
              <a:latin typeface="Noto Sans KR" panose="020B0200000000000000" pitchFamily="50" charset="-127"/>
            </a:endParaRPr>
          </a:p>
        </p:txBody>
      </p:sp>
      <p:sp>
        <p:nvSpPr>
          <p:cNvPr id="24" name="TextBox 23"/>
          <p:cNvSpPr txBox="1"/>
          <p:nvPr/>
        </p:nvSpPr>
        <p:spPr>
          <a:xfrm>
            <a:off x="8328124" y="2215455"/>
            <a:ext cx="3149649" cy="801566"/>
          </a:xfrm>
          <a:prstGeom prst="rect">
            <a:avLst/>
          </a:prstGeom>
          <a:noFill/>
        </p:spPr>
        <p:txBody>
          <a:bodyPr wrap="square" lIns="0" tIns="0" rIns="0" bIns="0" anchor="t">
            <a:spAutoFit/>
          </a:bodyPr>
          <a:lstStyle/>
          <a:p>
            <a:pPr algn="l">
              <a:lnSpc>
                <a:spcPts val="1575"/>
              </a:lnSpc>
            </a:pP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마지막</a:t>
            </a:r>
            <a:r>
              <a:rPr sz="1050" b="0" i="0" u="none" dirty="0">
                <a:solidFill>
                  <a:srgbClr val="1E40AF"/>
                </a:solidFill>
                <a:latin typeface="Noto Sans KR" panose="020B0200000000000000" pitchFamily="50" charset="-127"/>
              </a:rPr>
              <a:t> 8주 </a:t>
            </a:r>
            <a:r>
              <a:rPr sz="1050" b="0" i="0" u="none" dirty="0" err="1">
                <a:solidFill>
                  <a:srgbClr val="1E40AF"/>
                </a:solidFill>
                <a:latin typeface="Noto Sans KR" panose="020B0200000000000000" pitchFamily="50" charset="-127"/>
              </a:rPr>
              <a:t>데이터를</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학습에서</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제외</a:t>
            </a:r>
            <a:r>
              <a:rPr sz="1050" b="0" i="0" u="none" dirty="0">
                <a:solidFill>
                  <a:srgbClr val="1E40AF"/>
                </a:solidFill>
                <a:latin typeface="Noto Sans KR" panose="020B0200000000000000" pitchFamily="50" charset="-127"/>
              </a:rPr>
              <a:t> 후 1주 </a:t>
            </a:r>
            <a:r>
              <a:rPr sz="1050" b="0" i="0" u="none" dirty="0" err="1">
                <a:solidFill>
                  <a:srgbClr val="1E40AF"/>
                </a:solidFill>
                <a:latin typeface="Noto Sans KR" panose="020B0200000000000000" pitchFamily="50" charset="-127"/>
              </a:rPr>
              <a:t>예측</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오차</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백테스트</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수행</a:t>
            </a:r>
            <a:r>
              <a:rPr dirty="0"/>
              <a:t>
</a:t>
            </a:r>
            <a:r>
              <a:rPr sz="1050" b="0" i="0" u="none" dirty="0">
                <a:solidFill>
                  <a:srgbClr val="1E40AF"/>
                </a:solidFill>
                <a:latin typeface="Noto Sans KR" panose="020B0200000000000000" pitchFamily="50" charset="-127"/>
              </a:rPr>
              <a:t> • </a:t>
            </a:r>
            <a:r>
              <a:rPr sz="1050" b="1" i="0" u="none" dirty="0">
                <a:solidFill>
                  <a:srgbClr val="1E40AF"/>
                </a:solidFill>
                <a:latin typeface="Noto Sans KR" panose="020B0200000000000000" pitchFamily="50" charset="-127"/>
              </a:rPr>
              <a:t>WAPE:</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전체</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절대</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오차</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비율</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평가</a:t>
            </a:r>
            <a:r>
              <a:rPr dirty="0"/>
              <a:t>
</a:t>
            </a:r>
            <a:r>
              <a:rPr sz="1050" b="0" i="0" u="none" dirty="0">
                <a:solidFill>
                  <a:srgbClr val="1E40AF"/>
                </a:solidFill>
                <a:latin typeface="Noto Sans KR" panose="020B0200000000000000" pitchFamily="50" charset="-127"/>
              </a:rPr>
              <a:t> • </a:t>
            </a:r>
            <a:r>
              <a:rPr sz="1050" b="1" i="0" u="none" dirty="0">
                <a:solidFill>
                  <a:srgbClr val="1E40AF"/>
                </a:solidFill>
                <a:latin typeface="Noto Sans KR" panose="020B0200000000000000" pitchFamily="50" charset="-127"/>
              </a:rPr>
              <a:t>RMSE:</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발주</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추천</a:t>
            </a:r>
            <a:r>
              <a:rPr sz="1050" b="0" i="0" u="none" dirty="0">
                <a:solidFill>
                  <a:srgbClr val="1E40AF"/>
                </a:solidFill>
                <a:latin typeface="Noto Sans KR" panose="020B0200000000000000" pitchFamily="50" charset="-127"/>
              </a:rPr>
              <a:t> 시 </a:t>
            </a:r>
            <a:r>
              <a:rPr sz="1050" b="0" i="0" u="none" dirty="0" err="1">
                <a:solidFill>
                  <a:srgbClr val="1E40AF"/>
                </a:solidFill>
                <a:latin typeface="Noto Sans KR" panose="020B0200000000000000" pitchFamily="50" charset="-127"/>
              </a:rPr>
              <a:t>안전재고</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변동성</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수치</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산출에</a:t>
            </a:r>
            <a:r>
              <a:rPr sz="1050" b="0" i="0" u="none" dirty="0">
                <a:solidFill>
                  <a:srgbClr val="1E40AF"/>
                </a:solidFill>
                <a:latin typeface="Noto Sans KR" panose="020B0200000000000000" pitchFamily="50" charset="-127"/>
              </a:rPr>
              <a:t> </a:t>
            </a:r>
            <a:r>
              <a:rPr sz="1050" b="0" i="0" u="none" dirty="0" err="1">
                <a:solidFill>
                  <a:srgbClr val="1E40AF"/>
                </a:solidFill>
                <a:latin typeface="Noto Sans KR" panose="020B0200000000000000" pitchFamily="50" charset="-127"/>
              </a:rPr>
              <a:t>직결</a:t>
            </a:r>
            <a:endParaRPr sz="1050" b="0" i="0" u="none" dirty="0">
              <a:solidFill>
                <a:srgbClr val="1E40AF"/>
              </a:solidFill>
              <a:latin typeface="Noto Sans KR" panose="020B0200000000000000" pitchFamily="50"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1500" y="2155477"/>
            <a:ext cx="6076950" cy="3362325"/>
          </a:xfrm>
          <a:prstGeom prst="roundRect">
            <a:avLst>
              <a:gd name="adj" fmla="val 339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953250" y="2369790"/>
            <a:ext cx="4667250" cy="876300"/>
          </a:xfrm>
          <a:prstGeom prst="roundRect">
            <a:avLst>
              <a:gd name="adj" fmla="val 13043"/>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953250" y="3398490"/>
            <a:ext cx="4667250" cy="876300"/>
          </a:xfrm>
          <a:prstGeom prst="roundRect">
            <a:avLst>
              <a:gd name="adj" fmla="val 13043"/>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953250" y="4427190"/>
            <a:ext cx="4667250" cy="876300"/>
          </a:xfrm>
          <a:prstGeom prst="roundRect">
            <a:avLst>
              <a:gd name="adj" fmla="val 13043"/>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9625" y="2746027"/>
            <a:ext cx="5600700" cy="590550"/>
          </a:xfrm>
          <a:prstGeom prst="roundRect">
            <a:avLst>
              <a:gd name="adj" fmla="val 1290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09625" y="3450877"/>
            <a:ext cx="5600700" cy="590550"/>
          </a:xfrm>
          <a:prstGeom prst="roundRect">
            <a:avLst>
              <a:gd name="adj" fmla="val 1290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9625" y="4155727"/>
            <a:ext cx="5600700" cy="590550"/>
          </a:xfrm>
          <a:prstGeom prst="roundRect">
            <a:avLst>
              <a:gd name="adj" fmla="val 1290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9625" y="4860577"/>
            <a:ext cx="5600700" cy="419100"/>
          </a:xfrm>
          <a:prstGeom prst="roundRect">
            <a:avLst>
              <a:gd name="adj" fmla="val 18181"/>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0418117" y="2569815"/>
            <a:ext cx="1002357" cy="247650"/>
          </a:xfrm>
          <a:prstGeom prst="roundRect">
            <a:avLst>
              <a:gd name="adj" fmla="val 23076"/>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452496" y="3598515"/>
            <a:ext cx="967978" cy="247650"/>
          </a:xfrm>
          <a:prstGeom prst="roundRect">
            <a:avLst>
              <a:gd name="adj" fmla="val 23076"/>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0700146" y="4627215"/>
            <a:ext cx="720328" cy="247650"/>
          </a:xfrm>
          <a:prstGeom prst="roundRect">
            <a:avLst>
              <a:gd name="adj" fmla="val 23076"/>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1500" y="381000"/>
            <a:ext cx="1739259"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7. REPLENISHMENT LOGIC</a:t>
            </a:r>
          </a:p>
        </p:txBody>
      </p:sp>
      <p:sp>
        <p:nvSpPr>
          <p:cNvPr id="14" name="TextBox 13"/>
          <p:cNvSpPr txBox="1"/>
          <p:nvPr/>
        </p:nvSpPr>
        <p:spPr>
          <a:xfrm>
            <a:off x="571500" y="590550"/>
            <a:ext cx="3534622"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안전재고</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산출</a:t>
            </a:r>
            <a:r>
              <a:rPr sz="2100" b="1" i="0" u="none" dirty="0">
                <a:solidFill>
                  <a:srgbClr val="0F172A"/>
                </a:solidFill>
                <a:latin typeface="Noto Sans KR" panose="020B0200000000000000" pitchFamily="50" charset="-127"/>
              </a:rPr>
              <a:t> 및 </a:t>
            </a:r>
            <a:r>
              <a:rPr sz="2100" b="1" i="0" u="none" dirty="0" err="1">
                <a:solidFill>
                  <a:srgbClr val="0F172A"/>
                </a:solidFill>
                <a:latin typeface="Noto Sans KR" panose="020B0200000000000000" pitchFamily="50" charset="-127"/>
              </a:rPr>
              <a:t>발주</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추천</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공식</a:t>
            </a:r>
            <a:endParaRPr sz="2100" b="1" i="0" u="none" dirty="0">
              <a:solidFill>
                <a:srgbClr val="0F172A"/>
              </a:solidFill>
              <a:latin typeface="Noto Sans KR" panose="020B0200000000000000" pitchFamily="50" charset="-127"/>
            </a:endParaRPr>
          </a:p>
        </p:txBody>
      </p:sp>
      <p:sp>
        <p:nvSpPr>
          <p:cNvPr id="15" name="TextBox 14"/>
          <p:cNvSpPr txBox="1"/>
          <p:nvPr/>
        </p:nvSpPr>
        <p:spPr>
          <a:xfrm>
            <a:off x="809625" y="2393602"/>
            <a:ext cx="2010166" cy="184666"/>
          </a:xfrm>
          <a:prstGeom prst="rect">
            <a:avLst/>
          </a:prstGeom>
          <a:noFill/>
        </p:spPr>
        <p:txBody>
          <a:bodyPr wrap="none" lIns="0" tIns="0" rIns="0" bIns="0" anchor="t">
            <a:spAutoFit/>
          </a:bodyPr>
          <a:lstStyle/>
          <a:p>
            <a:pPr algn="l"/>
            <a:r>
              <a:rPr sz="1200" b="1" i="0" u="none" dirty="0" err="1">
                <a:solidFill>
                  <a:srgbClr val="0F172A"/>
                </a:solidFill>
                <a:latin typeface="Noto Sans KR" panose="020B0200000000000000" pitchFamily="50" charset="-127"/>
              </a:rPr>
              <a:t>수식</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기반</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지능형</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발주</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산출</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공식</a:t>
            </a:r>
            <a:endParaRPr sz="1200" b="1" i="0" u="none" dirty="0">
              <a:solidFill>
                <a:srgbClr val="0F172A"/>
              </a:solidFill>
              <a:latin typeface="Noto Sans KR" panose="020B0200000000000000" pitchFamily="50" charset="-127"/>
            </a:endParaRPr>
          </a:p>
        </p:txBody>
      </p:sp>
      <p:sp>
        <p:nvSpPr>
          <p:cNvPr id="16" name="TextBox 15"/>
          <p:cNvSpPr txBox="1"/>
          <p:nvPr/>
        </p:nvSpPr>
        <p:spPr>
          <a:xfrm>
            <a:off x="923925" y="2860327"/>
            <a:ext cx="5467350" cy="427040"/>
          </a:xfrm>
          <a:prstGeom prst="rect">
            <a:avLst/>
          </a:prstGeom>
          <a:noFill/>
        </p:spPr>
        <p:txBody>
          <a:bodyPr wrap="square" lIns="0" tIns="0" rIns="0" bIns="0" anchor="t">
            <a:spAutoFit/>
          </a:bodyPr>
          <a:lstStyle/>
          <a:p>
            <a:pPr algn="l"/>
            <a:r>
              <a:rPr sz="975" b="1" i="0" u="none" dirty="0" err="1">
                <a:solidFill>
                  <a:srgbClr val="2563EB"/>
                </a:solidFill>
                <a:latin typeface="Consolas" panose="020B0609020204030204" pitchFamily="49" charset="0"/>
              </a:rPr>
              <a:t>안전재고</a:t>
            </a:r>
            <a:r>
              <a:rPr sz="975" b="1" i="0" u="none" dirty="0">
                <a:solidFill>
                  <a:srgbClr val="2563EB"/>
                </a:solidFill>
                <a:latin typeface="Consolas" panose="020B0609020204030204" pitchFamily="49" charset="0"/>
              </a:rPr>
              <a:t>(Safety Stock)</a:t>
            </a:r>
            <a:r>
              <a:rPr sz="975" b="0" i="0" u="none" dirty="0">
                <a:solidFill>
                  <a:srgbClr val="334155"/>
                </a:solidFill>
                <a:latin typeface="Consolas" panose="020B0609020204030204" pitchFamily="49" charset="0"/>
              </a:rPr>
              <a:t> =</a:t>
            </a:r>
            <a:r>
              <a:rPr dirty="0"/>
              <a:t>
</a:t>
            </a:r>
            <a:r>
              <a:rPr sz="975" b="0" i="0" u="none" dirty="0">
                <a:solidFill>
                  <a:srgbClr val="334155"/>
                </a:solidFill>
                <a:latin typeface="Consolas" panose="020B0609020204030204" pitchFamily="49" charset="0"/>
              </a:rPr>
              <a:t> Z(</a:t>
            </a:r>
            <a:r>
              <a:rPr sz="975" b="0" i="0" u="none" dirty="0" err="1">
                <a:solidFill>
                  <a:srgbClr val="334155"/>
                </a:solidFill>
                <a:latin typeface="Consolas" panose="020B0609020204030204" pitchFamily="49" charset="0"/>
              </a:rPr>
              <a:t>서비스수준</a:t>
            </a:r>
            <a:r>
              <a:rPr sz="975" b="0" i="0" u="none" dirty="0">
                <a:solidFill>
                  <a:srgbClr val="334155"/>
                </a:solidFill>
                <a:latin typeface="Consolas" panose="020B0609020204030204" pitchFamily="49" charset="0"/>
              </a:rPr>
              <a:t>) × </a:t>
            </a:r>
            <a:r>
              <a:rPr sz="975" b="0" i="0" u="none" dirty="0" err="1">
                <a:solidFill>
                  <a:srgbClr val="334155"/>
                </a:solidFill>
                <a:latin typeface="Consolas" panose="020B0609020204030204" pitchFamily="49" charset="0"/>
              </a:rPr>
              <a:t>주간</a:t>
            </a:r>
            <a:r>
              <a:rPr sz="975" b="0" i="0" u="none" dirty="0">
                <a:solidFill>
                  <a:srgbClr val="334155"/>
                </a:solidFill>
                <a:latin typeface="Consolas" panose="020B0609020204030204" pitchFamily="49" charset="0"/>
              </a:rPr>
              <a:t> RMSE × √(</a:t>
            </a:r>
            <a:r>
              <a:rPr sz="975" b="0" i="0" u="none" dirty="0" err="1">
                <a:solidFill>
                  <a:srgbClr val="334155"/>
                </a:solidFill>
                <a:latin typeface="Consolas" panose="020B0609020204030204" pitchFamily="49" charset="0"/>
              </a:rPr>
              <a:t>입고소요일수</a:t>
            </a:r>
            <a:r>
              <a:rPr sz="975" b="0" i="0" u="none" dirty="0">
                <a:solidFill>
                  <a:srgbClr val="334155"/>
                </a:solidFill>
                <a:latin typeface="Consolas" panose="020B0609020204030204" pitchFamily="49" charset="0"/>
              </a:rPr>
              <a:t> / 7)</a:t>
            </a:r>
          </a:p>
        </p:txBody>
      </p:sp>
      <p:sp>
        <p:nvSpPr>
          <p:cNvPr id="17" name="TextBox 16"/>
          <p:cNvSpPr txBox="1"/>
          <p:nvPr/>
        </p:nvSpPr>
        <p:spPr>
          <a:xfrm>
            <a:off x="923925" y="3565177"/>
            <a:ext cx="5467350" cy="427040"/>
          </a:xfrm>
          <a:prstGeom prst="rect">
            <a:avLst/>
          </a:prstGeom>
          <a:noFill/>
        </p:spPr>
        <p:txBody>
          <a:bodyPr wrap="square" lIns="0" tIns="0" rIns="0" bIns="0" anchor="t">
            <a:spAutoFit/>
          </a:bodyPr>
          <a:lstStyle/>
          <a:p>
            <a:pPr algn="l"/>
            <a:r>
              <a:rPr sz="975" b="1" i="0" u="none" dirty="0" err="1">
                <a:solidFill>
                  <a:srgbClr val="2563EB"/>
                </a:solidFill>
                <a:latin typeface="Consolas" panose="020B0609020204030204" pitchFamily="49" charset="0"/>
              </a:rPr>
              <a:t>재주문</a:t>
            </a:r>
            <a:r>
              <a:rPr sz="975" b="1" i="0" u="none" dirty="0">
                <a:solidFill>
                  <a:srgbClr val="2563EB"/>
                </a:solidFill>
                <a:latin typeface="Consolas" panose="020B0609020204030204" pitchFamily="49" charset="0"/>
              </a:rPr>
              <a:t> </a:t>
            </a:r>
            <a:r>
              <a:rPr sz="975" b="1" i="0" u="none" dirty="0" err="1">
                <a:solidFill>
                  <a:srgbClr val="2563EB"/>
                </a:solidFill>
                <a:latin typeface="Consolas" panose="020B0609020204030204" pitchFamily="49" charset="0"/>
              </a:rPr>
              <a:t>수준</a:t>
            </a:r>
            <a:r>
              <a:rPr sz="975" b="1" i="0" u="none" dirty="0">
                <a:solidFill>
                  <a:srgbClr val="2563EB"/>
                </a:solidFill>
                <a:latin typeface="Consolas" panose="020B0609020204030204" pitchFamily="49" charset="0"/>
              </a:rPr>
              <a:t>(Reorder Point)</a:t>
            </a:r>
            <a:r>
              <a:rPr sz="975" b="0" i="0" u="none" dirty="0">
                <a:solidFill>
                  <a:srgbClr val="334155"/>
                </a:solidFill>
                <a:latin typeface="Consolas" panose="020B0609020204030204" pitchFamily="49" charset="0"/>
              </a:rPr>
              <a:t> =</a:t>
            </a:r>
            <a:r>
              <a:rPr dirty="0"/>
              <a:t>
</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입고까지</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예상</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수요량</a:t>
            </a:r>
            <a:r>
              <a:rPr sz="975" b="0" i="0" u="none" dirty="0">
                <a:solidFill>
                  <a:srgbClr val="334155"/>
                </a:solidFill>
                <a:latin typeface="Consolas" panose="020B0609020204030204" pitchFamily="49" charset="0"/>
              </a:rPr>
              <a:t> + </a:t>
            </a:r>
            <a:r>
              <a:rPr sz="975" b="0" i="0" u="none" dirty="0" err="1">
                <a:solidFill>
                  <a:srgbClr val="334155"/>
                </a:solidFill>
                <a:latin typeface="Consolas" panose="020B0609020204030204" pitchFamily="49" charset="0"/>
              </a:rPr>
              <a:t>안전재고</a:t>
            </a:r>
            <a:endParaRPr sz="975" b="0" i="0" u="none" dirty="0">
              <a:solidFill>
                <a:srgbClr val="334155"/>
              </a:solidFill>
              <a:latin typeface="Consolas" panose="020B0609020204030204" pitchFamily="49" charset="0"/>
            </a:endParaRPr>
          </a:p>
        </p:txBody>
      </p:sp>
      <p:sp>
        <p:nvSpPr>
          <p:cNvPr id="18" name="TextBox 17"/>
          <p:cNvSpPr txBox="1"/>
          <p:nvPr/>
        </p:nvSpPr>
        <p:spPr>
          <a:xfrm>
            <a:off x="923925" y="4270027"/>
            <a:ext cx="5467350" cy="427040"/>
          </a:xfrm>
          <a:prstGeom prst="rect">
            <a:avLst/>
          </a:prstGeom>
          <a:noFill/>
        </p:spPr>
        <p:txBody>
          <a:bodyPr wrap="square" lIns="0" tIns="0" rIns="0" bIns="0" anchor="t">
            <a:spAutoFit/>
          </a:bodyPr>
          <a:lstStyle/>
          <a:p>
            <a:pPr algn="l"/>
            <a:r>
              <a:rPr sz="975" b="1" i="0" u="none" dirty="0" err="1">
                <a:solidFill>
                  <a:srgbClr val="2563EB"/>
                </a:solidFill>
                <a:latin typeface="Consolas" panose="020B0609020204030204" pitchFamily="49" charset="0"/>
              </a:rPr>
              <a:t>목표</a:t>
            </a:r>
            <a:r>
              <a:rPr sz="975" b="1" i="0" u="none" dirty="0">
                <a:solidFill>
                  <a:srgbClr val="2563EB"/>
                </a:solidFill>
                <a:latin typeface="Consolas" panose="020B0609020204030204" pitchFamily="49" charset="0"/>
              </a:rPr>
              <a:t> </a:t>
            </a:r>
            <a:r>
              <a:rPr sz="975" b="1" i="0" u="none" dirty="0" err="1">
                <a:solidFill>
                  <a:srgbClr val="2563EB"/>
                </a:solidFill>
                <a:latin typeface="Consolas" panose="020B0609020204030204" pitchFamily="49" charset="0"/>
              </a:rPr>
              <a:t>재고</a:t>
            </a:r>
            <a:r>
              <a:rPr sz="975" b="1" i="0" u="none" dirty="0">
                <a:solidFill>
                  <a:srgbClr val="2563EB"/>
                </a:solidFill>
                <a:latin typeface="Consolas" panose="020B0609020204030204" pitchFamily="49" charset="0"/>
              </a:rPr>
              <a:t>(Target Level)</a:t>
            </a:r>
            <a:r>
              <a:rPr sz="975" b="0" i="0" u="none" dirty="0">
                <a:solidFill>
                  <a:srgbClr val="334155"/>
                </a:solidFill>
                <a:latin typeface="Consolas" panose="020B0609020204030204" pitchFamily="49" charset="0"/>
              </a:rPr>
              <a:t> =</a:t>
            </a:r>
            <a:r>
              <a:rPr dirty="0"/>
              <a:t>
</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입고소요</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기간</a:t>
            </a:r>
            <a:r>
              <a:rPr sz="975" b="0" i="0" u="none" dirty="0">
                <a:solidFill>
                  <a:srgbClr val="334155"/>
                </a:solidFill>
                <a:latin typeface="Consolas" panose="020B0609020204030204" pitchFamily="49" charset="0"/>
              </a:rPr>
              <a:t> + </a:t>
            </a:r>
            <a:r>
              <a:rPr sz="975" b="0" i="0" u="none" dirty="0" err="1">
                <a:solidFill>
                  <a:srgbClr val="334155"/>
                </a:solidFill>
                <a:latin typeface="Consolas" panose="020B0609020204030204" pitchFamily="49" charset="0"/>
              </a:rPr>
              <a:t>추가</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확보</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기간</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예상</a:t>
            </a:r>
            <a:r>
              <a:rPr sz="975" b="0" i="0" u="none" dirty="0">
                <a:solidFill>
                  <a:srgbClr val="334155"/>
                </a:solidFill>
                <a:latin typeface="Consolas" panose="020B0609020204030204" pitchFamily="49" charset="0"/>
              </a:rPr>
              <a:t> </a:t>
            </a:r>
            <a:r>
              <a:rPr sz="975" b="0" i="0" u="none" dirty="0" err="1">
                <a:solidFill>
                  <a:srgbClr val="334155"/>
                </a:solidFill>
                <a:latin typeface="Consolas" panose="020B0609020204030204" pitchFamily="49" charset="0"/>
              </a:rPr>
              <a:t>수요</a:t>
            </a:r>
            <a:r>
              <a:rPr sz="975" b="0" i="0" u="none" dirty="0">
                <a:solidFill>
                  <a:srgbClr val="334155"/>
                </a:solidFill>
                <a:latin typeface="Consolas" panose="020B0609020204030204" pitchFamily="49" charset="0"/>
              </a:rPr>
              <a:t> + </a:t>
            </a:r>
            <a:r>
              <a:rPr sz="975" b="0" i="0" u="none" dirty="0" err="1">
                <a:solidFill>
                  <a:srgbClr val="334155"/>
                </a:solidFill>
                <a:latin typeface="Consolas" panose="020B0609020204030204" pitchFamily="49" charset="0"/>
              </a:rPr>
              <a:t>안전재고</a:t>
            </a:r>
            <a:endParaRPr sz="975" b="0" i="0" u="none" dirty="0">
              <a:solidFill>
                <a:srgbClr val="334155"/>
              </a:solidFill>
              <a:latin typeface="Consolas" panose="020B0609020204030204" pitchFamily="49" charset="0"/>
            </a:endParaRPr>
          </a:p>
        </p:txBody>
      </p:sp>
      <p:sp>
        <p:nvSpPr>
          <p:cNvPr id="19" name="TextBox 18"/>
          <p:cNvSpPr txBox="1"/>
          <p:nvPr/>
        </p:nvSpPr>
        <p:spPr>
          <a:xfrm>
            <a:off x="923925" y="4974877"/>
            <a:ext cx="5467350" cy="150041"/>
          </a:xfrm>
          <a:prstGeom prst="rect">
            <a:avLst/>
          </a:prstGeom>
          <a:noFill/>
        </p:spPr>
        <p:txBody>
          <a:bodyPr wrap="square" lIns="0" tIns="0" rIns="0" bIns="0" anchor="t">
            <a:spAutoFit/>
          </a:bodyPr>
          <a:lstStyle/>
          <a:p>
            <a:pPr algn="l"/>
            <a:r>
              <a:rPr sz="975" b="1" i="0" u="none" dirty="0" err="1">
                <a:solidFill>
                  <a:srgbClr val="1E40AF"/>
                </a:solidFill>
                <a:latin typeface="Consolas" panose="020B0609020204030204" pitchFamily="49" charset="0"/>
              </a:rPr>
              <a:t>추천</a:t>
            </a:r>
            <a:r>
              <a:rPr sz="975" b="1" i="0" u="none" dirty="0">
                <a:solidFill>
                  <a:srgbClr val="1E40AF"/>
                </a:solidFill>
                <a:latin typeface="Consolas" panose="020B0609020204030204" pitchFamily="49" charset="0"/>
              </a:rPr>
              <a:t> </a:t>
            </a:r>
            <a:r>
              <a:rPr sz="975" b="1" i="0" u="none" dirty="0" err="1">
                <a:solidFill>
                  <a:srgbClr val="1E40AF"/>
                </a:solidFill>
                <a:latin typeface="Consolas" panose="020B0609020204030204" pitchFamily="49" charset="0"/>
              </a:rPr>
              <a:t>발주량</a:t>
            </a:r>
            <a:r>
              <a:rPr sz="975" b="0" i="0" u="none" dirty="0">
                <a:solidFill>
                  <a:srgbClr val="1E40AF"/>
                </a:solidFill>
                <a:latin typeface="Consolas" panose="020B0609020204030204" pitchFamily="49" charset="0"/>
              </a:rPr>
              <a:t> = max(0, Ceil(</a:t>
            </a:r>
            <a:r>
              <a:rPr sz="975" b="0" i="0" u="none" dirty="0" err="1">
                <a:solidFill>
                  <a:srgbClr val="1E40AF"/>
                </a:solidFill>
                <a:latin typeface="Consolas" panose="020B0609020204030204" pitchFamily="49" charset="0"/>
              </a:rPr>
              <a:t>목표</a:t>
            </a:r>
            <a:r>
              <a:rPr sz="975" b="0" i="0" u="none" dirty="0">
                <a:solidFill>
                  <a:srgbClr val="1E40AF"/>
                </a:solidFill>
                <a:latin typeface="Consolas" panose="020B0609020204030204" pitchFamily="49" charset="0"/>
              </a:rPr>
              <a:t> </a:t>
            </a:r>
            <a:r>
              <a:rPr sz="975" b="0" i="0" u="none" dirty="0" err="1">
                <a:solidFill>
                  <a:srgbClr val="1E40AF"/>
                </a:solidFill>
                <a:latin typeface="Consolas" panose="020B0609020204030204" pitchFamily="49" charset="0"/>
              </a:rPr>
              <a:t>재고</a:t>
            </a:r>
            <a:r>
              <a:rPr sz="975" b="0" i="0" u="none" dirty="0">
                <a:solidFill>
                  <a:srgbClr val="1E40AF"/>
                </a:solidFill>
                <a:latin typeface="Consolas" panose="020B0609020204030204" pitchFamily="49" charset="0"/>
              </a:rPr>
              <a:t> - </a:t>
            </a:r>
            <a:r>
              <a:rPr sz="975" b="0" i="0" u="none" dirty="0" err="1">
                <a:solidFill>
                  <a:srgbClr val="1E40AF"/>
                </a:solidFill>
                <a:latin typeface="Consolas" panose="020B0609020204030204" pitchFamily="49" charset="0"/>
              </a:rPr>
              <a:t>현재</a:t>
            </a:r>
            <a:r>
              <a:rPr sz="975" b="0" i="0" u="none" dirty="0">
                <a:solidFill>
                  <a:srgbClr val="1E40AF"/>
                </a:solidFill>
                <a:latin typeface="Consolas" panose="020B0609020204030204" pitchFamily="49" charset="0"/>
              </a:rPr>
              <a:t> </a:t>
            </a:r>
            <a:r>
              <a:rPr sz="975" b="0" i="0" u="none" dirty="0" err="1">
                <a:solidFill>
                  <a:srgbClr val="1E40AF"/>
                </a:solidFill>
                <a:latin typeface="Consolas" panose="020B0609020204030204" pitchFamily="49" charset="0"/>
              </a:rPr>
              <a:t>재고</a:t>
            </a:r>
            <a:r>
              <a:rPr sz="975" b="0" i="0" u="none" dirty="0">
                <a:solidFill>
                  <a:srgbClr val="1E40AF"/>
                </a:solidFill>
                <a:latin typeface="Consolas" panose="020B0609020204030204" pitchFamily="49" charset="0"/>
              </a:rPr>
              <a:t>))</a:t>
            </a:r>
          </a:p>
        </p:txBody>
      </p:sp>
      <p:sp>
        <p:nvSpPr>
          <p:cNvPr id="20" name="TextBox 19"/>
          <p:cNvSpPr txBox="1"/>
          <p:nvPr/>
        </p:nvSpPr>
        <p:spPr>
          <a:xfrm>
            <a:off x="7153275" y="2874615"/>
            <a:ext cx="3278141" cy="161583"/>
          </a:xfrm>
          <a:prstGeom prst="rect">
            <a:avLst/>
          </a:prstGeom>
          <a:noFill/>
        </p:spPr>
        <p:txBody>
          <a:bodyPr wrap="none" lIns="0" tIns="0" rIns="0" bIns="0" anchor="t">
            <a:spAutoFit/>
          </a:bodyPr>
          <a:lstStyle/>
          <a:p>
            <a:pPr algn="l"/>
            <a:r>
              <a:rPr sz="1050" b="0" i="0" u="none" dirty="0" err="1">
                <a:solidFill>
                  <a:srgbClr val="991B1B"/>
                </a:solidFill>
                <a:latin typeface="Noto Sans KR" panose="020B0200000000000000" pitchFamily="50" charset="-127"/>
              </a:rPr>
              <a:t>현재</a:t>
            </a:r>
            <a:r>
              <a:rPr sz="1050" b="0" i="0" u="none" dirty="0">
                <a:solidFill>
                  <a:srgbClr val="991B1B"/>
                </a:solidFill>
                <a:latin typeface="Noto Sans KR" panose="020B0200000000000000" pitchFamily="50" charset="-127"/>
              </a:rPr>
              <a:t> </a:t>
            </a:r>
            <a:r>
              <a:rPr sz="1050" b="0" i="0" u="none" dirty="0" err="1">
                <a:solidFill>
                  <a:srgbClr val="991B1B"/>
                </a:solidFill>
                <a:latin typeface="Noto Sans KR" panose="020B0200000000000000" pitchFamily="50" charset="-127"/>
              </a:rPr>
              <a:t>재고</a:t>
            </a:r>
            <a:r>
              <a:rPr sz="1050" b="0" i="0" u="none" dirty="0">
                <a:solidFill>
                  <a:srgbClr val="991B1B"/>
                </a:solidFill>
                <a:latin typeface="Noto Sans KR" panose="020B0200000000000000" pitchFamily="50" charset="-127"/>
              </a:rPr>
              <a:t> &lt; </a:t>
            </a:r>
            <a:r>
              <a:rPr sz="1050" b="0" i="0" u="none" dirty="0" err="1">
                <a:solidFill>
                  <a:srgbClr val="991B1B"/>
                </a:solidFill>
                <a:latin typeface="Noto Sans KR" panose="020B0200000000000000" pitchFamily="50" charset="-127"/>
              </a:rPr>
              <a:t>입고까지의</a:t>
            </a:r>
            <a:r>
              <a:rPr sz="1050" b="0" i="0" u="none" dirty="0">
                <a:solidFill>
                  <a:srgbClr val="991B1B"/>
                </a:solidFill>
                <a:latin typeface="Noto Sans KR" panose="020B0200000000000000" pitchFamily="50" charset="-127"/>
              </a:rPr>
              <a:t> </a:t>
            </a:r>
            <a:r>
              <a:rPr sz="1050" b="0" i="0" u="none" dirty="0" err="1">
                <a:solidFill>
                  <a:srgbClr val="991B1B"/>
                </a:solidFill>
                <a:latin typeface="Noto Sans KR" panose="020B0200000000000000" pitchFamily="50" charset="-127"/>
              </a:rPr>
              <a:t>예상</a:t>
            </a:r>
            <a:r>
              <a:rPr sz="1050" b="0" i="0" u="none" dirty="0">
                <a:solidFill>
                  <a:srgbClr val="991B1B"/>
                </a:solidFill>
                <a:latin typeface="Noto Sans KR" panose="020B0200000000000000" pitchFamily="50" charset="-127"/>
              </a:rPr>
              <a:t> </a:t>
            </a:r>
            <a:r>
              <a:rPr sz="1050" b="0" i="0" u="none" dirty="0" err="1">
                <a:solidFill>
                  <a:srgbClr val="991B1B"/>
                </a:solidFill>
                <a:latin typeface="Noto Sans KR" panose="020B0200000000000000" pitchFamily="50" charset="-127"/>
              </a:rPr>
              <a:t>수요량</a:t>
            </a:r>
            <a:r>
              <a:rPr sz="1050" b="0" i="0" u="none" dirty="0">
                <a:solidFill>
                  <a:srgbClr val="991B1B"/>
                </a:solidFill>
                <a:latin typeface="Noto Sans KR" panose="020B0200000000000000" pitchFamily="50" charset="-127"/>
              </a:rPr>
              <a:t> (</a:t>
            </a:r>
            <a:r>
              <a:rPr sz="1050" b="0" i="0" u="none" dirty="0" err="1">
                <a:solidFill>
                  <a:srgbClr val="991B1B"/>
                </a:solidFill>
                <a:latin typeface="Noto Sans KR" panose="020B0200000000000000" pitchFamily="50" charset="-127"/>
              </a:rPr>
              <a:t>리드타임</a:t>
            </a:r>
            <a:r>
              <a:rPr sz="1050" b="0" i="0" u="none" dirty="0">
                <a:solidFill>
                  <a:srgbClr val="991B1B"/>
                </a:solidFill>
                <a:latin typeface="Noto Sans KR" panose="020B0200000000000000" pitchFamily="50" charset="-127"/>
              </a:rPr>
              <a:t> 내 </a:t>
            </a:r>
            <a:r>
              <a:rPr sz="1050" b="0" i="0" u="none" dirty="0" err="1">
                <a:solidFill>
                  <a:srgbClr val="991B1B"/>
                </a:solidFill>
                <a:latin typeface="Noto Sans KR" panose="020B0200000000000000" pitchFamily="50" charset="-127"/>
              </a:rPr>
              <a:t>품절</a:t>
            </a:r>
            <a:r>
              <a:rPr sz="1050" b="0" i="0" u="none" dirty="0">
                <a:solidFill>
                  <a:srgbClr val="991B1B"/>
                </a:solidFill>
                <a:latin typeface="Noto Sans KR" panose="020B0200000000000000" pitchFamily="50" charset="-127"/>
              </a:rPr>
              <a:t> </a:t>
            </a:r>
            <a:r>
              <a:rPr sz="1050" b="0" i="0" u="none" dirty="0" err="1">
                <a:solidFill>
                  <a:srgbClr val="991B1B"/>
                </a:solidFill>
                <a:latin typeface="Noto Sans KR" panose="020B0200000000000000" pitchFamily="50" charset="-127"/>
              </a:rPr>
              <a:t>확정</a:t>
            </a:r>
            <a:r>
              <a:rPr sz="1050" b="0" i="0" u="none" dirty="0">
                <a:solidFill>
                  <a:srgbClr val="991B1B"/>
                </a:solidFill>
                <a:latin typeface="Noto Sans KR" panose="020B0200000000000000" pitchFamily="50" charset="-127"/>
              </a:rPr>
              <a:t>)</a:t>
            </a:r>
          </a:p>
        </p:txBody>
      </p:sp>
      <p:sp>
        <p:nvSpPr>
          <p:cNvPr id="21" name="TextBox 20"/>
          <p:cNvSpPr txBox="1"/>
          <p:nvPr/>
        </p:nvSpPr>
        <p:spPr>
          <a:xfrm>
            <a:off x="7153275" y="3903315"/>
            <a:ext cx="2476640" cy="161583"/>
          </a:xfrm>
          <a:prstGeom prst="rect">
            <a:avLst/>
          </a:prstGeom>
          <a:noFill/>
        </p:spPr>
        <p:txBody>
          <a:bodyPr wrap="none" lIns="0" tIns="0" rIns="0" bIns="0" anchor="t">
            <a:spAutoFit/>
          </a:bodyPr>
          <a:lstStyle/>
          <a:p>
            <a:pPr algn="l"/>
            <a:r>
              <a:rPr sz="1050" b="0" i="0" u="none" dirty="0" err="1">
                <a:solidFill>
                  <a:srgbClr val="92400E"/>
                </a:solidFill>
                <a:latin typeface="Noto Sans KR" panose="020B0200000000000000" pitchFamily="50" charset="-127"/>
              </a:rPr>
              <a:t>현재</a:t>
            </a:r>
            <a:r>
              <a:rPr sz="1050" b="0" i="0" u="none" dirty="0">
                <a:solidFill>
                  <a:srgbClr val="92400E"/>
                </a:solidFill>
                <a:latin typeface="Noto Sans KR" panose="020B0200000000000000" pitchFamily="50" charset="-127"/>
              </a:rPr>
              <a:t> </a:t>
            </a:r>
            <a:r>
              <a:rPr sz="1050" b="0" i="0" u="none" dirty="0" err="1">
                <a:solidFill>
                  <a:srgbClr val="92400E"/>
                </a:solidFill>
                <a:latin typeface="Noto Sans KR" panose="020B0200000000000000" pitchFamily="50" charset="-127"/>
              </a:rPr>
              <a:t>재고</a:t>
            </a:r>
            <a:r>
              <a:rPr sz="1050" b="0" i="0" u="none" dirty="0">
                <a:solidFill>
                  <a:srgbClr val="92400E"/>
                </a:solidFill>
                <a:latin typeface="Noto Sans KR" panose="020B0200000000000000" pitchFamily="50" charset="-127"/>
              </a:rPr>
              <a:t> &lt; </a:t>
            </a:r>
            <a:r>
              <a:rPr sz="1050" b="0" i="0" u="none" dirty="0" err="1">
                <a:solidFill>
                  <a:srgbClr val="92400E"/>
                </a:solidFill>
                <a:latin typeface="Noto Sans KR" panose="020B0200000000000000" pitchFamily="50" charset="-127"/>
              </a:rPr>
              <a:t>재주문</a:t>
            </a:r>
            <a:r>
              <a:rPr sz="1050" b="0" i="0" u="none" dirty="0">
                <a:solidFill>
                  <a:srgbClr val="92400E"/>
                </a:solidFill>
                <a:latin typeface="Noto Sans KR" panose="020B0200000000000000" pitchFamily="50" charset="-127"/>
              </a:rPr>
              <a:t> </a:t>
            </a:r>
            <a:r>
              <a:rPr sz="1050" b="0" i="0" u="none" dirty="0" err="1">
                <a:solidFill>
                  <a:srgbClr val="92400E"/>
                </a:solidFill>
                <a:latin typeface="Noto Sans KR" panose="020B0200000000000000" pitchFamily="50" charset="-127"/>
              </a:rPr>
              <a:t>수준</a:t>
            </a:r>
            <a:r>
              <a:rPr sz="1050" b="0" i="0" u="none" dirty="0">
                <a:solidFill>
                  <a:srgbClr val="92400E"/>
                </a:solidFill>
                <a:latin typeface="Noto Sans KR" panose="020B0200000000000000" pitchFamily="50" charset="-127"/>
              </a:rPr>
              <a:t> (</a:t>
            </a:r>
            <a:r>
              <a:rPr sz="1050" b="0" i="0" u="none" dirty="0" err="1">
                <a:solidFill>
                  <a:srgbClr val="92400E"/>
                </a:solidFill>
                <a:latin typeface="Noto Sans KR" panose="020B0200000000000000" pitchFamily="50" charset="-127"/>
              </a:rPr>
              <a:t>안전재고</a:t>
            </a:r>
            <a:r>
              <a:rPr sz="1050" b="0" i="0" u="none" dirty="0">
                <a:solidFill>
                  <a:srgbClr val="92400E"/>
                </a:solidFill>
                <a:latin typeface="Noto Sans KR" panose="020B0200000000000000" pitchFamily="50" charset="-127"/>
              </a:rPr>
              <a:t> </a:t>
            </a:r>
            <a:r>
              <a:rPr sz="1050" b="0" i="0" u="none" dirty="0" err="1">
                <a:solidFill>
                  <a:srgbClr val="92400E"/>
                </a:solidFill>
                <a:latin typeface="Noto Sans KR" panose="020B0200000000000000" pitchFamily="50" charset="-127"/>
              </a:rPr>
              <a:t>침범</a:t>
            </a:r>
            <a:r>
              <a:rPr sz="1050" b="0" i="0" u="none" dirty="0">
                <a:solidFill>
                  <a:srgbClr val="92400E"/>
                </a:solidFill>
                <a:latin typeface="Noto Sans KR" panose="020B0200000000000000" pitchFamily="50" charset="-127"/>
              </a:rPr>
              <a:t> </a:t>
            </a:r>
            <a:r>
              <a:rPr sz="1050" b="0" i="0" u="none" dirty="0" err="1">
                <a:solidFill>
                  <a:srgbClr val="92400E"/>
                </a:solidFill>
                <a:latin typeface="Noto Sans KR" panose="020B0200000000000000" pitchFamily="50" charset="-127"/>
              </a:rPr>
              <a:t>위험</a:t>
            </a:r>
            <a:r>
              <a:rPr sz="1050" b="0" i="0" u="none" dirty="0">
                <a:solidFill>
                  <a:srgbClr val="92400E"/>
                </a:solidFill>
                <a:latin typeface="Noto Sans KR" panose="020B0200000000000000" pitchFamily="50" charset="-127"/>
              </a:rPr>
              <a:t>)</a:t>
            </a:r>
          </a:p>
        </p:txBody>
      </p:sp>
      <p:sp>
        <p:nvSpPr>
          <p:cNvPr id="22" name="TextBox 21"/>
          <p:cNvSpPr txBox="1"/>
          <p:nvPr/>
        </p:nvSpPr>
        <p:spPr>
          <a:xfrm>
            <a:off x="7153275" y="4932015"/>
            <a:ext cx="2681824" cy="161583"/>
          </a:xfrm>
          <a:prstGeom prst="rect">
            <a:avLst/>
          </a:prstGeom>
          <a:noFill/>
        </p:spPr>
        <p:txBody>
          <a:bodyPr wrap="none" lIns="0" tIns="0" rIns="0" bIns="0" anchor="t">
            <a:spAutoFit/>
          </a:bodyPr>
          <a:lstStyle/>
          <a:p>
            <a:pPr algn="l"/>
            <a:r>
              <a:rPr sz="1050" b="0" i="0" u="none" dirty="0" err="1">
                <a:solidFill>
                  <a:srgbClr val="166534"/>
                </a:solidFill>
                <a:latin typeface="Noto Sans KR" panose="020B0200000000000000" pitchFamily="50" charset="-127"/>
              </a:rPr>
              <a:t>현재</a:t>
            </a:r>
            <a:r>
              <a:rPr sz="1050" b="0" i="0" u="none" dirty="0">
                <a:solidFill>
                  <a:srgbClr val="166534"/>
                </a:solidFill>
                <a:latin typeface="Noto Sans KR" panose="020B0200000000000000" pitchFamily="50" charset="-127"/>
              </a:rPr>
              <a:t> </a:t>
            </a:r>
            <a:r>
              <a:rPr sz="1050" b="0" i="0" u="none" dirty="0" err="1">
                <a:solidFill>
                  <a:srgbClr val="166534"/>
                </a:solidFill>
                <a:latin typeface="Noto Sans KR" panose="020B0200000000000000" pitchFamily="50" charset="-127"/>
              </a:rPr>
              <a:t>재고가</a:t>
            </a:r>
            <a:r>
              <a:rPr sz="1050" b="0" i="0" u="none" dirty="0">
                <a:solidFill>
                  <a:srgbClr val="166534"/>
                </a:solidFill>
                <a:latin typeface="Noto Sans KR" panose="020B0200000000000000" pitchFamily="50" charset="-127"/>
              </a:rPr>
              <a:t> </a:t>
            </a:r>
            <a:r>
              <a:rPr sz="1050" b="0" i="0" u="none" dirty="0" err="1">
                <a:solidFill>
                  <a:srgbClr val="166534"/>
                </a:solidFill>
                <a:latin typeface="Noto Sans KR" panose="020B0200000000000000" pitchFamily="50" charset="-127"/>
              </a:rPr>
              <a:t>안정적인</a:t>
            </a:r>
            <a:r>
              <a:rPr sz="1050" b="0" i="0" u="none" dirty="0">
                <a:solidFill>
                  <a:srgbClr val="166534"/>
                </a:solidFill>
                <a:latin typeface="Noto Sans KR" panose="020B0200000000000000" pitchFamily="50" charset="-127"/>
              </a:rPr>
              <a:t> </a:t>
            </a:r>
            <a:r>
              <a:rPr sz="1050" b="0" i="0" u="none" dirty="0" err="1">
                <a:solidFill>
                  <a:srgbClr val="166534"/>
                </a:solidFill>
                <a:latin typeface="Noto Sans KR" panose="020B0200000000000000" pitchFamily="50" charset="-127"/>
              </a:rPr>
              <a:t>안전재고</a:t>
            </a:r>
            <a:r>
              <a:rPr sz="1050" b="0" i="0" u="none" dirty="0">
                <a:solidFill>
                  <a:srgbClr val="166534"/>
                </a:solidFill>
                <a:latin typeface="Noto Sans KR" panose="020B0200000000000000" pitchFamily="50" charset="-127"/>
              </a:rPr>
              <a:t> </a:t>
            </a:r>
            <a:r>
              <a:rPr sz="1050" b="0" i="0" u="none" dirty="0" err="1">
                <a:solidFill>
                  <a:srgbClr val="166534"/>
                </a:solidFill>
                <a:latin typeface="Noto Sans KR" panose="020B0200000000000000" pitchFamily="50" charset="-127"/>
              </a:rPr>
              <a:t>수준</a:t>
            </a:r>
            <a:r>
              <a:rPr sz="1050" b="0" i="0" u="none" dirty="0">
                <a:solidFill>
                  <a:srgbClr val="166534"/>
                </a:solidFill>
                <a:latin typeface="Noto Sans KR" panose="020B0200000000000000" pitchFamily="50" charset="-127"/>
              </a:rPr>
              <a:t> </a:t>
            </a:r>
            <a:r>
              <a:rPr sz="1050" b="0" i="0" u="none" dirty="0" err="1">
                <a:solidFill>
                  <a:srgbClr val="166534"/>
                </a:solidFill>
                <a:latin typeface="Noto Sans KR" panose="020B0200000000000000" pitchFamily="50" charset="-127"/>
              </a:rPr>
              <a:t>이상</a:t>
            </a:r>
            <a:r>
              <a:rPr sz="1050" b="0" i="0" u="none" dirty="0">
                <a:solidFill>
                  <a:srgbClr val="166534"/>
                </a:solidFill>
                <a:latin typeface="Noto Sans KR" panose="020B0200000000000000" pitchFamily="50" charset="-127"/>
              </a:rPr>
              <a:t> </a:t>
            </a:r>
            <a:r>
              <a:rPr sz="1050" b="0" i="0" u="none" dirty="0" err="1">
                <a:solidFill>
                  <a:srgbClr val="166534"/>
                </a:solidFill>
                <a:latin typeface="Noto Sans KR" panose="020B0200000000000000" pitchFamily="50" charset="-127"/>
              </a:rPr>
              <a:t>유지</a:t>
            </a:r>
            <a:r>
              <a:rPr sz="1050" b="0" i="0" u="none" dirty="0">
                <a:solidFill>
                  <a:srgbClr val="166534"/>
                </a:solidFill>
                <a:latin typeface="Noto Sans KR" panose="020B0200000000000000" pitchFamily="50" charset="-127"/>
              </a:rPr>
              <a:t> 중</a:t>
            </a:r>
          </a:p>
        </p:txBody>
      </p:sp>
      <p:sp>
        <p:nvSpPr>
          <p:cNvPr id="23" name="TextBox 22"/>
          <p:cNvSpPr txBox="1"/>
          <p:nvPr/>
        </p:nvSpPr>
        <p:spPr>
          <a:xfrm>
            <a:off x="7153275" y="2593627"/>
            <a:ext cx="1069203" cy="184666"/>
          </a:xfrm>
          <a:prstGeom prst="rect">
            <a:avLst/>
          </a:prstGeom>
          <a:noFill/>
        </p:spPr>
        <p:txBody>
          <a:bodyPr wrap="none" lIns="0" tIns="0" rIns="0" bIns="0" anchor="t">
            <a:spAutoFit/>
          </a:bodyPr>
          <a:lstStyle/>
          <a:p>
            <a:pPr algn="l"/>
            <a:r>
              <a:rPr sz="1200" b="1" i="0" u="none" dirty="0">
                <a:solidFill>
                  <a:srgbClr val="DC2626"/>
                </a:solidFill>
                <a:latin typeface="Noto Sans KR" panose="020B0200000000000000" pitchFamily="50" charset="-127"/>
              </a:rPr>
              <a:t>URGENT (</a:t>
            </a:r>
            <a:r>
              <a:rPr sz="1200" b="1" i="0" u="none" dirty="0" err="1">
                <a:solidFill>
                  <a:srgbClr val="DC2626"/>
                </a:solidFill>
                <a:latin typeface="Noto Sans KR" panose="020B0200000000000000" pitchFamily="50" charset="-127"/>
              </a:rPr>
              <a:t>긴급</a:t>
            </a:r>
            <a:r>
              <a:rPr sz="1200" b="1" i="0" u="none" dirty="0">
                <a:solidFill>
                  <a:srgbClr val="DC2626"/>
                </a:solidFill>
                <a:latin typeface="Noto Sans KR" panose="020B0200000000000000" pitchFamily="50" charset="-127"/>
              </a:rPr>
              <a:t>)</a:t>
            </a:r>
          </a:p>
        </p:txBody>
      </p:sp>
      <p:sp>
        <p:nvSpPr>
          <p:cNvPr id="24" name="TextBox 23"/>
          <p:cNvSpPr txBox="1"/>
          <p:nvPr/>
        </p:nvSpPr>
        <p:spPr>
          <a:xfrm>
            <a:off x="10513367" y="2607915"/>
            <a:ext cx="907107" cy="150041"/>
          </a:xfrm>
          <a:prstGeom prst="rect">
            <a:avLst/>
          </a:prstGeom>
          <a:noFill/>
        </p:spPr>
        <p:txBody>
          <a:bodyPr wrap="square" lIns="0" tIns="0" rIns="0" bIns="0" anchor="t">
            <a:spAutoFit/>
          </a:bodyPr>
          <a:lstStyle/>
          <a:p>
            <a:pPr algn="l"/>
            <a:r>
              <a:rPr sz="975" b="1" i="0" u="none" dirty="0" err="1">
                <a:solidFill>
                  <a:srgbClr val="DC2626"/>
                </a:solidFill>
                <a:latin typeface="Noto Sans KR" panose="020B0200000000000000" pitchFamily="50" charset="-127"/>
              </a:rPr>
              <a:t>즉시</a:t>
            </a:r>
            <a:r>
              <a:rPr sz="975" b="1" i="0" u="none" dirty="0">
                <a:solidFill>
                  <a:srgbClr val="DC2626"/>
                </a:solidFill>
                <a:latin typeface="Noto Sans KR" panose="020B0200000000000000" pitchFamily="50" charset="-127"/>
              </a:rPr>
              <a:t> </a:t>
            </a:r>
            <a:r>
              <a:rPr sz="975" b="1" i="0" u="none" dirty="0" err="1">
                <a:solidFill>
                  <a:srgbClr val="DC2626"/>
                </a:solidFill>
                <a:latin typeface="Noto Sans KR" panose="020B0200000000000000" pitchFamily="50" charset="-127"/>
              </a:rPr>
              <a:t>발주</a:t>
            </a:r>
            <a:r>
              <a:rPr sz="975" b="1" i="0" u="none" dirty="0">
                <a:solidFill>
                  <a:srgbClr val="DC2626"/>
                </a:solidFill>
                <a:latin typeface="Noto Sans KR" panose="020B0200000000000000" pitchFamily="50" charset="-127"/>
              </a:rPr>
              <a:t> </a:t>
            </a:r>
            <a:r>
              <a:rPr sz="975" b="1" i="0" u="none" dirty="0" err="1">
                <a:solidFill>
                  <a:srgbClr val="DC2626"/>
                </a:solidFill>
                <a:latin typeface="Noto Sans KR" panose="020B0200000000000000" pitchFamily="50" charset="-127"/>
              </a:rPr>
              <a:t>필요</a:t>
            </a:r>
            <a:endParaRPr sz="975" b="1" i="0" u="none" dirty="0">
              <a:solidFill>
                <a:srgbClr val="DC2626"/>
              </a:solidFill>
              <a:latin typeface="Noto Sans KR" panose="020B0200000000000000" pitchFamily="50" charset="-127"/>
            </a:endParaRPr>
          </a:p>
        </p:txBody>
      </p:sp>
      <p:sp>
        <p:nvSpPr>
          <p:cNvPr id="25" name="TextBox 24"/>
          <p:cNvSpPr txBox="1"/>
          <p:nvPr/>
        </p:nvSpPr>
        <p:spPr>
          <a:xfrm>
            <a:off x="7153275" y="3622327"/>
            <a:ext cx="1744067" cy="184666"/>
          </a:xfrm>
          <a:prstGeom prst="rect">
            <a:avLst/>
          </a:prstGeom>
          <a:noFill/>
        </p:spPr>
        <p:txBody>
          <a:bodyPr wrap="none" lIns="0" tIns="0" rIns="0" bIns="0" anchor="t">
            <a:spAutoFit/>
          </a:bodyPr>
          <a:lstStyle/>
          <a:p>
            <a:pPr algn="l"/>
            <a:r>
              <a:rPr sz="1200" b="1" i="0" u="none" dirty="0">
                <a:solidFill>
                  <a:srgbClr val="D97706"/>
                </a:solidFill>
                <a:latin typeface="Noto Sans KR" panose="020B0200000000000000" pitchFamily="50" charset="-127"/>
              </a:rPr>
              <a:t>ORDER_NOW (</a:t>
            </a:r>
            <a:r>
              <a:rPr sz="1200" b="1" i="0" u="none" dirty="0" err="1">
                <a:solidFill>
                  <a:srgbClr val="D97706"/>
                </a:solidFill>
                <a:latin typeface="Noto Sans KR" panose="020B0200000000000000" pitchFamily="50" charset="-127"/>
              </a:rPr>
              <a:t>발주</a:t>
            </a:r>
            <a:r>
              <a:rPr sz="1200" b="1" i="0" u="none" dirty="0">
                <a:solidFill>
                  <a:srgbClr val="D97706"/>
                </a:solidFill>
                <a:latin typeface="Noto Sans KR" panose="020B0200000000000000" pitchFamily="50" charset="-127"/>
              </a:rPr>
              <a:t> </a:t>
            </a:r>
            <a:r>
              <a:rPr sz="1200" b="1" i="0" u="none" dirty="0" err="1">
                <a:solidFill>
                  <a:srgbClr val="D97706"/>
                </a:solidFill>
                <a:latin typeface="Noto Sans KR" panose="020B0200000000000000" pitchFamily="50" charset="-127"/>
              </a:rPr>
              <a:t>필요</a:t>
            </a:r>
            <a:r>
              <a:rPr sz="1200" b="1" i="0" u="none" dirty="0">
                <a:solidFill>
                  <a:srgbClr val="D97706"/>
                </a:solidFill>
                <a:latin typeface="Noto Sans KR" panose="020B0200000000000000" pitchFamily="50" charset="-127"/>
              </a:rPr>
              <a:t>)</a:t>
            </a:r>
          </a:p>
        </p:txBody>
      </p:sp>
      <p:sp>
        <p:nvSpPr>
          <p:cNvPr id="26" name="TextBox 25"/>
          <p:cNvSpPr txBox="1"/>
          <p:nvPr/>
        </p:nvSpPr>
        <p:spPr>
          <a:xfrm>
            <a:off x="10547746" y="3636615"/>
            <a:ext cx="872728" cy="150041"/>
          </a:xfrm>
          <a:prstGeom prst="rect">
            <a:avLst/>
          </a:prstGeom>
          <a:noFill/>
        </p:spPr>
        <p:txBody>
          <a:bodyPr wrap="square" lIns="0" tIns="0" rIns="0" bIns="0" anchor="t">
            <a:spAutoFit/>
          </a:bodyPr>
          <a:lstStyle/>
          <a:p>
            <a:pPr algn="l"/>
            <a:r>
              <a:rPr sz="975" b="1" i="0" u="none" dirty="0" err="1">
                <a:solidFill>
                  <a:srgbClr val="D97706"/>
                </a:solidFill>
                <a:latin typeface="Noto Sans KR" panose="020B0200000000000000" pitchFamily="50" charset="-127"/>
              </a:rPr>
              <a:t>재주문점</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도달</a:t>
            </a:r>
            <a:endParaRPr sz="975" b="1" i="0" u="none" dirty="0">
              <a:solidFill>
                <a:srgbClr val="D97706"/>
              </a:solidFill>
              <a:latin typeface="Noto Sans KR" panose="020B0200000000000000" pitchFamily="50" charset="-127"/>
            </a:endParaRPr>
          </a:p>
        </p:txBody>
      </p:sp>
      <p:sp>
        <p:nvSpPr>
          <p:cNvPr id="27" name="TextBox 26"/>
          <p:cNvSpPr txBox="1"/>
          <p:nvPr/>
        </p:nvSpPr>
        <p:spPr>
          <a:xfrm>
            <a:off x="7153275" y="4651027"/>
            <a:ext cx="657231" cy="184666"/>
          </a:xfrm>
          <a:prstGeom prst="rect">
            <a:avLst/>
          </a:prstGeom>
          <a:noFill/>
        </p:spPr>
        <p:txBody>
          <a:bodyPr wrap="none" lIns="0" tIns="0" rIns="0" bIns="0" anchor="t">
            <a:spAutoFit/>
          </a:bodyPr>
          <a:lstStyle/>
          <a:p>
            <a:pPr algn="l"/>
            <a:r>
              <a:rPr sz="1200" b="1" i="0" u="none" dirty="0">
                <a:solidFill>
                  <a:srgbClr val="16A34A"/>
                </a:solidFill>
                <a:latin typeface="Noto Sans KR" panose="020B0200000000000000" pitchFamily="50" charset="-127"/>
              </a:rPr>
              <a:t>OK (</a:t>
            </a:r>
            <a:r>
              <a:rPr sz="1200" b="1" i="0" u="none" dirty="0" err="1">
                <a:solidFill>
                  <a:srgbClr val="16A34A"/>
                </a:solidFill>
                <a:latin typeface="Noto Sans KR" panose="020B0200000000000000" pitchFamily="50" charset="-127"/>
              </a:rPr>
              <a:t>정상</a:t>
            </a:r>
            <a:r>
              <a:rPr sz="1200" b="1" i="0" u="none" dirty="0">
                <a:solidFill>
                  <a:srgbClr val="16A34A"/>
                </a:solidFill>
                <a:latin typeface="Noto Sans KR" panose="020B0200000000000000" pitchFamily="50" charset="-127"/>
              </a:rPr>
              <a:t>)</a:t>
            </a:r>
          </a:p>
        </p:txBody>
      </p:sp>
      <p:sp>
        <p:nvSpPr>
          <p:cNvPr id="28" name="TextBox 27"/>
          <p:cNvSpPr txBox="1"/>
          <p:nvPr/>
        </p:nvSpPr>
        <p:spPr>
          <a:xfrm>
            <a:off x="10795396" y="4665315"/>
            <a:ext cx="625078" cy="150041"/>
          </a:xfrm>
          <a:prstGeom prst="rect">
            <a:avLst/>
          </a:prstGeom>
          <a:noFill/>
        </p:spPr>
        <p:txBody>
          <a:bodyPr wrap="square" lIns="0" tIns="0" rIns="0" bIns="0" anchor="t">
            <a:spAutoFit/>
          </a:bodyPr>
          <a:lstStyle/>
          <a:p>
            <a:pPr algn="l"/>
            <a:r>
              <a:rPr sz="975" b="1" i="0" u="none" dirty="0" err="1">
                <a:solidFill>
                  <a:srgbClr val="16A34A"/>
                </a:solidFill>
                <a:latin typeface="Noto Sans KR" panose="020B0200000000000000" pitchFamily="50" charset="-127"/>
              </a:rPr>
              <a:t>재고</a:t>
            </a:r>
            <a:r>
              <a:rPr sz="975" b="1" i="0" u="none" dirty="0">
                <a:solidFill>
                  <a:srgbClr val="16A34A"/>
                </a:solidFill>
                <a:latin typeface="Noto Sans KR" panose="020B0200000000000000" pitchFamily="50" charset="-127"/>
              </a:rPr>
              <a:t> </a:t>
            </a:r>
            <a:r>
              <a:rPr sz="975" b="1" i="0" u="none" dirty="0" err="1">
                <a:solidFill>
                  <a:srgbClr val="16A34A"/>
                </a:solidFill>
                <a:latin typeface="Noto Sans KR" panose="020B0200000000000000" pitchFamily="50" charset="-127"/>
              </a:rPr>
              <a:t>충분</a:t>
            </a:r>
            <a:endParaRPr sz="975" b="1" i="0" u="none" dirty="0">
              <a:solidFill>
                <a:srgbClr val="16A34A"/>
              </a:solidFill>
              <a:latin typeface="Noto Sans KR" panose="020B0200000000000000" pitchFamily="50" charset="-127"/>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1500" y="2460277"/>
            <a:ext cx="11049000" cy="2752725"/>
          </a:xfrm>
          <a:prstGeom prst="roundRect">
            <a:avLst>
              <a:gd name="adj" fmla="val 415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71525" y="3041302"/>
            <a:ext cx="527744" cy="219075"/>
          </a:xfrm>
          <a:prstGeom prst="roundRect">
            <a:avLst>
              <a:gd name="adj" fmla="val 26086"/>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1525" y="3498502"/>
            <a:ext cx="598735" cy="219075"/>
          </a:xfrm>
          <a:prstGeom prst="roundRect">
            <a:avLst>
              <a:gd name="adj" fmla="val 26086"/>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1525" y="3955702"/>
            <a:ext cx="527744" cy="219075"/>
          </a:xfrm>
          <a:prstGeom prst="roundRect">
            <a:avLst>
              <a:gd name="adj" fmla="val 26086"/>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1525" y="4412902"/>
            <a:ext cx="445144" cy="219075"/>
          </a:xfrm>
          <a:prstGeom prst="roundRect">
            <a:avLst>
              <a:gd name="adj" fmla="val 26086"/>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1525" y="4870102"/>
            <a:ext cx="445144" cy="219075"/>
          </a:xfrm>
          <a:prstGeom prst="roundRect">
            <a:avLst>
              <a:gd name="adj" fmla="val 26086"/>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81025" y="2469802"/>
          <a:ext cx="11029949" cy="2733675"/>
        </p:xfrm>
        <a:graphic>
          <a:graphicData uri="http://schemas.openxmlformats.org/drawingml/2006/table">
            <a:tbl>
              <a:tblPr/>
              <a:tblGrid>
                <a:gridCol w="1536055">
                  <a:extLst>
                    <a:ext uri="{9D8B030D-6E8A-4147-A177-3AD203B41FA5}">
                      <a16:colId xmlns:a16="http://schemas.microsoft.com/office/drawing/2014/main" val="20000"/>
                    </a:ext>
                  </a:extLst>
                </a:gridCol>
                <a:gridCol w="2856011">
                  <a:extLst>
                    <a:ext uri="{9D8B030D-6E8A-4147-A177-3AD203B41FA5}">
                      <a16:colId xmlns:a16="http://schemas.microsoft.com/office/drawing/2014/main" val="20001"/>
                    </a:ext>
                  </a:extLst>
                </a:gridCol>
                <a:gridCol w="3019276">
                  <a:extLst>
                    <a:ext uri="{9D8B030D-6E8A-4147-A177-3AD203B41FA5}">
                      <a16:colId xmlns:a16="http://schemas.microsoft.com/office/drawing/2014/main" val="20002"/>
                    </a:ext>
                  </a:extLst>
                </a:gridCol>
                <a:gridCol w="3618607">
                  <a:extLst>
                    <a:ext uri="{9D8B030D-6E8A-4147-A177-3AD203B41FA5}">
                      <a16:colId xmlns:a16="http://schemas.microsoft.com/office/drawing/2014/main" val="20003"/>
                    </a:ext>
                  </a:extLst>
                </a:gridCol>
              </a:tblGrid>
              <a:tr h="455612">
                <a:tc>
                  <a:txBody>
                    <a:bodyPr/>
                    <a:lstStyle/>
                    <a:p>
                      <a:pPr algn="l"/>
                      <a:r>
                        <a:rPr sz="1050" b="1" i="0" u="none" dirty="0">
                          <a:solidFill>
                            <a:srgbClr val="0F172A"/>
                          </a:solidFill>
                          <a:latin typeface="Noto Sans KR" panose="020B0200000000000000" pitchFamily="50" charset="-127"/>
                        </a:rPr>
                        <a:t>HTTP Method</a:t>
                      </a:r>
                    </a:p>
                  </a:txBody>
                  <a:tcPr marL="63500" marR="63500" marT="25400" marB="25400" anchor="ctr">
                    <a:lnL>
                      <a:noFill/>
                    </a:lnL>
                    <a:lnR>
                      <a:noFill/>
                    </a:lnR>
                    <a:lnT>
                      <a:noFill/>
                    </a:lnT>
                    <a:lnB>
                      <a:noFill/>
                    </a:lnB>
                    <a:solidFill>
                      <a:srgbClr val="F8FAFC"/>
                    </a:solidFill>
                  </a:tcPr>
                </a:tc>
                <a:tc>
                  <a:txBody>
                    <a:bodyPr/>
                    <a:lstStyle/>
                    <a:p>
                      <a:pPr algn="l"/>
                      <a:r>
                        <a:rPr sz="1050" b="1" i="0" u="none" dirty="0">
                          <a:solidFill>
                            <a:srgbClr val="0F172A"/>
                          </a:solidFill>
                          <a:latin typeface="Noto Sans KR" panose="020B0200000000000000" pitchFamily="50" charset="-127"/>
                        </a:rPr>
                        <a:t>Endpoint</a:t>
                      </a:r>
                    </a:p>
                  </a:txBody>
                  <a:tcPr marL="63500" marR="63500" marT="25400" marB="25400" anchor="ctr">
                    <a:lnL>
                      <a:noFill/>
                    </a:lnL>
                    <a:lnR>
                      <a:noFill/>
                    </a:lnR>
                    <a:lnT>
                      <a:noFill/>
                    </a:lnT>
                    <a:lnB>
                      <a:noFill/>
                    </a:lnB>
                    <a:solidFill>
                      <a:srgbClr val="F8FAFC"/>
                    </a:solidFill>
                  </a:tcPr>
                </a:tc>
                <a:tc>
                  <a:txBody>
                    <a:bodyPr/>
                    <a:lstStyle/>
                    <a:p>
                      <a:pPr algn="l"/>
                      <a:r>
                        <a:rPr sz="1050" b="1" i="0" u="none" dirty="0" err="1">
                          <a:solidFill>
                            <a:srgbClr val="0F172A"/>
                          </a:solidFill>
                          <a:latin typeface="Noto Sans KR" panose="020B0200000000000000" pitchFamily="50" charset="-127"/>
                        </a:rPr>
                        <a:t>기능</a:t>
                      </a:r>
                      <a:r>
                        <a:rPr sz="1050" b="1" i="0" u="none" dirty="0">
                          <a:solidFill>
                            <a:srgbClr val="0F172A"/>
                          </a:solidFill>
                          <a:latin typeface="Noto Sans KR" panose="020B0200000000000000" pitchFamily="50" charset="-127"/>
                        </a:rPr>
                        <a:t> </a:t>
                      </a:r>
                      <a:r>
                        <a:rPr sz="1050" b="1" i="0" u="none" dirty="0" err="1">
                          <a:solidFill>
                            <a:srgbClr val="0F172A"/>
                          </a:solidFill>
                          <a:latin typeface="Noto Sans KR" panose="020B0200000000000000" pitchFamily="50" charset="-127"/>
                        </a:rPr>
                        <a:t>설명</a:t>
                      </a:r>
                      <a:endParaRPr sz="1050" b="1" i="0" u="none" dirty="0">
                        <a:solidFill>
                          <a:srgbClr val="0F172A"/>
                        </a:solidFill>
                        <a:latin typeface="Noto Sans KR" panose="020B0200000000000000" pitchFamily="50" charset="-127"/>
                      </a:endParaRPr>
                    </a:p>
                  </a:txBody>
                  <a:tcPr marL="63500" marR="63500" marT="25400" marB="25400" anchor="ctr">
                    <a:lnL>
                      <a:noFill/>
                    </a:lnL>
                    <a:lnR>
                      <a:noFill/>
                    </a:lnR>
                    <a:lnT>
                      <a:noFill/>
                    </a:lnT>
                    <a:lnB>
                      <a:noFill/>
                    </a:lnB>
                    <a:solidFill>
                      <a:srgbClr val="F8FAFC"/>
                    </a:solidFill>
                  </a:tcPr>
                </a:tc>
                <a:tc>
                  <a:txBody>
                    <a:bodyPr/>
                    <a:lstStyle/>
                    <a:p>
                      <a:pPr algn="l"/>
                      <a:r>
                        <a:rPr sz="1050" b="1" i="0" u="none" dirty="0" err="1">
                          <a:solidFill>
                            <a:srgbClr val="0F172A"/>
                          </a:solidFill>
                          <a:latin typeface="Noto Sans KR" panose="020B0200000000000000" pitchFamily="50" charset="-127"/>
                        </a:rPr>
                        <a:t>주요</a:t>
                      </a:r>
                      <a:r>
                        <a:rPr sz="1050" b="1" i="0" u="none" dirty="0">
                          <a:solidFill>
                            <a:srgbClr val="0F172A"/>
                          </a:solidFill>
                          <a:latin typeface="Noto Sans KR" panose="020B0200000000000000" pitchFamily="50" charset="-127"/>
                        </a:rPr>
                        <a:t> </a:t>
                      </a:r>
                      <a:r>
                        <a:rPr sz="1050" b="1" i="0" u="none" dirty="0" err="1">
                          <a:solidFill>
                            <a:srgbClr val="0F172A"/>
                          </a:solidFill>
                          <a:latin typeface="Noto Sans KR" panose="020B0200000000000000" pitchFamily="50" charset="-127"/>
                        </a:rPr>
                        <a:t>파라미터</a:t>
                      </a:r>
                      <a:r>
                        <a:rPr sz="1050" b="1" i="0" u="none" dirty="0">
                          <a:solidFill>
                            <a:srgbClr val="0F172A"/>
                          </a:solidFill>
                          <a:latin typeface="Noto Sans KR" panose="020B0200000000000000" pitchFamily="50" charset="-127"/>
                        </a:rPr>
                        <a:t> / </a:t>
                      </a:r>
                      <a:r>
                        <a:rPr sz="1050" b="1" i="0" u="none" dirty="0" err="1">
                          <a:solidFill>
                            <a:srgbClr val="0F172A"/>
                          </a:solidFill>
                          <a:latin typeface="Noto Sans KR" panose="020B0200000000000000" pitchFamily="50" charset="-127"/>
                        </a:rPr>
                        <a:t>상태</a:t>
                      </a:r>
                      <a:r>
                        <a:rPr sz="1050" b="1" i="0" u="none" dirty="0">
                          <a:solidFill>
                            <a:srgbClr val="0F172A"/>
                          </a:solidFill>
                          <a:latin typeface="Noto Sans KR" panose="020B0200000000000000" pitchFamily="50" charset="-127"/>
                        </a:rPr>
                        <a:t> </a:t>
                      </a:r>
                      <a:r>
                        <a:rPr sz="1050" b="1" i="0" u="none" dirty="0" err="1">
                          <a:solidFill>
                            <a:srgbClr val="0F172A"/>
                          </a:solidFill>
                          <a:latin typeface="Noto Sans KR" panose="020B0200000000000000" pitchFamily="50" charset="-127"/>
                        </a:rPr>
                        <a:t>코드</a:t>
                      </a:r>
                      <a:endParaRPr sz="1050" b="1" i="0" u="none" dirty="0">
                        <a:solidFill>
                          <a:srgbClr val="0F172A"/>
                        </a:solidFill>
                        <a:latin typeface="Noto Sans KR" panose="020B0200000000000000" pitchFamily="50" charset="-127"/>
                      </a:endParaRP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455612">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Consolas" panose="020B0609020204030204" pitchFamily="49" charset="0"/>
                        </a:rPr>
                        <a:t>/orders</a:t>
                      </a:r>
                    </a:p>
                  </a:txBody>
                  <a:tcPr marL="63500" marR="63500" marT="25400" marB="25400" anchor="ctr">
                    <a:lnL>
                      <a:noFill/>
                    </a:lnL>
                    <a:lnR>
                      <a:noFill/>
                    </a:lnR>
                    <a:lnT>
                      <a:noFill/>
                    </a:lnT>
                    <a:lnB>
                      <a:noFill/>
                    </a:lnB>
                    <a:solidFill>
                      <a:srgbClr val="FFFFFF"/>
                    </a:solidFill>
                  </a:tcPr>
                </a:tc>
                <a:tc>
                  <a:txBody>
                    <a:bodyPr/>
                    <a:lstStyle/>
                    <a:p>
                      <a:pPr algn="l"/>
                      <a:r>
                        <a:rPr sz="1050" b="0" i="0" u="none" dirty="0" err="1">
                          <a:solidFill>
                            <a:srgbClr val="334155"/>
                          </a:solidFill>
                          <a:latin typeface="Noto Sans KR" panose="020B0200000000000000" pitchFamily="50" charset="-127"/>
                        </a:rPr>
                        <a:t>신규</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주문</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생성</a:t>
                      </a:r>
                      <a:r>
                        <a:rPr sz="1050" b="0" i="0" u="none" dirty="0">
                          <a:solidFill>
                            <a:srgbClr val="334155"/>
                          </a:solidFill>
                          <a:latin typeface="Noto Sans KR" panose="020B0200000000000000" pitchFamily="50" charset="-127"/>
                        </a:rPr>
                        <a:t> 및 </a:t>
                      </a:r>
                      <a:r>
                        <a:rPr sz="1050" b="0" i="0" u="none" dirty="0" err="1">
                          <a:solidFill>
                            <a:srgbClr val="334155"/>
                          </a:solidFill>
                          <a:latin typeface="Noto Sans KR" panose="020B0200000000000000" pitchFamily="50" charset="-127"/>
                        </a:rPr>
                        <a:t>재고</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자동</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차감</a:t>
                      </a:r>
                      <a:endParaRPr sz="1050" b="0" i="0" u="none" dirty="0">
                        <a:solidFill>
                          <a:srgbClr val="334155"/>
                        </a:solidFill>
                        <a:latin typeface="Noto Sans KR" panose="020B0200000000000000" pitchFamily="50" charset="-127"/>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err="1">
                          <a:solidFill>
                            <a:srgbClr val="334155"/>
                          </a:solidFill>
                          <a:latin typeface="Noto Sans KR" panose="020B0200000000000000" pitchFamily="50" charset="-127"/>
                        </a:rPr>
                        <a:t>customer_id</a:t>
                      </a:r>
                      <a:r>
                        <a:rPr sz="1050" b="0" i="0" u="none" dirty="0">
                          <a:solidFill>
                            <a:srgbClr val="334155"/>
                          </a:solidFill>
                          <a:latin typeface="Noto Sans KR" panose="020B0200000000000000" pitchFamily="50" charset="-127"/>
                        </a:rPr>
                        <a:t>, items / 409 (</a:t>
                      </a:r>
                      <a:r>
                        <a:rPr sz="1050" b="0" i="0" u="none" dirty="0" err="1">
                          <a:solidFill>
                            <a:srgbClr val="334155"/>
                          </a:solidFill>
                          <a:latin typeface="Noto Sans KR" panose="020B0200000000000000" pitchFamily="50" charset="-127"/>
                        </a:rPr>
                        <a:t>재고부족</a:t>
                      </a:r>
                      <a:r>
                        <a:rPr sz="1050" b="0" i="0" u="none" dirty="0">
                          <a:solidFill>
                            <a:srgbClr val="334155"/>
                          </a:solidFill>
                          <a:latin typeface="Noto Sans KR" panose="020B0200000000000000" pitchFamily="50" charset="-127"/>
                        </a:rPr>
                        <a:t>)</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455612">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Consolas" panose="020B0609020204030204" pitchFamily="49" charset="0"/>
                        </a:rPr>
                        <a:t>/inventory/{</a:t>
                      </a:r>
                      <a:r>
                        <a:rPr sz="1050" b="0" i="0" u="none" dirty="0" err="1">
                          <a:solidFill>
                            <a:srgbClr val="334155"/>
                          </a:solidFill>
                          <a:latin typeface="Consolas" panose="020B0609020204030204" pitchFamily="49" charset="0"/>
                        </a:rPr>
                        <a:t>product_id</a:t>
                      </a:r>
                      <a:r>
                        <a:rPr sz="1050" b="0" i="0" u="none" dirty="0">
                          <a:solidFill>
                            <a:srgbClr val="334155"/>
                          </a:solidFill>
                          <a:latin typeface="Consolas" panose="020B0609020204030204" pitchFamily="49" charset="0"/>
                        </a:rPr>
                        <a:t>}</a:t>
                      </a:r>
                    </a:p>
                  </a:txBody>
                  <a:tcPr marL="63500" marR="63500" marT="25400" marB="25400" anchor="ctr">
                    <a:lnL>
                      <a:noFill/>
                    </a:lnL>
                    <a:lnR>
                      <a:noFill/>
                    </a:lnR>
                    <a:lnT>
                      <a:noFill/>
                    </a:lnT>
                    <a:lnB>
                      <a:noFill/>
                    </a:lnB>
                    <a:solidFill>
                      <a:srgbClr val="FFFFFF"/>
                    </a:solidFill>
                  </a:tcPr>
                </a:tc>
                <a:tc>
                  <a:txBody>
                    <a:bodyPr/>
                    <a:lstStyle/>
                    <a:p>
                      <a:pPr algn="l"/>
                      <a:r>
                        <a:rPr sz="1050" b="0" i="0" u="none" dirty="0" err="1">
                          <a:solidFill>
                            <a:srgbClr val="334155"/>
                          </a:solidFill>
                          <a:latin typeface="Noto Sans KR" panose="020B0200000000000000" pitchFamily="50" charset="-127"/>
                        </a:rPr>
                        <a:t>입출고에</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따른</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수량</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즉시</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증감</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조정</a:t>
                      </a:r>
                      <a:endParaRPr sz="1050" b="0" i="0" u="none" dirty="0">
                        <a:solidFill>
                          <a:srgbClr val="334155"/>
                        </a:solidFill>
                        <a:latin typeface="Noto Sans KR" panose="020B0200000000000000" pitchFamily="50" charset="-127"/>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Noto Sans KR" panose="020B0200000000000000" pitchFamily="50" charset="-127"/>
                        </a:rPr>
                        <a:t>amount (+</a:t>
                      </a:r>
                      <a:r>
                        <a:rPr sz="1050" b="0" i="0" u="none" dirty="0" err="1">
                          <a:solidFill>
                            <a:srgbClr val="334155"/>
                          </a:solidFill>
                          <a:latin typeface="Noto Sans KR" panose="020B0200000000000000" pitchFamily="50" charset="-127"/>
                        </a:rPr>
                        <a:t>입고</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출고</a:t>
                      </a:r>
                      <a:r>
                        <a:rPr sz="1050" b="0" i="0" u="none" dirty="0">
                          <a:solidFill>
                            <a:srgbClr val="334155"/>
                          </a:solidFill>
                          <a:latin typeface="Noto Sans KR" panose="020B0200000000000000" pitchFamily="50" charset="-127"/>
                        </a:rPr>
                        <a:t>) / 400 (</a:t>
                      </a:r>
                      <a:r>
                        <a:rPr sz="1050" b="0" i="0" u="none" dirty="0" err="1">
                          <a:solidFill>
                            <a:srgbClr val="334155"/>
                          </a:solidFill>
                          <a:latin typeface="Noto Sans KR" panose="020B0200000000000000" pitchFamily="50" charset="-127"/>
                        </a:rPr>
                        <a:t>음수재고</a:t>
                      </a:r>
                      <a:r>
                        <a:rPr sz="1050" b="0" i="0" u="none" dirty="0">
                          <a:solidFill>
                            <a:srgbClr val="334155"/>
                          </a:solidFill>
                          <a:latin typeface="Noto Sans KR" panose="020B0200000000000000" pitchFamily="50" charset="-127"/>
                        </a:rPr>
                        <a:t>)</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r h="455612">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Consolas" panose="020B0609020204030204" pitchFamily="49" charset="0"/>
                        </a:rPr>
                        <a:t>/imports/orders</a:t>
                      </a: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Noto Sans KR" panose="020B0200000000000000" pitchFamily="50" charset="-127"/>
                        </a:rPr>
                        <a:t>CSV past order histories upload</a:t>
                      </a: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Noto Sans KR" panose="020B0200000000000000" pitchFamily="50" charset="-127"/>
                        </a:rPr>
                        <a:t>multipart/form-data / 413 (&gt;10MB)</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455612">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Consolas" panose="020B0609020204030204" pitchFamily="49" charset="0"/>
                        </a:rPr>
                        <a:t>/forecasts/products/{id}</a:t>
                      </a:r>
                    </a:p>
                  </a:txBody>
                  <a:tcPr marL="63500" marR="63500" marT="25400" marB="25400" anchor="ctr">
                    <a:lnL>
                      <a:noFill/>
                    </a:lnL>
                    <a:lnR>
                      <a:noFill/>
                    </a:lnR>
                    <a:lnT>
                      <a:noFill/>
                    </a:lnT>
                    <a:lnB>
                      <a:noFill/>
                    </a:lnB>
                    <a:solidFill>
                      <a:srgbClr val="FFFFFF"/>
                    </a:solidFill>
                  </a:tcPr>
                </a:tc>
                <a:tc>
                  <a:txBody>
                    <a:bodyPr/>
                    <a:lstStyle/>
                    <a:p>
                      <a:pPr algn="l"/>
                      <a:r>
                        <a:rPr sz="1050" b="0" i="0" u="none" dirty="0" err="1">
                          <a:solidFill>
                            <a:srgbClr val="334155"/>
                          </a:solidFill>
                          <a:latin typeface="Noto Sans KR" panose="020B0200000000000000" pitchFamily="50" charset="-127"/>
                        </a:rPr>
                        <a:t>단일</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상품</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주간</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수요</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예측치</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조회</a:t>
                      </a:r>
                      <a:endParaRPr sz="1050" b="0" i="0" u="none" dirty="0">
                        <a:solidFill>
                          <a:srgbClr val="334155"/>
                        </a:solidFill>
                        <a:latin typeface="Noto Sans KR" panose="020B0200000000000000" pitchFamily="50" charset="-127"/>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Noto Sans KR" panose="020B0200000000000000" pitchFamily="50" charset="-127"/>
                        </a:rPr>
                        <a:t>weeks (1~12), </a:t>
                      </a:r>
                      <a:r>
                        <a:rPr sz="1050" b="0" i="0" u="none" dirty="0" err="1">
                          <a:solidFill>
                            <a:srgbClr val="334155"/>
                          </a:solidFill>
                          <a:latin typeface="Noto Sans KR" panose="020B0200000000000000" pitchFamily="50" charset="-127"/>
                        </a:rPr>
                        <a:t>history_weeks</a:t>
                      </a:r>
                      <a:r>
                        <a:rPr sz="1050" b="0" i="0" u="none" dirty="0">
                          <a:solidFill>
                            <a:srgbClr val="334155"/>
                          </a:solidFill>
                          <a:latin typeface="Noto Sans KR" panose="020B0200000000000000" pitchFamily="50" charset="-127"/>
                        </a:rPr>
                        <a:t> / 409</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4"/>
                  </a:ext>
                </a:extLst>
              </a:tr>
              <a:tr h="455615">
                <a:tc>
                  <a:txBody>
                    <a:bodyPr/>
                    <a:lstStyle/>
                    <a:p>
                      <a:pPr algn="l"/>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a:solidFill>
                            <a:srgbClr val="334155"/>
                          </a:solidFill>
                          <a:latin typeface="Consolas" panose="020B0609020204030204" pitchFamily="49" charset="0"/>
                        </a:rPr>
                        <a:t>/replenishment</a:t>
                      </a:r>
                    </a:p>
                  </a:txBody>
                  <a:tcPr marL="63500" marR="63500" marT="25400" marB="25400" anchor="ctr">
                    <a:lnL>
                      <a:noFill/>
                    </a:lnL>
                    <a:lnR>
                      <a:noFill/>
                    </a:lnR>
                    <a:lnT>
                      <a:noFill/>
                    </a:lnT>
                    <a:lnB>
                      <a:noFill/>
                    </a:lnB>
                    <a:solidFill>
                      <a:srgbClr val="FFFFFF"/>
                    </a:solidFill>
                  </a:tcPr>
                </a:tc>
                <a:tc>
                  <a:txBody>
                    <a:bodyPr/>
                    <a:lstStyle/>
                    <a:p>
                      <a:pPr algn="l"/>
                      <a:r>
                        <a:rPr sz="1050" b="0" i="0" u="none" dirty="0" err="1">
                          <a:solidFill>
                            <a:srgbClr val="334155"/>
                          </a:solidFill>
                          <a:latin typeface="Noto Sans KR" panose="020B0200000000000000" pitchFamily="50" charset="-127"/>
                        </a:rPr>
                        <a:t>안전재고</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기반</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최종</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발주</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추천</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조회</a:t>
                      </a:r>
                      <a:endParaRPr sz="1050" b="0" i="0" u="none" dirty="0">
                        <a:solidFill>
                          <a:srgbClr val="334155"/>
                        </a:solidFill>
                        <a:latin typeface="Noto Sans KR" panose="020B0200000000000000" pitchFamily="50" charset="-127"/>
                      </a:endParaRPr>
                    </a:p>
                  </a:txBody>
                  <a:tcPr marL="63500" marR="63500" marT="25400" marB="25400" anchor="ctr">
                    <a:lnL>
                      <a:noFill/>
                    </a:lnL>
                    <a:lnR>
                      <a:noFill/>
                    </a:lnR>
                    <a:lnT>
                      <a:noFill/>
                    </a:lnT>
                    <a:lnB>
                      <a:noFill/>
                    </a:lnB>
                    <a:solidFill>
                      <a:srgbClr val="FFFFFF"/>
                    </a:solidFill>
                  </a:tcPr>
                </a:tc>
                <a:tc>
                  <a:txBody>
                    <a:bodyPr/>
                    <a:lstStyle/>
                    <a:p>
                      <a:pPr algn="l"/>
                      <a:r>
                        <a:rPr sz="1050" b="0" i="0" u="none" dirty="0" err="1">
                          <a:solidFill>
                            <a:srgbClr val="334155"/>
                          </a:solidFill>
                          <a:latin typeface="Noto Sans KR" panose="020B0200000000000000" pitchFamily="50" charset="-127"/>
                        </a:rPr>
                        <a:t>lead_time_days</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cover_days</a:t>
                      </a:r>
                      <a:r>
                        <a:rPr sz="1050" b="0" i="0" u="none" dirty="0">
                          <a:solidFill>
                            <a:srgbClr val="334155"/>
                          </a:solidFill>
                          <a:latin typeface="Noto Sans KR" panose="020B0200000000000000" pitchFamily="50" charset="-127"/>
                        </a:rPr>
                        <a:t>, </a:t>
                      </a:r>
                      <a:r>
                        <a:rPr sz="1050" b="0" i="0" u="none" dirty="0" err="1">
                          <a:solidFill>
                            <a:srgbClr val="334155"/>
                          </a:solidFill>
                          <a:latin typeface="Noto Sans KR" panose="020B0200000000000000" pitchFamily="50" charset="-127"/>
                        </a:rPr>
                        <a:t>service_level</a:t>
                      </a:r>
                      <a:endParaRPr sz="1050" b="0" i="0" u="none" dirty="0">
                        <a:solidFill>
                          <a:srgbClr val="334155"/>
                        </a:solidFill>
                        <a:latin typeface="Noto Sans KR" panose="020B0200000000000000" pitchFamily="50" charset="-127"/>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571500" y="381000"/>
            <a:ext cx="1801775"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8. REST API SPECIFICATION</a:t>
            </a:r>
          </a:p>
        </p:txBody>
      </p:sp>
      <p:sp>
        <p:nvSpPr>
          <p:cNvPr id="10" name="TextBox 9"/>
          <p:cNvSpPr txBox="1"/>
          <p:nvPr/>
        </p:nvSpPr>
        <p:spPr>
          <a:xfrm>
            <a:off x="571500" y="590550"/>
            <a:ext cx="3606757"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핵심</a:t>
            </a:r>
            <a:r>
              <a:rPr sz="2100" b="1" i="0" u="none" dirty="0">
                <a:solidFill>
                  <a:srgbClr val="0F172A"/>
                </a:solidFill>
                <a:latin typeface="Noto Sans KR" panose="020B0200000000000000" pitchFamily="50" charset="-127"/>
              </a:rPr>
              <a:t> REST API </a:t>
            </a:r>
            <a:r>
              <a:rPr sz="2100" b="1" i="0" u="none" dirty="0" err="1">
                <a:solidFill>
                  <a:srgbClr val="0F172A"/>
                </a:solidFill>
                <a:latin typeface="Noto Sans KR" panose="020B0200000000000000" pitchFamily="50" charset="-127"/>
              </a:rPr>
              <a:t>엔드포인트</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설계</a:t>
            </a:r>
            <a:endParaRPr sz="2100" b="1" i="0" u="none" dirty="0">
              <a:solidFill>
                <a:srgbClr val="0F172A"/>
              </a:solidFill>
              <a:latin typeface="Noto Sans KR" panose="020B0200000000000000" pitchFamily="50" charset="-127"/>
            </a:endParaRPr>
          </a:p>
        </p:txBody>
      </p:sp>
      <p:sp>
        <p:nvSpPr>
          <p:cNvPr id="11" name="TextBox 10"/>
          <p:cNvSpPr txBox="1"/>
          <p:nvPr/>
        </p:nvSpPr>
        <p:spPr>
          <a:xfrm>
            <a:off x="866775" y="3079402"/>
            <a:ext cx="432494" cy="150041"/>
          </a:xfrm>
          <a:prstGeom prst="rect">
            <a:avLst/>
          </a:prstGeom>
          <a:noFill/>
        </p:spPr>
        <p:txBody>
          <a:bodyPr wrap="square" lIns="0" tIns="0" rIns="0" bIns="0" anchor="t">
            <a:spAutoFit/>
          </a:bodyPr>
          <a:lstStyle/>
          <a:p>
            <a:pPr algn="l"/>
            <a:r>
              <a:rPr sz="975" b="1" i="0" u="none" dirty="0">
                <a:solidFill>
                  <a:srgbClr val="2563EB"/>
                </a:solidFill>
                <a:latin typeface="Noto Sans KR" panose="020B0200000000000000" pitchFamily="50" charset="-127"/>
              </a:rPr>
              <a:t>POST</a:t>
            </a:r>
          </a:p>
        </p:txBody>
      </p:sp>
      <p:sp>
        <p:nvSpPr>
          <p:cNvPr id="12" name="TextBox 11"/>
          <p:cNvSpPr txBox="1"/>
          <p:nvPr/>
        </p:nvSpPr>
        <p:spPr>
          <a:xfrm>
            <a:off x="866775" y="3536602"/>
            <a:ext cx="503485" cy="150041"/>
          </a:xfrm>
          <a:prstGeom prst="rect">
            <a:avLst/>
          </a:prstGeom>
          <a:noFill/>
        </p:spPr>
        <p:txBody>
          <a:bodyPr wrap="square" lIns="0" tIns="0" rIns="0" bIns="0" anchor="t">
            <a:spAutoFit/>
          </a:bodyPr>
          <a:lstStyle/>
          <a:p>
            <a:pPr algn="l"/>
            <a:r>
              <a:rPr sz="975" b="1" i="0" u="none" dirty="0">
                <a:solidFill>
                  <a:srgbClr val="D97706"/>
                </a:solidFill>
                <a:latin typeface="Noto Sans KR" panose="020B0200000000000000" pitchFamily="50" charset="-127"/>
              </a:rPr>
              <a:t>PATCH</a:t>
            </a:r>
          </a:p>
        </p:txBody>
      </p:sp>
      <p:sp>
        <p:nvSpPr>
          <p:cNvPr id="13" name="TextBox 12"/>
          <p:cNvSpPr txBox="1"/>
          <p:nvPr/>
        </p:nvSpPr>
        <p:spPr>
          <a:xfrm>
            <a:off x="866775" y="3993802"/>
            <a:ext cx="432494" cy="150041"/>
          </a:xfrm>
          <a:prstGeom prst="rect">
            <a:avLst/>
          </a:prstGeom>
          <a:noFill/>
        </p:spPr>
        <p:txBody>
          <a:bodyPr wrap="square" lIns="0" tIns="0" rIns="0" bIns="0" anchor="t">
            <a:spAutoFit/>
          </a:bodyPr>
          <a:lstStyle/>
          <a:p>
            <a:pPr algn="l"/>
            <a:r>
              <a:rPr sz="975" b="1" i="0" u="none" dirty="0">
                <a:solidFill>
                  <a:srgbClr val="2563EB"/>
                </a:solidFill>
                <a:latin typeface="Noto Sans KR" panose="020B0200000000000000" pitchFamily="50" charset="-127"/>
              </a:rPr>
              <a:t>POST</a:t>
            </a:r>
          </a:p>
        </p:txBody>
      </p:sp>
      <p:sp>
        <p:nvSpPr>
          <p:cNvPr id="14" name="TextBox 13"/>
          <p:cNvSpPr txBox="1"/>
          <p:nvPr/>
        </p:nvSpPr>
        <p:spPr>
          <a:xfrm>
            <a:off x="866775" y="4451002"/>
            <a:ext cx="349894" cy="150041"/>
          </a:xfrm>
          <a:prstGeom prst="rect">
            <a:avLst/>
          </a:prstGeom>
          <a:noFill/>
        </p:spPr>
        <p:txBody>
          <a:bodyPr wrap="square" lIns="0" tIns="0" rIns="0" bIns="0" anchor="t">
            <a:spAutoFit/>
          </a:bodyPr>
          <a:lstStyle/>
          <a:p>
            <a:pPr algn="l"/>
            <a:r>
              <a:rPr sz="975" b="1" i="0" u="none" dirty="0">
                <a:solidFill>
                  <a:srgbClr val="16A34A"/>
                </a:solidFill>
                <a:latin typeface="Noto Sans KR" panose="020B0200000000000000" pitchFamily="50" charset="-127"/>
              </a:rPr>
              <a:t>GET</a:t>
            </a:r>
          </a:p>
        </p:txBody>
      </p:sp>
      <p:sp>
        <p:nvSpPr>
          <p:cNvPr id="15" name="TextBox 14"/>
          <p:cNvSpPr txBox="1"/>
          <p:nvPr/>
        </p:nvSpPr>
        <p:spPr>
          <a:xfrm>
            <a:off x="866775" y="4908202"/>
            <a:ext cx="349894" cy="150041"/>
          </a:xfrm>
          <a:prstGeom prst="rect">
            <a:avLst/>
          </a:prstGeom>
          <a:noFill/>
        </p:spPr>
        <p:txBody>
          <a:bodyPr wrap="square" lIns="0" tIns="0" rIns="0" bIns="0" anchor="t">
            <a:spAutoFit/>
          </a:bodyPr>
          <a:lstStyle/>
          <a:p>
            <a:pPr algn="l"/>
            <a:r>
              <a:rPr sz="975" b="1" i="0" u="none" dirty="0">
                <a:solidFill>
                  <a:srgbClr val="16A34A"/>
                </a:solidFill>
                <a:latin typeface="Noto Sans KR" panose="020B0200000000000000" pitchFamily="50" charset="-127"/>
              </a:rPr>
              <a:t>GET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1500" y="2536477"/>
            <a:ext cx="5610225" cy="2600325"/>
          </a:xfrm>
          <a:prstGeom prst="roundRect">
            <a:avLst>
              <a:gd name="adj" fmla="val 43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09625" y="4365277"/>
            <a:ext cx="5133975" cy="533400"/>
          </a:xfrm>
          <a:prstGeom prst="roundRect">
            <a:avLst>
              <a:gd name="adj" fmla="val 14285"/>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86525" y="3355627"/>
            <a:ext cx="5133975" cy="1181100"/>
          </a:xfrm>
          <a:prstGeom prst="roundRect">
            <a:avLst>
              <a:gd name="adj" fmla="val 9677"/>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809625" y="3107977"/>
            <a:ext cx="457200" cy="457200"/>
          </a:xfrm>
          <a:prstGeom prst="rect">
            <a:avLst/>
          </a:prstGeom>
        </p:spPr>
      </p:pic>
      <p:pic>
        <p:nvPicPr>
          <p:cNvPr id="6" name="Picture 5" descr="image.png"/>
          <p:cNvPicPr>
            <a:picLocks noChangeAspect="1"/>
          </p:cNvPicPr>
          <p:nvPr/>
        </p:nvPicPr>
        <p:blipFill>
          <a:blip r:embed="rId4"/>
          <a:stretch>
            <a:fillRect/>
          </a:stretch>
        </p:blipFill>
        <p:spPr>
          <a:xfrm>
            <a:off x="809625" y="3717577"/>
            <a:ext cx="457200" cy="457200"/>
          </a:xfrm>
          <a:prstGeom prst="rect">
            <a:avLst/>
          </a:prstGeom>
        </p:spPr>
      </p:pic>
      <p:pic>
        <p:nvPicPr>
          <p:cNvPr id="7" name="Picture 6" descr="image.png"/>
          <p:cNvPicPr>
            <a:picLocks noChangeAspect="1"/>
          </p:cNvPicPr>
          <p:nvPr/>
        </p:nvPicPr>
        <p:blipFill>
          <a:blip r:embed="rId5"/>
          <a:stretch>
            <a:fillRect/>
          </a:stretch>
        </p:blipFill>
        <p:spPr>
          <a:xfrm>
            <a:off x="919162" y="3241327"/>
            <a:ext cx="238125" cy="190500"/>
          </a:xfrm>
          <a:prstGeom prst="rect">
            <a:avLst/>
          </a:prstGeom>
        </p:spPr>
      </p:pic>
      <p:pic>
        <p:nvPicPr>
          <p:cNvPr id="8" name="Picture 7" descr="image.png"/>
          <p:cNvPicPr>
            <a:picLocks noChangeAspect="1"/>
          </p:cNvPicPr>
          <p:nvPr/>
        </p:nvPicPr>
        <p:blipFill>
          <a:blip r:embed="rId6"/>
          <a:stretch>
            <a:fillRect/>
          </a:stretch>
        </p:blipFill>
        <p:spPr>
          <a:xfrm>
            <a:off x="952500" y="3850927"/>
            <a:ext cx="171450" cy="190500"/>
          </a:xfrm>
          <a:prstGeom prst="rect">
            <a:avLst/>
          </a:prstGeom>
        </p:spPr>
      </p:pic>
      <p:sp>
        <p:nvSpPr>
          <p:cNvPr id="9" name="TextBox 8"/>
          <p:cNvSpPr txBox="1"/>
          <p:nvPr/>
        </p:nvSpPr>
        <p:spPr>
          <a:xfrm>
            <a:off x="571500" y="381000"/>
            <a:ext cx="1769715"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9. DEVOPS &amp; DEPLOYMENT</a:t>
            </a:r>
          </a:p>
        </p:txBody>
      </p:sp>
      <p:sp>
        <p:nvSpPr>
          <p:cNvPr id="10" name="TextBox 9"/>
          <p:cNvSpPr txBox="1"/>
          <p:nvPr/>
        </p:nvSpPr>
        <p:spPr>
          <a:xfrm>
            <a:off x="571500" y="590550"/>
            <a:ext cx="4406656" cy="320601"/>
          </a:xfrm>
          <a:prstGeom prst="rect">
            <a:avLst/>
          </a:prstGeom>
          <a:noFill/>
        </p:spPr>
        <p:txBody>
          <a:bodyPr wrap="none" lIns="0" tIns="0" rIns="0" bIns="0" anchor="t">
            <a:spAutoFit/>
          </a:bodyPr>
          <a:lstStyle/>
          <a:p>
            <a:pPr algn="l">
              <a:lnSpc>
                <a:spcPts val="2520"/>
              </a:lnSpc>
            </a:pPr>
            <a:r>
              <a:rPr sz="2100" b="1" i="0" u="none" dirty="0">
                <a:solidFill>
                  <a:srgbClr val="0F172A"/>
                </a:solidFill>
                <a:latin typeface="Noto Sans KR" panose="020B0200000000000000" pitchFamily="50" charset="-127"/>
              </a:rPr>
              <a:t>Docker Compose </a:t>
            </a:r>
            <a:r>
              <a:rPr sz="2100" b="1" i="0" u="none" dirty="0" err="1">
                <a:solidFill>
                  <a:srgbClr val="0F172A"/>
                </a:solidFill>
                <a:latin typeface="Noto Sans KR" panose="020B0200000000000000" pitchFamily="50" charset="-127"/>
              </a:rPr>
              <a:t>기반</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컨테이너</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배포</a:t>
            </a:r>
            <a:endParaRPr sz="2100" b="1" i="0" u="none" dirty="0">
              <a:solidFill>
                <a:srgbClr val="0F172A"/>
              </a:solidFill>
              <a:latin typeface="Noto Sans KR" panose="020B0200000000000000" pitchFamily="50" charset="-127"/>
            </a:endParaRPr>
          </a:p>
        </p:txBody>
      </p:sp>
      <p:sp>
        <p:nvSpPr>
          <p:cNvPr id="11" name="TextBox 10"/>
          <p:cNvSpPr txBox="1"/>
          <p:nvPr/>
        </p:nvSpPr>
        <p:spPr>
          <a:xfrm>
            <a:off x="809625" y="2774602"/>
            <a:ext cx="2297104" cy="184666"/>
          </a:xfrm>
          <a:prstGeom prst="rect">
            <a:avLst/>
          </a:prstGeom>
          <a:noFill/>
        </p:spPr>
        <p:txBody>
          <a:bodyPr wrap="none" lIns="0" tIns="0" rIns="0" bIns="0" anchor="t">
            <a:spAutoFit/>
          </a:bodyPr>
          <a:lstStyle/>
          <a:p>
            <a:pPr algn="l"/>
            <a:r>
              <a:rPr sz="1200" b="1" i="0" u="none" dirty="0">
                <a:solidFill>
                  <a:srgbClr val="0F172A"/>
                </a:solidFill>
                <a:latin typeface="Noto Sans KR" panose="020B0200000000000000" pitchFamily="50" charset="-127"/>
              </a:rPr>
              <a:t>Multi-Container Orchestration</a:t>
            </a:r>
          </a:p>
        </p:txBody>
      </p:sp>
      <p:sp>
        <p:nvSpPr>
          <p:cNvPr id="12" name="TextBox 11"/>
          <p:cNvSpPr txBox="1"/>
          <p:nvPr/>
        </p:nvSpPr>
        <p:spPr>
          <a:xfrm>
            <a:off x="923925" y="4479577"/>
            <a:ext cx="5000625" cy="304800"/>
          </a:xfrm>
          <a:prstGeom prst="rect">
            <a:avLst/>
          </a:prstGeom>
          <a:noFill/>
        </p:spPr>
        <p:txBody>
          <a:bodyPr wrap="square" lIns="0" tIns="0" rIns="0" bIns="0" anchor="t">
            <a:spAutoFit/>
          </a:bodyPr>
          <a:lstStyle/>
          <a:p>
            <a:pPr algn="l"/>
            <a:r>
              <a:rPr sz="975" b="1" i="0" u="none" dirty="0" err="1">
                <a:solidFill>
                  <a:srgbClr val="92400E"/>
                </a:solidFill>
                <a:latin typeface="Noto Sans KR" panose="020B0200000000000000" pitchFamily="50" charset="-127"/>
              </a:rPr>
              <a:t>Healthcheck</a:t>
            </a:r>
            <a:r>
              <a:rPr sz="975" b="1" i="0" u="none" dirty="0">
                <a:solidFill>
                  <a:srgbClr val="92400E"/>
                </a:solidFill>
                <a:latin typeface="Noto Sans KR" panose="020B0200000000000000" pitchFamily="50" charset="-127"/>
              </a:rPr>
              <a:t> Dependency:</a:t>
            </a:r>
            <a:r>
              <a:rPr sz="975" b="0" i="0" u="none" dirty="0">
                <a:solidFill>
                  <a:srgbClr val="92400E"/>
                </a:solidFill>
                <a:latin typeface="Noto Sans KR" panose="020B0200000000000000" pitchFamily="50" charset="-127"/>
              </a:rPr>
              <a:t> DB </a:t>
            </a:r>
            <a:r>
              <a:rPr sz="975" b="0" i="0" u="none" dirty="0" err="1">
                <a:solidFill>
                  <a:srgbClr val="92400E"/>
                </a:solidFill>
                <a:latin typeface="Noto Sans KR" panose="020B0200000000000000" pitchFamily="50" charset="-127"/>
              </a:rPr>
              <a:t>서비스의</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pg_isready</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상태</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검증</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완료</a:t>
            </a:r>
            <a:r>
              <a:rPr sz="975" b="0" i="0" u="none" dirty="0">
                <a:solidFill>
                  <a:srgbClr val="92400E"/>
                </a:solidFill>
                <a:latin typeface="Noto Sans KR" panose="020B0200000000000000" pitchFamily="50" charset="-127"/>
              </a:rPr>
              <a:t> 후 API </a:t>
            </a:r>
            <a:r>
              <a:rPr sz="975" b="0" i="0" u="none" dirty="0" err="1">
                <a:solidFill>
                  <a:srgbClr val="92400E"/>
                </a:solidFill>
                <a:latin typeface="Noto Sans KR" panose="020B0200000000000000" pitchFamily="50" charset="-127"/>
              </a:rPr>
              <a:t>컨테이너가</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순차</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구동되도록</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지능형</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시작</a:t>
            </a:r>
            <a:r>
              <a:rPr sz="975" b="0" i="0" u="none" dirty="0">
                <a:solidFill>
                  <a:srgbClr val="92400E"/>
                </a:solidFill>
                <a:latin typeface="Noto Sans KR" panose="020B0200000000000000" pitchFamily="50" charset="-127"/>
              </a:rPr>
              <a:t> </a:t>
            </a:r>
            <a:r>
              <a:rPr sz="975" b="0" i="0" u="none" dirty="0" err="1">
                <a:solidFill>
                  <a:srgbClr val="92400E"/>
                </a:solidFill>
                <a:latin typeface="Noto Sans KR" panose="020B0200000000000000" pitchFamily="50" charset="-127"/>
              </a:rPr>
              <a:t>제어</a:t>
            </a:r>
            <a:endParaRPr sz="975" b="0" i="0" u="none" dirty="0">
              <a:solidFill>
                <a:srgbClr val="92400E"/>
              </a:solidFill>
              <a:latin typeface="Noto Sans KR" panose="020B0200000000000000" pitchFamily="50" charset="-127"/>
            </a:endParaRPr>
          </a:p>
        </p:txBody>
      </p:sp>
      <p:sp>
        <p:nvSpPr>
          <p:cNvPr id="13" name="TextBox 12"/>
          <p:cNvSpPr txBox="1"/>
          <p:nvPr/>
        </p:nvSpPr>
        <p:spPr>
          <a:xfrm>
            <a:off x="6486525" y="3136552"/>
            <a:ext cx="1500411" cy="150041"/>
          </a:xfrm>
          <a:prstGeom prst="rect">
            <a:avLst/>
          </a:prstGeom>
          <a:noFill/>
        </p:spPr>
        <p:txBody>
          <a:bodyPr wrap="none" lIns="0" tIns="0" rIns="0" bIns="0" anchor="t">
            <a:spAutoFit/>
          </a:bodyPr>
          <a:lstStyle/>
          <a:p>
            <a:pPr algn="l"/>
            <a:r>
              <a:rPr sz="975" b="1" i="0" u="none" dirty="0" err="1">
                <a:solidFill>
                  <a:srgbClr val="64748B"/>
                </a:solidFill>
                <a:latin typeface="Noto Sans KR" panose="020B0200000000000000" pitchFamily="50" charset="-127"/>
              </a:rPr>
              <a:t>원클릭</a:t>
            </a:r>
            <a:r>
              <a:rPr sz="975" b="1" i="0" u="none" dirty="0">
                <a:solidFill>
                  <a:srgbClr val="64748B"/>
                </a:solidFill>
                <a:latin typeface="Noto Sans KR" panose="020B0200000000000000" pitchFamily="50" charset="-127"/>
              </a:rPr>
              <a:t> </a:t>
            </a:r>
            <a:r>
              <a:rPr sz="975" b="1" i="0" u="none" dirty="0" err="1">
                <a:solidFill>
                  <a:srgbClr val="64748B"/>
                </a:solidFill>
                <a:latin typeface="Noto Sans KR" panose="020B0200000000000000" pitchFamily="50" charset="-127"/>
              </a:rPr>
              <a:t>빌드</a:t>
            </a:r>
            <a:r>
              <a:rPr sz="975" b="1" i="0" u="none" dirty="0">
                <a:solidFill>
                  <a:srgbClr val="64748B"/>
                </a:solidFill>
                <a:latin typeface="Noto Sans KR" panose="020B0200000000000000" pitchFamily="50" charset="-127"/>
              </a:rPr>
              <a:t> 및 </a:t>
            </a:r>
            <a:r>
              <a:rPr sz="975" b="1" i="0" u="none" dirty="0" err="1">
                <a:solidFill>
                  <a:srgbClr val="64748B"/>
                </a:solidFill>
                <a:latin typeface="Noto Sans KR" panose="020B0200000000000000" pitchFamily="50" charset="-127"/>
              </a:rPr>
              <a:t>대시보드</a:t>
            </a:r>
            <a:r>
              <a:rPr sz="975" b="1" i="0" u="none" dirty="0">
                <a:solidFill>
                  <a:srgbClr val="64748B"/>
                </a:solidFill>
                <a:latin typeface="Noto Sans KR" panose="020B0200000000000000" pitchFamily="50" charset="-127"/>
              </a:rPr>
              <a:t> </a:t>
            </a:r>
            <a:r>
              <a:rPr sz="975" b="1" i="0" u="none" dirty="0" err="1">
                <a:solidFill>
                  <a:srgbClr val="64748B"/>
                </a:solidFill>
                <a:latin typeface="Noto Sans KR" panose="020B0200000000000000" pitchFamily="50" charset="-127"/>
              </a:rPr>
              <a:t>접근</a:t>
            </a:r>
            <a:endParaRPr sz="975" b="1" i="0" u="none" dirty="0">
              <a:solidFill>
                <a:srgbClr val="64748B"/>
              </a:solidFill>
              <a:latin typeface="Noto Sans KR" panose="020B0200000000000000" pitchFamily="50" charset="-127"/>
            </a:endParaRPr>
          </a:p>
        </p:txBody>
      </p:sp>
      <p:sp>
        <p:nvSpPr>
          <p:cNvPr id="14" name="TextBox 13"/>
          <p:cNvSpPr txBox="1"/>
          <p:nvPr/>
        </p:nvSpPr>
        <p:spPr>
          <a:xfrm>
            <a:off x="6677025" y="3546127"/>
            <a:ext cx="4848225" cy="800100"/>
          </a:xfrm>
          <a:prstGeom prst="rect">
            <a:avLst/>
          </a:prstGeom>
          <a:noFill/>
        </p:spPr>
        <p:txBody>
          <a:bodyPr wrap="square" lIns="0" tIns="0" rIns="0" bIns="0" anchor="t">
            <a:spAutoFit/>
          </a:bodyPr>
          <a:lstStyle/>
          <a:p>
            <a:pPr algn="l">
              <a:lnSpc>
                <a:spcPts val="1575"/>
              </a:lnSpc>
            </a:pPr>
            <a:r>
              <a:rPr sz="1050" b="0" i="0" u="none" dirty="0">
                <a:solidFill>
                  <a:srgbClr val="F8FAFC"/>
                </a:solidFill>
                <a:latin typeface="Consolas" panose="020B0609020204030204" pitchFamily="49" charset="0"/>
              </a:rPr>
              <a:t># Docker </a:t>
            </a:r>
            <a:r>
              <a:rPr sz="1050" b="0" i="0" u="none" dirty="0" err="1">
                <a:solidFill>
                  <a:srgbClr val="F8FAFC"/>
                </a:solidFill>
                <a:latin typeface="Consolas" panose="020B0609020204030204" pitchFamily="49" charset="0"/>
              </a:rPr>
              <a:t>컨테이너</a:t>
            </a:r>
            <a:r>
              <a:rPr sz="1050" b="0" i="0" u="none" dirty="0">
                <a:solidFill>
                  <a:srgbClr val="F8FAFC"/>
                </a:solidFill>
                <a:latin typeface="Consolas" panose="020B0609020204030204" pitchFamily="49" charset="0"/>
              </a:rPr>
              <a:t> </a:t>
            </a:r>
            <a:r>
              <a:rPr sz="1050" b="0" i="0" u="none" dirty="0" err="1">
                <a:solidFill>
                  <a:srgbClr val="F8FAFC"/>
                </a:solidFill>
                <a:latin typeface="Consolas" panose="020B0609020204030204" pitchFamily="49" charset="0"/>
              </a:rPr>
              <a:t>생성</a:t>
            </a:r>
            <a:r>
              <a:rPr sz="1050" b="0" i="0" u="none" dirty="0">
                <a:solidFill>
                  <a:srgbClr val="F8FAFC"/>
                </a:solidFill>
                <a:latin typeface="Consolas" panose="020B0609020204030204" pitchFamily="49" charset="0"/>
              </a:rPr>
              <a:t> 및 </a:t>
            </a:r>
            <a:r>
              <a:rPr sz="1050" b="0" i="0" u="none" dirty="0" err="1">
                <a:solidFill>
                  <a:srgbClr val="F8FAFC"/>
                </a:solidFill>
                <a:latin typeface="Consolas" panose="020B0609020204030204" pitchFamily="49" charset="0"/>
              </a:rPr>
              <a:t>데몬</a:t>
            </a:r>
            <a:r>
              <a:rPr sz="1050" b="0" i="0" u="none" dirty="0">
                <a:solidFill>
                  <a:srgbClr val="F8FAFC"/>
                </a:solidFill>
                <a:latin typeface="Consolas" panose="020B0609020204030204" pitchFamily="49" charset="0"/>
              </a:rPr>
              <a:t> </a:t>
            </a:r>
            <a:r>
              <a:rPr sz="1050" b="0" i="0" u="none" dirty="0" err="1">
                <a:solidFill>
                  <a:srgbClr val="F8FAFC"/>
                </a:solidFill>
                <a:latin typeface="Consolas" panose="020B0609020204030204" pitchFamily="49" charset="0"/>
              </a:rPr>
              <a:t>실행</a:t>
            </a:r>
            <a:r>
              <a:rPr sz="1050" b="0" i="0" u="none" dirty="0">
                <a:solidFill>
                  <a:srgbClr val="F8FAFC"/>
                </a:solidFill>
                <a:latin typeface="Consolas" panose="020B0609020204030204" pitchFamily="49" charset="0"/>
              </a:rPr>
              <a:t> docker compose up -d --build # </a:t>
            </a:r>
            <a:r>
              <a:rPr sz="1050" b="0" i="0" u="none" dirty="0" err="1">
                <a:solidFill>
                  <a:srgbClr val="F8FAFC"/>
                </a:solidFill>
                <a:latin typeface="Consolas" panose="020B0609020204030204" pitchFamily="49" charset="0"/>
              </a:rPr>
              <a:t>서비스</a:t>
            </a:r>
            <a:r>
              <a:rPr sz="1050" b="0" i="0" u="none" dirty="0">
                <a:solidFill>
                  <a:srgbClr val="F8FAFC"/>
                </a:solidFill>
                <a:latin typeface="Consolas" panose="020B0609020204030204" pitchFamily="49" charset="0"/>
              </a:rPr>
              <a:t> </a:t>
            </a:r>
            <a:r>
              <a:rPr sz="1050" b="0" i="0" u="none" dirty="0" err="1">
                <a:solidFill>
                  <a:srgbClr val="F8FAFC"/>
                </a:solidFill>
                <a:latin typeface="Consolas" panose="020B0609020204030204" pitchFamily="49" charset="0"/>
              </a:rPr>
              <a:t>정상</a:t>
            </a:r>
            <a:r>
              <a:rPr sz="1050" b="0" i="0" u="none" dirty="0">
                <a:solidFill>
                  <a:srgbClr val="F8FAFC"/>
                </a:solidFill>
                <a:latin typeface="Consolas" panose="020B0609020204030204" pitchFamily="49" charset="0"/>
              </a:rPr>
              <a:t> </a:t>
            </a:r>
            <a:r>
              <a:rPr sz="1050" b="0" i="0" u="none" dirty="0" err="1">
                <a:solidFill>
                  <a:srgbClr val="F8FAFC"/>
                </a:solidFill>
                <a:latin typeface="Consolas" panose="020B0609020204030204" pitchFamily="49" charset="0"/>
              </a:rPr>
              <a:t>구동</a:t>
            </a:r>
            <a:r>
              <a:rPr sz="1050" b="0" i="0" u="none" dirty="0">
                <a:solidFill>
                  <a:srgbClr val="F8FAFC"/>
                </a:solidFill>
                <a:latin typeface="Consolas" panose="020B0609020204030204" pitchFamily="49" charset="0"/>
              </a:rPr>
              <a:t> </a:t>
            </a:r>
            <a:r>
              <a:rPr sz="1050" b="0" i="0" u="none" dirty="0" err="1">
                <a:solidFill>
                  <a:srgbClr val="F8FAFC"/>
                </a:solidFill>
                <a:latin typeface="Consolas" panose="020B0609020204030204" pitchFamily="49" charset="0"/>
              </a:rPr>
              <a:t>확인</a:t>
            </a:r>
            <a:r>
              <a:rPr sz="1050" b="0" i="0" u="none" dirty="0">
                <a:solidFill>
                  <a:srgbClr val="F8FAFC"/>
                </a:solidFill>
                <a:latin typeface="Consolas" panose="020B0609020204030204" pitchFamily="49" charset="0"/>
              </a:rPr>
              <a:t> docker compose </a:t>
            </a:r>
            <a:r>
              <a:rPr sz="1050" b="0" i="0" u="none" dirty="0" err="1">
                <a:solidFill>
                  <a:srgbClr val="F8FAFC"/>
                </a:solidFill>
                <a:latin typeface="Consolas" panose="020B0609020204030204" pitchFamily="49" charset="0"/>
              </a:rPr>
              <a:t>ps</a:t>
            </a:r>
            <a:r>
              <a:rPr sz="1050" b="0" i="0" u="none" dirty="0">
                <a:solidFill>
                  <a:srgbClr val="F8FAFC"/>
                </a:solidFill>
                <a:latin typeface="Consolas" panose="020B0609020204030204" pitchFamily="49" charset="0"/>
              </a:rPr>
              <a:t> # </a:t>
            </a:r>
            <a:r>
              <a:rPr sz="1050" b="0" i="0" u="none" dirty="0" err="1">
                <a:solidFill>
                  <a:srgbClr val="F8FAFC"/>
                </a:solidFill>
                <a:latin typeface="Consolas" panose="020B0609020204030204" pitchFamily="49" charset="0"/>
              </a:rPr>
              <a:t>접근</a:t>
            </a:r>
            <a:r>
              <a:rPr sz="1050" b="0" i="0" u="none" dirty="0">
                <a:solidFill>
                  <a:srgbClr val="F8FAFC"/>
                </a:solidFill>
                <a:latin typeface="Consolas" panose="020B0609020204030204" pitchFamily="49" charset="0"/>
              </a:rPr>
              <a:t> </a:t>
            </a:r>
            <a:r>
              <a:rPr sz="1050" b="0" i="0" u="none" dirty="0" err="1">
                <a:solidFill>
                  <a:srgbClr val="F8FAFC"/>
                </a:solidFill>
                <a:latin typeface="Consolas" panose="020B0609020204030204" pitchFamily="49" charset="0"/>
              </a:rPr>
              <a:t>주소</a:t>
            </a:r>
            <a:r>
              <a:rPr sz="1050" b="0" i="0" u="none" dirty="0">
                <a:solidFill>
                  <a:srgbClr val="F8FAFC"/>
                </a:solidFill>
                <a:latin typeface="Consolas" panose="020B0609020204030204" pitchFamily="49" charset="0"/>
              </a:rPr>
              <a:t> • Management UI : http://localhost:8000/ui/overview • API Docs : http://localhost:8000/docs</a:t>
            </a:r>
          </a:p>
        </p:txBody>
      </p:sp>
      <p:sp>
        <p:nvSpPr>
          <p:cNvPr id="15" name="TextBox 14"/>
          <p:cNvSpPr txBox="1"/>
          <p:nvPr/>
        </p:nvSpPr>
        <p:spPr>
          <a:xfrm>
            <a:off x="1419225" y="3174652"/>
            <a:ext cx="1638269" cy="184666"/>
          </a:xfrm>
          <a:prstGeom prst="rect">
            <a:avLst/>
          </a:prstGeom>
          <a:noFill/>
        </p:spPr>
        <p:txBody>
          <a:bodyPr wrap="none" lIns="0" tIns="0" rIns="0" bIns="0" anchor="t">
            <a:spAutoFit/>
          </a:bodyPr>
          <a:lstStyle/>
          <a:p>
            <a:pPr algn="l"/>
            <a:r>
              <a:rPr sz="1200" b="1" i="0" u="none" dirty="0">
                <a:solidFill>
                  <a:srgbClr val="0F172A"/>
                </a:solidFill>
                <a:latin typeface="Noto Sans KR" panose="020B0200000000000000" pitchFamily="50" charset="-127"/>
              </a:rPr>
              <a:t>API Service Container</a:t>
            </a:r>
          </a:p>
        </p:txBody>
      </p:sp>
      <p:sp>
        <p:nvSpPr>
          <p:cNvPr id="16" name="TextBox 15"/>
          <p:cNvSpPr txBox="1"/>
          <p:nvPr/>
        </p:nvSpPr>
        <p:spPr>
          <a:xfrm>
            <a:off x="1419225" y="3355627"/>
            <a:ext cx="2688236" cy="150041"/>
          </a:xfrm>
          <a:prstGeom prst="rect">
            <a:avLst/>
          </a:prstGeom>
          <a:noFill/>
        </p:spPr>
        <p:txBody>
          <a:bodyPr wrap="none" lIns="0" tIns="0" rIns="0" bIns="0" anchor="t">
            <a:spAutoFit/>
          </a:bodyPr>
          <a:lstStyle/>
          <a:p>
            <a:pPr algn="l"/>
            <a:r>
              <a:rPr sz="975" b="0" i="0" u="none" dirty="0">
                <a:solidFill>
                  <a:srgbClr val="64748B"/>
                </a:solidFill>
                <a:latin typeface="Noto Sans KR" panose="020B0200000000000000" pitchFamily="50" charset="-127"/>
              </a:rPr>
              <a:t>Python 3.12-slim · </a:t>
            </a:r>
            <a:r>
              <a:rPr sz="975" b="0" i="0" u="none" dirty="0" err="1">
                <a:solidFill>
                  <a:srgbClr val="64748B"/>
                </a:solidFill>
                <a:latin typeface="Noto Sans KR" panose="020B0200000000000000" pitchFamily="50" charset="-127"/>
              </a:rPr>
              <a:t>FastAPI</a:t>
            </a:r>
            <a:r>
              <a:rPr sz="975" b="0" i="0" u="none" dirty="0">
                <a:solidFill>
                  <a:srgbClr val="64748B"/>
                </a:solidFill>
                <a:latin typeface="Noto Sans KR" panose="020B0200000000000000" pitchFamily="50" charset="-127"/>
              </a:rPr>
              <a:t> · Jinja2 · Port 8000</a:t>
            </a:r>
          </a:p>
        </p:txBody>
      </p:sp>
      <p:sp>
        <p:nvSpPr>
          <p:cNvPr id="17" name="TextBox 16"/>
          <p:cNvSpPr txBox="1"/>
          <p:nvPr/>
        </p:nvSpPr>
        <p:spPr>
          <a:xfrm>
            <a:off x="1419225" y="3784252"/>
            <a:ext cx="1859483" cy="184666"/>
          </a:xfrm>
          <a:prstGeom prst="rect">
            <a:avLst/>
          </a:prstGeom>
          <a:noFill/>
        </p:spPr>
        <p:txBody>
          <a:bodyPr wrap="none" lIns="0" tIns="0" rIns="0" bIns="0" anchor="t">
            <a:spAutoFit/>
          </a:bodyPr>
          <a:lstStyle/>
          <a:p>
            <a:pPr algn="l"/>
            <a:r>
              <a:rPr sz="1200" b="1" i="0" u="none" dirty="0">
                <a:solidFill>
                  <a:srgbClr val="0F172A"/>
                </a:solidFill>
                <a:latin typeface="Noto Sans KR" panose="020B0200000000000000" pitchFamily="50" charset="-127"/>
              </a:rPr>
              <a:t>PostgreSQL 17 Database</a:t>
            </a:r>
          </a:p>
        </p:txBody>
      </p:sp>
      <p:sp>
        <p:nvSpPr>
          <p:cNvPr id="18" name="TextBox 17"/>
          <p:cNvSpPr txBox="1"/>
          <p:nvPr/>
        </p:nvSpPr>
        <p:spPr>
          <a:xfrm>
            <a:off x="1419225" y="3965227"/>
            <a:ext cx="2920671" cy="150041"/>
          </a:xfrm>
          <a:prstGeom prst="rect">
            <a:avLst/>
          </a:prstGeom>
          <a:noFill/>
        </p:spPr>
        <p:txBody>
          <a:bodyPr wrap="none" lIns="0" tIns="0" rIns="0" bIns="0" anchor="t">
            <a:spAutoFit/>
          </a:bodyPr>
          <a:lstStyle/>
          <a:p>
            <a:pPr algn="l"/>
            <a:r>
              <a:rPr sz="975" b="0" i="0" u="none" dirty="0">
                <a:solidFill>
                  <a:srgbClr val="64748B"/>
                </a:solidFill>
                <a:latin typeface="Noto Sans KR" panose="020B0200000000000000" pitchFamily="50" charset="-127"/>
              </a:rPr>
              <a:t>Named Volume (</a:t>
            </a:r>
            <a:r>
              <a:rPr sz="975" b="0" i="0" u="none" dirty="0" err="1">
                <a:solidFill>
                  <a:srgbClr val="64748B"/>
                </a:solidFill>
                <a:latin typeface="Noto Sans KR" panose="020B0200000000000000" pitchFamily="50" charset="-127"/>
              </a:rPr>
              <a:t>postgres_data</a:t>
            </a:r>
            <a:r>
              <a:rPr sz="975" b="0" i="0" u="none" dirty="0">
                <a:solidFill>
                  <a:srgbClr val="64748B"/>
                </a:solidFill>
                <a:latin typeface="Noto Sans KR" panose="020B0200000000000000" pitchFamily="50" charset="-127"/>
              </a:rPr>
              <a:t>) persistent storage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1500" y="2238821"/>
            <a:ext cx="5429250" cy="1595437"/>
          </a:xfrm>
          <a:prstGeom prst="roundRect">
            <a:avLst>
              <a:gd name="adj" fmla="val 71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191250" y="2238821"/>
            <a:ext cx="5429250" cy="1595437"/>
          </a:xfrm>
          <a:prstGeom prst="roundRect">
            <a:avLst>
              <a:gd name="adj" fmla="val 71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71500" y="4024758"/>
            <a:ext cx="5429250" cy="1409700"/>
          </a:xfrm>
          <a:prstGeom prst="roundRect">
            <a:avLst>
              <a:gd name="adj" fmla="val 810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91250" y="4024758"/>
            <a:ext cx="5429250" cy="1409700"/>
          </a:xfrm>
          <a:prstGeom prst="roundRect">
            <a:avLst>
              <a:gd name="adj" fmla="val 810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1525" y="2438846"/>
            <a:ext cx="1408211" cy="247650"/>
          </a:xfrm>
          <a:prstGeom prst="roundRect">
            <a:avLst>
              <a:gd name="adj" fmla="val 23076"/>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391275" y="2438846"/>
            <a:ext cx="1532036" cy="247650"/>
          </a:xfrm>
          <a:prstGeom prst="roundRect">
            <a:avLst>
              <a:gd name="adj" fmla="val 23076"/>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1525" y="4224783"/>
            <a:ext cx="1580405" cy="247650"/>
          </a:xfrm>
          <a:prstGeom prst="roundRect">
            <a:avLst>
              <a:gd name="adj" fmla="val 23076"/>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91275" y="4224783"/>
            <a:ext cx="1408211" cy="247650"/>
          </a:xfrm>
          <a:prstGeom prst="roundRect">
            <a:avLst>
              <a:gd name="adj" fmla="val 23076"/>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381000"/>
            <a:ext cx="1590179" cy="161583"/>
          </a:xfrm>
          <a:prstGeom prst="rect">
            <a:avLst/>
          </a:prstGeom>
          <a:noFill/>
        </p:spPr>
        <p:txBody>
          <a:bodyPr wrap="none" lIns="0" tIns="0" rIns="0" bIns="0" anchor="t">
            <a:spAutoFit/>
          </a:bodyPr>
          <a:lstStyle/>
          <a:p>
            <a:pPr algn="l"/>
            <a:r>
              <a:rPr sz="1050" b="1" i="0" u="none" dirty="0">
                <a:solidFill>
                  <a:srgbClr val="2563EB"/>
                </a:solidFill>
                <a:latin typeface="Noto Sans KR" panose="020B0200000000000000" pitchFamily="50" charset="-127"/>
              </a:rPr>
              <a:t>10. TROUBLESHOOTING</a:t>
            </a:r>
          </a:p>
        </p:txBody>
      </p:sp>
      <p:sp>
        <p:nvSpPr>
          <p:cNvPr id="11" name="TextBox 10"/>
          <p:cNvSpPr txBox="1"/>
          <p:nvPr/>
        </p:nvSpPr>
        <p:spPr>
          <a:xfrm>
            <a:off x="571500" y="590550"/>
            <a:ext cx="3225242" cy="320601"/>
          </a:xfrm>
          <a:prstGeom prst="rect">
            <a:avLst/>
          </a:prstGeom>
          <a:noFill/>
        </p:spPr>
        <p:txBody>
          <a:bodyPr wrap="none" lIns="0" tIns="0" rIns="0" bIns="0" anchor="t">
            <a:spAutoFit/>
          </a:bodyPr>
          <a:lstStyle/>
          <a:p>
            <a:pPr algn="l">
              <a:lnSpc>
                <a:spcPts val="2520"/>
              </a:lnSpc>
            </a:pPr>
            <a:r>
              <a:rPr sz="2100" b="1" i="0" u="none" dirty="0" err="1">
                <a:solidFill>
                  <a:srgbClr val="0F172A"/>
                </a:solidFill>
                <a:latin typeface="Noto Sans KR" panose="020B0200000000000000" pitchFamily="50" charset="-127"/>
              </a:rPr>
              <a:t>핵심</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트러블슈팅</a:t>
            </a:r>
            <a:r>
              <a:rPr sz="2100" b="1" i="0" u="none" dirty="0">
                <a:solidFill>
                  <a:srgbClr val="0F172A"/>
                </a:solidFill>
                <a:latin typeface="Noto Sans KR" panose="020B0200000000000000" pitchFamily="50" charset="-127"/>
              </a:rPr>
              <a:t> 및 </a:t>
            </a:r>
            <a:r>
              <a:rPr sz="2100" b="1" i="0" u="none" dirty="0" err="1">
                <a:solidFill>
                  <a:srgbClr val="0F172A"/>
                </a:solidFill>
                <a:latin typeface="Noto Sans KR" panose="020B0200000000000000" pitchFamily="50" charset="-127"/>
              </a:rPr>
              <a:t>예외</a:t>
            </a:r>
            <a:r>
              <a:rPr sz="2100" b="1" i="0" u="none" dirty="0">
                <a:solidFill>
                  <a:srgbClr val="0F172A"/>
                </a:solidFill>
                <a:latin typeface="Noto Sans KR" panose="020B0200000000000000" pitchFamily="50" charset="-127"/>
              </a:rPr>
              <a:t> </a:t>
            </a:r>
            <a:r>
              <a:rPr sz="2100" b="1" i="0" u="none" dirty="0" err="1">
                <a:solidFill>
                  <a:srgbClr val="0F172A"/>
                </a:solidFill>
                <a:latin typeface="Noto Sans KR" panose="020B0200000000000000" pitchFamily="50" charset="-127"/>
              </a:rPr>
              <a:t>대응</a:t>
            </a:r>
            <a:endParaRPr sz="2100" b="1" i="0" u="none" dirty="0">
              <a:solidFill>
                <a:srgbClr val="0F172A"/>
              </a:solidFill>
              <a:latin typeface="Noto Sans KR" panose="020B0200000000000000" pitchFamily="50" charset="-127"/>
            </a:endParaRPr>
          </a:p>
        </p:txBody>
      </p:sp>
      <p:sp>
        <p:nvSpPr>
          <p:cNvPr id="12" name="TextBox 11"/>
          <p:cNvSpPr txBox="1"/>
          <p:nvPr/>
        </p:nvSpPr>
        <p:spPr>
          <a:xfrm>
            <a:off x="866775" y="2476946"/>
            <a:ext cx="1312961" cy="150041"/>
          </a:xfrm>
          <a:prstGeom prst="rect">
            <a:avLst/>
          </a:prstGeom>
          <a:noFill/>
        </p:spPr>
        <p:txBody>
          <a:bodyPr wrap="square" lIns="0" tIns="0" rIns="0" bIns="0" anchor="t">
            <a:spAutoFit/>
          </a:bodyPr>
          <a:lstStyle/>
          <a:p>
            <a:pPr algn="l"/>
            <a:r>
              <a:rPr sz="975" b="1" i="0" u="none" dirty="0" err="1">
                <a:solidFill>
                  <a:srgbClr val="D97706"/>
                </a:solidFill>
                <a:latin typeface="Noto Sans KR" panose="020B0200000000000000" pitchFamily="50" charset="-127"/>
              </a:rPr>
              <a:t>시계열</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이력</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부족</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예외</a:t>
            </a:r>
            <a:endParaRPr sz="975" b="1" i="0" u="none" dirty="0">
              <a:solidFill>
                <a:srgbClr val="D97706"/>
              </a:solidFill>
              <a:latin typeface="Noto Sans KR" panose="020B0200000000000000" pitchFamily="50" charset="-127"/>
            </a:endParaRPr>
          </a:p>
        </p:txBody>
      </p:sp>
      <p:sp>
        <p:nvSpPr>
          <p:cNvPr id="13" name="TextBox 12"/>
          <p:cNvSpPr txBox="1"/>
          <p:nvPr/>
        </p:nvSpPr>
        <p:spPr>
          <a:xfrm>
            <a:off x="771525" y="2800796"/>
            <a:ext cx="2641749" cy="184666"/>
          </a:xfrm>
          <a:prstGeom prst="rect">
            <a:avLst/>
          </a:prstGeom>
          <a:noFill/>
        </p:spPr>
        <p:txBody>
          <a:bodyPr wrap="none" lIns="0" tIns="0" rIns="0" bIns="0" anchor="t">
            <a:spAutoFit/>
          </a:bodyPr>
          <a:lstStyle/>
          <a:p>
            <a:pPr algn="l"/>
            <a:r>
              <a:rPr sz="1200" b="1" i="0" u="none" dirty="0" err="1">
                <a:solidFill>
                  <a:srgbClr val="0F172A"/>
                </a:solidFill>
                <a:latin typeface="Noto Sans KR" panose="020B0200000000000000" pitchFamily="50" charset="-127"/>
              </a:rPr>
              <a:t>완료</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주간</a:t>
            </a:r>
            <a:r>
              <a:rPr sz="1200" b="1" i="0" u="none" dirty="0">
                <a:solidFill>
                  <a:srgbClr val="0F172A"/>
                </a:solidFill>
                <a:latin typeface="Noto Sans KR" panose="020B0200000000000000" pitchFamily="50" charset="-127"/>
              </a:rPr>
              <a:t> 26주 </a:t>
            </a:r>
            <a:r>
              <a:rPr sz="1200" b="1" i="0" u="none" dirty="0" err="1">
                <a:solidFill>
                  <a:srgbClr val="0F172A"/>
                </a:solidFill>
                <a:latin typeface="Noto Sans KR" panose="020B0200000000000000" pitchFamily="50" charset="-127"/>
              </a:rPr>
              <a:t>미만</a:t>
            </a:r>
            <a:r>
              <a:rPr sz="1200" b="1" i="0" u="none" dirty="0">
                <a:solidFill>
                  <a:srgbClr val="0F172A"/>
                </a:solidFill>
                <a:latin typeface="Noto Sans KR" panose="020B0200000000000000" pitchFamily="50" charset="-127"/>
              </a:rPr>
              <a:t> 시 </a:t>
            </a:r>
            <a:r>
              <a:rPr sz="1200" b="1" i="0" u="none" dirty="0" err="1">
                <a:solidFill>
                  <a:srgbClr val="0F172A"/>
                </a:solidFill>
                <a:latin typeface="Noto Sans KR" panose="020B0200000000000000" pitchFamily="50" charset="-127"/>
              </a:rPr>
              <a:t>발생</a:t>
            </a:r>
            <a:r>
              <a:rPr sz="1200" b="1" i="0" u="none" dirty="0">
                <a:solidFill>
                  <a:srgbClr val="0F172A"/>
                </a:solidFill>
                <a:latin typeface="Noto Sans KR" panose="020B0200000000000000" pitchFamily="50" charset="-127"/>
              </a:rPr>
              <a:t> (HTTP 409)</a:t>
            </a:r>
          </a:p>
        </p:txBody>
      </p:sp>
      <p:sp>
        <p:nvSpPr>
          <p:cNvPr id="14" name="TextBox 13"/>
          <p:cNvSpPr txBox="1"/>
          <p:nvPr/>
        </p:nvSpPr>
        <p:spPr>
          <a:xfrm>
            <a:off x="771525" y="3077021"/>
            <a:ext cx="5124450" cy="557212"/>
          </a:xfrm>
          <a:prstGeom prst="rect">
            <a:avLst/>
          </a:prstGeom>
          <a:noFill/>
        </p:spPr>
        <p:txBody>
          <a:bodyPr wrap="square" lIns="0" tIns="0" rIns="0" bIns="0" anchor="t">
            <a:spAutoFit/>
          </a:bodyPr>
          <a:lstStyle/>
          <a:p>
            <a:pPr algn="l">
              <a:lnSpc>
                <a:spcPts val="1462"/>
              </a:lnSpc>
            </a:pPr>
            <a:r>
              <a:rPr sz="975" b="1" i="0" u="none" dirty="0" err="1">
                <a:solidFill>
                  <a:srgbClr val="475569"/>
                </a:solidFill>
                <a:latin typeface="Noto Sans KR" panose="020B0200000000000000" pitchFamily="50" charset="-127"/>
              </a:rPr>
              <a:t>원인</a:t>
            </a:r>
            <a:r>
              <a:rPr sz="975" b="1" i="0" u="none" dirty="0">
                <a:solidFill>
                  <a:srgbClr val="475569"/>
                </a:solidFill>
                <a:latin typeface="Noto Sans KR" panose="020B0200000000000000" pitchFamily="50" charset="-127"/>
              </a:rPr>
              <a:t>:</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단순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주문</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건수가</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아닌</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주간</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정규화</a:t>
            </a:r>
            <a:r>
              <a:rPr sz="975" b="0" i="0" u="none" dirty="0">
                <a:solidFill>
                  <a:srgbClr val="475569"/>
                </a:solidFill>
                <a:latin typeface="Noto Sans KR" panose="020B0200000000000000" pitchFamily="50" charset="-127"/>
              </a:rPr>
              <a:t> 후 </a:t>
            </a:r>
            <a:r>
              <a:rPr sz="975" b="0" i="0" u="none" dirty="0" err="1">
                <a:solidFill>
                  <a:srgbClr val="475569"/>
                </a:solidFill>
                <a:latin typeface="Noto Sans KR" panose="020B0200000000000000" pitchFamily="50" charset="-127"/>
              </a:rPr>
              <a:t>완료된</a:t>
            </a:r>
            <a:r>
              <a:rPr sz="975" b="0" i="0" u="none" dirty="0">
                <a:solidFill>
                  <a:srgbClr val="475569"/>
                </a:solidFill>
                <a:latin typeface="Noto Sans KR" panose="020B0200000000000000" pitchFamily="50" charset="-127"/>
              </a:rPr>
              <a:t> 주 </a:t>
            </a:r>
            <a:r>
              <a:rPr sz="975" b="0" i="0" u="none" dirty="0" err="1">
                <a:solidFill>
                  <a:srgbClr val="475569"/>
                </a:solidFill>
                <a:latin typeface="Noto Sans KR" panose="020B0200000000000000" pitchFamily="50" charset="-127"/>
              </a:rPr>
              <a:t>범위가</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부족한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경우</a:t>
            </a:r>
            <a:r>
              <a:rPr sz="975" b="0" i="0" u="none" dirty="0">
                <a:solidFill>
                  <a:srgbClr val="475569"/>
                </a:solidFill>
                <a:latin typeface="Noto Sans KR" panose="020B0200000000000000" pitchFamily="50" charset="-127"/>
              </a:rPr>
              <a:t>.</a:t>
            </a:r>
            <a:r>
              <a:rPr dirty="0"/>
              <a:t>
</a:t>
            </a:r>
            <a:r>
              <a:rPr sz="975" b="1" i="0" u="none" dirty="0" err="1">
                <a:solidFill>
                  <a:srgbClr val="475569"/>
                </a:solidFill>
                <a:latin typeface="Noto Sans KR" panose="020B0200000000000000" pitchFamily="50" charset="-127"/>
              </a:rPr>
              <a:t>조치</a:t>
            </a:r>
            <a:r>
              <a:rPr sz="975" b="1" i="0" u="none" dirty="0">
                <a:solidFill>
                  <a:srgbClr val="475569"/>
                </a:solidFill>
                <a:latin typeface="Noto Sans KR" panose="020B0200000000000000" pitchFamily="50" charset="-127"/>
              </a:rPr>
              <a:t>:</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과거</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이력</a:t>
            </a:r>
            <a:r>
              <a:rPr sz="975" b="0" i="0" u="none" dirty="0">
                <a:solidFill>
                  <a:srgbClr val="475569"/>
                </a:solidFill>
                <a:latin typeface="Noto Sans KR" panose="020B0200000000000000" pitchFamily="50" charset="-127"/>
              </a:rPr>
              <a:t> CSV </a:t>
            </a:r>
            <a:r>
              <a:rPr sz="975" b="0" i="0" u="none" dirty="0" err="1">
                <a:solidFill>
                  <a:srgbClr val="475569"/>
                </a:solidFill>
                <a:latin typeface="Noto Sans KR" panose="020B0200000000000000" pitchFamily="50" charset="-127"/>
              </a:rPr>
              <a:t>수주</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데이터를</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보충</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등록하거나</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데이터</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부족</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상품에</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대해</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재주문점</a:t>
            </a:r>
            <a:r>
              <a:rPr sz="975" b="0" i="0" u="none" dirty="0">
                <a:solidFill>
                  <a:srgbClr val="475569"/>
                </a:solidFill>
                <a:latin typeface="Noto Sans KR" panose="020B0200000000000000" pitchFamily="50" charset="-127"/>
              </a:rPr>
              <a:t>(Reorder Point) </a:t>
            </a:r>
            <a:r>
              <a:rPr sz="975" b="0" i="0" u="none" dirty="0" err="1">
                <a:solidFill>
                  <a:srgbClr val="475569"/>
                </a:solidFill>
                <a:latin typeface="Noto Sans KR" panose="020B0200000000000000" pitchFamily="50" charset="-127"/>
              </a:rPr>
              <a:t>고정</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로직으로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폴백</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제공</a:t>
            </a:r>
            <a:r>
              <a:rPr sz="975" b="0" i="0" u="none" dirty="0">
                <a:solidFill>
                  <a:srgbClr val="475569"/>
                </a:solidFill>
                <a:latin typeface="Noto Sans KR" panose="020B0200000000000000" pitchFamily="50" charset="-127"/>
              </a:rPr>
              <a:t>.</a:t>
            </a:r>
          </a:p>
        </p:txBody>
      </p:sp>
      <p:sp>
        <p:nvSpPr>
          <p:cNvPr id="15" name="TextBox 14"/>
          <p:cNvSpPr txBox="1"/>
          <p:nvPr/>
        </p:nvSpPr>
        <p:spPr>
          <a:xfrm>
            <a:off x="6486525" y="2476946"/>
            <a:ext cx="1436786" cy="150041"/>
          </a:xfrm>
          <a:prstGeom prst="rect">
            <a:avLst/>
          </a:prstGeom>
          <a:noFill/>
        </p:spPr>
        <p:txBody>
          <a:bodyPr wrap="square" lIns="0" tIns="0" rIns="0" bIns="0" anchor="t">
            <a:spAutoFit/>
          </a:bodyPr>
          <a:lstStyle/>
          <a:p>
            <a:pPr algn="l"/>
            <a:r>
              <a:rPr sz="975" b="1" i="0" u="none" dirty="0" err="1">
                <a:solidFill>
                  <a:srgbClr val="D97706"/>
                </a:solidFill>
                <a:latin typeface="Noto Sans KR" panose="020B0200000000000000" pitchFamily="50" charset="-127"/>
              </a:rPr>
              <a:t>예측</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캐시</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무효화</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정합성</a:t>
            </a:r>
            <a:endParaRPr sz="975" b="1" i="0" u="none" dirty="0">
              <a:solidFill>
                <a:srgbClr val="D97706"/>
              </a:solidFill>
              <a:latin typeface="Noto Sans KR" panose="020B0200000000000000" pitchFamily="50" charset="-127"/>
            </a:endParaRPr>
          </a:p>
        </p:txBody>
      </p:sp>
      <p:sp>
        <p:nvSpPr>
          <p:cNvPr id="16" name="TextBox 15"/>
          <p:cNvSpPr txBox="1"/>
          <p:nvPr/>
        </p:nvSpPr>
        <p:spPr>
          <a:xfrm>
            <a:off x="6391275" y="2800796"/>
            <a:ext cx="2327560" cy="184666"/>
          </a:xfrm>
          <a:prstGeom prst="rect">
            <a:avLst/>
          </a:prstGeom>
          <a:noFill/>
        </p:spPr>
        <p:txBody>
          <a:bodyPr wrap="none" lIns="0" tIns="0" rIns="0" bIns="0" anchor="t">
            <a:spAutoFit/>
          </a:bodyPr>
          <a:lstStyle/>
          <a:p>
            <a:pPr algn="l"/>
            <a:r>
              <a:rPr sz="1200" b="1" i="0" u="none" dirty="0" err="1">
                <a:solidFill>
                  <a:srgbClr val="0F172A"/>
                </a:solidFill>
                <a:latin typeface="Noto Sans KR" panose="020B0200000000000000" pitchFamily="50" charset="-127"/>
              </a:rPr>
              <a:t>데이터</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수정</a:t>
            </a:r>
            <a:r>
              <a:rPr sz="1200" b="1" i="0" u="none" dirty="0">
                <a:solidFill>
                  <a:srgbClr val="0F172A"/>
                </a:solidFill>
                <a:latin typeface="Noto Sans KR" panose="020B0200000000000000" pitchFamily="50" charset="-127"/>
              </a:rPr>
              <a:t> 후 </a:t>
            </a:r>
            <a:r>
              <a:rPr sz="1200" b="1" i="0" u="none" dirty="0" err="1">
                <a:solidFill>
                  <a:srgbClr val="0F172A"/>
                </a:solidFill>
                <a:latin typeface="Noto Sans KR" panose="020B0200000000000000" pitchFamily="50" charset="-127"/>
              </a:rPr>
              <a:t>예측</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결과</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미갱신</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현상</a:t>
            </a:r>
            <a:endParaRPr sz="1200" b="1" i="0" u="none" dirty="0">
              <a:solidFill>
                <a:srgbClr val="0F172A"/>
              </a:solidFill>
              <a:latin typeface="Noto Sans KR" panose="020B0200000000000000" pitchFamily="50" charset="-127"/>
            </a:endParaRPr>
          </a:p>
        </p:txBody>
      </p:sp>
      <p:sp>
        <p:nvSpPr>
          <p:cNvPr id="17" name="TextBox 16"/>
          <p:cNvSpPr txBox="1"/>
          <p:nvPr/>
        </p:nvSpPr>
        <p:spPr>
          <a:xfrm>
            <a:off x="6391275" y="3077021"/>
            <a:ext cx="5124450" cy="366511"/>
          </a:xfrm>
          <a:prstGeom prst="rect">
            <a:avLst/>
          </a:prstGeom>
          <a:noFill/>
        </p:spPr>
        <p:txBody>
          <a:bodyPr wrap="square" lIns="0" tIns="0" rIns="0" bIns="0" anchor="t">
            <a:spAutoFit/>
          </a:bodyPr>
          <a:lstStyle/>
          <a:p>
            <a:pPr algn="l">
              <a:lnSpc>
                <a:spcPts val="1462"/>
              </a:lnSpc>
            </a:pPr>
            <a:r>
              <a:rPr sz="975" b="1" i="0" u="none" dirty="0" err="1">
                <a:solidFill>
                  <a:srgbClr val="475569"/>
                </a:solidFill>
                <a:latin typeface="Noto Sans KR" panose="020B0200000000000000" pitchFamily="50" charset="-127"/>
              </a:rPr>
              <a:t>원인</a:t>
            </a:r>
            <a:r>
              <a:rPr sz="975" b="1" i="0" u="none" dirty="0">
                <a:solidFill>
                  <a:srgbClr val="475569"/>
                </a:solidFill>
                <a:latin typeface="Noto Sans KR" panose="020B0200000000000000" pitchFamily="50" charset="-127"/>
              </a:rPr>
              <a:t>:</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캐시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서명이</a:t>
            </a:r>
            <a:r>
              <a:rPr sz="975" b="0" i="0" u="none" dirty="0">
                <a:solidFill>
                  <a:srgbClr val="475569"/>
                </a:solidFill>
                <a:latin typeface="Noto Sans KR" panose="020B0200000000000000" pitchFamily="50" charset="-127"/>
              </a:rPr>
              <a:t> 표 </a:t>
            </a:r>
            <a:r>
              <a:rPr sz="975" b="0" i="0" u="none" dirty="0" err="1">
                <a:solidFill>
                  <a:srgbClr val="475569"/>
                </a:solidFill>
                <a:latin typeface="Noto Sans KR" panose="020B0200000000000000" pitchFamily="50" charset="-127"/>
              </a:rPr>
              <a:t>크기</a:t>
            </a:r>
            <a:r>
              <a:rPr sz="975" b="0" i="0" u="none" dirty="0">
                <a:solidFill>
                  <a:srgbClr val="475569"/>
                </a:solidFill>
                <a:latin typeface="Noto Sans KR" panose="020B0200000000000000" pitchFamily="50" charset="-127"/>
              </a:rPr>
              <a:t> 및 </a:t>
            </a:r>
            <a:r>
              <a:rPr sz="975" b="0" i="0" u="none" dirty="0" err="1">
                <a:solidFill>
                  <a:srgbClr val="475569"/>
                </a:solidFill>
                <a:latin typeface="Noto Sans KR" panose="020B0200000000000000" pitchFamily="50" charset="-127"/>
              </a:rPr>
              <a:t>합계</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기반으로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작성되어</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동일</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합계</a:t>
            </a:r>
            <a:r>
              <a:rPr sz="975" b="0" i="0" u="none" dirty="0">
                <a:solidFill>
                  <a:srgbClr val="475569"/>
                </a:solidFill>
                <a:latin typeface="Noto Sans KR" panose="020B0200000000000000" pitchFamily="50" charset="-127"/>
              </a:rPr>
              <a:t> 내 </a:t>
            </a:r>
            <a:r>
              <a:rPr sz="975" b="0" i="0" u="none" dirty="0" err="1">
                <a:solidFill>
                  <a:srgbClr val="475569"/>
                </a:solidFill>
                <a:latin typeface="Noto Sans KR" panose="020B0200000000000000" pitchFamily="50" charset="-127"/>
              </a:rPr>
              <a:t>변경</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미감지</a:t>
            </a:r>
            <a:r>
              <a:rPr sz="975" b="0" i="0" u="none" dirty="0">
                <a:solidFill>
                  <a:srgbClr val="475569"/>
                </a:solidFill>
                <a:latin typeface="Noto Sans KR" panose="020B0200000000000000" pitchFamily="50" charset="-127"/>
              </a:rPr>
              <a:t>.</a:t>
            </a:r>
            <a:r>
              <a:rPr dirty="0"/>
              <a:t>
</a:t>
            </a:r>
            <a:r>
              <a:rPr sz="975" b="1" i="0" u="none" dirty="0" err="1">
                <a:solidFill>
                  <a:srgbClr val="475569"/>
                </a:solidFill>
                <a:latin typeface="Noto Sans KR" panose="020B0200000000000000" pitchFamily="50" charset="-127"/>
              </a:rPr>
              <a:t>조치</a:t>
            </a:r>
            <a:r>
              <a:rPr sz="975" b="1" i="0" u="none" dirty="0">
                <a:solidFill>
                  <a:srgbClr val="475569"/>
                </a:solidFill>
                <a:latin typeface="Noto Sans KR" panose="020B0200000000000000" pitchFamily="50" charset="-127"/>
              </a:rPr>
              <a:t>:</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프로세스</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메모리</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캐시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초기화</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기법</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적용</a:t>
            </a:r>
            <a:r>
              <a:rPr sz="975" b="0" i="0" u="none" dirty="0">
                <a:solidFill>
                  <a:srgbClr val="475569"/>
                </a:solidFill>
                <a:latin typeface="Noto Sans KR" panose="020B0200000000000000" pitchFamily="50" charset="-127"/>
              </a:rPr>
              <a:t> 및 </a:t>
            </a:r>
            <a:r>
              <a:rPr sz="975" b="0" i="0" u="none" dirty="0" err="1">
                <a:solidFill>
                  <a:srgbClr val="475569"/>
                </a:solidFill>
                <a:latin typeface="Noto Sans KR" panose="020B0200000000000000" pitchFamily="50" charset="-127"/>
              </a:rPr>
              <a:t>향후</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해시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기반</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캐시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서명</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알고리즘</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고도화</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수립</a:t>
            </a:r>
            <a:r>
              <a:rPr sz="975" b="0" i="0" u="none" dirty="0">
                <a:solidFill>
                  <a:srgbClr val="475569"/>
                </a:solidFill>
                <a:latin typeface="Noto Sans KR" panose="020B0200000000000000" pitchFamily="50" charset="-127"/>
              </a:rPr>
              <a:t>.</a:t>
            </a:r>
          </a:p>
        </p:txBody>
      </p:sp>
      <p:sp>
        <p:nvSpPr>
          <p:cNvPr id="18" name="TextBox 17"/>
          <p:cNvSpPr txBox="1"/>
          <p:nvPr/>
        </p:nvSpPr>
        <p:spPr>
          <a:xfrm>
            <a:off x="866775" y="4262883"/>
            <a:ext cx="1485155" cy="150041"/>
          </a:xfrm>
          <a:prstGeom prst="rect">
            <a:avLst/>
          </a:prstGeom>
          <a:noFill/>
        </p:spPr>
        <p:txBody>
          <a:bodyPr wrap="square" lIns="0" tIns="0" rIns="0" bIns="0" anchor="t">
            <a:spAutoFit/>
          </a:bodyPr>
          <a:lstStyle/>
          <a:p>
            <a:pPr algn="l"/>
            <a:r>
              <a:rPr sz="975" b="1" i="0" u="none" dirty="0">
                <a:solidFill>
                  <a:srgbClr val="D97706"/>
                </a:solidFill>
                <a:latin typeface="Noto Sans KR" panose="020B0200000000000000" pitchFamily="50" charset="-127"/>
              </a:rPr>
              <a:t>Docker </a:t>
            </a:r>
            <a:r>
              <a:rPr sz="975" b="1" i="0" u="none" dirty="0" err="1">
                <a:solidFill>
                  <a:srgbClr val="D97706"/>
                </a:solidFill>
                <a:latin typeface="Noto Sans KR" panose="020B0200000000000000" pitchFamily="50" charset="-127"/>
              </a:rPr>
              <a:t>호스트</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통신</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장애</a:t>
            </a:r>
            <a:endParaRPr sz="975" b="1" i="0" u="none" dirty="0">
              <a:solidFill>
                <a:srgbClr val="D97706"/>
              </a:solidFill>
              <a:latin typeface="Noto Sans KR" panose="020B0200000000000000" pitchFamily="50" charset="-127"/>
            </a:endParaRPr>
          </a:p>
        </p:txBody>
      </p:sp>
      <p:sp>
        <p:nvSpPr>
          <p:cNvPr id="19" name="TextBox 18"/>
          <p:cNvSpPr txBox="1"/>
          <p:nvPr/>
        </p:nvSpPr>
        <p:spPr>
          <a:xfrm>
            <a:off x="771525" y="4586733"/>
            <a:ext cx="2361224" cy="184666"/>
          </a:xfrm>
          <a:prstGeom prst="rect">
            <a:avLst/>
          </a:prstGeom>
          <a:noFill/>
        </p:spPr>
        <p:txBody>
          <a:bodyPr wrap="none" lIns="0" tIns="0" rIns="0" bIns="0" anchor="t">
            <a:spAutoFit/>
          </a:bodyPr>
          <a:lstStyle/>
          <a:p>
            <a:pPr algn="l"/>
            <a:r>
              <a:rPr sz="1200" b="1" i="0" u="none" dirty="0">
                <a:solidFill>
                  <a:srgbClr val="0F172A"/>
                </a:solidFill>
                <a:latin typeface="Noto Sans KR" panose="020B0200000000000000" pitchFamily="50" charset="-127"/>
              </a:rPr>
              <a:t>localhost </a:t>
            </a:r>
            <a:r>
              <a:rPr sz="1200" b="1" i="0" u="none" dirty="0" err="1">
                <a:solidFill>
                  <a:srgbClr val="0F172A"/>
                </a:solidFill>
                <a:latin typeface="Noto Sans KR" panose="020B0200000000000000" pitchFamily="50" charset="-127"/>
              </a:rPr>
              <a:t>참조로</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인한</a:t>
            </a:r>
            <a:r>
              <a:rPr sz="1200" b="1" i="0" u="none" dirty="0">
                <a:solidFill>
                  <a:srgbClr val="0F172A"/>
                </a:solidFill>
                <a:latin typeface="Noto Sans KR" panose="020B0200000000000000" pitchFamily="50" charset="-127"/>
              </a:rPr>
              <a:t> DB </a:t>
            </a:r>
            <a:r>
              <a:rPr sz="1200" b="1" i="0" u="none" dirty="0" err="1">
                <a:solidFill>
                  <a:srgbClr val="0F172A"/>
                </a:solidFill>
                <a:latin typeface="Noto Sans KR" panose="020B0200000000000000" pitchFamily="50" charset="-127"/>
              </a:rPr>
              <a:t>접속</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실패</a:t>
            </a:r>
            <a:endParaRPr sz="1200" b="1" i="0" u="none" dirty="0">
              <a:solidFill>
                <a:srgbClr val="0F172A"/>
              </a:solidFill>
              <a:latin typeface="Noto Sans KR" panose="020B0200000000000000" pitchFamily="50" charset="-127"/>
            </a:endParaRPr>
          </a:p>
        </p:txBody>
      </p:sp>
      <p:sp>
        <p:nvSpPr>
          <p:cNvPr id="20" name="TextBox 19"/>
          <p:cNvSpPr txBox="1"/>
          <p:nvPr/>
        </p:nvSpPr>
        <p:spPr>
          <a:xfrm>
            <a:off x="771525" y="4862958"/>
            <a:ext cx="5124450" cy="371475"/>
          </a:xfrm>
          <a:prstGeom prst="rect">
            <a:avLst/>
          </a:prstGeom>
          <a:noFill/>
        </p:spPr>
        <p:txBody>
          <a:bodyPr wrap="square" lIns="0" tIns="0" rIns="0" bIns="0" anchor="t">
            <a:spAutoFit/>
          </a:bodyPr>
          <a:lstStyle/>
          <a:p>
            <a:pPr algn="l">
              <a:lnSpc>
                <a:spcPts val="1462"/>
              </a:lnSpc>
            </a:pPr>
            <a:r>
              <a:rPr sz="975" b="1" i="0" u="none" dirty="0" err="1">
                <a:solidFill>
                  <a:srgbClr val="475569"/>
                </a:solidFill>
                <a:latin typeface="Noto Sans KR" panose="020B0200000000000000" pitchFamily="50" charset="-127"/>
              </a:rPr>
              <a:t>원인</a:t>
            </a:r>
            <a:r>
              <a:rPr sz="975" b="1" i="0" u="none" dirty="0">
                <a:solidFill>
                  <a:srgbClr val="475569"/>
                </a:solidFill>
                <a:latin typeface="Noto Sans KR" panose="020B0200000000000000" pitchFamily="50" charset="-127"/>
              </a:rPr>
              <a:t>:</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컨테이너</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내부에서</a:t>
            </a:r>
            <a:r>
              <a:rPr sz="975" b="0" i="0" u="none" dirty="0">
                <a:solidFill>
                  <a:srgbClr val="475569"/>
                </a:solidFill>
                <a:latin typeface="Noto Sans KR" panose="020B0200000000000000" pitchFamily="50" charset="-127"/>
              </a:rPr>
              <a:t> localhost </a:t>
            </a:r>
            <a:r>
              <a:rPr sz="975" b="0" i="0" u="none" dirty="0" err="1">
                <a:solidFill>
                  <a:srgbClr val="475569"/>
                </a:solidFill>
                <a:latin typeface="Noto Sans KR" panose="020B0200000000000000" pitchFamily="50" charset="-127"/>
              </a:rPr>
              <a:t>참조</a:t>
            </a:r>
            <a:r>
              <a:rPr sz="975" b="0" i="0" u="none" dirty="0">
                <a:solidFill>
                  <a:srgbClr val="475569"/>
                </a:solidFill>
                <a:latin typeface="Noto Sans KR" panose="020B0200000000000000" pitchFamily="50" charset="-127"/>
              </a:rPr>
              <a:t> 시 </a:t>
            </a:r>
            <a:r>
              <a:rPr sz="975" b="0" i="0" u="none" dirty="0" err="1">
                <a:solidFill>
                  <a:srgbClr val="475569"/>
                </a:solidFill>
                <a:latin typeface="Noto Sans KR" panose="020B0200000000000000" pitchFamily="50" charset="-127"/>
              </a:rPr>
              <a:t>컨테이너</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자신을</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가리킴</a:t>
            </a:r>
            <a:r>
              <a:rPr sz="975" b="0" i="0" u="none" dirty="0">
                <a:solidFill>
                  <a:srgbClr val="475569"/>
                </a:solidFill>
                <a:latin typeface="Noto Sans KR" panose="020B0200000000000000" pitchFamily="50" charset="-127"/>
              </a:rPr>
              <a:t>.</a:t>
            </a:r>
            <a:r>
              <a:rPr dirty="0"/>
              <a:t>
</a:t>
            </a:r>
            <a:r>
              <a:rPr sz="975" b="1" i="0" u="none" dirty="0" err="1">
                <a:solidFill>
                  <a:srgbClr val="475569"/>
                </a:solidFill>
                <a:latin typeface="Noto Sans KR" panose="020B0200000000000000" pitchFamily="50" charset="-127"/>
              </a:rPr>
              <a:t>조치</a:t>
            </a:r>
            <a:r>
              <a:rPr sz="975" b="1" i="0" u="none" dirty="0">
                <a:solidFill>
                  <a:srgbClr val="475569"/>
                </a:solidFill>
                <a:latin typeface="Noto Sans KR" panose="020B0200000000000000" pitchFamily="50" charset="-127"/>
              </a:rPr>
              <a:t>:</a:t>
            </a:r>
            <a:r>
              <a:rPr sz="975" b="0" i="0" u="none" dirty="0">
                <a:solidFill>
                  <a:srgbClr val="475569"/>
                </a:solidFill>
                <a:latin typeface="Noto Sans KR" panose="020B0200000000000000" pitchFamily="50" charset="-127"/>
              </a:rPr>
              <a:t> Compose </a:t>
            </a:r>
            <a:r>
              <a:rPr sz="975" b="0" i="0" u="none" dirty="0" err="1">
                <a:solidFill>
                  <a:srgbClr val="475569"/>
                </a:solidFill>
                <a:latin typeface="Noto Sans KR" panose="020B0200000000000000" pitchFamily="50" charset="-127"/>
              </a:rPr>
              <a:t>서비스</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이름인</a:t>
            </a:r>
            <a:r>
              <a:rPr sz="975" b="0" i="0" u="none" dirty="0">
                <a:solidFill>
                  <a:srgbClr val="475569"/>
                </a:solidFill>
                <a:latin typeface="Noto Sans KR" panose="020B0200000000000000" pitchFamily="50" charset="-127"/>
              </a:rPr>
              <a:t> db:5432로 DATABASE_URL </a:t>
            </a:r>
            <a:r>
              <a:rPr sz="975" b="0" i="0" u="none" dirty="0" err="1">
                <a:solidFill>
                  <a:srgbClr val="475569"/>
                </a:solidFill>
                <a:latin typeface="Noto Sans KR" panose="020B0200000000000000" pitchFamily="50" charset="-127"/>
              </a:rPr>
              <a:t>환경변수</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통일</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설정</a:t>
            </a:r>
            <a:r>
              <a:rPr sz="975" b="0" i="0" u="none" dirty="0">
                <a:solidFill>
                  <a:srgbClr val="475569"/>
                </a:solidFill>
                <a:latin typeface="Noto Sans KR" panose="020B0200000000000000" pitchFamily="50" charset="-127"/>
              </a:rPr>
              <a:t>.</a:t>
            </a:r>
          </a:p>
        </p:txBody>
      </p:sp>
      <p:sp>
        <p:nvSpPr>
          <p:cNvPr id="21" name="TextBox 20"/>
          <p:cNvSpPr txBox="1"/>
          <p:nvPr/>
        </p:nvSpPr>
        <p:spPr>
          <a:xfrm>
            <a:off x="6486525" y="4262883"/>
            <a:ext cx="1312961" cy="150041"/>
          </a:xfrm>
          <a:prstGeom prst="rect">
            <a:avLst/>
          </a:prstGeom>
          <a:noFill/>
        </p:spPr>
        <p:txBody>
          <a:bodyPr wrap="square" lIns="0" tIns="0" rIns="0" bIns="0" anchor="t">
            <a:spAutoFit/>
          </a:bodyPr>
          <a:lstStyle/>
          <a:p>
            <a:pPr algn="l"/>
            <a:r>
              <a:rPr sz="975" b="1" i="0" u="none" dirty="0" err="1">
                <a:solidFill>
                  <a:srgbClr val="D97706"/>
                </a:solidFill>
                <a:latin typeface="Noto Sans KR" panose="020B0200000000000000" pitchFamily="50" charset="-127"/>
              </a:rPr>
              <a:t>동시성</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재고</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차감</a:t>
            </a:r>
            <a:r>
              <a:rPr sz="975" b="1" i="0" u="none" dirty="0">
                <a:solidFill>
                  <a:srgbClr val="D97706"/>
                </a:solidFill>
                <a:latin typeface="Noto Sans KR" panose="020B0200000000000000" pitchFamily="50" charset="-127"/>
              </a:rPr>
              <a:t> </a:t>
            </a:r>
            <a:r>
              <a:rPr sz="975" b="1" i="0" u="none" dirty="0" err="1">
                <a:solidFill>
                  <a:srgbClr val="D97706"/>
                </a:solidFill>
                <a:latin typeface="Noto Sans KR" panose="020B0200000000000000" pitchFamily="50" charset="-127"/>
              </a:rPr>
              <a:t>누출</a:t>
            </a:r>
            <a:endParaRPr sz="975" b="1" i="0" u="none" dirty="0">
              <a:solidFill>
                <a:srgbClr val="D97706"/>
              </a:solidFill>
              <a:latin typeface="Noto Sans KR" panose="020B0200000000000000" pitchFamily="50" charset="-127"/>
            </a:endParaRPr>
          </a:p>
        </p:txBody>
      </p:sp>
      <p:sp>
        <p:nvSpPr>
          <p:cNvPr id="22" name="TextBox 21"/>
          <p:cNvSpPr txBox="1"/>
          <p:nvPr/>
        </p:nvSpPr>
        <p:spPr>
          <a:xfrm>
            <a:off x="6391275" y="4586733"/>
            <a:ext cx="2737929" cy="184666"/>
          </a:xfrm>
          <a:prstGeom prst="rect">
            <a:avLst/>
          </a:prstGeom>
          <a:noFill/>
        </p:spPr>
        <p:txBody>
          <a:bodyPr wrap="none" lIns="0" tIns="0" rIns="0" bIns="0" anchor="t">
            <a:spAutoFit/>
          </a:bodyPr>
          <a:lstStyle/>
          <a:p>
            <a:pPr algn="l"/>
            <a:r>
              <a:rPr sz="1200" b="1" i="0" u="none" dirty="0" err="1">
                <a:solidFill>
                  <a:srgbClr val="0F172A"/>
                </a:solidFill>
                <a:latin typeface="Noto Sans KR" panose="020B0200000000000000" pitchFamily="50" charset="-127"/>
              </a:rPr>
              <a:t>순차</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재고</a:t>
            </a:r>
            <a:r>
              <a:rPr sz="1200" b="1" i="0" u="none" dirty="0">
                <a:solidFill>
                  <a:srgbClr val="0F172A"/>
                </a:solidFill>
                <a:latin typeface="Noto Sans KR" panose="020B0200000000000000" pitchFamily="50" charset="-127"/>
              </a:rPr>
              <a:t> </a:t>
            </a:r>
            <a:r>
              <a:rPr sz="1200" b="1" i="0" u="none" dirty="0" err="1">
                <a:solidFill>
                  <a:srgbClr val="0F172A"/>
                </a:solidFill>
                <a:latin typeface="Noto Sans KR" panose="020B0200000000000000" pitchFamily="50" charset="-127"/>
              </a:rPr>
              <a:t>확인</a:t>
            </a:r>
            <a:r>
              <a:rPr sz="1200" b="1" i="0" u="none" dirty="0">
                <a:solidFill>
                  <a:srgbClr val="0F172A"/>
                </a:solidFill>
                <a:latin typeface="Noto Sans KR" panose="020B0200000000000000" pitchFamily="50" charset="-127"/>
              </a:rPr>
              <a:t> 및 </a:t>
            </a:r>
            <a:r>
              <a:rPr sz="1200" b="1" i="0" u="none" dirty="0" err="1">
                <a:solidFill>
                  <a:srgbClr val="0F172A"/>
                </a:solidFill>
                <a:latin typeface="Noto Sans KR" panose="020B0200000000000000" pitchFamily="50" charset="-127"/>
              </a:rPr>
              <a:t>차감의</a:t>
            </a:r>
            <a:r>
              <a:rPr sz="1200" b="1" i="0" u="none" dirty="0">
                <a:solidFill>
                  <a:srgbClr val="0F172A"/>
                </a:solidFill>
                <a:latin typeface="Noto Sans KR" panose="020B0200000000000000" pitchFamily="50" charset="-127"/>
              </a:rPr>
              <a:t> Race Condition</a:t>
            </a:r>
          </a:p>
        </p:txBody>
      </p:sp>
      <p:sp>
        <p:nvSpPr>
          <p:cNvPr id="23" name="TextBox 22"/>
          <p:cNvSpPr txBox="1"/>
          <p:nvPr/>
        </p:nvSpPr>
        <p:spPr>
          <a:xfrm>
            <a:off x="6391275" y="4862958"/>
            <a:ext cx="5124450" cy="371475"/>
          </a:xfrm>
          <a:prstGeom prst="rect">
            <a:avLst/>
          </a:prstGeom>
          <a:noFill/>
        </p:spPr>
        <p:txBody>
          <a:bodyPr wrap="square" lIns="0" tIns="0" rIns="0" bIns="0" anchor="t">
            <a:spAutoFit/>
          </a:bodyPr>
          <a:lstStyle/>
          <a:p>
            <a:pPr algn="l">
              <a:lnSpc>
                <a:spcPts val="1462"/>
              </a:lnSpc>
            </a:pPr>
            <a:r>
              <a:rPr sz="975" b="1" i="0" u="none" dirty="0" err="1">
                <a:solidFill>
                  <a:srgbClr val="475569"/>
                </a:solidFill>
                <a:latin typeface="Noto Sans KR" panose="020B0200000000000000" pitchFamily="50" charset="-127"/>
              </a:rPr>
              <a:t>원인</a:t>
            </a:r>
            <a:r>
              <a:rPr sz="975" b="1" i="0" u="none" dirty="0">
                <a:solidFill>
                  <a:srgbClr val="475569"/>
                </a:solidFill>
                <a:latin typeface="Noto Sans KR" panose="020B0200000000000000" pitchFamily="50" charset="-127"/>
              </a:rPr>
              <a:t>:</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동시</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요청</a:t>
            </a:r>
            <a:r>
              <a:rPr sz="975" b="0" i="0" u="none" dirty="0">
                <a:solidFill>
                  <a:srgbClr val="475569"/>
                </a:solidFill>
                <a:latin typeface="Noto Sans KR" panose="020B0200000000000000" pitchFamily="50" charset="-127"/>
              </a:rPr>
              <a:t> 시 </a:t>
            </a:r>
            <a:r>
              <a:rPr sz="975" b="0" i="0" u="none" dirty="0" err="1">
                <a:solidFill>
                  <a:srgbClr val="475569"/>
                </a:solidFill>
                <a:latin typeface="Noto Sans KR" panose="020B0200000000000000" pitchFamily="50" charset="-127"/>
              </a:rPr>
              <a:t>재고</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조회</a:t>
            </a:r>
            <a:r>
              <a:rPr sz="975" b="0" i="0" u="none" dirty="0">
                <a:solidFill>
                  <a:srgbClr val="475569"/>
                </a:solidFill>
                <a:latin typeface="Noto Sans KR" panose="020B0200000000000000" pitchFamily="50" charset="-127"/>
              </a:rPr>
              <a:t> 후 </a:t>
            </a:r>
            <a:r>
              <a:rPr sz="975" b="0" i="0" u="none" dirty="0" err="1">
                <a:solidFill>
                  <a:srgbClr val="475569"/>
                </a:solidFill>
                <a:latin typeface="Noto Sans KR" panose="020B0200000000000000" pitchFamily="50" charset="-127"/>
              </a:rPr>
              <a:t>차감</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시점</a:t>
            </a:r>
            <a:r>
              <a:rPr sz="975" b="0" i="0" u="none" dirty="0">
                <a:solidFill>
                  <a:srgbClr val="475569"/>
                </a:solidFill>
                <a:latin typeface="Noto Sans KR" panose="020B0200000000000000" pitchFamily="50" charset="-127"/>
              </a:rPr>
              <a:t> 간 </a:t>
            </a:r>
            <a:r>
              <a:rPr sz="975" b="0" i="0" u="none" dirty="0" err="1">
                <a:solidFill>
                  <a:srgbClr val="475569"/>
                </a:solidFill>
                <a:latin typeface="Noto Sans KR" panose="020B0200000000000000" pitchFamily="50" charset="-127"/>
              </a:rPr>
              <a:t>간극</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발생</a:t>
            </a:r>
            <a:r>
              <a:rPr sz="975" b="0" i="0" u="none" dirty="0">
                <a:solidFill>
                  <a:srgbClr val="475569"/>
                </a:solidFill>
                <a:latin typeface="Noto Sans KR" panose="020B0200000000000000" pitchFamily="50" charset="-127"/>
              </a:rPr>
              <a:t>.</a:t>
            </a:r>
            <a:r>
              <a:rPr dirty="0"/>
              <a:t>
</a:t>
            </a:r>
            <a:r>
              <a:rPr sz="975" b="1" i="0" u="none" dirty="0" err="1">
                <a:solidFill>
                  <a:srgbClr val="475569"/>
                </a:solidFill>
                <a:latin typeface="Noto Sans KR" panose="020B0200000000000000" pitchFamily="50" charset="-127"/>
              </a:rPr>
              <a:t>조치</a:t>
            </a:r>
            <a:r>
              <a:rPr sz="975" b="1" i="0" u="none" dirty="0">
                <a:solidFill>
                  <a:srgbClr val="475569"/>
                </a:solidFill>
                <a:latin typeface="Noto Sans KR" panose="020B0200000000000000" pitchFamily="50" charset="-127"/>
              </a:rPr>
              <a:t>:</a:t>
            </a:r>
            <a:r>
              <a:rPr sz="975" b="0" i="0" u="none" dirty="0">
                <a:solidFill>
                  <a:srgbClr val="475569"/>
                </a:solidFill>
                <a:latin typeface="Noto Sans KR" panose="020B0200000000000000" pitchFamily="50" charset="-127"/>
              </a:rPr>
              <a:t> DB </a:t>
            </a:r>
            <a:r>
              <a:rPr sz="975" b="0" i="0" u="none" dirty="0" err="1">
                <a:solidFill>
                  <a:srgbClr val="475569"/>
                </a:solidFill>
                <a:latin typeface="Noto Sans KR" panose="020B0200000000000000" pitchFamily="50" charset="-127"/>
              </a:rPr>
              <a:t>트랜잭션</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격리수준</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설정</a:t>
            </a:r>
            <a:r>
              <a:rPr sz="975" b="0" i="0" u="none" dirty="0">
                <a:solidFill>
                  <a:srgbClr val="475569"/>
                </a:solidFill>
                <a:latin typeface="Noto Sans KR" panose="020B0200000000000000" pitchFamily="50" charset="-127"/>
              </a:rPr>
              <a:t> 및 </a:t>
            </a:r>
            <a:r>
              <a:rPr sz="975" b="0" i="0" u="none" dirty="0" err="1">
                <a:solidFill>
                  <a:srgbClr val="475569"/>
                </a:solidFill>
                <a:latin typeface="Noto Sans KR" panose="020B0200000000000000" pitchFamily="50" charset="-127"/>
              </a:rPr>
              <a:t>비관적</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잠금</a:t>
            </a:r>
            <a:r>
              <a:rPr sz="975" b="0" i="0" u="none" dirty="0">
                <a:solidFill>
                  <a:srgbClr val="475569"/>
                </a:solidFill>
                <a:latin typeface="Noto Sans KR" panose="020B0200000000000000" pitchFamily="50" charset="-127"/>
              </a:rPr>
              <a:t>(Pessimistic Lock) </a:t>
            </a:r>
            <a:r>
              <a:rPr sz="975" b="0" i="0" u="none" dirty="0" err="1">
                <a:solidFill>
                  <a:srgbClr val="475569"/>
                </a:solidFill>
                <a:latin typeface="Noto Sans KR" panose="020B0200000000000000" pitchFamily="50" charset="-127"/>
              </a:rPr>
              <a:t>로직</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도입</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계획</a:t>
            </a:r>
            <a:r>
              <a:rPr sz="975" b="0" i="0" u="none" dirty="0">
                <a:solidFill>
                  <a:srgbClr val="475569"/>
                </a:solidFill>
                <a:latin typeface="Noto Sans KR" panose="020B0200000000000000" pitchFamily="50" charset="-127"/>
              </a:rPr>
              <a:t> </a:t>
            </a:r>
            <a:r>
              <a:rPr sz="975" b="0" i="0" u="none" dirty="0" err="1">
                <a:solidFill>
                  <a:srgbClr val="475569"/>
                </a:solidFill>
                <a:latin typeface="Noto Sans KR" panose="020B0200000000000000" pitchFamily="50" charset="-127"/>
              </a:rPr>
              <a:t>수립</a:t>
            </a:r>
            <a:r>
              <a:rPr sz="975" b="0" i="0" u="none" dirty="0">
                <a:solidFill>
                  <a:srgbClr val="475569"/>
                </a:solidFill>
                <a:latin typeface="Noto Sans KR" panose="020B0200000000000000" pitchFamily="50" charset="-127"/>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762000" y="4288928"/>
            <a:ext cx="8572500" cy="7524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2711946"/>
            <a:ext cx="2730400" cy="1195982"/>
          </a:xfrm>
          <a:prstGeom prst="roundRect">
            <a:avLst>
              <a:gd name="adj" fmla="val 7964"/>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82900" y="2711946"/>
            <a:ext cx="2730549" cy="1195982"/>
          </a:xfrm>
          <a:prstGeom prst="roundRect">
            <a:avLst>
              <a:gd name="adj" fmla="val 7964"/>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603950" y="2711946"/>
            <a:ext cx="2730400" cy="1195982"/>
          </a:xfrm>
          <a:prstGeom prst="roundRect">
            <a:avLst>
              <a:gd name="adj" fmla="val 7964"/>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2000" y="4288928"/>
            <a:ext cx="85725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64958" y="4631828"/>
            <a:ext cx="1569541" cy="304800"/>
          </a:xfrm>
          <a:prstGeom prst="roundRect">
            <a:avLst>
              <a:gd name="adj" fmla="val 1875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2000" y="1816596"/>
            <a:ext cx="2231380" cy="161583"/>
          </a:xfrm>
          <a:prstGeom prst="rect">
            <a:avLst/>
          </a:prstGeom>
          <a:noFill/>
        </p:spPr>
        <p:txBody>
          <a:bodyPr wrap="none" lIns="0" tIns="0" rIns="0" bIns="0" anchor="t">
            <a:spAutoFit/>
          </a:bodyPr>
          <a:lstStyle/>
          <a:p>
            <a:pPr algn="l"/>
            <a:r>
              <a:rPr sz="1050" b="1" i="0" u="none" dirty="0">
                <a:solidFill>
                  <a:srgbClr val="60A5FA"/>
                </a:solidFill>
                <a:latin typeface="Noto Sans KR" panose="020B0200000000000000" pitchFamily="50" charset="-127"/>
              </a:rPr>
              <a:t>11. FUTURE ROADMAP &amp; CLOSING</a:t>
            </a:r>
          </a:p>
        </p:txBody>
      </p:sp>
      <p:sp>
        <p:nvSpPr>
          <p:cNvPr id="9" name="TextBox 8"/>
          <p:cNvSpPr txBox="1"/>
          <p:nvPr/>
        </p:nvSpPr>
        <p:spPr>
          <a:xfrm>
            <a:off x="762000" y="2026146"/>
            <a:ext cx="4775346" cy="461665"/>
          </a:xfrm>
          <a:prstGeom prst="rect">
            <a:avLst/>
          </a:prstGeom>
          <a:noFill/>
        </p:spPr>
        <p:txBody>
          <a:bodyPr wrap="none" lIns="0" tIns="0" rIns="0" bIns="0" anchor="t">
            <a:spAutoFit/>
          </a:bodyPr>
          <a:lstStyle/>
          <a:p>
            <a:pPr algn="l">
              <a:lnSpc>
                <a:spcPts val="3600"/>
              </a:lnSpc>
            </a:pPr>
            <a:r>
              <a:rPr sz="3000" b="1" i="0" u="none" dirty="0">
                <a:solidFill>
                  <a:srgbClr val="FFFFFF"/>
                </a:solidFill>
                <a:latin typeface="Noto Sans KR" panose="020B0200000000000000" pitchFamily="50" charset="-127"/>
              </a:rPr>
              <a:t>STOCKFLOW </a:t>
            </a:r>
            <a:r>
              <a:rPr sz="3000" b="1" i="0" u="none" dirty="0" err="1">
                <a:solidFill>
                  <a:srgbClr val="FFFFFF"/>
                </a:solidFill>
                <a:latin typeface="Noto Sans KR" panose="020B0200000000000000" pitchFamily="50" charset="-127"/>
              </a:rPr>
              <a:t>향후</a:t>
            </a:r>
            <a:r>
              <a:rPr sz="3000" b="1" i="0" u="none" dirty="0">
                <a:solidFill>
                  <a:srgbClr val="FFFFFF"/>
                </a:solidFill>
                <a:latin typeface="Noto Sans KR" panose="020B0200000000000000" pitchFamily="50" charset="-127"/>
              </a:rPr>
              <a:t> </a:t>
            </a:r>
            <a:r>
              <a:rPr sz="3000" b="1" i="0" u="none" dirty="0" err="1">
                <a:solidFill>
                  <a:srgbClr val="FFFFFF"/>
                </a:solidFill>
                <a:latin typeface="Noto Sans KR" panose="020B0200000000000000" pitchFamily="50" charset="-127"/>
              </a:rPr>
              <a:t>발전</a:t>
            </a:r>
            <a:r>
              <a:rPr sz="3000" b="1" i="0" u="none" dirty="0">
                <a:solidFill>
                  <a:srgbClr val="FFFFFF"/>
                </a:solidFill>
                <a:latin typeface="Noto Sans KR" panose="020B0200000000000000" pitchFamily="50" charset="-127"/>
              </a:rPr>
              <a:t> </a:t>
            </a:r>
            <a:r>
              <a:rPr sz="3000" b="1" i="0" u="none" dirty="0" err="1">
                <a:solidFill>
                  <a:srgbClr val="FFFFFF"/>
                </a:solidFill>
                <a:latin typeface="Noto Sans KR" panose="020B0200000000000000" pitchFamily="50" charset="-127"/>
              </a:rPr>
              <a:t>계획</a:t>
            </a:r>
            <a:endParaRPr sz="3000" b="1" i="0" u="none" dirty="0">
              <a:solidFill>
                <a:srgbClr val="FFFFFF"/>
              </a:solidFill>
              <a:latin typeface="Noto Sans KR" panose="020B0200000000000000" pitchFamily="50" charset="-127"/>
            </a:endParaRPr>
          </a:p>
        </p:txBody>
      </p:sp>
      <p:sp>
        <p:nvSpPr>
          <p:cNvPr id="10" name="TextBox 9"/>
          <p:cNvSpPr txBox="1"/>
          <p:nvPr/>
        </p:nvSpPr>
        <p:spPr>
          <a:xfrm>
            <a:off x="7917358" y="4708028"/>
            <a:ext cx="1359991" cy="161583"/>
          </a:xfrm>
          <a:prstGeom prst="rect">
            <a:avLst/>
          </a:prstGeom>
          <a:noFill/>
        </p:spPr>
        <p:txBody>
          <a:bodyPr wrap="square" lIns="0" tIns="0" rIns="0" bIns="0" anchor="t">
            <a:spAutoFit/>
          </a:bodyPr>
          <a:lstStyle/>
          <a:p>
            <a:pPr algn="l"/>
            <a:r>
              <a:rPr sz="1050" b="1" i="0" u="none" dirty="0">
                <a:solidFill>
                  <a:srgbClr val="FFFFFF"/>
                </a:solidFill>
                <a:latin typeface="Noto Sans KR" panose="020B0200000000000000" pitchFamily="50" charset="-127"/>
              </a:rPr>
              <a:t>STOCKFLOW v1.0.0</a:t>
            </a:r>
          </a:p>
        </p:txBody>
      </p:sp>
      <p:sp>
        <p:nvSpPr>
          <p:cNvPr id="11" name="TextBox 10"/>
          <p:cNvSpPr txBox="1"/>
          <p:nvPr/>
        </p:nvSpPr>
        <p:spPr>
          <a:xfrm>
            <a:off x="962025" y="2911971"/>
            <a:ext cx="1093248" cy="184666"/>
          </a:xfrm>
          <a:prstGeom prst="rect">
            <a:avLst/>
          </a:prstGeom>
          <a:noFill/>
        </p:spPr>
        <p:txBody>
          <a:bodyPr wrap="none" lIns="0" tIns="0" rIns="0" bIns="0" anchor="t">
            <a:spAutoFit/>
          </a:bodyPr>
          <a:lstStyle/>
          <a:p>
            <a:pPr algn="l"/>
            <a:r>
              <a:rPr sz="1200" b="1" i="0" u="none" dirty="0" err="1">
                <a:solidFill>
                  <a:srgbClr val="38BDF8"/>
                </a:solidFill>
                <a:latin typeface="Noto Sans KR" panose="020B0200000000000000" pitchFamily="50" charset="-127"/>
              </a:rPr>
              <a:t>인증</a:t>
            </a:r>
            <a:r>
              <a:rPr sz="1200" b="1" i="0" u="none" dirty="0">
                <a:solidFill>
                  <a:srgbClr val="38BDF8"/>
                </a:solidFill>
                <a:latin typeface="Noto Sans KR" panose="020B0200000000000000" pitchFamily="50" charset="-127"/>
              </a:rPr>
              <a:t> 및 </a:t>
            </a:r>
            <a:r>
              <a:rPr sz="1200" b="1" i="0" u="none" dirty="0" err="1">
                <a:solidFill>
                  <a:srgbClr val="38BDF8"/>
                </a:solidFill>
                <a:latin typeface="Noto Sans KR" panose="020B0200000000000000" pitchFamily="50" charset="-127"/>
              </a:rPr>
              <a:t>권한</a:t>
            </a:r>
            <a:r>
              <a:rPr sz="1200" b="1" i="0" u="none" dirty="0">
                <a:solidFill>
                  <a:srgbClr val="38BDF8"/>
                </a:solidFill>
                <a:latin typeface="Noto Sans KR" panose="020B0200000000000000" pitchFamily="50" charset="-127"/>
              </a:rPr>
              <a:t> </a:t>
            </a:r>
            <a:r>
              <a:rPr sz="1200" b="1" i="0" u="none" dirty="0" err="1">
                <a:solidFill>
                  <a:srgbClr val="38BDF8"/>
                </a:solidFill>
                <a:latin typeface="Noto Sans KR" panose="020B0200000000000000" pitchFamily="50" charset="-127"/>
              </a:rPr>
              <a:t>관리</a:t>
            </a:r>
            <a:endParaRPr sz="1200" b="1" i="0" u="none" dirty="0">
              <a:solidFill>
                <a:srgbClr val="38BDF8"/>
              </a:solidFill>
              <a:latin typeface="Noto Sans KR" panose="020B0200000000000000" pitchFamily="50" charset="-127"/>
            </a:endParaRPr>
          </a:p>
        </p:txBody>
      </p:sp>
      <p:sp>
        <p:nvSpPr>
          <p:cNvPr id="12" name="TextBox 11"/>
          <p:cNvSpPr txBox="1"/>
          <p:nvPr/>
        </p:nvSpPr>
        <p:spPr>
          <a:xfrm>
            <a:off x="962025" y="3188196"/>
            <a:ext cx="2425600" cy="346471"/>
          </a:xfrm>
          <a:prstGeom prst="rect">
            <a:avLst/>
          </a:prstGeom>
          <a:noFill/>
        </p:spPr>
        <p:txBody>
          <a:bodyPr wrap="square" lIns="0" tIns="0" rIns="0" bIns="0" anchor="t">
            <a:spAutoFit/>
          </a:bodyPr>
          <a:lstStyle/>
          <a:p>
            <a:pPr algn="l">
              <a:lnSpc>
                <a:spcPts val="1364"/>
              </a:lnSpc>
            </a:pPr>
            <a:r>
              <a:rPr sz="975" b="0" i="0" u="none" dirty="0">
                <a:solidFill>
                  <a:srgbClr val="94A3B8"/>
                </a:solidFill>
                <a:latin typeface="Noto Sans KR" panose="020B0200000000000000" pitchFamily="50" charset="-127"/>
              </a:rPr>
              <a:t>JWT </a:t>
            </a:r>
            <a:r>
              <a:rPr sz="975" b="0" i="0" u="none" dirty="0" err="1">
                <a:solidFill>
                  <a:srgbClr val="94A3B8"/>
                </a:solidFill>
                <a:latin typeface="Noto Sans KR" panose="020B0200000000000000" pitchFamily="50" charset="-127"/>
              </a:rPr>
              <a:t>기반</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사용자</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인증</a:t>
            </a:r>
            <a:r>
              <a:rPr sz="975" b="0" i="0" u="none" dirty="0">
                <a:solidFill>
                  <a:srgbClr val="94A3B8"/>
                </a:solidFill>
                <a:latin typeface="Noto Sans KR" panose="020B0200000000000000" pitchFamily="50" charset="-127"/>
              </a:rPr>
              <a:t> 및 </a:t>
            </a:r>
            <a:r>
              <a:rPr sz="975" b="0" i="0" u="none" dirty="0" err="1">
                <a:solidFill>
                  <a:srgbClr val="94A3B8"/>
                </a:solidFill>
                <a:latin typeface="Noto Sans KR" panose="020B0200000000000000" pitchFamily="50" charset="-127"/>
              </a:rPr>
              <a:t>관리자</a:t>
            </a:r>
            <a:r>
              <a:rPr sz="975" b="0" i="0" u="none" dirty="0">
                <a:solidFill>
                  <a:srgbClr val="94A3B8"/>
                </a:solidFill>
                <a:latin typeface="Noto Sans KR" panose="020B0200000000000000" pitchFamily="50" charset="-127"/>
              </a:rPr>
              <a:t>/</a:t>
            </a:r>
            <a:r>
              <a:rPr sz="975" b="0" i="0" u="none" dirty="0" err="1">
                <a:solidFill>
                  <a:srgbClr val="94A3B8"/>
                </a:solidFill>
                <a:latin typeface="Noto Sans KR" panose="020B0200000000000000" pitchFamily="50" charset="-127"/>
              </a:rPr>
              <a:t>일반</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사용자</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역할별</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권한</a:t>
            </a:r>
            <a:r>
              <a:rPr sz="975" b="0" i="0" u="none" dirty="0">
                <a:solidFill>
                  <a:srgbClr val="94A3B8"/>
                </a:solidFill>
                <a:latin typeface="Noto Sans KR" panose="020B0200000000000000" pitchFamily="50" charset="-127"/>
              </a:rPr>
              <a:t>(RBAC) </a:t>
            </a:r>
            <a:r>
              <a:rPr sz="975" b="0" i="0" u="none" dirty="0" err="1">
                <a:solidFill>
                  <a:srgbClr val="94A3B8"/>
                </a:solidFill>
                <a:latin typeface="Noto Sans KR" panose="020B0200000000000000" pitchFamily="50" charset="-127"/>
              </a:rPr>
              <a:t>부여</a:t>
            </a:r>
            <a:endParaRPr sz="975" b="0" i="0" u="none" dirty="0">
              <a:solidFill>
                <a:srgbClr val="94A3B8"/>
              </a:solidFill>
              <a:latin typeface="Noto Sans KR" panose="020B0200000000000000" pitchFamily="50" charset="-127"/>
            </a:endParaRPr>
          </a:p>
        </p:txBody>
      </p:sp>
      <p:sp>
        <p:nvSpPr>
          <p:cNvPr id="13" name="TextBox 12"/>
          <p:cNvSpPr txBox="1"/>
          <p:nvPr/>
        </p:nvSpPr>
        <p:spPr>
          <a:xfrm>
            <a:off x="3882925" y="2911971"/>
            <a:ext cx="1057982" cy="184666"/>
          </a:xfrm>
          <a:prstGeom prst="rect">
            <a:avLst/>
          </a:prstGeom>
          <a:noFill/>
        </p:spPr>
        <p:txBody>
          <a:bodyPr wrap="none" lIns="0" tIns="0" rIns="0" bIns="0" anchor="t">
            <a:spAutoFit/>
          </a:bodyPr>
          <a:lstStyle/>
          <a:p>
            <a:pPr algn="l"/>
            <a:r>
              <a:rPr sz="1200" b="1" i="0" u="none" dirty="0" err="1">
                <a:solidFill>
                  <a:srgbClr val="38BDF8"/>
                </a:solidFill>
                <a:latin typeface="Noto Sans KR" panose="020B0200000000000000" pitchFamily="50" charset="-127"/>
              </a:rPr>
              <a:t>자동</a:t>
            </a:r>
            <a:r>
              <a:rPr sz="1200" b="1" i="0" u="none" dirty="0">
                <a:solidFill>
                  <a:srgbClr val="38BDF8"/>
                </a:solidFill>
                <a:latin typeface="Noto Sans KR" panose="020B0200000000000000" pitchFamily="50" charset="-127"/>
              </a:rPr>
              <a:t> </a:t>
            </a:r>
            <a:r>
              <a:rPr sz="1200" b="1" i="0" u="none" dirty="0" err="1">
                <a:solidFill>
                  <a:srgbClr val="38BDF8"/>
                </a:solidFill>
                <a:latin typeface="Noto Sans KR" panose="020B0200000000000000" pitchFamily="50" charset="-127"/>
              </a:rPr>
              <a:t>발주서</a:t>
            </a:r>
            <a:r>
              <a:rPr sz="1200" b="1" i="0" u="none" dirty="0">
                <a:solidFill>
                  <a:srgbClr val="38BDF8"/>
                </a:solidFill>
                <a:latin typeface="Noto Sans KR" panose="020B0200000000000000" pitchFamily="50" charset="-127"/>
              </a:rPr>
              <a:t> </a:t>
            </a:r>
            <a:r>
              <a:rPr sz="1200" b="1" i="0" u="none" dirty="0" err="1">
                <a:solidFill>
                  <a:srgbClr val="38BDF8"/>
                </a:solidFill>
                <a:latin typeface="Noto Sans KR" panose="020B0200000000000000" pitchFamily="50" charset="-127"/>
              </a:rPr>
              <a:t>생성</a:t>
            </a:r>
            <a:endParaRPr sz="1200" b="1" i="0" u="none" dirty="0">
              <a:solidFill>
                <a:srgbClr val="38BDF8"/>
              </a:solidFill>
              <a:latin typeface="Noto Sans KR" panose="020B0200000000000000" pitchFamily="50" charset="-127"/>
            </a:endParaRPr>
          </a:p>
        </p:txBody>
      </p:sp>
      <p:sp>
        <p:nvSpPr>
          <p:cNvPr id="14" name="TextBox 13"/>
          <p:cNvSpPr txBox="1"/>
          <p:nvPr/>
        </p:nvSpPr>
        <p:spPr>
          <a:xfrm>
            <a:off x="3882925" y="3188196"/>
            <a:ext cx="2425749" cy="344069"/>
          </a:xfrm>
          <a:prstGeom prst="rect">
            <a:avLst/>
          </a:prstGeom>
          <a:noFill/>
        </p:spPr>
        <p:txBody>
          <a:bodyPr wrap="square" lIns="0" tIns="0" rIns="0" bIns="0" anchor="t">
            <a:spAutoFit/>
          </a:bodyPr>
          <a:lstStyle/>
          <a:p>
            <a:pPr algn="l">
              <a:lnSpc>
                <a:spcPts val="1364"/>
              </a:lnSpc>
            </a:pPr>
            <a:r>
              <a:rPr sz="975" b="0" i="0" u="none" dirty="0" err="1">
                <a:solidFill>
                  <a:srgbClr val="94A3B8"/>
                </a:solidFill>
                <a:latin typeface="Noto Sans KR" panose="020B0200000000000000" pitchFamily="50" charset="-127"/>
              </a:rPr>
              <a:t>추천</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발주량을</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바탕으로</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실제</a:t>
            </a:r>
            <a:r>
              <a:rPr sz="975" b="0" i="0" u="none" dirty="0">
                <a:solidFill>
                  <a:srgbClr val="94A3B8"/>
                </a:solidFill>
                <a:latin typeface="Noto Sans KR" panose="020B0200000000000000" pitchFamily="50" charset="-127"/>
              </a:rPr>
              <a:t> PO(Purchase Order) </a:t>
            </a:r>
            <a:r>
              <a:rPr sz="975" b="0" i="0" u="none" dirty="0" err="1">
                <a:solidFill>
                  <a:srgbClr val="94A3B8"/>
                </a:solidFill>
                <a:latin typeface="Noto Sans KR" panose="020B0200000000000000" pitchFamily="50" charset="-127"/>
              </a:rPr>
              <a:t>자동</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발행</a:t>
            </a:r>
            <a:r>
              <a:rPr sz="975" b="0" i="0" u="none" dirty="0">
                <a:solidFill>
                  <a:srgbClr val="94A3B8"/>
                </a:solidFill>
                <a:latin typeface="Noto Sans KR" panose="020B0200000000000000" pitchFamily="50" charset="-127"/>
              </a:rPr>
              <a:t> 및 </a:t>
            </a:r>
            <a:r>
              <a:rPr sz="975" b="0" i="0" u="none" dirty="0" err="1">
                <a:solidFill>
                  <a:srgbClr val="94A3B8"/>
                </a:solidFill>
                <a:latin typeface="Noto Sans KR" panose="020B0200000000000000" pitchFamily="50" charset="-127"/>
              </a:rPr>
              <a:t>입고</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상태</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연동</a:t>
            </a:r>
            <a:endParaRPr sz="975" b="0" i="0" u="none" dirty="0">
              <a:solidFill>
                <a:srgbClr val="94A3B8"/>
              </a:solidFill>
              <a:latin typeface="Noto Sans KR" panose="020B0200000000000000" pitchFamily="50" charset="-127"/>
            </a:endParaRPr>
          </a:p>
        </p:txBody>
      </p:sp>
      <p:sp>
        <p:nvSpPr>
          <p:cNvPr id="15" name="TextBox 14"/>
          <p:cNvSpPr txBox="1"/>
          <p:nvPr/>
        </p:nvSpPr>
        <p:spPr>
          <a:xfrm>
            <a:off x="6803975" y="2911971"/>
            <a:ext cx="1199046" cy="184666"/>
          </a:xfrm>
          <a:prstGeom prst="rect">
            <a:avLst/>
          </a:prstGeom>
          <a:noFill/>
        </p:spPr>
        <p:txBody>
          <a:bodyPr wrap="none" lIns="0" tIns="0" rIns="0" bIns="0" anchor="t">
            <a:spAutoFit/>
          </a:bodyPr>
          <a:lstStyle/>
          <a:p>
            <a:pPr algn="l"/>
            <a:r>
              <a:rPr sz="1200" b="1" i="0" u="none" dirty="0" err="1">
                <a:solidFill>
                  <a:srgbClr val="38BDF8"/>
                </a:solidFill>
                <a:latin typeface="Noto Sans KR" panose="020B0200000000000000" pitchFamily="50" charset="-127"/>
              </a:rPr>
              <a:t>고도화</a:t>
            </a:r>
            <a:r>
              <a:rPr sz="1200" b="1" i="0" u="none" dirty="0">
                <a:solidFill>
                  <a:srgbClr val="38BDF8"/>
                </a:solidFill>
                <a:latin typeface="Noto Sans KR" panose="020B0200000000000000" pitchFamily="50" charset="-127"/>
              </a:rPr>
              <a:t> </a:t>
            </a:r>
            <a:r>
              <a:rPr sz="1200" b="1" i="0" u="none" dirty="0" err="1">
                <a:solidFill>
                  <a:srgbClr val="38BDF8"/>
                </a:solidFill>
                <a:latin typeface="Noto Sans KR" panose="020B0200000000000000" pitchFamily="50" charset="-127"/>
              </a:rPr>
              <a:t>시계열</a:t>
            </a:r>
            <a:r>
              <a:rPr sz="1200" b="1" i="0" u="none" dirty="0">
                <a:solidFill>
                  <a:srgbClr val="38BDF8"/>
                </a:solidFill>
                <a:latin typeface="Noto Sans KR" panose="020B0200000000000000" pitchFamily="50" charset="-127"/>
              </a:rPr>
              <a:t> </a:t>
            </a:r>
            <a:r>
              <a:rPr sz="1200" b="1" i="0" u="none" dirty="0" err="1">
                <a:solidFill>
                  <a:srgbClr val="38BDF8"/>
                </a:solidFill>
                <a:latin typeface="Noto Sans KR" panose="020B0200000000000000" pitchFamily="50" charset="-127"/>
              </a:rPr>
              <a:t>모델</a:t>
            </a:r>
            <a:endParaRPr sz="1200" b="1" i="0" u="none" dirty="0">
              <a:solidFill>
                <a:srgbClr val="38BDF8"/>
              </a:solidFill>
              <a:latin typeface="Noto Sans KR" panose="020B0200000000000000" pitchFamily="50" charset="-127"/>
            </a:endParaRPr>
          </a:p>
        </p:txBody>
      </p:sp>
      <p:sp>
        <p:nvSpPr>
          <p:cNvPr id="16" name="TextBox 15"/>
          <p:cNvSpPr txBox="1"/>
          <p:nvPr/>
        </p:nvSpPr>
        <p:spPr>
          <a:xfrm>
            <a:off x="6803975" y="3188196"/>
            <a:ext cx="2425600" cy="346471"/>
          </a:xfrm>
          <a:prstGeom prst="rect">
            <a:avLst/>
          </a:prstGeom>
          <a:noFill/>
        </p:spPr>
        <p:txBody>
          <a:bodyPr wrap="square" lIns="0" tIns="0" rIns="0" bIns="0" anchor="t">
            <a:spAutoFit/>
          </a:bodyPr>
          <a:lstStyle/>
          <a:p>
            <a:pPr algn="l">
              <a:lnSpc>
                <a:spcPts val="1364"/>
              </a:lnSpc>
            </a:pPr>
            <a:r>
              <a:rPr sz="975" b="0" i="0" u="none" dirty="0" err="1">
                <a:solidFill>
                  <a:srgbClr val="94A3B8"/>
                </a:solidFill>
                <a:latin typeface="Noto Sans KR" panose="020B0200000000000000" pitchFamily="50" charset="-127"/>
              </a:rPr>
              <a:t>간헐적</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수요</a:t>
            </a:r>
            <a:r>
              <a:rPr sz="975" b="0" i="0" u="none" dirty="0">
                <a:solidFill>
                  <a:srgbClr val="94A3B8"/>
                </a:solidFill>
                <a:latin typeface="Noto Sans KR" panose="020B0200000000000000" pitchFamily="50" charset="-127"/>
              </a:rPr>
              <a:t>(Intermittent Demand) </a:t>
            </a:r>
            <a:r>
              <a:rPr sz="975" b="0" i="0" u="none" dirty="0" err="1">
                <a:solidFill>
                  <a:srgbClr val="94A3B8"/>
                </a:solidFill>
                <a:latin typeface="Noto Sans KR" panose="020B0200000000000000" pitchFamily="50" charset="-127"/>
              </a:rPr>
              <a:t>상품을</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위한</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Croston</a:t>
            </a:r>
            <a:r>
              <a:rPr sz="975" b="0" i="0" u="none" dirty="0">
                <a:solidFill>
                  <a:srgbClr val="94A3B8"/>
                </a:solidFill>
                <a:latin typeface="Noto Sans KR" panose="020B0200000000000000" pitchFamily="50" charset="-127"/>
              </a:rPr>
              <a:t> / Prophet </a:t>
            </a:r>
            <a:r>
              <a:rPr sz="975" b="0" i="0" u="none" dirty="0" err="1">
                <a:solidFill>
                  <a:srgbClr val="94A3B8"/>
                </a:solidFill>
                <a:latin typeface="Noto Sans KR" panose="020B0200000000000000" pitchFamily="50" charset="-127"/>
              </a:rPr>
              <a:t>알고리즘</a:t>
            </a:r>
            <a:r>
              <a:rPr sz="975" b="0" i="0" u="none" dirty="0">
                <a:solidFill>
                  <a:srgbClr val="94A3B8"/>
                </a:solidFill>
                <a:latin typeface="Noto Sans KR" panose="020B0200000000000000" pitchFamily="50" charset="-127"/>
              </a:rPr>
              <a:t> </a:t>
            </a:r>
            <a:r>
              <a:rPr sz="975" b="0" i="0" u="none" dirty="0" err="1">
                <a:solidFill>
                  <a:srgbClr val="94A3B8"/>
                </a:solidFill>
                <a:latin typeface="Noto Sans KR" panose="020B0200000000000000" pitchFamily="50" charset="-127"/>
              </a:rPr>
              <a:t>도입</a:t>
            </a:r>
            <a:endParaRPr sz="975" b="0" i="0" u="none" dirty="0">
              <a:solidFill>
                <a:srgbClr val="94A3B8"/>
              </a:solidFill>
              <a:latin typeface="Noto Sans KR" panose="020B0200000000000000" pitchFamily="50" charset="-127"/>
            </a:endParaRPr>
          </a:p>
        </p:txBody>
      </p:sp>
      <p:sp>
        <p:nvSpPr>
          <p:cNvPr id="17" name="TextBox 16"/>
          <p:cNvSpPr txBox="1"/>
          <p:nvPr/>
        </p:nvSpPr>
        <p:spPr>
          <a:xfrm>
            <a:off x="762000" y="4527053"/>
            <a:ext cx="2508700" cy="276999"/>
          </a:xfrm>
          <a:prstGeom prst="rect">
            <a:avLst/>
          </a:prstGeom>
          <a:noFill/>
        </p:spPr>
        <p:txBody>
          <a:bodyPr wrap="none" lIns="0" tIns="0" rIns="0" bIns="0" anchor="t">
            <a:spAutoFit/>
          </a:bodyPr>
          <a:lstStyle/>
          <a:p>
            <a:pPr algn="l"/>
            <a:r>
              <a:rPr sz="1800" b="1" i="0" u="none" dirty="0" err="1">
                <a:solidFill>
                  <a:srgbClr val="FFFFFF"/>
                </a:solidFill>
                <a:latin typeface="Noto Sans KR" panose="020B0200000000000000" pitchFamily="50" charset="-127"/>
              </a:rPr>
              <a:t>경청해</a:t>
            </a:r>
            <a:r>
              <a:rPr sz="1800" b="1" i="0" u="none" dirty="0">
                <a:solidFill>
                  <a:srgbClr val="FFFFFF"/>
                </a:solidFill>
                <a:latin typeface="Noto Sans KR" panose="020B0200000000000000" pitchFamily="50" charset="-127"/>
              </a:rPr>
              <a:t> </a:t>
            </a:r>
            <a:r>
              <a:rPr sz="1800" b="1" i="0" u="none" dirty="0" err="1">
                <a:solidFill>
                  <a:srgbClr val="FFFFFF"/>
                </a:solidFill>
                <a:latin typeface="Noto Sans KR" panose="020B0200000000000000" pitchFamily="50" charset="-127"/>
              </a:rPr>
              <a:t>주셔서</a:t>
            </a:r>
            <a:r>
              <a:rPr sz="1800" b="1" i="0" u="none" dirty="0">
                <a:solidFill>
                  <a:srgbClr val="FFFFFF"/>
                </a:solidFill>
                <a:latin typeface="Noto Sans KR" panose="020B0200000000000000" pitchFamily="50" charset="-127"/>
              </a:rPr>
              <a:t> </a:t>
            </a:r>
            <a:r>
              <a:rPr sz="1800" b="1" i="0" u="none" dirty="0" err="1">
                <a:solidFill>
                  <a:srgbClr val="FFFFFF"/>
                </a:solidFill>
                <a:latin typeface="Noto Sans KR" panose="020B0200000000000000" pitchFamily="50" charset="-127"/>
              </a:rPr>
              <a:t>감사합니다</a:t>
            </a:r>
            <a:r>
              <a:rPr sz="1800" b="1" i="0" u="none" dirty="0">
                <a:solidFill>
                  <a:srgbClr val="FFFFFF"/>
                </a:solidFill>
                <a:latin typeface="Noto Sans KR" panose="020B0200000000000000" pitchFamily="50" charset="-127"/>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3025</Words>
  <Application>Microsoft Office PowerPoint</Application>
  <PresentationFormat>와이드스크린</PresentationFormat>
  <Paragraphs>257</Paragraphs>
  <Slides>15</Slides>
  <Notes>15</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15</vt:i4>
      </vt:variant>
    </vt:vector>
  </HeadingPairs>
  <TitlesOfParts>
    <vt:vector size="21" baseType="lpstr">
      <vt:lpstr>Consolas</vt:lpstr>
      <vt:lpstr>Arial</vt:lpstr>
      <vt:lpstr>맑은 고딕</vt:lpstr>
      <vt:lpstr>Calibri</vt:lpstr>
      <vt:lpstr>Noto Sans KR</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Administrator</dc:creator>
  <cp:keywords/>
  <dc:description>generated using python-pptx</dc:description>
  <cp:lastModifiedBy>FullName</cp:lastModifiedBy>
  <cp:revision>6</cp:revision>
  <dcterms:created xsi:type="dcterms:W3CDTF">2013-01-27T09:14:16Z</dcterms:created>
  <dcterms:modified xsi:type="dcterms:W3CDTF">2026-10-19T03:10:46Z</dcterms:modified>
  <cp:category/>
</cp:coreProperties>
</file>