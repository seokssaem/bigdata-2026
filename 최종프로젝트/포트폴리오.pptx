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3" r:id="rId14"/>
    <p:sldId id="264" r:id="rId15"/>
    <p:sldId id="265" r:id="rId16"/>
    <p:sldId id="266" r:id="rId17"/>
    <p:sldId id="267" r:id="rId18"/>
    <p:sldId id="261" r:id="rId12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생필품 가격 리포트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맑은 고딕"/>
              </a:rPr>
              <a:t>한국소비자원 참가격 데이터 기반 가격 변동 추적 · 다음 조사 가격 예측 웹 서비스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CCE8E4"/>
                </a:solidFill>
                <a:latin typeface="맑은 고딕"/>
              </a:rPr>
              <a:t>김기완  |  코리아AI아카데미 빅데이터 분석 플랫폼 개발자 양성과정  |  최종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왜 만들었고, 어떤 데이터를 썼는가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기획 의도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생필품 가격은 자주 바뀌지만 한눈에 흐름을 보기 어렵다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얼마나 올랐는지, 앞으로 오를지를 가격(원)과 등락률(%)로 함께 보여준다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사용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한국소비자원 참가격 (공공데이터)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2025-01-24 ~ 2026-08-28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조사 38회, 약 417만 행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전처리 후 상품 510개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주요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상품 검색 · 카테고리 필터 · 페이지 이동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상세 가격 그래프와 예측가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직전/전년동기/예측 랭킹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회원가입 · 로그인, 계정별 즐겨찾기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Docker + AWS Lightsail 배포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전체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데이터가 화면까지 오는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7744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원본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참가격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38회 조사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2848" y="3154680"/>
            <a:ext cx="19202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237744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25603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맑은 고딕"/>
              </a:rPr>
              <a:t>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10896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병합·정제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2937"/>
                </a:solidFill>
                <a:latin typeface="맑은 고딕"/>
              </a:rPr>
              <a:t>집계·등락률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7368" y="3154680"/>
            <a:ext cx="19202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79" y="237744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79" y="25603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scikit-learn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310896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선형회귀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가격 예측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1887" y="3154680"/>
            <a:ext cx="19202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199" y="237744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25603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맑은 고딕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310896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6개 테이블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2937"/>
                </a:solidFill>
                <a:latin typeface="맑은 고딕"/>
              </a:rPr>
              <a:t>저장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36407" y="3154680"/>
            <a:ext cx="19202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19" y="237744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25603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FastAPI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310896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맑은 고딕"/>
              </a:rPr>
              <a:t>API + 페이지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FFFFFF"/>
                </a:solidFill>
                <a:latin typeface="맑은 고딕"/>
              </a:rPr>
              <a:t>라우터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10928" y="3154680"/>
            <a:ext cx="192024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21240" y="2377440"/>
            <a:ext cx="1645920" cy="1828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5603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맑은 고딕"/>
              </a:rPr>
              <a:t>Jinja2 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08960"/>
            <a:ext cx="1645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목록·상세·랭킹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1F2937"/>
                </a:solidFill>
                <a:latin typeface="맑은 고딕"/>
              </a:rPr>
              <a:t>로그인·즐겨찾기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프론트: HTML · CSS · Jinja2 템플릿 + 소량의 JavaScript (최근 본 상품만 브라우저 localStorage에 저장)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6B7280"/>
                </a:solidFill>
                <a:latin typeface="맑은 고딕"/>
              </a:rPr>
              <a:t>그래프: 서버에서 matplotlib으로 PNG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원본 CSV를 분석 가능한 형태로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1. 병합 · 정제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월별/격주별 CSV 여러 개를 cp949 인코딩으로 읽어 하나로 병합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조사일을 날짜형으로 변환, 중복 행 제거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2. 조사 횟수 필터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38회 중 30회 이상 조사된 상품만 사용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조사가 적은 신상품·조사 중단 상품은 추이가 의미 없어 제외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결과: 510개 상품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3. 카테고리 분류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원본에는 카테고리가 없어 직접 분류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상품 510개를 공식 13개 분류로 정답표(CSV) 작성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정답표에 없는 새 상품은 키워드 규칙으로 자동 분류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집계 · 등락률 · 예측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숫자가 믿을 만하도록 만든 장치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상품×조사일 평균가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여러 매장의 가격을 조사일마다 평균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매장 수가 그 상품 중앙값의 30%도 안 되는 조사 시점은 표본 부족으로 제외 (402건)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등락률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직전 조사 대비: 가격 차이(원)와 %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전년동기 대비: 약 1년 전 조사와 비교 (±20일 허용)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화면에는 % 와 원 단위를 함께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39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다음 조사 가격 예측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맑은 고딕"/>
              </a:rPr>
              <a:t>최근 10개 조사 시점으로 선형회귀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예상 등락률을 ±15%로 제한 (과도한 값 방지)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원본 예측값도 따로 저장</a:t>
            </a:r>
          </a:p>
          <a:p>
            <a:pPr algn="l">
              <a:spcBef>
                <a:spcPts val="600"/>
              </a:spcBef>
            </a:pPr>
            <a:r>
              <a:rPr sz="1900" b="0">
                <a:solidFill>
                  <a:srgbClr val="1F2937"/>
                </a:solidFill>
                <a:latin typeface="맑은 고딕"/>
              </a:rPr>
              <a:t>실제와 다를 수 있음을 화면에 명시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문제 해결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개발하며 부딪힌 문제와 해결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766E"/>
                </a:solidFill>
                <a:latin typeface="맑은 고딕"/>
              </a:rPr>
              <a:t>가격이 갑자기 튀는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특정 조사일에만 매장 수가 급감해 가격이 왜곡됨. 처음엔 매장 20개 미만 제외로 했으나 원래 매장이 적은 상품까지 잘려 오류 → 상품별 중앙값의 30% 미만만 제외하는 상대 기준으로 변경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766E"/>
                </a:solidFill>
                <a:latin typeface="맑은 고딕"/>
              </a:rPr>
              <a:t>카테고리 자동 분류가 부정확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키워드 규칙만으로는 실제 분류와 많이 달랐음 → 510개 상품을 공식 13개 분류로 직접 정답표를 만들고, 새 상품만 규칙으로 분류하는 방식으로 변경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766E"/>
                </a:solidFill>
                <a:latin typeface="맑은 고딕"/>
              </a:rPr>
              <a:t>그래프가 변동을 과장해 보임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가격 차이는 작은데 Y축이 좁아 크게 출렁여 보임 → 변동이 30% 미만이면 Y축을 0부터 시작해 실제 변동 폭 그대로 표시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0F766E"/>
                </a:solidFill>
                <a:latin typeface="맑은 고딕"/>
              </a:rPr>
              <a:t>PostgreSQL에서 'nan원'이 표시됨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663440"/>
            <a:ext cx="5029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맑은 고딕"/>
              </a:rPr>
              <a:t>pandas의 빈 값(NaN)이 PostgreSQL에는 실제 숫자로 저장되어 순위 맨 위에 올라옴 → 저장 전에 NULL(값 없음)로 변환하도록 수정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PostgreSQL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SQLAlchemy ORM으로 6개 테이블 (가격 데이터 4 + 회원 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426464"/>
            <a:ext cx="3364992" cy="39880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5df03317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291840" cy="39149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5113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가격 데이터 테이블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0416" y="1426464"/>
            <a:ext cx="2480686" cy="2816351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ee499ca-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992" y="1463040"/>
            <a:ext cx="2407534" cy="2743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0" y="4279392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products: 상품명·카테고리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31266" y="1426464"/>
            <a:ext cx="1779946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084bd39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7842" y="1463040"/>
            <a:ext cx="1706794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4279392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price_history: 상품×조사일 평균가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754880"/>
            <a:ext cx="75895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products 상품 정보  ·  price_history 시계열 원본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price_changes 등락률 결과  ·  predictions 예측 결과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users 회원  ·  favorites 회원별 즐겨찾기 (회원+상품 중복 방지)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상품 × 조사일 단위로도 중복 방지(UniqueConstraint)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메인 화면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이번 조사 상승 TOP5와 최근 본 상품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59802" y="1335024"/>
            <a:ext cx="9841915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78" y="1371600"/>
            <a:ext cx="976876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목록 · 검색 · 카테고리 · 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510개 상품을 24개씩 나눠 보여줌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8359" y="1335024"/>
            <a:ext cx="4381361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935" y="1371600"/>
            <a:ext cx="4308209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6509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카테고리마다 다른 색 태그 + 현재가와 등락률</a:t>
            </a:r>
          </a:p>
        </p:txBody>
      </p:sp>
      <p:sp>
        <p:nvSpPr>
          <p:cNvPr id="9" name="Rectangle 8"/>
          <p:cNvSpPr/>
          <p:nvPr/>
        </p:nvSpPr>
        <p:spPr>
          <a:xfrm>
            <a:off x="7187184" y="1335024"/>
            <a:ext cx="4553712" cy="687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4480560" cy="6144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23760" y="2059228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페이지 이동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931920"/>
            <a:ext cx="44805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카테고리 13개를 계열별 7가지 색으로 구분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상품명 검색과 카테고리 필터 조합 가능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검색어의 특수문자도 안전하게 처리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상품 상세 · 가격 그래프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변동 폭에 맞춰 그래프를 그림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1104" y="1426464"/>
            <a:ext cx="568147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463040"/>
            <a:ext cx="5608320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42431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변동이 큰 상품 (크리넥스 클린케어): 움직임이 그대로 보임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3264" y="1426464"/>
            <a:ext cx="568147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1463040"/>
            <a:ext cx="5608320" cy="4206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42431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변동이 작은 상품 (Dole 파인애플): Y축을 0부터 → 평평하게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035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1F2937"/>
                </a:solidFill>
                <a:latin typeface="맑은 고딕"/>
              </a:rPr>
              <a:t>현재가 · 직전 대비 · 전년동기 대비 · 다음 조사 예상가를 카드 4개로 요약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가격 랭킹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직전 대비 / 전년동기 대비 / 다음 예측, 상승 · 하락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665849" y="1335024"/>
            <a:ext cx="5251981" cy="423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25" y="1371600"/>
            <a:ext cx="5178829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60527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직전 대비 · 상승 (하락은 버튼으로 전환)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9409" y="1335024"/>
            <a:ext cx="5251981" cy="4233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985" y="1371600"/>
            <a:ext cx="5178829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560527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다음 예측 (예상 상승 TOP20)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직전 대비 · 전년동기 대비 · 다음 예측 세 가지 순위를 탭으로 전환, 예측 순위는 상한(15%)이 같을 때 보정 전 원본 예측값 순으로 정렬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로그인 · 즐겨찾기 · 반응형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계정별 즐겨찾기를 DB에 저장, 모바일도 대응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3" y="1335024"/>
            <a:ext cx="2816352" cy="297221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2743200" cy="28990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4343815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로그인 화면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3864" y="1335024"/>
            <a:ext cx="3456432" cy="142117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371600"/>
            <a:ext cx="3383280" cy="1348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0440" y="2792777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맑은 고딕"/>
              </a:rPr>
              <a:t>로그인 후 즐겨찾기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6035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비밀번호는 PBKDF2-SHA256으로 암호화해 저장 (원문 저장 안 함)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로그인 상태는 서명된 세션 쿠키로 유지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즐겨찾기는 로그인한 회원별로 DB에 저장, 비로그인 시 로그인 화면으로 이동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95744" y="1460317"/>
            <a:ext cx="2267712" cy="46688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2ff654c7-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496893"/>
            <a:ext cx="2194560" cy="459573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473184" y="1296266"/>
            <a:ext cx="2267712" cy="499698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07517be-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1332842"/>
            <a:ext cx="2194560" cy="49238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Docker로 묶어 AWS Lightsail에 올림 — 주소만 입력하면 접속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10312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1284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맑은 고딕"/>
              </a:rPr>
              <a:t>사용자 브라우저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79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http://서버IP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606040"/>
            <a:ext cx="502920" cy="29260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554480"/>
            <a:ext cx="8229600" cy="3108960"/>
          </a:xfrm>
          <a:prstGeom prst="roundRect">
            <a:avLst>
              <a:gd name="adj" fmla="val 4000"/>
            </a:avLst>
          </a:prstGeom>
          <a:solidFill>
            <a:srgbClr val="E6F2F0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60020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맑은 고딕"/>
              </a:rPr>
              <a:t>AWS Lightsail  ·  Ubuntu 서버  ·  고정 IP  ·  방화벽 80번 허용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19456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304288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맑은 고딕"/>
              </a:rPr>
              <a:t>api 컨테이너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88920"/>
            <a:ext cx="329184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FastAPI + Jinja2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F2937"/>
                </a:solidFill>
                <a:latin typeface="맑은 고딕"/>
              </a:rPr>
              <a:t>포트 80 → 8000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80" y="3063240"/>
            <a:ext cx="502920" cy="292608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219456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2304288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766E"/>
                </a:solidFill>
                <a:latin typeface="맑은 고딕"/>
              </a:rPr>
              <a:t>db 컨테이너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788920"/>
            <a:ext cx="365760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PostgreSQL 17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F2937"/>
                </a:solidFill>
                <a:latin typeface="맑은 고딕"/>
              </a:rPr>
              <a:t>가격 데이터 SQL 자동 적재</a:t>
            </a:r>
          </a:p>
          <a:p>
            <a:pPr algn="ctr">
              <a:spcBef>
                <a:spcPts val="600"/>
              </a:spcBef>
            </a:pPr>
            <a:r>
              <a:rPr sz="1300" b="0">
                <a:solidFill>
                  <a:srgbClr val="1F2937"/>
                </a:solidFill>
                <a:latin typeface="맑은 고딕"/>
              </a:rPr>
              <a:t>볼륨에 영구 저장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맑은 고딕"/>
              </a:rPr>
              <a:t>docker compose 한 번으로 api · db 두 컨테이너 실행 (재부팅해도 자동 재시작)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GitHub에서 코드를 받아 서버에서 실행, 비밀번호·세션 키는 .env 파일로 분리 (GitHub에 올리지 않음)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2937"/>
                </a:solidFill>
                <a:latin typeface="맑은 고딕"/>
              </a:rPr>
              <a:t>내 컴퓨터에서 계산한 가격 데이터를 SQL 파일로 내보내 서버 DB가 처음 만들어질 때 자동으로 넣음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맑은 고딕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B7280"/>
                </a:solidFill>
                <a:latin typeface="맑은 고딕"/>
              </a:rPr>
              <a:t>정리와 배운 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결과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공공데이터를 수집·정제·분석·저장·웹으로 이어지는 전 과정을 구현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맑은 고딕"/>
              </a:rPr>
              <a:t>상품 510개, 조사 38회의 가격 추이와 예측을 제공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맑은 고딕"/>
              </a:rPr>
              <a:t>로그인과 Docker 배포까지 갖춘 실제 접속 가능한 서비스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맑은 고딕"/>
              </a:rPr>
              <a:t>데이터 품질(표본·조사 횟수·그래프 스케일)을 고려한 설계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39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F766E"/>
                </a:solidFill>
                <a:latin typeface="맑은 고딕"/>
              </a:rPr>
              <a:t>배운 점 · 개선 방향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맑은 고딕"/>
              </a:rPr>
              <a:t>숫자를 그대로 믿지 않고 노이즈를 검증하는 과정의 중요성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맑은 고딕"/>
              </a:rPr>
              <a:t>예측은 단순 선형회귀라 한계가 있어, 계절성 반영 등으로 개선 가능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1F2937"/>
                </a:solidFill>
                <a:latin typeface="맑은 고딕"/>
              </a:rPr>
              <a:t>추후 신규 CSV를 추가하면 자동으로 갱신·분류되도록 확장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