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6" r:id="rId1"/>
  </p:sldMasterIdLst>
  <p:notesMasterIdLst>
    <p:notesMasterId r:id="rId9"/>
  </p:notesMasterIdLst>
  <p:sldIdLst>
    <p:sldId id="256" r:id="rId2"/>
    <p:sldId id="259" r:id="rId3"/>
    <p:sldId id="260" r:id="rId4"/>
    <p:sldId id="258" r:id="rId5"/>
    <p:sldId id="257" r:id="rId6"/>
    <p:sldId id="261" r:id="rId7"/>
    <p:sldId id="262" r:id="rId8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150D-7F44-451F-B87D-5DC08FA8F70E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CD7FA0B-766A-40BD-889D-DAA1AF76786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795638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150D-7F44-451F-B87D-5DC08FA8F70E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FA0B-766A-40BD-889D-DAA1AF76786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77691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150D-7F44-451F-B87D-5DC08FA8F70E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FA0B-766A-40BD-889D-DAA1AF76786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652729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150D-7F44-451F-B87D-5DC08FA8F70E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FA0B-766A-40BD-889D-DAA1AF76786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4579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150D-7F44-451F-B87D-5DC08FA8F70E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FA0B-766A-40BD-889D-DAA1AF76786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99885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150D-7F44-451F-B87D-5DC08FA8F70E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FA0B-766A-40BD-889D-DAA1AF76786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7374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150D-7F44-451F-B87D-5DC08FA8F70E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FA0B-766A-40BD-889D-DAA1AF7678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79812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150D-7F44-451F-B87D-5DC08FA8F70E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FA0B-766A-40BD-889D-DAA1AF76786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36038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B3E150D-7F44-451F-B87D-5DC08FA8F70E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FA0B-766A-40BD-889D-DAA1AF76786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101943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150D-7F44-451F-B87D-5DC08FA8F70E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FA0B-766A-40BD-889D-DAA1AF76786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790805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150D-7F44-451F-B87D-5DC08FA8F70E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FA0B-766A-40BD-889D-DAA1AF76786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1603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72120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E150D-7F44-451F-B87D-5DC08FA8F70E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CD7FA0B-766A-40BD-889D-DAA1AF76786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hape 0">
            <a:extLst>
              <a:ext uri="{FF2B5EF4-FFF2-40B4-BE49-F238E27FC236}">
                <a16:creationId xmlns:a16="http://schemas.microsoft.com/office/drawing/2014/main" id="{93775E96-00BB-4A3B-A986-B34178036A1C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D4F2B3BA-113D-4A48-B9F5-C2B84DD01237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5">
            <a:extLst>
              <a:ext uri="{FF2B5EF4-FFF2-40B4-BE49-F238E27FC236}">
                <a16:creationId xmlns:a16="http://schemas.microsoft.com/office/drawing/2014/main" id="{31096B6A-325B-4586-8D7C-0E2A40295C94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9B49C6A7-59FD-4209-A89D-E6D1CC468830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모델링</a:t>
            </a:r>
            <a:endParaRPr lang="en-US" sz="800" dirty="0"/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0AA05F99-3B4D-43F5-AAC9-86A369542B70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049989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  <p:sldLayoutId id="2147483888" r:id="rId12"/>
    <p:sldLayoutId id="2147483650" r:id="rId13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</a:t>
            </a:r>
            <a:r>
              <a:rPr lang="ko-KR" altLang="en-US" dirty="0" err="1"/>
              <a:t>태두혁</a:t>
            </a:r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	2026-08-04</a:t>
            </a:r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	</a:t>
            </a:r>
            <a:r>
              <a:rPr lang="en-US" altLang="ko-KR" dirty="0" err="1"/>
              <a:t>TaeDoohyeok</a:t>
            </a:r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indent="0" algn="l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12_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빅데이터분석모델링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외 실행결과 또는 코드 및 관련 파일들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모델링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</a:rPr>
                <a:t>2001010513_21v1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97DC-EED6-44D3-88D7-A3CC1ABAF91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80239" y="1736041"/>
            <a:ext cx="11283192" cy="1049337"/>
          </a:xfrm>
        </p:spPr>
        <p:txBody>
          <a:bodyPr>
            <a:noAutofit/>
          </a:bodyPr>
          <a:lstStyle/>
          <a:p>
            <a:pPr algn="ctr"/>
            <a:r>
              <a:rPr lang="ko-KR" altLang="en-US" sz="5500" dirty="0">
                <a:solidFill>
                  <a:schemeClr val="accent1"/>
                </a:solidFill>
              </a:rPr>
              <a:t>화재로 인한 인명피해 데이터 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8B1A14-8F7E-4425-B825-7E5F47A34950}"/>
              </a:ext>
            </a:extLst>
          </p:cNvPr>
          <p:cNvSpPr txBox="1"/>
          <p:nvPr/>
        </p:nvSpPr>
        <p:spPr>
          <a:xfrm>
            <a:off x="9009776" y="4999839"/>
            <a:ext cx="3058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팀원 </a:t>
            </a:r>
            <a:r>
              <a:rPr lang="en-US" altLang="ko-KR" dirty="0"/>
              <a:t>: </a:t>
            </a:r>
            <a:r>
              <a:rPr lang="ko-KR" altLang="en-US" dirty="0" err="1"/>
              <a:t>태두혁</a:t>
            </a:r>
            <a:r>
              <a:rPr lang="en-US" altLang="ko-KR" dirty="0"/>
              <a:t>, </a:t>
            </a:r>
            <a:r>
              <a:rPr lang="ko-KR" altLang="en-US" dirty="0" err="1"/>
              <a:t>노가희</a:t>
            </a:r>
            <a:r>
              <a:rPr lang="en-US" altLang="ko-KR" dirty="0"/>
              <a:t>, </a:t>
            </a:r>
            <a:r>
              <a:rPr lang="ko-KR" altLang="en-US" dirty="0" err="1"/>
              <a:t>김기완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4851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158302-A049-4E18-A939-25E984B9D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4400" b="1" dirty="0">
                <a:solidFill>
                  <a:schemeClr val="accent1"/>
                </a:solidFill>
              </a:rPr>
              <a:t>가설 및 문제 정의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3C0876-FAE1-45FD-93B1-D728C4D6E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2400" dirty="0">
                <a:latin typeface="+mn-ea"/>
              </a:rPr>
              <a:t>분석 목적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CD65E2F-48A8-4E96-9DE3-14B2218223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7191" y="2980559"/>
            <a:ext cx="4645152" cy="2488167"/>
          </a:xfrm>
        </p:spPr>
        <p:txBody>
          <a:bodyPr/>
          <a:lstStyle/>
          <a:p>
            <a:r>
              <a:rPr lang="ko-KR" altLang="en-US" sz="1800" dirty="0"/>
              <a:t>화재 발생시 인명피해에 직접적인 영향을 주는 </a:t>
            </a:r>
            <a:r>
              <a:rPr lang="ko-KR" altLang="en-US" sz="1800" b="1" dirty="0"/>
              <a:t>원인이 규명</a:t>
            </a:r>
            <a:endParaRPr lang="en-US" altLang="ko-KR" sz="1800" b="1" dirty="0"/>
          </a:p>
          <a:p>
            <a:endParaRPr lang="en-US" altLang="ko-KR" sz="1800" dirty="0"/>
          </a:p>
          <a:p>
            <a:r>
              <a:rPr lang="ko-KR" altLang="en-US" sz="1800" dirty="0"/>
              <a:t>화재 데이터 기반의 분석을 통한 </a:t>
            </a:r>
            <a:r>
              <a:rPr lang="ko-KR" altLang="en-US" sz="1800" b="1" dirty="0"/>
              <a:t>인명피해 최소화 방안 도출</a:t>
            </a:r>
            <a:endParaRPr lang="ko-KR" altLang="en-US" b="1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9122B81-79E8-4C58-8CD7-60B2D0C965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700" y="2019255"/>
            <a:ext cx="4645152" cy="802237"/>
          </a:xfrm>
        </p:spPr>
        <p:txBody>
          <a:bodyPr>
            <a:normAutofit/>
          </a:bodyPr>
          <a:lstStyle/>
          <a:p>
            <a:pPr algn="ctr"/>
            <a:r>
              <a:rPr lang="ko-KR" altLang="en-US" sz="2400" dirty="0"/>
              <a:t>설정한 가설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0D9384-4C73-41BF-BDBB-3659FB6CE4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2362" y="2987761"/>
            <a:ext cx="4645152" cy="2637371"/>
          </a:xfrm>
        </p:spPr>
        <p:txBody>
          <a:bodyPr>
            <a:normAutofit/>
          </a:bodyPr>
          <a:lstStyle/>
          <a:p>
            <a:r>
              <a:rPr lang="ko-KR" altLang="en-US" sz="1800" b="1" dirty="0"/>
              <a:t>환경적 요인 </a:t>
            </a:r>
            <a:r>
              <a:rPr lang="en-US" altLang="ko-KR" sz="1800" dirty="0"/>
              <a:t>(</a:t>
            </a:r>
            <a:r>
              <a:rPr lang="ko-KR" altLang="en-US" sz="1800" dirty="0"/>
              <a:t>발화 요인</a:t>
            </a:r>
            <a:r>
              <a:rPr lang="en-US" altLang="ko-KR" sz="1800" dirty="0"/>
              <a:t>, </a:t>
            </a:r>
            <a:r>
              <a:rPr lang="ko-KR" altLang="en-US" sz="1800" dirty="0"/>
              <a:t>장소</a:t>
            </a:r>
            <a:r>
              <a:rPr lang="en-US" altLang="ko-KR" sz="1800" dirty="0"/>
              <a:t>)</a:t>
            </a:r>
            <a:r>
              <a:rPr lang="ko-KR" altLang="en-US" sz="1800" dirty="0"/>
              <a:t>에 따라 인명피해 발생 확률에 차이가 있을 것이다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  <a:p>
            <a:r>
              <a:rPr lang="ko-KR" altLang="en-US" sz="1800" b="1" dirty="0"/>
              <a:t>시간적 요인</a:t>
            </a:r>
            <a:r>
              <a:rPr lang="en-US" altLang="ko-KR" sz="1800" dirty="0"/>
              <a:t>(</a:t>
            </a:r>
            <a:r>
              <a:rPr lang="ko-KR" altLang="en-US" sz="1800" dirty="0"/>
              <a:t>시간대</a:t>
            </a:r>
            <a:r>
              <a:rPr lang="en-US" altLang="ko-KR" sz="1800" dirty="0"/>
              <a:t>, </a:t>
            </a:r>
            <a:r>
              <a:rPr lang="ko-KR" altLang="en-US" sz="1800" dirty="0"/>
              <a:t>요일</a:t>
            </a:r>
            <a:r>
              <a:rPr lang="en-US" altLang="ko-KR" sz="1800" dirty="0"/>
              <a:t>,</a:t>
            </a:r>
            <a:r>
              <a:rPr lang="ko-KR" altLang="en-US" sz="1800" dirty="0"/>
              <a:t>계절</a:t>
            </a:r>
            <a:r>
              <a:rPr lang="en-US" altLang="ko-KR" sz="1800" dirty="0"/>
              <a:t>)</a:t>
            </a:r>
            <a:r>
              <a:rPr lang="ko-KR" altLang="en-US" sz="1800" dirty="0"/>
              <a:t>에 따라 인명피해 유발 강도가 다를 것이다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66678E6-4FB1-4AAD-A0A0-53E947A7B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779" y="5175354"/>
            <a:ext cx="7526484" cy="123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352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D35EB3-C417-487D-A47E-367D2E263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4400" b="1" dirty="0">
                <a:solidFill>
                  <a:schemeClr val="accent1"/>
                </a:solidFill>
              </a:rPr>
              <a:t>데이터셋 분할 전략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F05D8-C3DD-47AB-B389-A2937C33C0C7}"/>
              </a:ext>
            </a:extLst>
          </p:cNvPr>
          <p:cNvSpPr txBox="1"/>
          <p:nvPr/>
        </p:nvSpPr>
        <p:spPr>
          <a:xfrm>
            <a:off x="1451578" y="2142309"/>
            <a:ext cx="96032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chemeClr val="accent1"/>
                </a:solidFill>
                <a:latin typeface="+mn-ea"/>
              </a:rPr>
              <a:t>Train/Test </a:t>
            </a:r>
            <a:r>
              <a:rPr lang="ko-KR" altLang="en-US" sz="2400" dirty="0">
                <a:solidFill>
                  <a:schemeClr val="accent1"/>
                </a:solidFill>
                <a:latin typeface="+mn-ea"/>
              </a:rPr>
              <a:t>비율</a:t>
            </a:r>
            <a:r>
              <a:rPr lang="ko-KR" altLang="en-US" sz="2400" dirty="0">
                <a:latin typeface="+mn-ea"/>
              </a:rPr>
              <a:t> </a:t>
            </a:r>
            <a:r>
              <a:rPr lang="en-US" altLang="ko-KR" sz="2400" dirty="0">
                <a:latin typeface="+mn-ea"/>
              </a:rPr>
              <a:t>: </a:t>
            </a:r>
            <a:r>
              <a:rPr lang="en-US" altLang="ko-KR" sz="2400" dirty="0">
                <a:solidFill>
                  <a:schemeClr val="accent1"/>
                </a:solidFill>
                <a:latin typeface="+mn-ea"/>
              </a:rPr>
              <a:t>75:25</a:t>
            </a:r>
            <a:endParaRPr lang="en-US" altLang="ko-KR" dirty="0">
              <a:solidFill>
                <a:schemeClr val="accent1"/>
              </a:solidFill>
              <a:latin typeface="+mn-ea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ko-KR" altLang="en-US" dirty="0">
                <a:latin typeface="Bahnschrift Light" panose="020B0502040204020203" pitchFamily="34" charset="0"/>
              </a:rPr>
              <a:t>공식 도큐먼트에서 권장하는 </a:t>
            </a:r>
            <a:r>
              <a:rPr lang="ko-KR" altLang="en-US" b="1" dirty="0">
                <a:latin typeface="Bahnschrift Light" panose="020B0502040204020203" pitchFamily="34" charset="0"/>
              </a:rPr>
              <a:t>중간 </a:t>
            </a:r>
            <a:r>
              <a:rPr lang="ko-KR" altLang="en-US" b="1" dirty="0" err="1">
                <a:latin typeface="Bahnschrift Light" panose="020B0502040204020203" pitchFamily="34" charset="0"/>
              </a:rPr>
              <a:t>표준값</a:t>
            </a:r>
            <a:r>
              <a:rPr lang="ko-KR" altLang="en-US" b="1" dirty="0">
                <a:latin typeface="Bahnschrift Light" panose="020B0502040204020203" pitchFamily="34" charset="0"/>
              </a:rPr>
              <a:t> 비율 채택</a:t>
            </a:r>
            <a:endParaRPr lang="en-US" altLang="ko-KR" b="1" dirty="0">
              <a:latin typeface="Bahnschrift Light" panose="020B0502040204020203" pitchFamily="34" charset="0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dirty="0">
                <a:latin typeface="Bahnschrift Light" panose="020B0502040204020203" pitchFamily="34" charset="0"/>
              </a:rPr>
              <a:t>25% </a:t>
            </a:r>
            <a:r>
              <a:rPr lang="ko-KR" altLang="en-US" dirty="0">
                <a:latin typeface="Bahnschrift Light" panose="020B0502040204020203" pitchFamily="34" charset="0"/>
              </a:rPr>
              <a:t>해당하는 검증 데이터만으로도 </a:t>
            </a:r>
            <a:r>
              <a:rPr lang="ko-KR" altLang="en-US" b="1" dirty="0">
                <a:latin typeface="Bahnschrift Light" panose="020B0502040204020203" pitchFamily="34" charset="0"/>
              </a:rPr>
              <a:t>대수의 법칙에 의해 유의미한 </a:t>
            </a:r>
            <a:r>
              <a:rPr lang="ko-KR" altLang="en-US" b="1" dirty="0" err="1">
                <a:latin typeface="Bahnschrift Light" panose="020B0502040204020203" pitchFamily="34" charset="0"/>
              </a:rPr>
              <a:t>검증력</a:t>
            </a:r>
            <a:r>
              <a:rPr lang="ko-KR" altLang="en-US" b="1" dirty="0">
                <a:latin typeface="Bahnschrift Light" panose="020B0502040204020203" pitchFamily="34" charset="0"/>
              </a:rPr>
              <a:t> 확보</a:t>
            </a:r>
            <a:endParaRPr lang="en-US" altLang="ko-KR" b="1" dirty="0">
              <a:latin typeface="Bahnschrift Light" panose="020B0502040204020203" pitchFamily="34" charset="0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US" altLang="ko-KR" b="1" dirty="0">
              <a:latin typeface="Bahnschrift Light" panose="020B0502040204020203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chemeClr val="accent1"/>
                </a:solidFill>
                <a:latin typeface="Bahnschrift Light" panose="020B0502040204020203" pitchFamily="34" charset="0"/>
              </a:rPr>
              <a:t>Stratify=y : </a:t>
            </a:r>
            <a:r>
              <a:rPr lang="ko-KR" altLang="en-US" sz="2400" dirty="0">
                <a:solidFill>
                  <a:schemeClr val="accent1"/>
                </a:solidFill>
                <a:latin typeface="Bahnschrift Light" panose="020B0502040204020203" pitchFamily="34" charset="0"/>
              </a:rPr>
              <a:t>데이터 쏠림 방지</a:t>
            </a:r>
            <a:endParaRPr lang="en-US" altLang="ko-KR" sz="2400" dirty="0">
              <a:solidFill>
                <a:schemeClr val="accent1"/>
              </a:solidFill>
              <a:latin typeface="Bahnschrift Light" panose="020B0502040204020203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ko-KR" b="1" dirty="0">
              <a:latin typeface="Bahnschrift Light" panose="020B05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accent1"/>
                </a:solidFill>
                <a:latin typeface="+mn-ea"/>
              </a:rPr>
              <a:t>교차 검증 </a:t>
            </a:r>
            <a:r>
              <a:rPr lang="en-US" altLang="ko-KR" sz="2400" dirty="0">
                <a:solidFill>
                  <a:schemeClr val="accent1"/>
                </a:solidFill>
                <a:latin typeface="+mn-ea"/>
              </a:rPr>
              <a:t>: </a:t>
            </a:r>
            <a:r>
              <a:rPr lang="ko-KR" altLang="en-US" sz="2400" dirty="0">
                <a:solidFill>
                  <a:schemeClr val="accent1"/>
                </a:solidFill>
                <a:latin typeface="+mn-ea"/>
              </a:rPr>
              <a:t>미적용</a:t>
            </a:r>
            <a:endParaRPr lang="en-US" altLang="ko-KR" sz="2400" dirty="0">
              <a:solidFill>
                <a:schemeClr val="accent1"/>
              </a:solidFill>
              <a:latin typeface="+mn-ea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전체 표본이 약 </a:t>
            </a:r>
            <a:r>
              <a:rPr lang="en-US" altLang="ko-KR" dirty="0">
                <a:solidFill>
                  <a:schemeClr val="accent1"/>
                </a:solidFill>
                <a:latin typeface="+mn-ea"/>
              </a:rPr>
              <a:t>19</a:t>
            </a:r>
            <a:r>
              <a:rPr lang="ko-KR" altLang="en-US" dirty="0">
                <a:solidFill>
                  <a:schemeClr val="accent1"/>
                </a:solidFill>
                <a:latin typeface="+mn-ea"/>
              </a:rPr>
              <a:t>만 건</a:t>
            </a:r>
            <a:r>
              <a:rPr lang="ko-KR" altLang="en-US" dirty="0">
                <a:latin typeface="+mn-ea"/>
              </a:rPr>
              <a:t>으로 </a:t>
            </a:r>
            <a:r>
              <a:rPr lang="ko-KR" altLang="en-US" b="1" dirty="0">
                <a:latin typeface="+mn-ea"/>
              </a:rPr>
              <a:t>대량의 데이터셋</a:t>
            </a:r>
            <a:r>
              <a:rPr lang="ko-KR" altLang="en-US" dirty="0">
                <a:latin typeface="+mn-ea"/>
              </a:rPr>
              <a:t>에 해당</a:t>
            </a:r>
            <a:endParaRPr lang="en-US" altLang="ko-KR" dirty="0">
              <a:latin typeface="+mn-ea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단일 분할만으로도 </a:t>
            </a:r>
            <a:r>
              <a:rPr lang="ko-KR" altLang="en-US" b="1" dirty="0">
                <a:latin typeface="+mn-ea"/>
              </a:rPr>
              <a:t>충분한 통계적 안정성 및 신뢰성 충족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US" altLang="ko-KR" b="1" dirty="0">
              <a:latin typeface="Bahnschrift Light" panose="020B0502040204020203" pitchFamily="34" charset="0"/>
            </a:endParaRPr>
          </a:p>
          <a:p>
            <a:pPr lvl="1"/>
            <a:endParaRPr lang="en-US" altLang="ko-KR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0DFFE1B-209A-4DBE-8935-446457831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745796"/>
            <a:ext cx="9603275" cy="1049235"/>
          </a:xfrm>
        </p:spPr>
        <p:txBody>
          <a:bodyPr>
            <a:normAutofit/>
          </a:bodyPr>
          <a:lstStyle/>
          <a:p>
            <a:pPr algn="ctr"/>
            <a:r>
              <a:rPr lang="ko-KR" altLang="en-US" sz="4400" b="1" dirty="0">
                <a:solidFill>
                  <a:schemeClr val="accent1"/>
                </a:solidFill>
              </a:rPr>
              <a:t>모델 개발 및 선정 근거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A726641-87B8-4BF9-B997-1850FC70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64730"/>
            <a:ext cx="9603275" cy="4412364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600" dirty="0">
                <a:solidFill>
                  <a:schemeClr val="accent1"/>
                </a:solidFill>
                <a:latin typeface="+mj-ea"/>
                <a:ea typeface="+mj-ea"/>
              </a:rPr>
              <a:t>사용 모델 </a:t>
            </a:r>
            <a:endParaRPr lang="en-US" altLang="ko-KR" sz="2600" dirty="0">
              <a:solidFill>
                <a:schemeClr val="accent1"/>
              </a:solidFill>
              <a:latin typeface="+mj-ea"/>
              <a:ea typeface="+mj-ea"/>
            </a:endParaRPr>
          </a:p>
          <a:p>
            <a:pPr lvl="1"/>
            <a:r>
              <a:rPr lang="en-US" altLang="ko-KR" sz="1900" dirty="0" err="1">
                <a:latin typeface="+mn-ea"/>
              </a:rPr>
              <a:t>RandomForestClassifier</a:t>
            </a:r>
            <a:r>
              <a:rPr lang="en-US" altLang="ko-KR" sz="1900" dirty="0">
                <a:latin typeface="+mn-ea"/>
              </a:rPr>
              <a:t> (</a:t>
            </a:r>
            <a:r>
              <a:rPr lang="ko-KR" altLang="en-US" sz="1900" dirty="0">
                <a:latin typeface="+mn-ea"/>
              </a:rPr>
              <a:t>랜덤 포레스트 분류기</a:t>
            </a:r>
            <a:r>
              <a:rPr lang="en-US" altLang="ko-KR" sz="1900" dirty="0">
                <a:latin typeface="+mn-ea"/>
              </a:rPr>
              <a:t>)</a:t>
            </a:r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ko-KR" altLang="en-US" sz="2600" dirty="0">
                <a:solidFill>
                  <a:schemeClr val="accent1"/>
                </a:solidFill>
              </a:rPr>
              <a:t>선정 근거</a:t>
            </a:r>
            <a:endParaRPr lang="en-US" altLang="ko-KR" sz="2600" dirty="0">
              <a:solidFill>
                <a:schemeClr val="accent1"/>
              </a:solidFill>
            </a:endParaRPr>
          </a:p>
          <a:p>
            <a:pPr lvl="1"/>
            <a:r>
              <a:rPr lang="ko-KR" altLang="en-US" sz="1900" dirty="0">
                <a:latin typeface="+mn-ea"/>
              </a:rPr>
              <a:t>다수의 의사결정나무 앙상블을 통해 </a:t>
            </a:r>
            <a:r>
              <a:rPr lang="ko-KR" altLang="en-US" sz="1900" b="1" dirty="0" err="1">
                <a:latin typeface="+mn-ea"/>
              </a:rPr>
              <a:t>과적합</a:t>
            </a:r>
            <a:r>
              <a:rPr lang="en-US" altLang="ko-KR" sz="1900" b="1" dirty="0">
                <a:latin typeface="+mn-ea"/>
              </a:rPr>
              <a:t>(Overfitting)</a:t>
            </a:r>
            <a:r>
              <a:rPr lang="ko-KR" altLang="en-US" sz="1900" b="1" dirty="0">
                <a:latin typeface="+mn-ea"/>
              </a:rPr>
              <a:t>에 강한</a:t>
            </a:r>
            <a:r>
              <a:rPr lang="ko-KR" altLang="en-US" sz="1900" dirty="0">
                <a:latin typeface="+mn-ea"/>
              </a:rPr>
              <a:t> 구조</a:t>
            </a:r>
            <a:endParaRPr lang="en-US" altLang="ko-KR" sz="1900" dirty="0">
              <a:latin typeface="+mn-ea"/>
            </a:endParaRPr>
          </a:p>
          <a:p>
            <a:pPr lvl="1"/>
            <a:r>
              <a:rPr lang="en-US" altLang="ko-KR" sz="1900" dirty="0" err="1">
                <a:latin typeface="+mn-ea"/>
              </a:rPr>
              <a:t>class_weight</a:t>
            </a:r>
            <a:r>
              <a:rPr lang="ko-KR" altLang="en-US" sz="1900" dirty="0">
                <a:latin typeface="+mn-ea"/>
              </a:rPr>
              <a:t>  </a:t>
            </a:r>
            <a:r>
              <a:rPr lang="en-US" altLang="ko-KR" sz="1900" dirty="0">
                <a:latin typeface="+mn-ea"/>
              </a:rPr>
              <a:t>= 'balanced’ </a:t>
            </a:r>
            <a:r>
              <a:rPr lang="ko-KR" altLang="en-US" sz="1900" dirty="0">
                <a:latin typeface="+mn-ea"/>
              </a:rPr>
              <a:t>적용으로 </a:t>
            </a:r>
            <a:r>
              <a:rPr lang="ko-KR" altLang="en-US" sz="1900" b="1" dirty="0">
                <a:latin typeface="+mn-ea"/>
              </a:rPr>
              <a:t>소수 클래스도 안정적으로 학습</a:t>
            </a:r>
            <a:endParaRPr lang="en-US" altLang="ko-KR" sz="1900" b="1" dirty="0">
              <a:latin typeface="+mn-ea"/>
            </a:endParaRPr>
          </a:p>
          <a:p>
            <a:pPr lvl="1"/>
            <a:endParaRPr lang="en-US" altLang="ko-KR" dirty="0">
              <a:latin typeface="+mn-ea"/>
            </a:endParaRPr>
          </a:p>
          <a:p>
            <a:r>
              <a:rPr lang="ko-KR" altLang="en-US" sz="2600" dirty="0" err="1">
                <a:solidFill>
                  <a:schemeClr val="accent1"/>
                </a:solidFill>
                <a:latin typeface="+mn-ea"/>
              </a:rPr>
              <a:t>임계값</a:t>
            </a:r>
            <a:r>
              <a:rPr lang="ko-KR" altLang="en-US" sz="26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en-US" altLang="ko-KR" sz="2600" dirty="0">
                <a:solidFill>
                  <a:schemeClr val="accent1"/>
                </a:solidFill>
                <a:latin typeface="+mn-ea"/>
              </a:rPr>
              <a:t>(Threshold) </a:t>
            </a:r>
            <a:r>
              <a:rPr lang="ko-KR" altLang="en-US" sz="2600" dirty="0">
                <a:solidFill>
                  <a:schemeClr val="accent1"/>
                </a:solidFill>
                <a:latin typeface="+mn-ea"/>
              </a:rPr>
              <a:t>조정 전략</a:t>
            </a:r>
            <a:endParaRPr lang="en-US" altLang="ko-KR" sz="2600" dirty="0">
              <a:solidFill>
                <a:schemeClr val="accent1"/>
              </a:solidFill>
              <a:latin typeface="+mn-ea"/>
            </a:endParaRPr>
          </a:p>
          <a:p>
            <a:pPr lvl="1"/>
            <a:r>
              <a:rPr lang="en-US" altLang="ko-KR" sz="1900" dirty="0" err="1">
                <a:latin typeface="+mn-ea"/>
              </a:rPr>
              <a:t>predict_proba</a:t>
            </a:r>
            <a:r>
              <a:rPr lang="en-US" altLang="ko-KR" sz="1900" dirty="0">
                <a:latin typeface="+mn-ea"/>
              </a:rPr>
              <a:t>() </a:t>
            </a:r>
            <a:r>
              <a:rPr lang="ko-KR" altLang="en-US" sz="1900" dirty="0">
                <a:latin typeface="+mn-ea"/>
              </a:rPr>
              <a:t>함수를 통해 인명피해 발생 확률 자체 추출</a:t>
            </a:r>
            <a:endParaRPr lang="en-US" altLang="ko-KR" sz="1900" dirty="0">
              <a:latin typeface="+mn-ea"/>
            </a:endParaRPr>
          </a:p>
          <a:p>
            <a:pPr lvl="1"/>
            <a:r>
              <a:rPr lang="ko-KR" altLang="en-US" sz="1900" dirty="0" err="1">
                <a:latin typeface="+mn-ea"/>
              </a:rPr>
              <a:t>임계값을</a:t>
            </a:r>
            <a:r>
              <a:rPr lang="ko-KR" altLang="en-US" sz="1900" dirty="0">
                <a:latin typeface="+mn-ea"/>
              </a:rPr>
              <a:t> 기본값 </a:t>
            </a:r>
            <a:r>
              <a:rPr lang="en-US" altLang="ko-KR" sz="1900" b="1" dirty="0">
                <a:latin typeface="+mn-ea"/>
              </a:rPr>
              <a:t>0.5 -&gt; 0.3 </a:t>
            </a:r>
            <a:r>
              <a:rPr lang="ko-KR" altLang="en-US" sz="1900" dirty="0">
                <a:latin typeface="+mn-ea"/>
              </a:rPr>
              <a:t>하양 조정</a:t>
            </a:r>
            <a:endParaRPr lang="en-US" altLang="ko-KR" sz="1900" dirty="0">
              <a:latin typeface="+mn-ea"/>
            </a:endParaRPr>
          </a:p>
          <a:p>
            <a:pPr lvl="1"/>
            <a:r>
              <a:rPr lang="ko-KR" altLang="en-US" sz="1900" dirty="0">
                <a:latin typeface="+mn-ea"/>
              </a:rPr>
              <a:t>인명피해 사건을 놓치지 않기 위해 </a:t>
            </a:r>
            <a:r>
              <a:rPr lang="ko-KR" altLang="en-US" sz="1900" b="1" dirty="0" err="1">
                <a:latin typeface="+mn-ea"/>
              </a:rPr>
              <a:t>재현율</a:t>
            </a:r>
            <a:r>
              <a:rPr lang="en-US" altLang="ko-KR" sz="1900" b="1" dirty="0">
                <a:latin typeface="+mn-ea"/>
              </a:rPr>
              <a:t>(</a:t>
            </a:r>
            <a:r>
              <a:rPr lang="en-US" altLang="ko-KR" sz="1900" b="1" dirty="0" err="1">
                <a:latin typeface="+mn-ea"/>
              </a:rPr>
              <a:t>Reacll</a:t>
            </a:r>
            <a:r>
              <a:rPr lang="en-US" altLang="ko-KR" sz="1900" b="1" dirty="0">
                <a:latin typeface="+mn-ea"/>
              </a:rPr>
              <a:t>) </a:t>
            </a:r>
            <a:r>
              <a:rPr lang="ko-KR" altLang="en-US" sz="1900" dirty="0">
                <a:latin typeface="+mn-ea"/>
              </a:rPr>
              <a:t>최적화</a:t>
            </a:r>
            <a:endParaRPr lang="en-US" altLang="ko-KR" sz="19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DD4D4F-57DC-45BE-A67C-AE7F48913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4400" b="1" dirty="0">
                <a:solidFill>
                  <a:schemeClr val="accent1"/>
                </a:solidFill>
              </a:rPr>
              <a:t>성능 평가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491E31-857C-478F-BB8C-5D38CB1ED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sz="2400" dirty="0">
                <a:solidFill>
                  <a:schemeClr val="accent1"/>
                </a:solidFill>
                <a:latin typeface="+mn-ea"/>
              </a:rPr>
              <a:t>모델 예측 성능 평가</a:t>
            </a:r>
            <a:r>
              <a:rPr lang="en-US" altLang="ko-KR" sz="1800" dirty="0">
                <a:latin typeface="+mn-ea"/>
              </a:rPr>
              <a:t>( </a:t>
            </a:r>
            <a:r>
              <a:rPr lang="en-US" altLang="ko-KR" sz="1800" dirty="0" err="1">
                <a:latin typeface="+mn-ea"/>
              </a:rPr>
              <a:t>classification_report</a:t>
            </a:r>
            <a:r>
              <a:rPr lang="en-US" altLang="ko-KR" sz="1800" dirty="0">
                <a:latin typeface="+mn-ea"/>
              </a:rPr>
              <a:t>() )</a:t>
            </a:r>
          </a:p>
          <a:p>
            <a:pPr lvl="2"/>
            <a:r>
              <a:rPr lang="ko-KR" altLang="en-US" dirty="0">
                <a:latin typeface="+mn-ea"/>
              </a:rPr>
              <a:t>정밀도 및 </a:t>
            </a:r>
            <a:r>
              <a:rPr lang="ko-KR" altLang="en-US" dirty="0" err="1">
                <a:latin typeface="+mn-ea"/>
              </a:rPr>
              <a:t>재현율</a:t>
            </a:r>
            <a:r>
              <a:rPr lang="ko-KR" altLang="en-US" dirty="0">
                <a:latin typeface="+mn-ea"/>
              </a:rPr>
              <a:t> 불균형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데이터셋에 대한 모델의 탐지 정확도 검증</a:t>
            </a:r>
            <a:endParaRPr lang="en-US" altLang="ko-KR" dirty="0">
              <a:latin typeface="+mn-ea"/>
            </a:endParaRPr>
          </a:p>
          <a:p>
            <a:pPr lvl="2"/>
            <a:r>
              <a:rPr lang="en-US" altLang="ko-KR" dirty="0">
                <a:latin typeface="+mn-ea"/>
              </a:rPr>
              <a:t>F1-Score </a:t>
            </a:r>
            <a:r>
              <a:rPr lang="ko-KR" altLang="en-US" dirty="0">
                <a:latin typeface="+mn-ea"/>
              </a:rPr>
              <a:t>및 </a:t>
            </a:r>
            <a:r>
              <a:rPr lang="en-US" altLang="ko-KR" dirty="0">
                <a:latin typeface="+mn-ea"/>
              </a:rPr>
              <a:t>ROC-AUC: </a:t>
            </a:r>
            <a:r>
              <a:rPr lang="ko-KR" altLang="en-US" dirty="0">
                <a:latin typeface="+mn-ea"/>
              </a:rPr>
              <a:t>모델의 종합적인 분류 역량 및 안정성 성적 도출</a:t>
            </a:r>
            <a:endParaRPr lang="en-US" altLang="ko-KR" dirty="0">
              <a:latin typeface="+mn-ea"/>
            </a:endParaRPr>
          </a:p>
          <a:p>
            <a:pPr lvl="2"/>
            <a:endParaRPr lang="en-US" altLang="ko-KR" dirty="0">
              <a:latin typeface="+mn-ea"/>
            </a:endParaRPr>
          </a:p>
          <a:p>
            <a:pPr lvl="1"/>
            <a:r>
              <a:rPr lang="ko-KR" altLang="en-US" sz="2400" dirty="0">
                <a:solidFill>
                  <a:schemeClr val="accent1"/>
                </a:solidFill>
                <a:latin typeface="+mn-ea"/>
              </a:rPr>
              <a:t>화재 </a:t>
            </a:r>
            <a:r>
              <a:rPr lang="ko-KR" altLang="en-US" sz="2400" dirty="0" err="1">
                <a:solidFill>
                  <a:schemeClr val="accent1"/>
                </a:solidFill>
                <a:latin typeface="+mn-ea"/>
              </a:rPr>
              <a:t>원인별</a:t>
            </a:r>
            <a:r>
              <a:rPr lang="ko-KR" altLang="en-US" sz="2400" dirty="0">
                <a:solidFill>
                  <a:schemeClr val="accent1"/>
                </a:solidFill>
                <a:latin typeface="+mn-ea"/>
              </a:rPr>
              <a:t> 기여도 분석</a:t>
            </a:r>
            <a:r>
              <a:rPr lang="en-US" altLang="ko-KR" sz="1800" dirty="0">
                <a:latin typeface="+mn-ea"/>
              </a:rPr>
              <a:t>( </a:t>
            </a:r>
            <a:r>
              <a:rPr lang="en-US" altLang="ko-KR" dirty="0" err="1">
                <a:latin typeface="+mn-ea"/>
              </a:rPr>
              <a:t>Feature_importances</a:t>
            </a:r>
            <a:r>
              <a:rPr lang="en-US" altLang="ko-KR" dirty="0">
                <a:latin typeface="+mn-ea"/>
              </a:rPr>
              <a:t>_ )</a:t>
            </a:r>
          </a:p>
          <a:p>
            <a:pPr lvl="2"/>
            <a:r>
              <a:rPr lang="ko-KR" altLang="en-US" dirty="0">
                <a:latin typeface="+mn-ea"/>
              </a:rPr>
              <a:t>랜덤 포레스트 내부 변수 중요도 산출 방식 사용</a:t>
            </a:r>
            <a:endParaRPr lang="en-US" altLang="ko-KR" dirty="0">
              <a:latin typeface="+mn-ea"/>
            </a:endParaRPr>
          </a:p>
          <a:p>
            <a:pPr lvl="2"/>
            <a:r>
              <a:rPr lang="ko-KR" altLang="en-US" dirty="0">
                <a:latin typeface="+mn-ea"/>
              </a:rPr>
              <a:t>인명피해 발생에 가장 치명적인 영향을 미친 </a:t>
            </a:r>
            <a:r>
              <a:rPr lang="ko-KR" altLang="en-US" b="1" dirty="0">
                <a:latin typeface="+mn-ea"/>
              </a:rPr>
              <a:t>요인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시간대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요일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환경</a:t>
            </a:r>
            <a:r>
              <a:rPr lang="en-US" altLang="ko-KR" b="1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규명</a:t>
            </a:r>
          </a:p>
        </p:txBody>
      </p:sp>
    </p:spTree>
    <p:extLst>
      <p:ext uri="{BB962C8B-B14F-4D97-AF65-F5344CB8AC3E}">
        <p14:creationId xmlns:p14="http://schemas.microsoft.com/office/powerpoint/2010/main" val="188642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2FBED1B-A74F-4A36-8F74-245049241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4400" dirty="0" err="1">
                <a:solidFill>
                  <a:schemeClr val="accent1"/>
                </a:solidFill>
                <a:latin typeface="+mn-ea"/>
                <a:ea typeface="+mn-ea"/>
              </a:rPr>
              <a:t>팀원별</a:t>
            </a:r>
            <a:r>
              <a:rPr lang="ko-KR" altLang="en-US" sz="4400" dirty="0">
                <a:solidFill>
                  <a:schemeClr val="accent1"/>
                </a:solidFill>
                <a:latin typeface="+mn-ea"/>
                <a:ea typeface="+mn-ea"/>
              </a:rPr>
              <a:t> 담당 역할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A0D6330-9696-4AA5-97F0-E03AE7120D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기존 주제였던 </a:t>
            </a:r>
            <a:r>
              <a:rPr lang="en-US" altLang="ko-KR" dirty="0"/>
              <a:t>CCTV</a:t>
            </a:r>
            <a:r>
              <a:rPr lang="ko-KR" altLang="en-US" dirty="0"/>
              <a:t>와 범죄연관성에서 </a:t>
            </a:r>
            <a:r>
              <a:rPr lang="en-US" altLang="ko-KR" dirty="0"/>
              <a:t>CCTV API</a:t>
            </a:r>
            <a:r>
              <a:rPr lang="ko-KR" altLang="en-US" dirty="0"/>
              <a:t>데이터 추출</a:t>
            </a:r>
            <a:endParaRPr lang="en-US" altLang="ko-KR" dirty="0"/>
          </a:p>
          <a:p>
            <a:r>
              <a:rPr lang="en-US" altLang="ko-KR" dirty="0"/>
              <a:t>CCTV</a:t>
            </a:r>
            <a:r>
              <a:rPr lang="ko-KR" altLang="en-US" dirty="0"/>
              <a:t> 데이터 부족으로 화재 데이터로 변경</a:t>
            </a:r>
            <a:endParaRPr lang="en-US" altLang="ko-KR" dirty="0"/>
          </a:p>
          <a:p>
            <a:r>
              <a:rPr lang="ko-KR" altLang="en-US" dirty="0"/>
              <a:t>팀원들과 회의를 통해 가설 설정 및 문제 정의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76AA89B-8050-42C6-9391-05DA9893D2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방대한 데이터의 </a:t>
            </a:r>
            <a:r>
              <a:rPr lang="ko-KR" altLang="en-US" dirty="0" err="1"/>
              <a:t>전처리</a:t>
            </a:r>
            <a:r>
              <a:rPr lang="ko-KR" altLang="en-US" dirty="0"/>
              <a:t> 작업이 분석의 질을 높이는데 중요하다는 것을 느꼈습니다</a:t>
            </a:r>
            <a:endParaRPr lang="en-US" altLang="ko-KR" dirty="0"/>
          </a:p>
          <a:p>
            <a:r>
              <a:rPr lang="ko-KR" altLang="en-US" dirty="0"/>
              <a:t>단순 실습을 넘어 추후 중요한 데이터를 활용한다면 사회적으로 기여가 될 것 같았습니다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806714"/>
      </p:ext>
    </p:extLst>
  </p:cSld>
  <p:clrMapOvr>
    <a:masterClrMapping/>
  </p:clrMapOvr>
</p:sld>
</file>

<file path=ppt/theme/theme1.xml><?xml version="1.0" encoding="utf-8"?>
<a:theme xmlns:a="http://schemas.openxmlformats.org/drawingml/2006/main" name="갤러리">
  <a:themeElements>
    <a:clrScheme name="갤러리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갤러리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갤러리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232</TotalTime>
  <Words>393</Words>
  <Application>Microsoft Office PowerPoint</Application>
  <PresentationFormat>와이드스크린</PresentationFormat>
  <Paragraphs>60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맑은 고딕</vt:lpstr>
      <vt:lpstr>Arial</vt:lpstr>
      <vt:lpstr>Bahnschrift Light</vt:lpstr>
      <vt:lpstr>Consolas</vt:lpstr>
      <vt:lpstr>Gill Sans MT</vt:lpstr>
      <vt:lpstr>갤러리</vt:lpstr>
      <vt:lpstr>PowerPoint 프레젠테이션</vt:lpstr>
      <vt:lpstr>화재로 인한 인명피해 데이터 분석</vt:lpstr>
      <vt:lpstr>가설 및 문제 정의</vt:lpstr>
      <vt:lpstr>데이터셋 분할 전략</vt:lpstr>
      <vt:lpstr>모델 개발 및 선정 근거</vt:lpstr>
      <vt:lpstr>성능 평가 결과</vt:lpstr>
      <vt:lpstr>팀원별 담당 역할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41</cp:revision>
  <dcterms:created xsi:type="dcterms:W3CDTF">2026-03-10T17:23:29Z</dcterms:created>
  <dcterms:modified xsi:type="dcterms:W3CDTF">2026-08-04T03:14:50Z</dcterms:modified>
</cp:coreProperties>
</file>