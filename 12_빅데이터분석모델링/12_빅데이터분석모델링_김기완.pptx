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AB4B5-79EC-465E-8B70-6AB7CC8B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0B434F-959F-4030-9D96-DC7BFC117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FCE47-639E-4BC1-8C68-CC79C9C1E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BCEE4-0319-4436-8180-FB2B97BA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C06E8-A21C-486D-B389-1BEF98A4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434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55D08-018C-4286-8D3A-06B75EEB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17284-DD91-4DC9-905B-0976D58D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171D0-0B1D-4CD0-ADAC-05646033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1D0021-EEEF-4DD7-9AF9-6B2F83F3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FB395-5D82-4294-9BAB-55C40A1C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42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97C61-1D8B-4AE4-A8B7-263D6F20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A4F606-42DD-43B2-820E-98F5F4DE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EEAD95-C5C2-423E-8A07-788DDA5FB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3A716-3557-4D5B-8029-3EDD999D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02C8A-5CA4-4DF7-AA73-A030E5AC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583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CA4C0-E0F3-47F8-99C2-3AACCAFD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CA8A9-BBF8-4E36-964F-ADFAED36F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3994A5-E7ED-4CC7-9D4E-61D9AEB66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63D1C-8633-461F-8506-91DFBD20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A55EC6-6C3F-485F-8FA9-23D89DEF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5198F-669B-4CC1-BBAB-BD3154F2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762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CB469-D258-419C-B7FA-F50FB5A1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39D7E4-814E-474C-8737-81A22C990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5DAE8F-F5B8-4A72-BFDF-81CD0E52F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3625BD-B8F7-40A6-BE12-C186B0A8A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A503BF-F01A-4DC2-9CA6-0D8D6BB1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FF4F4-4798-4EEB-BD37-9492D6B6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0006D2-07B4-47EC-ABF0-10CD3549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54A533-0AAB-4416-ABE9-D4EEA3C2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558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8B061-0058-432E-99AD-2AB2253C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F5CBC2-F273-4C51-B04E-93551BE9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622662-D3EA-41A8-A329-AAD0E45D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10390C-E920-4118-A7DC-CF771067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4023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65E9BD-323B-4E4A-B14A-DCA5F918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F7F311-C6D3-45FE-BB86-AD721A59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74EF32-1E8C-4553-A5A1-EE7CBF34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9437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4D908-9540-4F41-8B4B-B77D04232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5135B6-4EEE-415E-900A-DE8244CFB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C0055-A4A2-4654-8672-954E9C5D0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9D120-6EA5-4D0D-97AF-9E5CED53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FFBB61-A5A3-4AA0-ACB2-303E500F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E2CDE1-5ED8-4CA2-A69F-6B54CFC7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2653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5685D-5CE2-4B34-87FC-170F479D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F942CD-6E7F-4E45-AE84-7D0FC457E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EECA8B-F04B-45C3-8D38-964CC2F41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41C429-8AF7-4B03-A1FC-B70A238F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752359-A5D7-4546-82CC-39F940CF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8BE06D-FDCF-4134-9C77-ED63C52C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189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346BD-218C-4C50-8A53-BF49DA9E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BA1A77-86F9-48EF-A054-9B9AC0D39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E88580-02E0-4120-8B1B-11E9DA9C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6820FF-9315-4947-A0DE-8575A8AC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ED97F8-F1DE-4031-9AF8-80FEF52A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1211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1AFB19-D949-4016-851C-7311346DC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1E82F9-E0F2-403D-B980-D87971A28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AE164-996D-469F-AFCD-B0985ED3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199C6-DB91-469D-854A-619D3C71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E36DA-7AB3-4B3D-A577-288C41EA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756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37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AD1376-A930-45BD-B3EB-A99189AE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0824B-056C-4515-B098-FC21ABB9C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87A1A-1DC3-4DDF-A688-EC47F7A51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818BF8-BAB2-4F1F-A623-3009F1CB0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7EDE9-61FB-4B36-800A-44F472B47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1CC40AA-44EE-4ADF-9756-D309852D55C0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729015E-A668-4CFE-9E55-E45D1D3B3A3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A5BC0807-5085-4F8A-A1F3-BD3DFBC45A1B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919CB1F7-D386-4493-83B4-CE6558A37B60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모델링</a:t>
            </a:r>
            <a:endParaRPr lang="en-US" sz="80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AA6746EC-48F9-4B67-9476-1E7A08C65E9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54364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650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2026-08-04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12_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빅데이터분석모델링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모델링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2001010513_21v1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BC6E5EB-0A9F-46CC-B91E-BC25781F4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321"/>
            <a:ext cx="9144000" cy="2387600"/>
          </a:xfrm>
          <a:solidFill>
            <a:schemeClr val="accent1"/>
          </a:solidFill>
        </p:spPr>
        <p:txBody>
          <a:bodyPr/>
          <a:lstStyle/>
          <a:p>
            <a:r>
              <a:rPr lang="ko-KR" altLang="en-US" dirty="0"/>
              <a:t>화재 발생 특성에 따른  인명피해 예측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4D86F-0113-4D17-A06C-F78049C8F27A}"/>
              </a:ext>
            </a:extLst>
          </p:cNvPr>
          <p:cNvSpPr txBox="1"/>
          <p:nvPr/>
        </p:nvSpPr>
        <p:spPr>
          <a:xfrm>
            <a:off x="754240" y="4647340"/>
            <a:ext cx="249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/>
              <a:t>팀명</a:t>
            </a:r>
            <a:r>
              <a:rPr lang="en-US" altLang="ko-KR" sz="3000" dirty="0"/>
              <a:t>: 3</a:t>
            </a:r>
            <a:r>
              <a:rPr lang="ko-KR" altLang="en-US" sz="3000" dirty="0"/>
              <a:t>조</a:t>
            </a:r>
            <a:endParaRPr lang="en-US" altLang="ko-KR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268A0-7716-4EE6-968C-CC9F60B9BBF9}"/>
              </a:ext>
            </a:extLst>
          </p:cNvPr>
          <p:cNvSpPr txBox="1"/>
          <p:nvPr/>
        </p:nvSpPr>
        <p:spPr>
          <a:xfrm>
            <a:off x="3246540" y="4647340"/>
            <a:ext cx="5427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팀원</a:t>
            </a:r>
            <a:r>
              <a:rPr lang="en-US" altLang="ko-KR" sz="3000" dirty="0"/>
              <a:t>: </a:t>
            </a:r>
            <a:r>
              <a:rPr lang="ko-KR" altLang="en-US" sz="3000" dirty="0" err="1"/>
              <a:t>김기완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노가희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태두혁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9CC58-917F-4331-9C29-EE27CB1B56D9}"/>
              </a:ext>
            </a:extLst>
          </p:cNvPr>
          <p:cNvSpPr txBox="1"/>
          <p:nvPr/>
        </p:nvSpPr>
        <p:spPr>
          <a:xfrm>
            <a:off x="8683232" y="4647340"/>
            <a:ext cx="29810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데이터</a:t>
            </a:r>
            <a:r>
              <a:rPr lang="en-US" altLang="ko-KR" sz="3000" dirty="0"/>
              <a:t>: fire.csv</a:t>
            </a:r>
          </a:p>
        </p:txBody>
      </p:sp>
    </p:spTree>
    <p:extLst>
      <p:ext uri="{BB962C8B-B14F-4D97-AF65-F5344CB8AC3E}">
        <p14:creationId xmlns:p14="http://schemas.microsoft.com/office/powerpoint/2010/main" val="342833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0BF38A7-B39F-4DB3-AA8D-F4DE554AD7F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분석 목적 및 가설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E1D576D-4664-41D7-9DA7-CF37E6EDE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910" y="1615100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ko-KR" altLang="en-US" sz="3400" dirty="0"/>
              <a:t>분석 목적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B58CBEA-0B6B-419F-80C2-02C77E751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4902" y="1615231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ko-KR" altLang="en-US" sz="3400" dirty="0"/>
              <a:t>가설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DA6C009-5D15-4468-A5B6-F7CF0B59F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5376" y="2942089"/>
            <a:ext cx="5183188" cy="1843787"/>
          </a:xfrm>
        </p:spPr>
        <p:txBody>
          <a:bodyPr/>
          <a:lstStyle/>
          <a:p>
            <a:r>
              <a:rPr lang="ko-KR" altLang="en-US" dirty="0"/>
              <a:t>시도</a:t>
            </a:r>
            <a:r>
              <a:rPr lang="en-US" altLang="ko-KR" dirty="0"/>
              <a:t>, </a:t>
            </a:r>
            <a:r>
              <a:rPr lang="ko-KR" altLang="en-US" dirty="0"/>
              <a:t>발화요인</a:t>
            </a:r>
            <a:r>
              <a:rPr lang="en-US" altLang="ko-KR" dirty="0"/>
              <a:t>, </a:t>
            </a:r>
            <a:r>
              <a:rPr lang="ko-KR" altLang="en-US" dirty="0"/>
              <a:t>화재 발생 장소</a:t>
            </a:r>
            <a:r>
              <a:rPr lang="en-US" altLang="ko-KR" dirty="0"/>
              <a:t>, </a:t>
            </a:r>
            <a:r>
              <a:rPr lang="ko-KR" altLang="en-US" dirty="0"/>
              <a:t>발생 월</a:t>
            </a:r>
            <a:r>
              <a:rPr lang="en-US" altLang="ko-KR" dirty="0"/>
              <a:t> · </a:t>
            </a:r>
            <a:r>
              <a:rPr lang="ko-KR" altLang="en-US" dirty="0"/>
              <a:t>시간</a:t>
            </a:r>
            <a:r>
              <a:rPr lang="en-US" altLang="ko-KR" dirty="0"/>
              <a:t> · </a:t>
            </a:r>
            <a:r>
              <a:rPr lang="ko-KR" altLang="en-US" dirty="0"/>
              <a:t>요일에 따라 인명피해 발생 확률이 달라질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014F1D00-6175-4D32-BF9D-BF51AF8B1C14}"/>
              </a:ext>
            </a:extLst>
          </p:cNvPr>
          <p:cNvSpPr txBox="1">
            <a:spLocks/>
          </p:cNvSpPr>
          <p:nvPr/>
        </p:nvSpPr>
        <p:spPr>
          <a:xfrm>
            <a:off x="6172200" y="2379240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내용 개체 틀 8">
            <a:extLst>
              <a:ext uri="{FF2B5EF4-FFF2-40B4-BE49-F238E27FC236}">
                <a16:creationId xmlns:a16="http://schemas.microsoft.com/office/drawing/2014/main" id="{49993310-5793-4271-A6B4-24186DF09194}"/>
              </a:ext>
            </a:extLst>
          </p:cNvPr>
          <p:cNvSpPr txBox="1">
            <a:spLocks/>
          </p:cNvSpPr>
          <p:nvPr/>
        </p:nvSpPr>
        <p:spPr>
          <a:xfrm>
            <a:off x="6146798" y="2384396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3" name="내용 개체 틀 6">
            <a:extLst>
              <a:ext uri="{FF2B5EF4-FFF2-40B4-BE49-F238E27FC236}">
                <a16:creationId xmlns:a16="http://schemas.microsoft.com/office/drawing/2014/main" id="{6A3F69F2-D072-41B5-B279-2AA29E2A38A8}"/>
              </a:ext>
            </a:extLst>
          </p:cNvPr>
          <p:cNvSpPr txBox="1">
            <a:spLocks/>
          </p:cNvSpPr>
          <p:nvPr/>
        </p:nvSpPr>
        <p:spPr>
          <a:xfrm>
            <a:off x="823911" y="2992467"/>
            <a:ext cx="5157787" cy="1637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화재가 났을 때</a:t>
            </a:r>
            <a:r>
              <a:rPr lang="en-US" altLang="ko-KR" dirty="0"/>
              <a:t>, </a:t>
            </a:r>
            <a:r>
              <a:rPr lang="ko-KR" altLang="en-US" dirty="0"/>
              <a:t>어떤 조건이 인명피해로 이어지는가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62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2B8229F-FF30-4FBA-B6A5-164ED242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3314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데이터 및 변수 설정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0B681D1-39C4-4F9A-9683-05A7C3FC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055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ko-KR" altLang="en-US" sz="3400" dirty="0"/>
              <a:t>데이터</a:t>
            </a:r>
            <a:r>
              <a:rPr lang="en-US" altLang="ko-KR" sz="3400" dirty="0"/>
              <a:t>(fire.csv)</a:t>
            </a:r>
            <a:endParaRPr lang="ko-KR" altLang="en-US" sz="3400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08B4D71-30C4-490C-BF5E-0968CD9A5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928013"/>
            <a:ext cx="5157787" cy="28387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ko-KR" altLang="en-US" dirty="0" err="1"/>
              <a:t>소방청</a:t>
            </a:r>
            <a:r>
              <a:rPr lang="ko-KR" altLang="en-US" dirty="0"/>
              <a:t> 화재발생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총 약 </a:t>
            </a:r>
            <a:r>
              <a:rPr lang="en-US" altLang="ko-KR" dirty="0"/>
              <a:t>19</a:t>
            </a:r>
            <a:r>
              <a:rPr lang="ko-KR" altLang="en-US" dirty="0" err="1"/>
              <a:t>만건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결측치</a:t>
            </a:r>
            <a:r>
              <a:rPr lang="ko-KR" altLang="en-US" dirty="0"/>
              <a:t> 없음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88145D1-866B-4EE0-AB6B-CBE558EEB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424338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ko-KR" altLang="en-US" sz="3400" dirty="0"/>
              <a:t>변수 설정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EBE1A0A-B14F-410D-B598-B84AFD51C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63049"/>
            <a:ext cx="5183188" cy="39414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dirty="0"/>
              <a:t>FEATURES: [‘</a:t>
            </a:r>
            <a:r>
              <a:rPr lang="ko-KR" altLang="en-US" dirty="0"/>
              <a:t>시도</a:t>
            </a:r>
            <a:r>
              <a:rPr lang="en-US" altLang="ko-KR" dirty="0"/>
              <a:t>’, ‘</a:t>
            </a:r>
            <a:r>
              <a:rPr lang="ko-KR" altLang="en-US" dirty="0" err="1"/>
              <a:t>발화요인소분류</a:t>
            </a:r>
            <a:r>
              <a:rPr lang="en-US" altLang="ko-KR" dirty="0"/>
              <a:t>‘, ‘</a:t>
            </a:r>
            <a:r>
              <a:rPr lang="ko-KR" altLang="en-US" dirty="0"/>
              <a:t>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소대분류</a:t>
            </a:r>
            <a:r>
              <a:rPr lang="en-US" altLang="ko-KR" dirty="0"/>
              <a:t>’, ‘</a:t>
            </a:r>
            <a:r>
              <a:rPr lang="ko-KR" altLang="en-US" dirty="0"/>
              <a:t>발생</a:t>
            </a:r>
            <a:r>
              <a:rPr lang="en-US" altLang="ko-KR" dirty="0"/>
              <a:t>_</a:t>
            </a:r>
            <a:r>
              <a:rPr lang="ko-KR" altLang="en-US" dirty="0"/>
              <a:t>월</a:t>
            </a:r>
            <a:r>
              <a:rPr lang="en-US" altLang="ko-KR" dirty="0"/>
              <a:t>‘, ‘</a:t>
            </a:r>
            <a:r>
              <a:rPr lang="ko-KR" altLang="en-US" dirty="0"/>
              <a:t>발생</a:t>
            </a:r>
            <a:r>
              <a:rPr lang="en-US" altLang="ko-KR" dirty="0"/>
              <a:t>_</a:t>
            </a:r>
            <a:r>
              <a:rPr lang="ko-KR" altLang="en-US" dirty="0"/>
              <a:t>시간</a:t>
            </a:r>
            <a:r>
              <a:rPr lang="en-US" altLang="ko-KR" dirty="0"/>
              <a:t>’, ‘</a:t>
            </a:r>
            <a:r>
              <a:rPr lang="ko-KR" altLang="en-US" dirty="0"/>
              <a:t>발생</a:t>
            </a:r>
            <a:r>
              <a:rPr lang="en-US" altLang="ko-KR" dirty="0"/>
              <a:t>_</a:t>
            </a:r>
          </a:p>
          <a:p>
            <a:pPr marL="0" indent="0">
              <a:buNone/>
            </a:pPr>
            <a:r>
              <a:rPr lang="ko-KR" altLang="en-US" dirty="0"/>
              <a:t>요일</a:t>
            </a:r>
            <a:r>
              <a:rPr lang="en-US" altLang="ko-KR" dirty="0"/>
              <a:t>’]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범주형 컬럼</a:t>
            </a:r>
            <a:r>
              <a:rPr lang="en-US" altLang="ko-KR" dirty="0"/>
              <a:t>: (‘</a:t>
            </a:r>
            <a:r>
              <a:rPr lang="ko-KR" altLang="en-US" dirty="0"/>
              <a:t>시도</a:t>
            </a:r>
            <a:r>
              <a:rPr lang="en-US" altLang="ko-KR" dirty="0"/>
              <a:t>’, ‘</a:t>
            </a:r>
            <a:r>
              <a:rPr lang="ko-KR" altLang="en-US" dirty="0" err="1"/>
              <a:t>발화요인소분류</a:t>
            </a:r>
            <a:r>
              <a:rPr lang="en-US" altLang="ko-KR" dirty="0"/>
              <a:t>’, </a:t>
            </a:r>
          </a:p>
          <a:p>
            <a:pPr marL="0" indent="0">
              <a:buNone/>
            </a:pPr>
            <a:r>
              <a:rPr lang="en-US" altLang="ko-KR" dirty="0"/>
              <a:t>‘</a:t>
            </a:r>
            <a:r>
              <a:rPr lang="ko-KR" altLang="en-US" dirty="0"/>
              <a:t>장소대분류</a:t>
            </a:r>
            <a:r>
              <a:rPr lang="en-US" altLang="ko-KR" dirty="0"/>
              <a:t>‘) -&gt; </a:t>
            </a:r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수치형 컬럼</a:t>
            </a:r>
            <a:r>
              <a:rPr lang="en-US" altLang="ko-KR" dirty="0"/>
              <a:t>:(‘</a:t>
            </a:r>
            <a:r>
              <a:rPr lang="ko-KR" altLang="en-US" dirty="0"/>
              <a:t>발생</a:t>
            </a:r>
            <a:r>
              <a:rPr lang="en-US" altLang="ko-KR" dirty="0"/>
              <a:t>_</a:t>
            </a:r>
            <a:r>
              <a:rPr lang="ko-KR" altLang="en-US" dirty="0"/>
              <a:t>월</a:t>
            </a:r>
            <a:r>
              <a:rPr lang="en-US" altLang="ko-KR" dirty="0"/>
              <a:t>‘, ‘</a:t>
            </a:r>
            <a:r>
              <a:rPr lang="ko-KR" altLang="en-US" dirty="0"/>
              <a:t>발생</a:t>
            </a:r>
            <a:r>
              <a:rPr lang="en-US" altLang="ko-KR" dirty="0"/>
              <a:t>_</a:t>
            </a:r>
            <a:r>
              <a:rPr lang="ko-KR" altLang="en-US" dirty="0"/>
              <a:t>시간</a:t>
            </a:r>
            <a:r>
              <a:rPr lang="en-US" altLang="ko-KR" dirty="0"/>
              <a:t>‘, ‘</a:t>
            </a:r>
            <a:r>
              <a:rPr lang="ko-KR" altLang="en-US" dirty="0"/>
              <a:t>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생</a:t>
            </a:r>
            <a:r>
              <a:rPr lang="en-US" altLang="ko-KR" dirty="0"/>
              <a:t>_</a:t>
            </a:r>
            <a:r>
              <a:rPr lang="ko-KR" altLang="en-US" dirty="0"/>
              <a:t>요일</a:t>
            </a:r>
            <a:r>
              <a:rPr lang="en-US" altLang="ko-KR" dirty="0"/>
              <a:t>‘) -&gt; </a:t>
            </a:r>
            <a:r>
              <a:rPr lang="ko-KR" altLang="en-US" dirty="0"/>
              <a:t>중앙값 대체 </a:t>
            </a:r>
            <a:r>
              <a:rPr lang="en-US" altLang="ko-KR" dirty="0"/>
              <a:t>+ </a:t>
            </a:r>
            <a:r>
              <a:rPr lang="ko-KR" altLang="en-US" dirty="0"/>
              <a:t>표준화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TARGET: ‘</a:t>
            </a:r>
            <a:r>
              <a:rPr lang="ko-KR" altLang="en-US" dirty="0"/>
              <a:t>인명피해</a:t>
            </a:r>
            <a:r>
              <a:rPr lang="en-US" altLang="ko-KR" dirty="0"/>
              <a:t>_</a:t>
            </a:r>
            <a:r>
              <a:rPr lang="ko-KR" altLang="en-US" dirty="0"/>
              <a:t>발생여부</a:t>
            </a:r>
            <a:r>
              <a:rPr lang="en-US" altLang="ko-KR" dirty="0"/>
              <a:t>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71F2E83-FC24-42DC-A9AF-768D48B9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4764661"/>
            <a:ext cx="4975250" cy="13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4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A5C706F7-C295-40C4-8DA1-795A04B15D3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데이터셋</a:t>
            </a: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261FA0CE-B64D-42D6-9CFD-4A7F720C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후보 </a:t>
            </a:r>
            <a:r>
              <a:rPr lang="en-US" altLang="ko-KR" dirty="0"/>
              <a:t>: Simple Train/Test Split, K-Fold Cross Validation, Stratified Train/Test Split, Time Series Split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선택 </a:t>
            </a:r>
            <a:r>
              <a:rPr lang="en-US" altLang="ko-KR" dirty="0"/>
              <a:t>: Stratified Train/Test Split(75:25) -&gt; </a:t>
            </a:r>
            <a:r>
              <a:rPr lang="en-US" altLang="ko-KR" dirty="0" err="1"/>
              <a:t>test_size</a:t>
            </a:r>
            <a:r>
              <a:rPr lang="en-US" altLang="ko-KR" dirty="0"/>
              <a:t>=0.25, stratify=y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이유 </a:t>
            </a:r>
            <a:r>
              <a:rPr lang="en-US" altLang="ko-KR" dirty="0"/>
              <a:t>: </a:t>
            </a:r>
            <a:r>
              <a:rPr lang="ko-KR" altLang="en-US" dirty="0"/>
              <a:t>데이터가 약 </a:t>
            </a:r>
            <a:r>
              <a:rPr lang="en-US" altLang="ko-KR" dirty="0"/>
              <a:t>19</a:t>
            </a:r>
            <a:r>
              <a:rPr lang="ko-KR" altLang="en-US" dirty="0" err="1"/>
              <a:t>만건으로</a:t>
            </a:r>
            <a:r>
              <a:rPr lang="ko-KR" altLang="en-US" dirty="0"/>
              <a:t> 충분히 커서 한 번만 나눠도 </a:t>
            </a:r>
            <a:r>
              <a:rPr lang="en-US" altLang="ko-KR" dirty="0"/>
              <a:t>test</a:t>
            </a:r>
            <a:r>
              <a:rPr lang="ko-KR" altLang="en-US" dirty="0"/>
              <a:t>셋이 안정적임 다만 타겟이 불균형해서 </a:t>
            </a:r>
            <a:r>
              <a:rPr lang="en-US" altLang="ko-KR" dirty="0"/>
              <a:t>stratify=y</a:t>
            </a:r>
            <a:r>
              <a:rPr lang="ko-KR" altLang="en-US" dirty="0"/>
              <a:t>로 해서 비율을 유지함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7065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DD0CD-189F-4CB1-849E-061049E8E9D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모델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EBA424-4D40-40C4-A627-F6F257076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후보 </a:t>
            </a:r>
            <a:r>
              <a:rPr lang="en-US" altLang="ko-KR" dirty="0"/>
              <a:t>: </a:t>
            </a:r>
            <a:r>
              <a:rPr lang="en-US" altLang="ko-KR" dirty="0" err="1"/>
              <a:t>LogisticRegression</a:t>
            </a:r>
            <a:r>
              <a:rPr lang="en-US" altLang="ko-KR" dirty="0"/>
              <a:t>, </a:t>
            </a:r>
            <a:r>
              <a:rPr lang="en-US" altLang="ko-KR" dirty="0" err="1"/>
              <a:t>DecisionTreeClassifier</a:t>
            </a:r>
            <a:r>
              <a:rPr lang="en-US" altLang="ko-KR" dirty="0"/>
              <a:t>, </a:t>
            </a:r>
            <a:r>
              <a:rPr lang="en-US" altLang="ko-KR" dirty="0" err="1"/>
              <a:t>XGBoost</a:t>
            </a:r>
            <a:r>
              <a:rPr lang="en-US" altLang="ko-KR" dirty="0"/>
              <a:t>,  </a:t>
            </a:r>
            <a:r>
              <a:rPr lang="en-US" altLang="ko-KR" dirty="0" err="1"/>
              <a:t>RandomForestClassifier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선택 </a:t>
            </a:r>
            <a:r>
              <a:rPr lang="en-US" altLang="ko-KR" dirty="0"/>
              <a:t>: </a:t>
            </a:r>
            <a:r>
              <a:rPr lang="en-US" altLang="ko-KR" dirty="0" err="1"/>
              <a:t>RandomForestClassifier</a:t>
            </a:r>
            <a:r>
              <a:rPr lang="en-US" altLang="ko-KR" dirty="0"/>
              <a:t>(</a:t>
            </a:r>
            <a:r>
              <a:rPr lang="en-US" altLang="ko-KR" dirty="0" err="1"/>
              <a:t>class_weight</a:t>
            </a:r>
            <a:r>
              <a:rPr lang="en-US" altLang="ko-KR" dirty="0"/>
              <a:t>=‘balanced’)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이유 </a:t>
            </a:r>
            <a:r>
              <a:rPr lang="en-US" altLang="ko-KR" dirty="0"/>
              <a:t>: </a:t>
            </a:r>
            <a:r>
              <a:rPr lang="ko-KR" altLang="en-US" dirty="0"/>
              <a:t>인명피해 데이터가 </a:t>
            </a:r>
            <a:r>
              <a:rPr lang="en-US" altLang="ko-KR" dirty="0"/>
              <a:t>4.4%</a:t>
            </a:r>
            <a:r>
              <a:rPr lang="ko-KR" altLang="en-US" dirty="0"/>
              <a:t>로 불균형하고</a:t>
            </a:r>
            <a:r>
              <a:rPr lang="en-US" altLang="ko-KR" dirty="0"/>
              <a:t>, </a:t>
            </a:r>
            <a:r>
              <a:rPr lang="ko-KR" altLang="en-US" dirty="0"/>
              <a:t>범주형 변수가 여러 개 섞여 있는 구조 </a:t>
            </a:r>
            <a:r>
              <a:rPr lang="en-US" altLang="ko-KR" dirty="0"/>
              <a:t>-&gt; </a:t>
            </a:r>
            <a:r>
              <a:rPr lang="ko-KR" altLang="en-US" dirty="0"/>
              <a:t>과적합에 강하고</a:t>
            </a:r>
            <a:r>
              <a:rPr lang="en-US" altLang="ko-KR" dirty="0"/>
              <a:t>, </a:t>
            </a:r>
            <a:r>
              <a:rPr lang="ko-KR" altLang="en-US" dirty="0"/>
              <a:t>소수 클래스도 안정적으로 학습 및 </a:t>
            </a:r>
            <a:r>
              <a:rPr lang="en-US" altLang="ko-KR" dirty="0" err="1"/>
              <a:t>class_weight</a:t>
            </a:r>
            <a:r>
              <a:rPr lang="en-US" altLang="ko-KR" dirty="0"/>
              <a:t>=‘balanced’</a:t>
            </a:r>
            <a:r>
              <a:rPr lang="ko-KR" altLang="en-US" dirty="0"/>
              <a:t>로 불균형 보정도 쉬움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1975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3078D5-246D-4D87-9537-30F1C71CBFD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평가지표 및 결과 해석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949C78-663B-4A75-9B0A-4AEC0B45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400" dirty="0"/>
              <a:t>평가지표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14C8DE-3025-420A-AE7C-EDD308C44E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 err="1"/>
              <a:t>classification_report</a:t>
            </a:r>
            <a:r>
              <a:rPr lang="en-US" altLang="ko-KR" dirty="0"/>
              <a:t>()</a:t>
            </a:r>
            <a:r>
              <a:rPr lang="ko-KR" altLang="en-US" dirty="0"/>
              <a:t>로 정밀도</a:t>
            </a:r>
            <a:r>
              <a:rPr lang="en-US" altLang="ko-KR" dirty="0"/>
              <a:t>, </a:t>
            </a:r>
            <a:r>
              <a:rPr lang="ko-KR" altLang="en-US" dirty="0" err="1"/>
              <a:t>재현율</a:t>
            </a:r>
            <a:r>
              <a:rPr lang="en-US" altLang="ko-KR" dirty="0"/>
              <a:t>, f1-score, roc-</a:t>
            </a:r>
            <a:r>
              <a:rPr lang="en-US" altLang="ko-KR" dirty="0" err="1"/>
              <a:t>auc</a:t>
            </a:r>
            <a:r>
              <a:rPr lang="en-US" altLang="ko-KR" dirty="0"/>
              <a:t> </a:t>
            </a:r>
            <a:r>
              <a:rPr lang="ko-KR" altLang="en-US" dirty="0"/>
              <a:t>확인 예정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타겟 불균형 때문에 </a:t>
            </a:r>
            <a:r>
              <a:rPr lang="en-US" altLang="ko-KR" dirty="0"/>
              <a:t>accuracy</a:t>
            </a:r>
            <a:r>
              <a:rPr lang="ko-KR" altLang="en-US" dirty="0"/>
              <a:t>보다 </a:t>
            </a:r>
            <a:r>
              <a:rPr lang="en-US" altLang="ko-KR" dirty="0"/>
              <a:t>recall </a:t>
            </a:r>
            <a:r>
              <a:rPr lang="ko-KR" altLang="en-US" dirty="0"/>
              <a:t>중심으로 평가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Predict_proba</a:t>
            </a:r>
            <a:r>
              <a:rPr lang="en-US" altLang="ko-KR" dirty="0"/>
              <a:t> </a:t>
            </a:r>
            <a:r>
              <a:rPr lang="ko-KR" altLang="en-US" dirty="0" err="1"/>
              <a:t>기준값을</a:t>
            </a:r>
            <a:r>
              <a:rPr lang="ko-KR" altLang="en-US" dirty="0"/>
              <a:t> </a:t>
            </a:r>
            <a:r>
              <a:rPr lang="en-US" altLang="ko-KR" dirty="0"/>
              <a:t>0.5 0.3</a:t>
            </a:r>
            <a:r>
              <a:rPr lang="ko-KR" altLang="en-US" dirty="0"/>
              <a:t>으로 비교해서 </a:t>
            </a:r>
            <a:r>
              <a:rPr lang="en-US" altLang="ko-KR" dirty="0" err="1"/>
              <a:t>recall·precision</a:t>
            </a:r>
            <a:r>
              <a:rPr lang="ko-KR" altLang="en-US" dirty="0"/>
              <a:t>이 어떻게 달라지는지 확인 예정</a:t>
            </a:r>
            <a:endParaRPr lang="en-US" altLang="ko-KR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641CB58-1B35-4F34-AC6F-0E2F8C073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400" dirty="0"/>
              <a:t>결과 및 해석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DBFD736-51A7-4CDE-9A95-7598280C8D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 err="1"/>
              <a:t>feature_importances</a:t>
            </a:r>
            <a:r>
              <a:rPr lang="en-US" altLang="ko-KR" dirty="0"/>
              <a:t>_</a:t>
            </a:r>
            <a:r>
              <a:rPr lang="ko-KR" altLang="en-US" dirty="0"/>
              <a:t>로 어떤 변수가 예측에 가장 크게 기여했는지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8912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405</Words>
  <Application>Microsoft Office PowerPoint</Application>
  <PresentationFormat>와이드스크린</PresentationFormat>
  <Paragraphs>57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Consolas</vt:lpstr>
      <vt:lpstr>Office 테마</vt:lpstr>
      <vt:lpstr>PowerPoint 프레젠테이션</vt:lpstr>
      <vt:lpstr>화재 발생 특성에 따른  인명피해 예측 분석</vt:lpstr>
      <vt:lpstr>분석 목적 및 가설</vt:lpstr>
      <vt:lpstr>데이터 및 변수 설정</vt:lpstr>
      <vt:lpstr>데이터셋</vt:lpstr>
      <vt:lpstr>모델 개발</vt:lpstr>
      <vt:lpstr>평가지표 및 결과 해석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35</cp:revision>
  <dcterms:created xsi:type="dcterms:W3CDTF">2026-03-10T17:23:29Z</dcterms:created>
  <dcterms:modified xsi:type="dcterms:W3CDTF">2026-08-04T02:58:10Z</dcterms:modified>
</cp:coreProperties>
</file>