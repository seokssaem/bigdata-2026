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66" r:id="rId3"/>
    <p:sldId id="262" r:id="rId4"/>
    <p:sldId id="261" r:id="rId5"/>
    <p:sldId id="263" r:id="rId6"/>
    <p:sldId id="264" r:id="rId7"/>
    <p:sldId id="265" r:id="rId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9" autoAdjust="0"/>
    <p:restoredTop sz="94610"/>
  </p:normalViewPr>
  <p:slideViewPr>
    <p:cSldViewPr snapToGrid="0" snapToObjects="1">
      <p:cViewPr varScale="1">
        <p:scale>
          <a:sx n="60" d="100"/>
          <a:sy n="60" d="100"/>
        </p:scale>
        <p:origin x="72" y="12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318372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212C4D-32F2-230B-1FF2-BCF099930C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F1DFF6B-F8B7-30AE-8315-E61C33DBBF1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419BDE6-E546-40EB-8BD7-0C6C2CF8E98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2BE365D-1677-4834-EDA5-AED44E89501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077559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212C4D-32F2-230B-1FF2-BCF099930C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F1DFF6B-F8B7-30AE-8315-E61C33DBBF1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419BDE6-E546-40EB-8BD7-0C6C2CF8E98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2BE365D-1677-4834-EDA5-AED44E89501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8094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56C8DA-2407-8F64-4305-B7EB65889A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A924333-70B4-0486-5471-71B39E73953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45017CF-0E0A-70FD-1EEF-25D856E4ACF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531C01A-1F23-561C-B26D-FDD3E5919D6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073293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536A81-DB18-197C-7AC5-3739139863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2B2EBCF-7446-CCBB-9B01-02923DEE1FC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6F05962-16C3-12EA-47FD-089F49E7C19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4BD05D9-BA22-692C-91AB-F1C2EE45041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002444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539DF8-A185-9FF7-DE1C-B50A8C43E3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13CCCA0-BE68-2891-6D14-E1C5A999574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2F28475-5ADB-8A4D-6644-856CFA7718E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7300B40-0A8C-BFCF-81E8-6051DB715EF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712058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6CAF3F-70D5-48DB-FBE3-2C40F446B7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25291A8-A2D0-610A-DD99-FA652F31E96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DA8F791-81FD-4EBE-7FA5-9C94E0328EB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65CFD6-258C-A543-024B-2BDDBDCFCB0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890747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8FC"/>
          </a:solidFill>
          <a:ln w="12700">
            <a:solidFill>
              <a:srgbClr val="F5F8F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11274552" cy="118872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548640" y="1298448"/>
            <a:ext cx="11064240" cy="11521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빅데이터 플랫폼 요구사항 분석</a:t>
            </a:r>
            <a:endParaRPr lang="en-US" sz="2400" dirty="0"/>
          </a:p>
          <a:p>
            <a:pPr marL="0" indent="0" algn="l">
              <a:buNone/>
            </a:pPr>
            <a:r>
              <a:rPr lang="en-US" sz="1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평 가 작 업 지 시 서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457200" y="26060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i="1" dirty="0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빅데이터 플랫폼 요구사항 분석  (2001020428_23v4)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457200" y="3017520"/>
            <a:ext cx="9144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📌 제출 방법 : </a:t>
            </a:r>
            <a:r>
              <a:rPr lang="ko-KR" altLang="en-US" sz="1200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학사게시판 업로드 및 </a:t>
            </a:r>
            <a:r>
              <a:rPr lang="en-US" sz="1200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GitHub Repository  →  본인 Branch Push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3520440"/>
            <a:ext cx="5212080" cy="530352"/>
          </a:xfrm>
          <a:prstGeom prst="rect">
            <a:avLst/>
          </a:prstGeom>
          <a:solidFill>
            <a:srgbClr val="EBF3FB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5897880" y="3520440"/>
            <a:ext cx="5852160" cy="530352"/>
          </a:xfrm>
          <a:prstGeom prst="rect">
            <a:avLst/>
          </a:prstGeom>
          <a:solidFill>
            <a:srgbClr val="EBF3FB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594360" y="3520440"/>
            <a:ext cx="4937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 err="1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이름</a:t>
            </a:r>
            <a:r>
              <a:rPr lang="en-US" sz="13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: </a:t>
            </a:r>
            <a:r>
              <a:rPr lang="ko-KR" altLang="en-US" sz="13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김나현</a:t>
            </a:r>
            <a:r>
              <a:rPr lang="en-US" altLang="ko-KR" sz="13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	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035040" y="3520440"/>
            <a:ext cx="5577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 err="1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수행날짜</a:t>
            </a:r>
            <a:r>
              <a:rPr lang="en-US" sz="13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: 2026-06-09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4206240"/>
            <a:ext cx="11274552" cy="530352"/>
          </a:xfrm>
          <a:prstGeom prst="rect">
            <a:avLst/>
          </a:prstGeom>
          <a:solidFill>
            <a:srgbClr val="EBF3FB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594360" y="4206240"/>
            <a:ext cx="10972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Branch 이름 (영문) : </a:t>
            </a:r>
            <a:r>
              <a:rPr lang="en-US" sz="1300" b="1" dirty="0" err="1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kimnahyeon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7200" y="4892040"/>
            <a:ext cx="11274552" cy="685800"/>
          </a:xfrm>
          <a:prstGeom prst="rect">
            <a:avLst/>
          </a:prstGeom>
          <a:solidFill>
            <a:srgbClr val="FFF9C4"/>
          </a:solidFill>
          <a:ln w="12700">
            <a:solidFill>
              <a:srgbClr val="FFC10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594360" y="48920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📂 업로드 파일  </a:t>
            </a:r>
            <a:r>
              <a:rPr lang="en-US" sz="1100" dirty="0">
                <a:solidFill>
                  <a:srgbClr val="1F38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04_빅데이터플랫폼요구사항분석_이름.pptx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94360" y="523036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🔗 Repository  </a:t>
            </a:r>
            <a:r>
              <a:rPr lang="en-US" sz="1000" dirty="0">
                <a:solidFill>
                  <a:srgbClr val="2E75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https://github.com/seokssaem/bigdata-2026.git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EEEEEE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182880" y="653796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（</a:t>
            </a:r>
            <a:r>
              <a:rPr lang="ko-KR" altLang="en-US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빅데이터전문가</a:t>
            </a:r>
            <a:r>
              <a:rPr lang="en-US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）빅데이터 분석 플랫폼 개발자 양성과정  |  빅데이터 플랫폼 요구사항 분석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11430000" y="653796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 / 6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F4F0A0-D598-5FCD-224F-B06380B9FE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D48E2191-7532-0762-ECF5-F9803C4155D0}"/>
              </a:ext>
            </a:extLst>
          </p:cNvPr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8FC"/>
          </a:solidFill>
          <a:ln w="12700">
            <a:solidFill>
              <a:srgbClr val="F5F8FC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2BBA80C4-1459-622D-40FC-28FE33E90783}"/>
              </a:ext>
            </a:extLst>
          </p:cNvPr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DC96330B-970A-FF36-5676-B85BB624CE76}"/>
              </a:ext>
            </a:extLst>
          </p:cNvPr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58033E57-16AA-A90D-BADC-15BDA5AC5510}"/>
              </a:ext>
            </a:extLst>
          </p:cNvPr>
          <p:cNvSpPr/>
          <p:nvPr/>
        </p:nvSpPr>
        <p:spPr>
          <a:xfrm>
            <a:off x="274320" y="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📝</a:t>
            </a: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1. </a:t>
            </a:r>
            <a:r>
              <a:rPr lang="en-US" sz="1800" b="1" dirty="0" err="1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프로젝트</a:t>
            </a: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1800" b="1" dirty="0" err="1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개요</a:t>
            </a:r>
            <a:endParaRPr lang="en-US" sz="18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ED93CD0D-B0EB-E64D-CEE5-3EB40EEFE450}"/>
              </a:ext>
            </a:extLst>
          </p:cNvPr>
          <p:cNvSpPr/>
          <p:nvPr/>
        </p:nvSpPr>
        <p:spPr>
          <a:xfrm>
            <a:off x="274320" y="658368"/>
            <a:ext cx="11612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i="1" dirty="0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선택한 공공데이터 API를 활용한 </a:t>
            </a:r>
            <a:r>
              <a:rPr lang="en-US" sz="1150" i="1" dirty="0" err="1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프로젝트</a:t>
            </a:r>
            <a:r>
              <a:rPr lang="en-US" sz="1150" i="1" dirty="0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1150" i="1" dirty="0" err="1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개요</a:t>
            </a:r>
            <a:r>
              <a:rPr lang="ko-KR" altLang="en-US" sz="1150" i="1" dirty="0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를</a:t>
            </a:r>
            <a:r>
              <a:rPr lang="en-US" sz="1150" i="1" dirty="0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1150" i="1" dirty="0" err="1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작성하시오</a:t>
            </a:r>
            <a:r>
              <a:rPr lang="en-US" sz="1150" i="1" dirty="0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. (</a:t>
            </a:r>
            <a:r>
              <a:rPr lang="ko-KR" altLang="en-US" sz="1150" i="1" dirty="0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내용이 많아서 슬라이드가 부족하면 추가해서 진행합니다</a:t>
            </a:r>
            <a:r>
              <a:rPr lang="en-US" altLang="ko-KR" sz="1150" i="1" dirty="0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.)</a:t>
            </a:r>
            <a:endParaRPr lang="en-US" sz="1150" dirty="0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087DD3EE-F7EF-D940-C6A1-A9ADA47FF39F}"/>
              </a:ext>
            </a:extLst>
          </p:cNvPr>
          <p:cNvSpPr/>
          <p:nvPr/>
        </p:nvSpPr>
        <p:spPr>
          <a:xfrm>
            <a:off x="182880" y="1005840"/>
            <a:ext cx="11795760" cy="347472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D8952D5B-1BDB-F598-0ECC-0C431D407C74}"/>
              </a:ext>
            </a:extLst>
          </p:cNvPr>
          <p:cNvSpPr/>
          <p:nvPr/>
        </p:nvSpPr>
        <p:spPr>
          <a:xfrm>
            <a:off x="274320" y="1005840"/>
            <a:ext cx="5623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1. 프로젝트 개요</a:t>
            </a:r>
            <a:endParaRPr lang="en-US" sz="1100" dirty="0"/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099515B9-0022-AA0F-39D7-458615D45757}"/>
              </a:ext>
            </a:extLst>
          </p:cNvPr>
          <p:cNvSpPr/>
          <p:nvPr/>
        </p:nvSpPr>
        <p:spPr>
          <a:xfrm>
            <a:off x="182880" y="1408175"/>
            <a:ext cx="11795760" cy="5025281"/>
          </a:xfrm>
          <a:prstGeom prst="rect">
            <a:avLst/>
          </a:prstGeom>
          <a:solidFill>
            <a:srgbClr val="EBF3FB"/>
          </a:solidFill>
          <a:ln w="12700">
            <a:solidFill>
              <a:srgbClr val="2E75B6"/>
            </a:solidFill>
            <a:prstDash val="lgDash"/>
          </a:ln>
        </p:spPr>
        <p:txBody>
          <a:bodyPr/>
          <a:lstStyle/>
          <a:p>
            <a:r>
              <a:rPr lang="ko-KR" altLang="en-US" dirty="0"/>
              <a:t>사용 </a:t>
            </a:r>
            <a:r>
              <a:rPr lang="en-US" altLang="ko-KR" dirty="0"/>
              <a:t>API : </a:t>
            </a:r>
            <a:r>
              <a:rPr lang="ko-KR" altLang="en-US" dirty="0"/>
              <a:t>한국산업기술진흥원</a:t>
            </a:r>
            <a:r>
              <a:rPr lang="en-US" altLang="ko-KR" dirty="0"/>
              <a:t>_</a:t>
            </a:r>
            <a:r>
              <a:rPr lang="ko-KR" altLang="en-US" dirty="0"/>
              <a:t>기술은행 수요기술 조회 서비스</a:t>
            </a:r>
            <a:r>
              <a:rPr lang="en-US" altLang="ko-KR" dirty="0"/>
              <a:t>_GW</a:t>
            </a:r>
          </a:p>
          <a:p>
            <a:r>
              <a:rPr lang="en-US" altLang="ko-KR" dirty="0"/>
              <a:t>https://www.data.go.kr/data/15158929/openapi.do#/API%20%EB%AA%A9%EB%A1%9D/needtech</a:t>
            </a:r>
          </a:p>
          <a:p>
            <a:endParaRPr lang="en-US" altLang="ko-KR" dirty="0"/>
          </a:p>
          <a:p>
            <a:pPr marL="285750" indent="-285750">
              <a:buFontTx/>
              <a:buChar char="-"/>
            </a:pPr>
            <a:r>
              <a:rPr lang="ko-KR" altLang="en-US" sz="1400" dirty="0"/>
              <a:t>본 </a:t>
            </a:r>
            <a:r>
              <a:rPr lang="en-US" altLang="ko-KR" sz="1400" dirty="0"/>
              <a:t>API</a:t>
            </a:r>
            <a:r>
              <a:rPr lang="ko-KR" altLang="en-US" sz="1400" dirty="0"/>
              <a:t>는 기술은행에 등록된 수요정보를 기반으로 하여 수요기술번호</a:t>
            </a:r>
            <a:r>
              <a:rPr lang="en-US" altLang="ko-KR" sz="1400" dirty="0"/>
              <a:t>, </a:t>
            </a:r>
            <a:r>
              <a:rPr lang="ko-KR" altLang="en-US" sz="1400" dirty="0"/>
              <a:t>수요기술명</a:t>
            </a:r>
            <a:r>
              <a:rPr lang="en-US" altLang="ko-KR" sz="1400" dirty="0"/>
              <a:t>, </a:t>
            </a:r>
            <a:r>
              <a:rPr lang="ko-KR" altLang="en-US" sz="1400" dirty="0"/>
              <a:t>희망기술개요</a:t>
            </a:r>
            <a:r>
              <a:rPr lang="en-US" altLang="ko-KR" sz="1400" dirty="0"/>
              <a:t>, </a:t>
            </a:r>
            <a:r>
              <a:rPr lang="ko-KR" altLang="en-US" sz="1400" dirty="0"/>
              <a:t>기술구매조건 및 기술이전계약유형 등 상세한 기술정보를 제공</a:t>
            </a:r>
            <a:endParaRPr lang="en-US" altLang="ko-KR" sz="1400" dirty="0"/>
          </a:p>
          <a:p>
            <a:pPr marL="285750" indent="-285750">
              <a:buFontTx/>
              <a:buChar char="-"/>
            </a:pPr>
            <a:r>
              <a:rPr lang="ko-KR" altLang="en-US" sz="1400" dirty="0"/>
              <a:t>연구개발</a:t>
            </a:r>
            <a:r>
              <a:rPr lang="en-US" altLang="ko-KR" sz="1400" dirty="0"/>
              <a:t>(R&amp;D), </a:t>
            </a:r>
            <a:r>
              <a:rPr lang="ko-KR" altLang="en-US" sz="1400" dirty="0"/>
              <a:t>스타트업</a:t>
            </a:r>
            <a:r>
              <a:rPr lang="en-US" altLang="ko-KR" sz="1400" dirty="0"/>
              <a:t>, </a:t>
            </a:r>
            <a:r>
              <a:rPr lang="ko-KR" altLang="en-US" sz="1400" dirty="0"/>
              <a:t>중소기업 등 다양한 산업 분야에서 기술적 격차를 해소하고 필요한 기술을 적시에 찾아 활용할 수 있는 기회를 제공</a:t>
            </a:r>
            <a:endParaRPr lang="en-US" altLang="ko-KR" sz="1400" dirty="0"/>
          </a:p>
          <a:p>
            <a:endParaRPr lang="en-US" altLang="ko-KR" dirty="0"/>
          </a:p>
          <a:p>
            <a:r>
              <a:rPr lang="ko-KR" altLang="en-US" dirty="0"/>
              <a:t>목적 및 주요 기능 </a:t>
            </a:r>
            <a:r>
              <a:rPr lang="en-US" altLang="ko-KR" dirty="0"/>
              <a:t>: </a:t>
            </a:r>
            <a:r>
              <a:rPr lang="ko-KR" altLang="en-US" dirty="0"/>
              <a:t>기업</a:t>
            </a:r>
            <a:r>
              <a:rPr lang="en-US" altLang="ko-KR" dirty="0"/>
              <a:t>-</a:t>
            </a:r>
            <a:r>
              <a:rPr lang="ko-KR" altLang="en-US" dirty="0"/>
              <a:t>대학 기술이전 매칭 플랫폼</a:t>
            </a:r>
            <a:r>
              <a:rPr lang="en-US" altLang="ko-KR" dirty="0"/>
              <a:t>, AI </a:t>
            </a:r>
            <a:r>
              <a:rPr lang="ko-KR" altLang="en-US" dirty="0"/>
              <a:t>창업 지원 </a:t>
            </a:r>
            <a:endParaRPr lang="en-US" altLang="ko-KR" dirty="0"/>
          </a:p>
          <a:p>
            <a:r>
              <a:rPr lang="en-US" altLang="ko-KR" dirty="0"/>
              <a:t>    </a:t>
            </a:r>
            <a:r>
              <a:rPr lang="en-US" altLang="ko-KR" sz="1400" dirty="0"/>
              <a:t>- </a:t>
            </a:r>
            <a:r>
              <a:rPr lang="ko-KR" altLang="en-US" sz="1400" dirty="0"/>
              <a:t>사용자가 접근하기 쉬운 형태의 플랫폼 디자인을 제공하는 것이 필요하다</a:t>
            </a:r>
            <a:r>
              <a:rPr lang="en-US" altLang="ko-KR" sz="1400" dirty="0"/>
              <a:t>. (ex. </a:t>
            </a:r>
            <a:r>
              <a:rPr lang="ko-KR" altLang="en-US" sz="1400" dirty="0"/>
              <a:t>네이버 스토어와 같은 온라인마켓 디자인을 참고</a:t>
            </a:r>
            <a:r>
              <a:rPr lang="en-US" altLang="ko-KR" sz="1400" dirty="0"/>
              <a:t>)</a:t>
            </a:r>
          </a:p>
          <a:p>
            <a:endParaRPr lang="en-US" altLang="ko-KR" dirty="0"/>
          </a:p>
          <a:p>
            <a:r>
              <a:rPr lang="ko-KR" altLang="en-US" dirty="0"/>
              <a:t>기업</a:t>
            </a:r>
            <a:r>
              <a:rPr lang="en-US" altLang="ko-KR" dirty="0"/>
              <a:t>-</a:t>
            </a:r>
            <a:r>
              <a:rPr lang="ko-KR" altLang="en-US" dirty="0"/>
              <a:t>대학 기술이전 매칭 플랫폼 </a:t>
            </a:r>
            <a:endParaRPr lang="en-US" altLang="ko-KR" dirty="0"/>
          </a:p>
          <a:p>
            <a:r>
              <a:rPr lang="en-US" altLang="ko-KR" dirty="0"/>
              <a:t>    - </a:t>
            </a:r>
            <a:r>
              <a:rPr lang="ko-KR" altLang="en-US" dirty="0"/>
              <a:t>한국산업기술진흥원 기술은행을 통해 등록된 기술을 조회 가능</a:t>
            </a:r>
            <a:endParaRPr lang="en-US" altLang="ko-KR" dirty="0"/>
          </a:p>
          <a:p>
            <a:r>
              <a:rPr lang="en-US" altLang="ko-KR" dirty="0"/>
              <a:t>    - </a:t>
            </a:r>
            <a:r>
              <a:rPr lang="ko-KR" altLang="en-US" dirty="0"/>
              <a:t>기술이전을 원하는 기업은 해당 플랫폼을 이용하여 간단 신청 가능</a:t>
            </a:r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AI </a:t>
            </a:r>
            <a:r>
              <a:rPr lang="ko-KR" altLang="en-US" dirty="0"/>
              <a:t>창업 지원</a:t>
            </a:r>
            <a:endParaRPr lang="en-US" altLang="ko-KR" dirty="0"/>
          </a:p>
          <a:p>
            <a:r>
              <a:rPr lang="en-US" altLang="ko-KR" dirty="0"/>
              <a:t>    - AI</a:t>
            </a:r>
            <a:r>
              <a:rPr lang="ko-KR" altLang="en-US" dirty="0"/>
              <a:t>를 사용하여 창업 예정자에게 활용가능한 기술을 추천</a:t>
            </a:r>
            <a:endParaRPr lang="en-US" altLang="ko-KR" dirty="0"/>
          </a:p>
          <a:p>
            <a:r>
              <a:rPr lang="en-US" altLang="ko-KR" dirty="0"/>
              <a:t>    - AI</a:t>
            </a:r>
            <a:r>
              <a:rPr lang="ko-KR" altLang="en-US" dirty="0"/>
              <a:t>를 활용한 창업 프로세스 추천 </a:t>
            </a:r>
            <a:r>
              <a:rPr lang="en-US" altLang="ko-KR" dirty="0"/>
              <a:t>(</a:t>
            </a:r>
            <a:r>
              <a:rPr lang="ko-KR" altLang="en-US" dirty="0"/>
              <a:t>유료</a:t>
            </a:r>
            <a:r>
              <a:rPr lang="en-US" altLang="ko-KR" dirty="0"/>
              <a:t>)</a:t>
            </a:r>
          </a:p>
          <a:p>
            <a:endParaRPr lang="en-US" altLang="ko-KR" dirty="0"/>
          </a:p>
        </p:txBody>
      </p:sp>
      <p:sp>
        <p:nvSpPr>
          <p:cNvPr id="21" name="Shape 19">
            <a:extLst>
              <a:ext uri="{FF2B5EF4-FFF2-40B4-BE49-F238E27FC236}">
                <a16:creationId xmlns:a16="http://schemas.microsoft.com/office/drawing/2014/main" id="{1C2ECAEC-8899-6C30-4847-3F054DA664A5}"/>
              </a:ext>
            </a:extLst>
          </p:cNvPr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EEEEEE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D22DD11C-F92E-2E75-D820-ADE1B1E6DDD4}"/>
              </a:ext>
            </a:extLst>
          </p:cNvPr>
          <p:cNvSpPr/>
          <p:nvPr/>
        </p:nvSpPr>
        <p:spPr>
          <a:xfrm>
            <a:off x="182880" y="653796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（</a:t>
            </a:r>
            <a:r>
              <a:rPr lang="ko-KR" altLang="en-US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빅데이터전문가</a:t>
            </a:r>
            <a:r>
              <a:rPr lang="en-US" altLang="ko-KR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）</a:t>
            </a:r>
            <a:r>
              <a:rPr lang="en-US" altLang="ko-KR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빅데이터</a:t>
            </a:r>
            <a:r>
              <a:rPr lang="en-US" altLang="ko-KR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altLang="ko-KR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분석</a:t>
            </a:r>
            <a:r>
              <a:rPr lang="en-US" altLang="ko-KR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altLang="ko-KR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플랫폼</a:t>
            </a:r>
            <a:r>
              <a:rPr lang="en-US" altLang="ko-KR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altLang="ko-KR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개발자</a:t>
            </a:r>
            <a:r>
              <a:rPr lang="en-US" altLang="ko-KR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altLang="ko-KR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양성과정</a:t>
            </a:r>
            <a:r>
              <a:rPr lang="en-US" altLang="ko-KR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|  </a:t>
            </a:r>
            <a:r>
              <a:rPr lang="en-US" altLang="ko-KR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빅데이터 플랫폼 요구사항 분석</a:t>
            </a:r>
            <a:endParaRPr lang="en-US" altLang="ko-KR" sz="800" dirty="0"/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7B7885B9-111F-F4CD-3A64-DC5C167D2945}"/>
              </a:ext>
            </a:extLst>
          </p:cNvPr>
          <p:cNvSpPr/>
          <p:nvPr/>
        </p:nvSpPr>
        <p:spPr>
          <a:xfrm>
            <a:off x="11430000" y="653796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 / 6</a:t>
            </a:r>
            <a:endParaRPr lang="en-US" sz="850" dirty="0"/>
          </a:p>
        </p:txBody>
      </p:sp>
    </p:spTree>
    <p:extLst>
      <p:ext uri="{BB962C8B-B14F-4D97-AF65-F5344CB8AC3E}">
        <p14:creationId xmlns:p14="http://schemas.microsoft.com/office/powerpoint/2010/main" val="3188351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F4F0A0-D598-5FCD-224F-B06380B9FE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D48E2191-7532-0762-ECF5-F9803C4155D0}"/>
              </a:ext>
            </a:extLst>
          </p:cNvPr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8FC"/>
          </a:solidFill>
          <a:ln w="12700">
            <a:solidFill>
              <a:srgbClr val="F5F8FC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2BBA80C4-1459-622D-40FC-28FE33E90783}"/>
              </a:ext>
            </a:extLst>
          </p:cNvPr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DC96330B-970A-FF36-5676-B85BB624CE76}"/>
              </a:ext>
            </a:extLst>
          </p:cNvPr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58033E57-16AA-A90D-BADC-15BDA5AC5510}"/>
              </a:ext>
            </a:extLst>
          </p:cNvPr>
          <p:cNvSpPr/>
          <p:nvPr/>
        </p:nvSpPr>
        <p:spPr>
          <a:xfrm>
            <a:off x="274320" y="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📝</a:t>
            </a: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1. </a:t>
            </a:r>
            <a:r>
              <a:rPr lang="en-US" sz="1800" b="1" dirty="0" err="1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프로젝트</a:t>
            </a: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1800" b="1" dirty="0" err="1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개요</a:t>
            </a:r>
            <a:endParaRPr lang="en-US" sz="18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ED93CD0D-B0EB-E64D-CEE5-3EB40EEFE450}"/>
              </a:ext>
            </a:extLst>
          </p:cNvPr>
          <p:cNvSpPr/>
          <p:nvPr/>
        </p:nvSpPr>
        <p:spPr>
          <a:xfrm>
            <a:off x="274320" y="658368"/>
            <a:ext cx="11612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i="1" dirty="0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선택한 공공데이터 API를 활용한 </a:t>
            </a:r>
            <a:r>
              <a:rPr lang="en-US" sz="1150" i="1" dirty="0" err="1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프로젝트</a:t>
            </a:r>
            <a:r>
              <a:rPr lang="en-US" sz="1150" i="1" dirty="0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1150" i="1" dirty="0" err="1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개요</a:t>
            </a:r>
            <a:r>
              <a:rPr lang="ko-KR" altLang="en-US" sz="1150" i="1" dirty="0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를</a:t>
            </a:r>
            <a:r>
              <a:rPr lang="en-US" sz="1150" i="1" dirty="0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1150" i="1" dirty="0" err="1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작성하시오</a:t>
            </a:r>
            <a:r>
              <a:rPr lang="en-US" sz="1150" i="1" dirty="0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. (</a:t>
            </a:r>
            <a:r>
              <a:rPr lang="ko-KR" altLang="en-US" sz="1150" i="1" dirty="0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내용이 많아서 슬라이드가 부족하면 추가해서 진행합니다</a:t>
            </a:r>
            <a:r>
              <a:rPr lang="en-US" altLang="ko-KR" sz="1150" i="1" dirty="0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.)</a:t>
            </a:r>
            <a:endParaRPr lang="en-US" sz="1150" dirty="0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087DD3EE-F7EF-D940-C6A1-A9ADA47FF39F}"/>
              </a:ext>
            </a:extLst>
          </p:cNvPr>
          <p:cNvSpPr/>
          <p:nvPr/>
        </p:nvSpPr>
        <p:spPr>
          <a:xfrm>
            <a:off x="182880" y="1005840"/>
            <a:ext cx="11795760" cy="347472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D8952D5B-1BDB-F598-0ECC-0C431D407C74}"/>
              </a:ext>
            </a:extLst>
          </p:cNvPr>
          <p:cNvSpPr/>
          <p:nvPr/>
        </p:nvSpPr>
        <p:spPr>
          <a:xfrm>
            <a:off x="274320" y="1005840"/>
            <a:ext cx="5623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1. 프로젝트 개요</a:t>
            </a:r>
            <a:endParaRPr lang="en-US" sz="1100" dirty="0"/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099515B9-0022-AA0F-39D7-458615D45757}"/>
              </a:ext>
            </a:extLst>
          </p:cNvPr>
          <p:cNvSpPr/>
          <p:nvPr/>
        </p:nvSpPr>
        <p:spPr>
          <a:xfrm>
            <a:off x="182880" y="1408175"/>
            <a:ext cx="11795760" cy="5025281"/>
          </a:xfrm>
          <a:prstGeom prst="rect">
            <a:avLst/>
          </a:prstGeom>
          <a:solidFill>
            <a:srgbClr val="EBF3FB"/>
          </a:solidFill>
          <a:ln w="12700">
            <a:solidFill>
              <a:srgbClr val="2E75B6"/>
            </a:solidFill>
            <a:prstDash val="lgDash"/>
          </a:ln>
        </p:spPr>
        <p:txBody>
          <a:bodyPr/>
          <a:lstStyle/>
          <a:p>
            <a:endParaRPr lang="en-US" altLang="ko-KR" dirty="0"/>
          </a:p>
          <a:p>
            <a:r>
              <a:rPr lang="ko-KR" altLang="en-US" dirty="0"/>
              <a:t>사용자</a:t>
            </a:r>
            <a:endParaRPr lang="en-US" altLang="ko-KR" dirty="0"/>
          </a:p>
          <a:p>
            <a:r>
              <a:rPr lang="en-US" altLang="ko-KR" dirty="0"/>
              <a:t>1. </a:t>
            </a:r>
            <a:r>
              <a:rPr lang="ko-KR" altLang="en-US" dirty="0"/>
              <a:t>기술을 사는 유형</a:t>
            </a:r>
            <a:endParaRPr lang="en-US" altLang="ko-KR" dirty="0"/>
          </a:p>
          <a:p>
            <a:r>
              <a:rPr lang="ko-KR" altLang="en-US" dirty="0"/>
              <a:t>    </a:t>
            </a:r>
            <a:r>
              <a:rPr lang="en-US" altLang="ko-KR" dirty="0"/>
              <a:t>- </a:t>
            </a:r>
            <a:r>
              <a:rPr lang="ko-KR" altLang="en-US" dirty="0"/>
              <a:t>연구 기술이 필요한 스타트업</a:t>
            </a:r>
            <a:r>
              <a:rPr lang="en-US" altLang="ko-KR" dirty="0"/>
              <a:t>, </a:t>
            </a:r>
            <a:r>
              <a:rPr lang="ko-KR" altLang="en-US" dirty="0"/>
              <a:t>중소기업</a:t>
            </a:r>
            <a:r>
              <a:rPr lang="en-US" altLang="ko-KR" dirty="0"/>
              <a:t>,</a:t>
            </a:r>
            <a:r>
              <a:rPr lang="ko-KR" altLang="en-US" dirty="0"/>
              <a:t> 창업 예정자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en-US" altLang="ko-KR" dirty="0"/>
              <a:t>2. </a:t>
            </a:r>
            <a:r>
              <a:rPr lang="ko-KR" altLang="en-US" dirty="0"/>
              <a:t>기술을 파는 유형</a:t>
            </a:r>
            <a:endParaRPr lang="en-US" altLang="ko-KR" dirty="0"/>
          </a:p>
          <a:p>
            <a:r>
              <a:rPr lang="en-US" altLang="ko-KR" dirty="0"/>
              <a:t>    - </a:t>
            </a:r>
            <a:r>
              <a:rPr lang="ko-KR" altLang="en-US" dirty="0"/>
              <a:t>기술이전을 제공하는 대학 산학협력단</a:t>
            </a:r>
            <a:endParaRPr lang="en-US" altLang="ko-KR" dirty="0"/>
          </a:p>
          <a:p>
            <a:r>
              <a:rPr lang="en-US" altLang="ko-KR" dirty="0"/>
              <a:t>    - </a:t>
            </a:r>
            <a:r>
              <a:rPr lang="ko-KR" altLang="en-US" dirty="0"/>
              <a:t>자체</a:t>
            </a:r>
            <a:r>
              <a:rPr lang="en-US" altLang="ko-KR" dirty="0"/>
              <a:t> </a:t>
            </a:r>
            <a:r>
              <a:rPr lang="ko-KR" altLang="en-US" dirty="0"/>
              <a:t>기술 개발 후 판매를 원하는 기업</a:t>
            </a:r>
          </a:p>
        </p:txBody>
      </p:sp>
      <p:sp>
        <p:nvSpPr>
          <p:cNvPr id="21" name="Shape 19">
            <a:extLst>
              <a:ext uri="{FF2B5EF4-FFF2-40B4-BE49-F238E27FC236}">
                <a16:creationId xmlns:a16="http://schemas.microsoft.com/office/drawing/2014/main" id="{1C2ECAEC-8899-6C30-4847-3F054DA664A5}"/>
              </a:ext>
            </a:extLst>
          </p:cNvPr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EEEEEE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D22DD11C-F92E-2E75-D820-ADE1B1E6DDD4}"/>
              </a:ext>
            </a:extLst>
          </p:cNvPr>
          <p:cNvSpPr/>
          <p:nvPr/>
        </p:nvSpPr>
        <p:spPr>
          <a:xfrm>
            <a:off x="182880" y="653796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（</a:t>
            </a:r>
            <a:r>
              <a:rPr lang="ko-KR" altLang="en-US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빅데이터전문가</a:t>
            </a:r>
            <a:r>
              <a:rPr lang="en-US" altLang="ko-KR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）</a:t>
            </a:r>
            <a:r>
              <a:rPr lang="en-US" altLang="ko-KR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빅데이터</a:t>
            </a:r>
            <a:r>
              <a:rPr lang="en-US" altLang="ko-KR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altLang="ko-KR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분석</a:t>
            </a:r>
            <a:r>
              <a:rPr lang="en-US" altLang="ko-KR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altLang="ko-KR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플랫폼</a:t>
            </a:r>
            <a:r>
              <a:rPr lang="en-US" altLang="ko-KR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altLang="ko-KR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개발자</a:t>
            </a:r>
            <a:r>
              <a:rPr lang="en-US" altLang="ko-KR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altLang="ko-KR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양성과정</a:t>
            </a:r>
            <a:r>
              <a:rPr lang="en-US" altLang="ko-KR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|  </a:t>
            </a:r>
            <a:r>
              <a:rPr lang="en-US" altLang="ko-KR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빅데이터 플랫폼 요구사항 분석</a:t>
            </a:r>
            <a:endParaRPr lang="en-US" altLang="ko-KR" sz="800" dirty="0"/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7B7885B9-111F-F4CD-3A64-DC5C167D2945}"/>
              </a:ext>
            </a:extLst>
          </p:cNvPr>
          <p:cNvSpPr/>
          <p:nvPr/>
        </p:nvSpPr>
        <p:spPr>
          <a:xfrm>
            <a:off x="11430000" y="653796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 / 6</a:t>
            </a:r>
            <a:endParaRPr lang="en-US" sz="850" dirty="0"/>
          </a:p>
        </p:txBody>
      </p:sp>
    </p:spTree>
    <p:extLst>
      <p:ext uri="{BB962C8B-B14F-4D97-AF65-F5344CB8AC3E}">
        <p14:creationId xmlns:p14="http://schemas.microsoft.com/office/powerpoint/2010/main" val="21635144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C3BEE4-DD75-F1DF-FC17-B026F01453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4C5FE38E-C593-1C2B-BB44-9768F830FA38}"/>
              </a:ext>
            </a:extLst>
          </p:cNvPr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8FC"/>
          </a:solidFill>
          <a:ln w="12700">
            <a:solidFill>
              <a:srgbClr val="F5F8F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564FAC46-4564-9E6D-C662-8C4A033EF759}"/>
              </a:ext>
            </a:extLst>
          </p:cNvPr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8418E3C6-682F-1E66-2974-E29DA66EBC69}"/>
              </a:ext>
            </a:extLst>
          </p:cNvPr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D615F270-0BDE-A747-3B77-6429DF7FD678}"/>
              </a:ext>
            </a:extLst>
          </p:cNvPr>
          <p:cNvSpPr/>
          <p:nvPr/>
        </p:nvSpPr>
        <p:spPr>
          <a:xfrm>
            <a:off x="274320" y="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8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📝</a:t>
            </a:r>
            <a:r>
              <a:rPr lang="en-US" altLang="ko-KR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2. </a:t>
            </a:r>
            <a:r>
              <a:rPr lang="en-US" altLang="ko-KR" b="1" dirty="0" err="1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기능</a:t>
            </a:r>
            <a:r>
              <a:rPr lang="en-US" altLang="ko-KR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altLang="ko-KR" b="1" dirty="0" err="1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요구사항</a:t>
            </a:r>
            <a:endParaRPr lang="en-US" sz="18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E67A78B7-8EFA-139A-7D49-61601D9DBD3C}"/>
              </a:ext>
            </a:extLst>
          </p:cNvPr>
          <p:cNvSpPr/>
          <p:nvPr/>
        </p:nvSpPr>
        <p:spPr>
          <a:xfrm>
            <a:off x="274320" y="658368"/>
            <a:ext cx="11612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50" i="1" dirty="0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선택한 공공데이터 API를 </a:t>
            </a:r>
            <a:r>
              <a:rPr lang="en-US" sz="1150" i="1" dirty="0" err="1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활용한</a:t>
            </a:r>
            <a:r>
              <a:rPr lang="en-US" sz="1150" i="1" dirty="0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ko-KR" altLang="en-US" sz="1150" i="1" dirty="0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가능 요구사항을</a:t>
            </a:r>
            <a:r>
              <a:rPr lang="en-US" sz="1150" i="1" dirty="0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1150" i="1" dirty="0" err="1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작성하시오</a:t>
            </a:r>
            <a:r>
              <a:rPr lang="en-US" sz="1150" i="1" dirty="0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.</a:t>
            </a:r>
            <a:r>
              <a:rPr lang="en-US" altLang="ko-KR" sz="1150" i="1" dirty="0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(</a:t>
            </a:r>
            <a:r>
              <a:rPr lang="ko-KR" altLang="en-US" sz="1150" i="1" dirty="0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내용이 많아서 슬라이드가 부족하면 추가해서 진행합니다</a:t>
            </a:r>
            <a:r>
              <a:rPr lang="en-US" altLang="ko-KR" sz="1150" i="1" dirty="0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.)</a:t>
            </a:r>
            <a:endParaRPr lang="en-US" altLang="ko-KR" sz="1150" dirty="0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8068E452-A242-0CA9-7B22-6A0A7F9252ED}"/>
              </a:ext>
            </a:extLst>
          </p:cNvPr>
          <p:cNvSpPr/>
          <p:nvPr/>
        </p:nvSpPr>
        <p:spPr>
          <a:xfrm>
            <a:off x="182880" y="1005840"/>
            <a:ext cx="11795760" cy="347472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5337109B-D614-0589-8477-6BBAB5F0DA55}"/>
              </a:ext>
            </a:extLst>
          </p:cNvPr>
          <p:cNvSpPr/>
          <p:nvPr/>
        </p:nvSpPr>
        <p:spPr>
          <a:xfrm>
            <a:off x="274320" y="1005840"/>
            <a:ext cx="5623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1. 프로젝트 개요</a:t>
            </a:r>
            <a:endParaRPr lang="en-US" sz="1100" dirty="0"/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4DBF5471-488E-8FA9-0D09-A2D104FF0CC7}"/>
              </a:ext>
            </a:extLst>
          </p:cNvPr>
          <p:cNvSpPr/>
          <p:nvPr/>
        </p:nvSpPr>
        <p:spPr>
          <a:xfrm>
            <a:off x="182880" y="1408175"/>
            <a:ext cx="11795760" cy="5025281"/>
          </a:xfrm>
          <a:prstGeom prst="rect">
            <a:avLst/>
          </a:prstGeom>
          <a:solidFill>
            <a:srgbClr val="EBF3FB"/>
          </a:solidFill>
          <a:ln w="12700">
            <a:solidFill>
              <a:srgbClr val="2E75B6"/>
            </a:solidFill>
            <a:prstDash val="lgDash"/>
          </a:ln>
        </p:spPr>
        <p:txBody>
          <a:bodyPr/>
          <a:lstStyle/>
          <a:p>
            <a:r>
              <a:rPr lang="en-US" altLang="ko-KR" dirty="0"/>
              <a:t>Must Have</a:t>
            </a:r>
          </a:p>
          <a:p>
            <a:r>
              <a:rPr lang="en-US" altLang="ko-KR" dirty="0"/>
              <a:t>1. API</a:t>
            </a:r>
            <a:r>
              <a:rPr lang="ko-KR" altLang="en-US" dirty="0"/>
              <a:t>를 통하여 한국산업기술진흥원</a:t>
            </a:r>
            <a:r>
              <a:rPr lang="en-US" altLang="ko-KR" dirty="0"/>
              <a:t>_</a:t>
            </a:r>
            <a:r>
              <a:rPr lang="ko-KR" altLang="en-US" dirty="0"/>
              <a:t>기술은행에 등록된 기술을 조회할 수 있다</a:t>
            </a:r>
            <a:r>
              <a:rPr lang="en-US" altLang="ko-KR" dirty="0"/>
              <a:t>.</a:t>
            </a:r>
            <a:r>
              <a:rPr lang="ko-KR" altLang="en-US" dirty="0"/>
              <a:t> </a:t>
            </a:r>
            <a:endParaRPr lang="en-US" altLang="ko-KR" dirty="0"/>
          </a:p>
          <a:p>
            <a:r>
              <a:rPr lang="en-US" altLang="ko-KR" dirty="0"/>
              <a:t>2. </a:t>
            </a:r>
            <a:r>
              <a:rPr lang="ko-KR" altLang="en-US" dirty="0"/>
              <a:t>사용 라이선스</a:t>
            </a:r>
            <a:r>
              <a:rPr lang="en-US" altLang="ko-KR" dirty="0"/>
              <a:t>, </a:t>
            </a:r>
            <a:r>
              <a:rPr lang="ko-KR" altLang="en-US" dirty="0"/>
              <a:t>지역</a:t>
            </a:r>
            <a:r>
              <a:rPr lang="en-US" altLang="ko-KR" dirty="0"/>
              <a:t>, </a:t>
            </a:r>
            <a:r>
              <a:rPr lang="ko-KR" altLang="en-US" dirty="0"/>
              <a:t>기술 카테고리 별로 필터링하여 조회할 수 있다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3. AI</a:t>
            </a:r>
            <a:r>
              <a:rPr lang="ko-KR" altLang="en-US" dirty="0"/>
              <a:t>를 활용하여 창업 예정자에게 필요한 기술을 추천할 수 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en-US" altLang="ko-KR" dirty="0"/>
              <a:t>Should Have</a:t>
            </a:r>
          </a:p>
          <a:p>
            <a:r>
              <a:rPr lang="en-US" altLang="ko-KR" dirty="0"/>
              <a:t>1. AI</a:t>
            </a:r>
            <a:r>
              <a:rPr lang="ko-KR" altLang="en-US" dirty="0"/>
              <a:t>를</a:t>
            </a:r>
            <a:r>
              <a:rPr lang="en-US" altLang="ko-KR" dirty="0"/>
              <a:t> </a:t>
            </a:r>
            <a:r>
              <a:rPr lang="ko-KR" altLang="en-US" dirty="0"/>
              <a:t>활용하여 사용자의</a:t>
            </a:r>
            <a:r>
              <a:rPr lang="en-US" altLang="ko-KR" dirty="0"/>
              <a:t> </a:t>
            </a:r>
            <a:r>
              <a:rPr lang="ko-KR" altLang="en-US" dirty="0"/>
              <a:t>조건에서 가능한 창업 프로세스를 추천해 준다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2. </a:t>
            </a:r>
            <a:r>
              <a:rPr lang="ko-KR" altLang="en-US" dirty="0"/>
              <a:t>한국산업기술진흥원과 연동하여 기술 등록 신청 과정을 간소화 한다</a:t>
            </a:r>
            <a:r>
              <a:rPr lang="en-US" altLang="ko-KR" dirty="0"/>
              <a:t>.</a:t>
            </a:r>
          </a:p>
        </p:txBody>
      </p:sp>
      <p:sp>
        <p:nvSpPr>
          <p:cNvPr id="21" name="Shape 19">
            <a:extLst>
              <a:ext uri="{FF2B5EF4-FFF2-40B4-BE49-F238E27FC236}">
                <a16:creationId xmlns:a16="http://schemas.microsoft.com/office/drawing/2014/main" id="{2B645FAC-B216-72F6-FADD-94549E43171A}"/>
              </a:ext>
            </a:extLst>
          </p:cNvPr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EEEEEE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BAE1E599-3B81-5810-07DA-60F854530287}"/>
              </a:ext>
            </a:extLst>
          </p:cNvPr>
          <p:cNvSpPr/>
          <p:nvPr/>
        </p:nvSpPr>
        <p:spPr>
          <a:xfrm>
            <a:off x="182880" y="653796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（</a:t>
            </a:r>
            <a:r>
              <a:rPr lang="ko-KR" altLang="en-US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빅데이터전문가</a:t>
            </a:r>
            <a:r>
              <a:rPr lang="en-US" altLang="ko-KR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）</a:t>
            </a:r>
            <a:r>
              <a:rPr lang="en-US" altLang="ko-KR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빅데이터</a:t>
            </a:r>
            <a:r>
              <a:rPr lang="en-US" altLang="ko-KR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altLang="ko-KR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분석</a:t>
            </a:r>
            <a:r>
              <a:rPr lang="en-US" altLang="ko-KR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altLang="ko-KR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플랫폼</a:t>
            </a:r>
            <a:r>
              <a:rPr lang="en-US" altLang="ko-KR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altLang="ko-KR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개발자</a:t>
            </a:r>
            <a:r>
              <a:rPr lang="en-US" altLang="ko-KR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altLang="ko-KR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양성과정</a:t>
            </a:r>
            <a:r>
              <a:rPr lang="en-US" altLang="ko-KR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|  </a:t>
            </a:r>
            <a:r>
              <a:rPr lang="en-US" altLang="ko-KR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빅데이터 플랫폼 요구사항 분석</a:t>
            </a:r>
            <a:endParaRPr lang="en-US" altLang="ko-KR" sz="800" dirty="0"/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3FF0E69B-B5C7-7C87-8F7D-D6083BE07788}"/>
              </a:ext>
            </a:extLst>
          </p:cNvPr>
          <p:cNvSpPr/>
          <p:nvPr/>
        </p:nvSpPr>
        <p:spPr>
          <a:xfrm>
            <a:off x="11430000" y="653796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 / 6</a:t>
            </a:r>
            <a:endParaRPr lang="en-US" sz="850" dirty="0"/>
          </a:p>
        </p:txBody>
      </p:sp>
    </p:spTree>
    <p:extLst>
      <p:ext uri="{BB962C8B-B14F-4D97-AF65-F5344CB8AC3E}">
        <p14:creationId xmlns:p14="http://schemas.microsoft.com/office/powerpoint/2010/main" val="40087441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4EEB85-57A8-FFAA-CA5F-A9AEF89D4C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466D403A-2425-A9F4-92EB-51568BE55DCF}"/>
              </a:ext>
            </a:extLst>
          </p:cNvPr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8FC"/>
          </a:solidFill>
          <a:ln w="12700">
            <a:solidFill>
              <a:srgbClr val="F5F8F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56EA2A03-C0E8-FB4A-5B8C-E586AF8A6989}"/>
              </a:ext>
            </a:extLst>
          </p:cNvPr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96930780-7BDB-1CA3-FB30-335A5A85D78B}"/>
              </a:ext>
            </a:extLst>
          </p:cNvPr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1FFD16C9-4678-E15B-5E44-56BA86491837}"/>
              </a:ext>
            </a:extLst>
          </p:cNvPr>
          <p:cNvSpPr/>
          <p:nvPr/>
        </p:nvSpPr>
        <p:spPr>
          <a:xfrm>
            <a:off x="274320" y="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8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📝</a:t>
            </a:r>
            <a:r>
              <a:rPr lang="en-US" altLang="ko-KR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3. </a:t>
            </a:r>
            <a:r>
              <a:rPr lang="ko-KR" altLang="en-US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</a:t>
            </a:r>
            <a:r>
              <a:rPr lang="en-US" altLang="ko-KR" b="1" dirty="0" err="1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기능</a:t>
            </a:r>
            <a:r>
              <a:rPr lang="en-US" altLang="ko-KR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altLang="ko-KR" b="1" dirty="0" err="1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요구사항</a:t>
            </a:r>
            <a:endParaRPr lang="en-US" sz="18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A65B96CE-3EF2-42BB-D26D-7DDCF194B115}"/>
              </a:ext>
            </a:extLst>
          </p:cNvPr>
          <p:cNvSpPr/>
          <p:nvPr/>
        </p:nvSpPr>
        <p:spPr>
          <a:xfrm>
            <a:off x="274320" y="658368"/>
            <a:ext cx="11612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50" i="1" dirty="0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선택한 공공데이터 API를 </a:t>
            </a:r>
            <a:r>
              <a:rPr lang="en-US" sz="1150" i="1" dirty="0" err="1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활용한</a:t>
            </a:r>
            <a:r>
              <a:rPr lang="en-US" sz="1150" i="1" dirty="0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ko-KR" altLang="en-US" sz="1150" i="1" dirty="0" err="1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비가능</a:t>
            </a:r>
            <a:r>
              <a:rPr lang="ko-KR" altLang="en-US" sz="1150" i="1" dirty="0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요구사항을</a:t>
            </a:r>
            <a:r>
              <a:rPr lang="en-US" sz="1150" i="1" dirty="0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1150" i="1" dirty="0" err="1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작성하시오</a:t>
            </a:r>
            <a:r>
              <a:rPr lang="en-US" sz="1150" i="1" dirty="0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. </a:t>
            </a:r>
            <a:r>
              <a:rPr lang="en-US" altLang="ko-KR" sz="1150" i="1" dirty="0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</a:t>
            </a:r>
            <a:r>
              <a:rPr lang="ko-KR" altLang="en-US" sz="1150" i="1" dirty="0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내용이 많아서 슬라이드가 부족하면 추가해서 진행합니다</a:t>
            </a:r>
            <a:r>
              <a:rPr lang="en-US" altLang="ko-KR" sz="1150" i="1" dirty="0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.)</a:t>
            </a:r>
            <a:endParaRPr lang="en-US" altLang="ko-KR" sz="1150" dirty="0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8D02F2A3-0874-431C-A47C-E1E42C72A21F}"/>
              </a:ext>
            </a:extLst>
          </p:cNvPr>
          <p:cNvSpPr/>
          <p:nvPr/>
        </p:nvSpPr>
        <p:spPr>
          <a:xfrm>
            <a:off x="182880" y="1005840"/>
            <a:ext cx="11795760" cy="347472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7E376E76-EDFA-A628-B599-D92550F5D454}"/>
              </a:ext>
            </a:extLst>
          </p:cNvPr>
          <p:cNvSpPr/>
          <p:nvPr/>
        </p:nvSpPr>
        <p:spPr>
          <a:xfrm>
            <a:off x="274320" y="1005840"/>
            <a:ext cx="5623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1. 프로젝트 개요</a:t>
            </a:r>
            <a:endParaRPr lang="en-US" sz="1100" dirty="0"/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59B09326-88B7-18C1-375A-B4B966228DAD}"/>
              </a:ext>
            </a:extLst>
          </p:cNvPr>
          <p:cNvSpPr/>
          <p:nvPr/>
        </p:nvSpPr>
        <p:spPr>
          <a:xfrm>
            <a:off x="182880" y="1408175"/>
            <a:ext cx="11795760" cy="5025281"/>
          </a:xfrm>
          <a:prstGeom prst="rect">
            <a:avLst/>
          </a:prstGeom>
          <a:solidFill>
            <a:srgbClr val="EBF3FB"/>
          </a:solidFill>
          <a:ln w="12700">
            <a:solidFill>
              <a:srgbClr val="2E75B6"/>
            </a:solidFill>
            <a:prstDash val="lgDash"/>
          </a:ln>
        </p:spPr>
        <p:txBody>
          <a:bodyPr/>
          <a:lstStyle/>
          <a:p>
            <a:r>
              <a:rPr lang="ko-KR" altLang="en-US" dirty="0"/>
              <a:t>응답시간</a:t>
            </a:r>
            <a:endParaRPr lang="en-US" altLang="ko-KR" dirty="0"/>
          </a:p>
          <a:p>
            <a:r>
              <a:rPr lang="ko-KR" altLang="en-US" dirty="0"/>
              <a:t>기술은행에 등록된 기술 조회 및 검색 </a:t>
            </a:r>
            <a:r>
              <a:rPr lang="en-US" altLang="ko-KR" dirty="0"/>
              <a:t>3</a:t>
            </a:r>
            <a:r>
              <a:rPr lang="ko-KR" altLang="en-US" dirty="0"/>
              <a:t>초 이내</a:t>
            </a:r>
            <a:r>
              <a:rPr lang="en-US" altLang="ko-KR" dirty="0"/>
              <a:t> -&gt; </a:t>
            </a:r>
            <a:r>
              <a:rPr lang="ko-KR" altLang="en-US" dirty="0"/>
              <a:t>단순 검색이므로 일반 웹서비스 기준을 따른다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처리량</a:t>
            </a:r>
            <a:endParaRPr lang="en-US" altLang="ko-KR" dirty="0"/>
          </a:p>
          <a:p>
            <a:r>
              <a:rPr lang="ko-KR" altLang="en-US" dirty="0"/>
              <a:t>중규모 </a:t>
            </a:r>
            <a:r>
              <a:rPr lang="en-US" altLang="ko-KR" dirty="0"/>
              <a:t>10000</a:t>
            </a:r>
            <a:r>
              <a:rPr lang="ko-KR" altLang="en-US" dirty="0"/>
              <a:t>건</a:t>
            </a:r>
            <a:r>
              <a:rPr lang="en-US" altLang="ko-KR" dirty="0"/>
              <a:t>/</a:t>
            </a:r>
            <a:r>
              <a:rPr lang="ko-KR" altLang="en-US" dirty="0"/>
              <a:t>일 </a:t>
            </a:r>
            <a:r>
              <a:rPr lang="en-US" altLang="ko-KR" dirty="0"/>
              <a:t>-&gt; </a:t>
            </a:r>
            <a:r>
              <a:rPr lang="ko-KR" altLang="en-US" dirty="0"/>
              <a:t>전국</a:t>
            </a:r>
            <a:r>
              <a:rPr lang="en-US" altLang="ko-KR" dirty="0"/>
              <a:t> </a:t>
            </a:r>
            <a:r>
              <a:rPr lang="ko-KR" altLang="en-US" dirty="0"/>
              <a:t>대학 산학협력단</a:t>
            </a:r>
            <a:r>
              <a:rPr lang="en-US" altLang="ko-KR" dirty="0"/>
              <a:t>, </a:t>
            </a:r>
            <a:r>
              <a:rPr lang="ko-KR" altLang="en-US" dirty="0"/>
              <a:t>기업</a:t>
            </a:r>
            <a:r>
              <a:rPr lang="en-US" altLang="ko-KR" dirty="0"/>
              <a:t>, </a:t>
            </a:r>
            <a:r>
              <a:rPr lang="ko-KR" altLang="en-US" dirty="0"/>
              <a:t>지원센터에서 사용할 가능성이 있으나</a:t>
            </a:r>
            <a:r>
              <a:rPr lang="en-US" altLang="ko-KR" dirty="0"/>
              <a:t>, </a:t>
            </a:r>
            <a:r>
              <a:rPr lang="ko-KR" altLang="en-US" dirty="0"/>
              <a:t>사용 빈도가 크지 않을 것으로 예상</a:t>
            </a:r>
            <a:r>
              <a:rPr lang="en-US" altLang="ko-KR" dirty="0"/>
              <a:t>. </a:t>
            </a:r>
            <a:r>
              <a:rPr lang="ko-KR" altLang="en-US" dirty="0"/>
              <a:t>과제 창설이 이루어지는 </a:t>
            </a:r>
            <a:r>
              <a:rPr lang="en-US" altLang="ko-KR" dirty="0"/>
              <a:t>4</a:t>
            </a:r>
            <a:r>
              <a:rPr lang="ko-KR" altLang="en-US" dirty="0"/>
              <a:t>분기에 사용량 급증을 방어하기 위해 중규모로 설정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가용성</a:t>
            </a:r>
            <a:endParaRPr lang="en-US" altLang="ko-KR" dirty="0"/>
          </a:p>
          <a:p>
            <a:r>
              <a:rPr lang="en-US" altLang="ko-KR" dirty="0"/>
              <a:t>99% </a:t>
            </a:r>
            <a:r>
              <a:rPr lang="en-US" altLang="ko-KR" dirty="0">
                <a:sym typeface="Wingdings" panose="05000000000000000000" pitchFamily="2" charset="2"/>
              </a:rPr>
              <a:t>-&gt; </a:t>
            </a:r>
            <a:r>
              <a:rPr lang="ko-KR" altLang="en-US" dirty="0">
                <a:sym typeface="Wingdings" panose="05000000000000000000" pitchFamily="2" charset="2"/>
              </a:rPr>
              <a:t>주로 업무 시간에 조회될 가능성이 높으므로 주말 및 법정공휴일에 중단 가능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데이터 갱신 주기</a:t>
            </a:r>
            <a:endParaRPr lang="en-US" altLang="ko-KR" dirty="0"/>
          </a:p>
          <a:p>
            <a:r>
              <a:rPr lang="en-US" altLang="ko-KR" dirty="0"/>
              <a:t>1</a:t>
            </a:r>
            <a:r>
              <a:rPr lang="ko-KR" altLang="en-US" dirty="0"/>
              <a:t>주 </a:t>
            </a:r>
            <a:r>
              <a:rPr lang="en-US" altLang="ko-KR" dirty="0"/>
              <a:t>1</a:t>
            </a:r>
            <a:r>
              <a:rPr lang="ko-KR" altLang="en-US" dirty="0"/>
              <a:t>회 </a:t>
            </a:r>
            <a:r>
              <a:rPr lang="en-US" altLang="ko-KR" dirty="0"/>
              <a:t>-&gt; 1</a:t>
            </a:r>
            <a:r>
              <a:rPr lang="ko-KR" altLang="en-US" dirty="0"/>
              <a:t>주일 받은 등록은 다음주 갱신</a:t>
            </a:r>
            <a:r>
              <a:rPr lang="en-US" altLang="ko-KR" dirty="0"/>
              <a:t>. </a:t>
            </a:r>
            <a:r>
              <a:rPr lang="ko-KR" altLang="en-US" dirty="0"/>
              <a:t>기술등록 후 이전 가능 검토 시간이 필요하기 때문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API</a:t>
            </a:r>
            <a:r>
              <a:rPr lang="ko-KR" altLang="en-US" dirty="0"/>
              <a:t>를 매일 갱신할 필요가 없음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21" name="Shape 19">
            <a:extLst>
              <a:ext uri="{FF2B5EF4-FFF2-40B4-BE49-F238E27FC236}">
                <a16:creationId xmlns:a16="http://schemas.microsoft.com/office/drawing/2014/main" id="{74FFFFE6-1463-9D3D-421E-876A78C49783}"/>
              </a:ext>
            </a:extLst>
          </p:cNvPr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EEEEEE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3984BB34-C503-BCFA-7787-990B1A7F40FA}"/>
              </a:ext>
            </a:extLst>
          </p:cNvPr>
          <p:cNvSpPr/>
          <p:nvPr/>
        </p:nvSpPr>
        <p:spPr>
          <a:xfrm>
            <a:off x="182880" y="653796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（</a:t>
            </a:r>
            <a:r>
              <a:rPr lang="ko-KR" altLang="en-US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빅데이터전문가</a:t>
            </a:r>
            <a:r>
              <a:rPr lang="en-US" altLang="ko-KR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）</a:t>
            </a:r>
            <a:r>
              <a:rPr lang="en-US" altLang="ko-KR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빅데이터</a:t>
            </a:r>
            <a:r>
              <a:rPr lang="en-US" altLang="ko-KR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altLang="ko-KR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분석</a:t>
            </a:r>
            <a:r>
              <a:rPr lang="en-US" altLang="ko-KR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altLang="ko-KR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플랫폼</a:t>
            </a:r>
            <a:r>
              <a:rPr lang="en-US" altLang="ko-KR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altLang="ko-KR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개발자</a:t>
            </a:r>
            <a:r>
              <a:rPr lang="en-US" altLang="ko-KR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altLang="ko-KR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양성과정</a:t>
            </a:r>
            <a:r>
              <a:rPr lang="en-US" altLang="ko-KR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|  </a:t>
            </a:r>
            <a:r>
              <a:rPr lang="en-US" altLang="ko-KR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빅데이터 플랫폼 요구사항 분석</a:t>
            </a:r>
            <a:endParaRPr lang="en-US" altLang="ko-KR" sz="800" dirty="0"/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2A412FB0-3CC2-964B-79BE-F0F099F91C7D}"/>
              </a:ext>
            </a:extLst>
          </p:cNvPr>
          <p:cNvSpPr/>
          <p:nvPr/>
        </p:nvSpPr>
        <p:spPr>
          <a:xfrm>
            <a:off x="11430000" y="653796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 / 6</a:t>
            </a:r>
            <a:endParaRPr lang="en-US" sz="850" dirty="0"/>
          </a:p>
        </p:txBody>
      </p:sp>
    </p:spTree>
    <p:extLst>
      <p:ext uri="{BB962C8B-B14F-4D97-AF65-F5344CB8AC3E}">
        <p14:creationId xmlns:p14="http://schemas.microsoft.com/office/powerpoint/2010/main" val="41427820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48F0D8-3BE1-B9CD-15CC-E68BCC3AC3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0CA0BDCB-EF3D-C980-55E8-E72D489F8033}"/>
              </a:ext>
            </a:extLst>
          </p:cNvPr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8FC"/>
          </a:solidFill>
          <a:ln w="12700">
            <a:solidFill>
              <a:srgbClr val="F5F8F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F7E3791C-E5C8-A9A3-FF97-3AF15C0D242B}"/>
              </a:ext>
            </a:extLst>
          </p:cNvPr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9DDFF0A2-26FA-A614-F5E2-6E5772F20286}"/>
              </a:ext>
            </a:extLst>
          </p:cNvPr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5FF8D7E1-ABD2-5312-AA12-E8183410502E}"/>
              </a:ext>
            </a:extLst>
          </p:cNvPr>
          <p:cNvSpPr/>
          <p:nvPr/>
        </p:nvSpPr>
        <p:spPr>
          <a:xfrm>
            <a:off x="274320" y="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8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📝</a:t>
            </a:r>
            <a:r>
              <a:rPr lang="en-US" altLang="ko-KR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4. </a:t>
            </a:r>
            <a:r>
              <a:rPr lang="ko-KR" altLang="en-US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데이터 흐름</a:t>
            </a:r>
            <a:endParaRPr lang="en-US" sz="18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FD6B201B-A378-A8B0-A0ED-71CC073ACAD2}"/>
              </a:ext>
            </a:extLst>
          </p:cNvPr>
          <p:cNvSpPr/>
          <p:nvPr/>
        </p:nvSpPr>
        <p:spPr>
          <a:xfrm>
            <a:off x="274320" y="658368"/>
            <a:ext cx="11612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50" i="1" dirty="0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선택한 공공데이터 API를 </a:t>
            </a:r>
            <a:r>
              <a:rPr lang="en-US" sz="1150" i="1" dirty="0" err="1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활용한</a:t>
            </a:r>
            <a:r>
              <a:rPr lang="en-US" sz="1150" i="1" dirty="0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ko-KR" altLang="en-US" sz="1150" i="1" dirty="0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데이터 흐름을</a:t>
            </a:r>
            <a:r>
              <a:rPr lang="en-US" sz="1150" i="1" dirty="0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1150" i="1" dirty="0" err="1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작성하시오</a:t>
            </a:r>
            <a:r>
              <a:rPr lang="en-US" sz="1150" i="1" dirty="0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. </a:t>
            </a:r>
            <a:r>
              <a:rPr lang="en-US" altLang="ko-KR" sz="1150" i="1" dirty="0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</a:t>
            </a:r>
            <a:r>
              <a:rPr lang="ko-KR" altLang="en-US" sz="1150" i="1" dirty="0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내용이 많아서 슬라이드가 부족하면 추가해서 진행합니다</a:t>
            </a:r>
            <a:r>
              <a:rPr lang="en-US" altLang="ko-KR" sz="1150" i="1" dirty="0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.)</a:t>
            </a:r>
            <a:endParaRPr lang="en-US" altLang="ko-KR" sz="1150" dirty="0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4C13372F-2D2A-1A89-2660-E530AE368182}"/>
              </a:ext>
            </a:extLst>
          </p:cNvPr>
          <p:cNvSpPr/>
          <p:nvPr/>
        </p:nvSpPr>
        <p:spPr>
          <a:xfrm>
            <a:off x="182880" y="1005840"/>
            <a:ext cx="11795760" cy="347472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A1E5CC28-ECD1-CE49-2573-0F056C08FCB2}"/>
              </a:ext>
            </a:extLst>
          </p:cNvPr>
          <p:cNvSpPr/>
          <p:nvPr/>
        </p:nvSpPr>
        <p:spPr>
          <a:xfrm>
            <a:off x="274320" y="1005840"/>
            <a:ext cx="5623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1. 프로젝트 개요</a:t>
            </a:r>
            <a:endParaRPr lang="en-US" sz="1100" dirty="0"/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E9C4324C-A067-B51C-D7AB-5B0CD212CC2E}"/>
              </a:ext>
            </a:extLst>
          </p:cNvPr>
          <p:cNvSpPr/>
          <p:nvPr/>
        </p:nvSpPr>
        <p:spPr>
          <a:xfrm>
            <a:off x="182880" y="1408175"/>
            <a:ext cx="11795760" cy="5025281"/>
          </a:xfrm>
          <a:prstGeom prst="rect">
            <a:avLst/>
          </a:prstGeom>
          <a:solidFill>
            <a:srgbClr val="EBF3FB"/>
          </a:solidFill>
          <a:ln w="12700">
            <a:solidFill>
              <a:srgbClr val="2E75B6"/>
            </a:solidFill>
            <a:prstDash val="lgDash"/>
          </a:ln>
        </p:spPr>
        <p:txBody>
          <a:bodyPr/>
          <a:lstStyle/>
          <a:p>
            <a:r>
              <a:rPr lang="ko-KR" altLang="en-US" dirty="0"/>
              <a:t>수집</a:t>
            </a:r>
            <a:r>
              <a:rPr lang="en-US" altLang="ko-KR" dirty="0"/>
              <a:t>: </a:t>
            </a:r>
            <a:r>
              <a:rPr lang="ko-KR" altLang="en-US" dirty="0"/>
              <a:t>한국산업기술진흥원</a:t>
            </a:r>
            <a:r>
              <a:rPr lang="en-US" altLang="ko-KR" dirty="0"/>
              <a:t>_</a:t>
            </a:r>
            <a:r>
              <a:rPr lang="ko-KR" altLang="en-US" dirty="0"/>
              <a:t>기술은행 수요기술 조회 서비스</a:t>
            </a:r>
            <a:r>
              <a:rPr lang="en-US" altLang="ko-KR" dirty="0"/>
              <a:t>_GW API</a:t>
            </a:r>
            <a:r>
              <a:rPr lang="ko-KR" altLang="en-US" dirty="0"/>
              <a:t>에서 등록된 기술 정보수집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저장</a:t>
            </a:r>
            <a:r>
              <a:rPr lang="en-US" altLang="ko-KR" dirty="0"/>
              <a:t>: SQL DB</a:t>
            </a:r>
            <a:r>
              <a:rPr lang="ko-KR" altLang="en-US" dirty="0"/>
              <a:t>에 저장</a:t>
            </a:r>
            <a:endParaRPr lang="en-US" altLang="ko-KR" dirty="0"/>
          </a:p>
          <a:p>
            <a:r>
              <a:rPr lang="en-US" altLang="ko-KR" dirty="0"/>
              <a:t>- </a:t>
            </a:r>
            <a:r>
              <a:rPr lang="ko-KR" altLang="en-US" dirty="0"/>
              <a:t>향후 </a:t>
            </a:r>
            <a:r>
              <a:rPr lang="en-US" altLang="ko-KR" dirty="0"/>
              <a:t>AI </a:t>
            </a:r>
            <a:r>
              <a:rPr lang="ko-KR" altLang="en-US" dirty="0"/>
              <a:t>분석 서비스를 위함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처리</a:t>
            </a:r>
            <a:r>
              <a:rPr lang="en-US" altLang="ko-KR" dirty="0"/>
              <a:t>: </a:t>
            </a:r>
            <a:r>
              <a:rPr lang="ko-KR" altLang="en-US" dirty="0"/>
              <a:t>조회용</a:t>
            </a:r>
            <a:r>
              <a:rPr lang="en-US" altLang="ko-KR" dirty="0"/>
              <a:t>, AI</a:t>
            </a:r>
            <a:r>
              <a:rPr lang="ko-KR" altLang="en-US" dirty="0"/>
              <a:t> 분석용으로 나눈다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조회용</a:t>
            </a:r>
            <a:r>
              <a:rPr lang="en-US" altLang="ko-KR" dirty="0"/>
              <a:t>: </a:t>
            </a:r>
            <a:r>
              <a:rPr lang="ko-KR" altLang="en-US" dirty="0"/>
              <a:t>별도 처리 없이 데이터 공개</a:t>
            </a:r>
            <a:endParaRPr lang="en-US" altLang="ko-KR" dirty="0"/>
          </a:p>
          <a:p>
            <a:r>
              <a:rPr lang="en-US" altLang="ko-KR" dirty="0"/>
              <a:t>AI </a:t>
            </a:r>
            <a:r>
              <a:rPr lang="ko-KR" altLang="en-US" dirty="0"/>
              <a:t>분석용</a:t>
            </a:r>
            <a:r>
              <a:rPr lang="en-US" altLang="ko-KR" dirty="0"/>
              <a:t>: </a:t>
            </a:r>
            <a:r>
              <a:rPr lang="ko-KR" altLang="en-US" dirty="0" err="1"/>
              <a:t>결측치</a:t>
            </a:r>
            <a:r>
              <a:rPr lang="ko-KR" altLang="en-US" dirty="0"/>
              <a:t> 제거</a:t>
            </a:r>
            <a:r>
              <a:rPr lang="en-US" altLang="ko-KR" dirty="0"/>
              <a:t>, </a:t>
            </a:r>
            <a:r>
              <a:rPr lang="ko-KR" altLang="en-US" dirty="0"/>
              <a:t>기술 카테고리 형식 인코딩</a:t>
            </a:r>
            <a:r>
              <a:rPr lang="en-US" altLang="ko-KR" dirty="0"/>
              <a:t>, </a:t>
            </a:r>
            <a:r>
              <a:rPr lang="ko-KR" altLang="en-US" dirty="0"/>
              <a:t>기술 설명 인코딩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분석</a:t>
            </a:r>
            <a:r>
              <a:rPr lang="en-US" altLang="ko-KR" dirty="0"/>
              <a:t>: </a:t>
            </a:r>
            <a:r>
              <a:rPr lang="ko-KR" altLang="en-US" dirty="0"/>
              <a:t>수요가 많은 순으로 정렬</a:t>
            </a:r>
            <a:endParaRPr lang="en-US" altLang="ko-KR" dirty="0"/>
          </a:p>
          <a:p>
            <a:r>
              <a:rPr lang="ko-KR" altLang="en-US" dirty="0"/>
              <a:t>사용자가 기입한 조건과 기술 설명을 비교하여 사용가능한 기술 추천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제공</a:t>
            </a:r>
            <a:endParaRPr lang="en-US" altLang="ko-KR" dirty="0"/>
          </a:p>
          <a:p>
            <a:r>
              <a:rPr lang="ko-KR" altLang="en-US" dirty="0"/>
              <a:t>일반조회 </a:t>
            </a:r>
            <a:r>
              <a:rPr lang="en-US" altLang="ko-KR" dirty="0"/>
              <a:t>: </a:t>
            </a:r>
            <a:r>
              <a:rPr lang="ko-KR" altLang="en-US" dirty="0"/>
              <a:t>웹 마켓 플랫폼 디자인으로 제공</a:t>
            </a:r>
            <a:endParaRPr lang="en-US" altLang="ko-KR" dirty="0"/>
          </a:p>
          <a:p>
            <a:r>
              <a:rPr lang="en-US" altLang="ko-KR" dirty="0"/>
              <a:t>AI </a:t>
            </a:r>
            <a:r>
              <a:rPr lang="ko-KR" altLang="en-US" dirty="0"/>
              <a:t>분석</a:t>
            </a:r>
            <a:r>
              <a:rPr lang="en-US" altLang="ko-KR" dirty="0"/>
              <a:t>: </a:t>
            </a:r>
            <a:r>
              <a:rPr lang="ko-KR" altLang="en-US" dirty="0"/>
              <a:t>웹 차트로 제공</a:t>
            </a:r>
          </a:p>
        </p:txBody>
      </p:sp>
      <p:sp>
        <p:nvSpPr>
          <p:cNvPr id="21" name="Shape 19">
            <a:extLst>
              <a:ext uri="{FF2B5EF4-FFF2-40B4-BE49-F238E27FC236}">
                <a16:creationId xmlns:a16="http://schemas.microsoft.com/office/drawing/2014/main" id="{552300F4-2B7E-6517-BBF9-EB3834AFE3DE}"/>
              </a:ext>
            </a:extLst>
          </p:cNvPr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EEEEEE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9F907DEE-EFF5-02BB-F734-1D12AFD18E3D}"/>
              </a:ext>
            </a:extLst>
          </p:cNvPr>
          <p:cNvSpPr/>
          <p:nvPr/>
        </p:nvSpPr>
        <p:spPr>
          <a:xfrm>
            <a:off x="182880" y="653796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（</a:t>
            </a:r>
            <a:r>
              <a:rPr lang="ko-KR" altLang="en-US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빅데이터전문가</a:t>
            </a:r>
            <a:r>
              <a:rPr lang="en-US" altLang="ko-KR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）</a:t>
            </a:r>
            <a:r>
              <a:rPr lang="en-US" altLang="ko-KR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빅데이터</a:t>
            </a:r>
            <a:r>
              <a:rPr lang="en-US" altLang="ko-KR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altLang="ko-KR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분석</a:t>
            </a:r>
            <a:r>
              <a:rPr lang="en-US" altLang="ko-KR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altLang="ko-KR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플랫폼</a:t>
            </a:r>
            <a:r>
              <a:rPr lang="en-US" altLang="ko-KR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altLang="ko-KR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개발자</a:t>
            </a:r>
            <a:r>
              <a:rPr lang="en-US" altLang="ko-KR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altLang="ko-KR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양성과정</a:t>
            </a:r>
            <a:r>
              <a:rPr lang="en-US" altLang="ko-KR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|  </a:t>
            </a:r>
            <a:r>
              <a:rPr lang="en-US" altLang="ko-KR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빅데이터 플랫폼 요구사항 분석</a:t>
            </a:r>
            <a:endParaRPr lang="en-US" altLang="ko-KR" sz="800" dirty="0"/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BBF888D2-84A6-79D5-FB2A-E4032D22A428}"/>
              </a:ext>
            </a:extLst>
          </p:cNvPr>
          <p:cNvSpPr/>
          <p:nvPr/>
        </p:nvSpPr>
        <p:spPr>
          <a:xfrm>
            <a:off x="11430000" y="653796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 / 6</a:t>
            </a:r>
            <a:endParaRPr lang="en-US" sz="850" dirty="0"/>
          </a:p>
        </p:txBody>
      </p:sp>
    </p:spTree>
    <p:extLst>
      <p:ext uri="{BB962C8B-B14F-4D97-AF65-F5344CB8AC3E}">
        <p14:creationId xmlns:p14="http://schemas.microsoft.com/office/powerpoint/2010/main" val="29389456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97E299-EECC-161F-1E2C-C8D5CFFEDC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40155508-B1A4-35AC-1C1A-8B8642811419}"/>
              </a:ext>
            </a:extLst>
          </p:cNvPr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8FC"/>
          </a:solidFill>
          <a:ln w="12700">
            <a:solidFill>
              <a:srgbClr val="F5F8F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A2B41FA6-8DE3-8055-4E59-F326547C9DAE}"/>
              </a:ext>
            </a:extLst>
          </p:cNvPr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06E83824-D5F3-5C9B-7C1B-C440343CA75E}"/>
              </a:ext>
            </a:extLst>
          </p:cNvPr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A94BB624-2F7A-FACB-5815-5F7AC26A16DE}"/>
              </a:ext>
            </a:extLst>
          </p:cNvPr>
          <p:cNvSpPr/>
          <p:nvPr/>
        </p:nvSpPr>
        <p:spPr>
          <a:xfrm>
            <a:off x="274320" y="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8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📝</a:t>
            </a:r>
            <a:r>
              <a:rPr lang="en-US" altLang="ko-KR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5. </a:t>
            </a:r>
            <a:r>
              <a:rPr lang="ko-KR" altLang="en-US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데이터 관리</a:t>
            </a:r>
            <a:endParaRPr lang="en-US" sz="18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48AC6C95-B234-8C1D-B61F-BE7BF3D527AA}"/>
              </a:ext>
            </a:extLst>
          </p:cNvPr>
          <p:cNvSpPr/>
          <p:nvPr/>
        </p:nvSpPr>
        <p:spPr>
          <a:xfrm>
            <a:off x="274320" y="658368"/>
            <a:ext cx="11612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50" i="1" dirty="0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선택한 공공데이터 API를 </a:t>
            </a:r>
            <a:r>
              <a:rPr lang="en-US" sz="1150" i="1" dirty="0" err="1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활용한</a:t>
            </a:r>
            <a:r>
              <a:rPr lang="en-US" sz="1150" i="1" dirty="0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ko-KR" altLang="en-US" sz="1150" i="1" dirty="0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데이터 관리를</a:t>
            </a:r>
            <a:r>
              <a:rPr lang="en-US" sz="1150" i="1" dirty="0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1150" i="1" dirty="0" err="1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작성하시오</a:t>
            </a:r>
            <a:r>
              <a:rPr lang="en-US" sz="1150" i="1" dirty="0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. </a:t>
            </a:r>
            <a:r>
              <a:rPr lang="en-US" altLang="ko-KR" sz="1150" i="1" dirty="0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</a:t>
            </a:r>
            <a:r>
              <a:rPr lang="ko-KR" altLang="en-US" sz="1150" i="1" dirty="0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내용이 많아서 슬라이드가 부족하면 추가해서 진행합니다</a:t>
            </a:r>
            <a:r>
              <a:rPr lang="en-US" altLang="ko-KR" sz="1150" i="1" dirty="0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.)</a:t>
            </a:r>
            <a:endParaRPr lang="en-US" altLang="ko-KR" sz="1150" dirty="0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C49369B1-9837-2629-5DA3-26E568056BA2}"/>
              </a:ext>
            </a:extLst>
          </p:cNvPr>
          <p:cNvSpPr/>
          <p:nvPr/>
        </p:nvSpPr>
        <p:spPr>
          <a:xfrm>
            <a:off x="182880" y="1005840"/>
            <a:ext cx="11795760" cy="347472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D65F17D2-B52F-9B7F-2136-961DEB01BEBD}"/>
              </a:ext>
            </a:extLst>
          </p:cNvPr>
          <p:cNvSpPr/>
          <p:nvPr/>
        </p:nvSpPr>
        <p:spPr>
          <a:xfrm>
            <a:off x="274320" y="1005840"/>
            <a:ext cx="5623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1. 프로젝트 개요</a:t>
            </a:r>
            <a:endParaRPr lang="en-US" sz="1100" dirty="0"/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19D5B606-A75E-0CC2-3E24-AB5B16ACB190}"/>
              </a:ext>
            </a:extLst>
          </p:cNvPr>
          <p:cNvSpPr/>
          <p:nvPr/>
        </p:nvSpPr>
        <p:spPr>
          <a:xfrm>
            <a:off x="182880" y="1408175"/>
            <a:ext cx="11795760" cy="5025281"/>
          </a:xfrm>
          <a:prstGeom prst="rect">
            <a:avLst/>
          </a:prstGeom>
          <a:solidFill>
            <a:srgbClr val="EBF3FB"/>
          </a:solidFill>
          <a:ln w="12700">
            <a:solidFill>
              <a:srgbClr val="2E75B6"/>
            </a:solidFill>
            <a:prstDash val="lgDash"/>
          </a:ln>
        </p:spPr>
        <p:txBody>
          <a:bodyPr/>
          <a:lstStyle/>
          <a:p>
            <a:r>
              <a:rPr lang="ko-KR" altLang="en-US" dirty="0"/>
              <a:t>개인정보</a:t>
            </a:r>
            <a:endParaRPr lang="en-US" altLang="ko-KR" dirty="0"/>
          </a:p>
          <a:p>
            <a:r>
              <a:rPr lang="ko-KR" altLang="en-US" dirty="0"/>
              <a:t>선택한 </a:t>
            </a:r>
            <a:r>
              <a:rPr lang="en-US" altLang="ko-KR" dirty="0"/>
              <a:t>API</a:t>
            </a:r>
            <a:r>
              <a:rPr lang="ko-KR" altLang="en-US" dirty="0"/>
              <a:t>에 개인정보 없음</a:t>
            </a:r>
            <a:r>
              <a:rPr lang="en-US" altLang="ko-KR" dirty="0"/>
              <a:t>. (</a:t>
            </a:r>
            <a:r>
              <a:rPr lang="ko-KR" altLang="en-US" dirty="0"/>
              <a:t>연구센터</a:t>
            </a:r>
            <a:r>
              <a:rPr lang="en-US" altLang="ko-KR" dirty="0"/>
              <a:t>, </a:t>
            </a:r>
            <a:r>
              <a:rPr lang="ko-KR" altLang="en-US" dirty="0"/>
              <a:t>기업 전화번호 및 사이트 주소 존재</a:t>
            </a:r>
            <a:r>
              <a:rPr lang="en-US" altLang="ko-KR" dirty="0"/>
              <a:t>)</a:t>
            </a:r>
          </a:p>
          <a:p>
            <a:endParaRPr lang="en-US" altLang="ko-KR" dirty="0"/>
          </a:p>
          <a:p>
            <a:r>
              <a:rPr lang="ko-KR" altLang="en-US" dirty="0"/>
              <a:t>품질 기준</a:t>
            </a:r>
            <a:endParaRPr lang="en-US" altLang="ko-KR" dirty="0"/>
          </a:p>
          <a:p>
            <a:r>
              <a:rPr lang="ko-KR" altLang="en-US" dirty="0" err="1"/>
              <a:t>결측치</a:t>
            </a:r>
            <a:r>
              <a:rPr lang="ko-KR" altLang="en-US" dirty="0"/>
              <a:t> 허용 비율</a:t>
            </a:r>
            <a:r>
              <a:rPr lang="en-US" altLang="ko-KR" dirty="0"/>
              <a:t>: </a:t>
            </a:r>
            <a:r>
              <a:rPr lang="ko-KR" altLang="en-US" dirty="0"/>
              <a:t>전체 데이터의 </a:t>
            </a:r>
            <a:r>
              <a:rPr lang="en-US" altLang="ko-KR" dirty="0"/>
              <a:t>1% </a:t>
            </a:r>
            <a:r>
              <a:rPr lang="ko-KR" altLang="en-US" dirty="0"/>
              <a:t>이하 </a:t>
            </a:r>
            <a:r>
              <a:rPr lang="en-US" altLang="ko-KR" dirty="0"/>
              <a:t>(</a:t>
            </a:r>
            <a:r>
              <a:rPr lang="ko-KR" altLang="en-US" dirty="0"/>
              <a:t>데이터베이스에 기술등록은 검토과정을 거친 후에 완전 등록할 수 있다</a:t>
            </a:r>
            <a:r>
              <a:rPr lang="en-US" altLang="ko-KR" dirty="0"/>
              <a:t>.)</a:t>
            </a:r>
          </a:p>
          <a:p>
            <a:r>
              <a:rPr lang="ko-KR" altLang="en-US" dirty="0"/>
              <a:t>중복 데이터 기준</a:t>
            </a:r>
            <a:r>
              <a:rPr lang="en-US" altLang="ko-KR" dirty="0"/>
              <a:t>: 0</a:t>
            </a:r>
            <a:r>
              <a:rPr lang="ko-KR" altLang="en-US" dirty="0"/>
              <a:t>건 </a:t>
            </a:r>
            <a:r>
              <a:rPr lang="en-US" altLang="ko-KR" dirty="0"/>
              <a:t>(</a:t>
            </a:r>
            <a:r>
              <a:rPr lang="ko-KR" altLang="en-US" dirty="0" err="1"/>
              <a:t>기술명</a:t>
            </a:r>
            <a:r>
              <a:rPr lang="ko-KR" altLang="en-US" dirty="0"/>
              <a:t> </a:t>
            </a:r>
            <a:r>
              <a:rPr lang="en-US" altLang="ko-KR" dirty="0"/>
              <a:t>and</a:t>
            </a:r>
            <a:r>
              <a:rPr lang="ko-KR" altLang="en-US" dirty="0"/>
              <a:t>기술 카테고리</a:t>
            </a:r>
            <a:r>
              <a:rPr lang="en-US" altLang="ko-KR" dirty="0"/>
              <a:t> and </a:t>
            </a:r>
            <a:r>
              <a:rPr lang="ko-KR" altLang="en-US" dirty="0"/>
              <a:t>기술 설명이 동일한 경우 중복으로 간주하고 제거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21" name="Shape 19">
            <a:extLst>
              <a:ext uri="{FF2B5EF4-FFF2-40B4-BE49-F238E27FC236}">
                <a16:creationId xmlns:a16="http://schemas.microsoft.com/office/drawing/2014/main" id="{7BD069DC-B8F3-A49B-BD2C-B4C7304E7BD7}"/>
              </a:ext>
            </a:extLst>
          </p:cNvPr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EEEEEE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96C9F856-C2BE-123C-28FC-F96A0ED4AF9B}"/>
              </a:ext>
            </a:extLst>
          </p:cNvPr>
          <p:cNvSpPr/>
          <p:nvPr/>
        </p:nvSpPr>
        <p:spPr>
          <a:xfrm>
            <a:off x="182880" y="653796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（</a:t>
            </a:r>
            <a:r>
              <a:rPr lang="ko-KR" altLang="en-US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빅데이터전문가</a:t>
            </a:r>
            <a:r>
              <a:rPr lang="en-US" altLang="ko-KR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）</a:t>
            </a:r>
            <a:r>
              <a:rPr lang="en-US" altLang="ko-KR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빅데이터</a:t>
            </a:r>
            <a:r>
              <a:rPr lang="en-US" altLang="ko-KR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altLang="ko-KR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분석</a:t>
            </a:r>
            <a:r>
              <a:rPr lang="en-US" altLang="ko-KR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altLang="ko-KR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플랫폼</a:t>
            </a:r>
            <a:r>
              <a:rPr lang="en-US" altLang="ko-KR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altLang="ko-KR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개발자</a:t>
            </a:r>
            <a:r>
              <a:rPr lang="en-US" altLang="ko-KR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altLang="ko-KR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양성과정</a:t>
            </a:r>
            <a:r>
              <a:rPr lang="en-US" altLang="ko-KR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|  </a:t>
            </a:r>
            <a:r>
              <a:rPr lang="en-US" altLang="ko-KR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빅데이터 플랫폼 요구사항 분석</a:t>
            </a:r>
            <a:endParaRPr lang="en-US" altLang="ko-KR" sz="800" dirty="0"/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85EAA385-73C4-1E4B-958C-691B8D5633A0}"/>
              </a:ext>
            </a:extLst>
          </p:cNvPr>
          <p:cNvSpPr/>
          <p:nvPr/>
        </p:nvSpPr>
        <p:spPr>
          <a:xfrm>
            <a:off x="11430000" y="653796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 / 6</a:t>
            </a:r>
            <a:endParaRPr lang="en-US" sz="850" dirty="0"/>
          </a:p>
        </p:txBody>
      </p:sp>
    </p:spTree>
    <p:extLst>
      <p:ext uri="{BB962C8B-B14F-4D97-AF65-F5344CB8AC3E}">
        <p14:creationId xmlns:p14="http://schemas.microsoft.com/office/powerpoint/2010/main" val="424808982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81</TotalTime>
  <Words>875</Words>
  <Application>Microsoft Office PowerPoint</Application>
  <PresentationFormat>와이드스크린</PresentationFormat>
  <Paragraphs>113</Paragraphs>
  <Slides>7</Slides>
  <Notes>7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7</vt:i4>
      </vt:variant>
    </vt:vector>
  </HeadingPairs>
  <TitlesOfParts>
    <vt:vector size="12" baseType="lpstr">
      <vt:lpstr>맑은 고딕</vt:lpstr>
      <vt:lpstr>Arial</vt:lpstr>
      <vt:lpstr>Calibri</vt:lpstr>
      <vt:lpstr>Consolas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03_프로그래밍언어응용</dc:title>
  <dc:subject>PptxGenJS Presentation</dc:subject>
  <dc:creator>PptxGenJS</dc:creator>
  <cp:lastModifiedBy>FullName</cp:lastModifiedBy>
  <cp:revision>21</cp:revision>
  <dcterms:created xsi:type="dcterms:W3CDTF">2026-03-10T17:23:29Z</dcterms:created>
  <dcterms:modified xsi:type="dcterms:W3CDTF">2026-06-09T01:18:41Z</dcterms:modified>
</cp:coreProperties>
</file>