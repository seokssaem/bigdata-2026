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58" r:id="rId5"/>
    <p:sldId id="266" r:id="rId6"/>
    <p:sldId id="259" r:id="rId7"/>
    <p:sldId id="260" r:id="rId8"/>
    <p:sldId id="261" r:id="rId9"/>
    <p:sldId id="267" r:id="rId10"/>
    <p:sldId id="263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데이터 분석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altLang="ko-KR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탐색적데이터분석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  <a:p>
            <a:pPr fontAlgn="base" latinLnBrk="1"/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탐색적 데이터 분석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[2001010511_21v4]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50EF7-9DF5-4CFC-A457-2F5E81894D04}"/>
              </a:ext>
            </a:extLst>
          </p:cNvPr>
          <p:cNvSpPr txBox="1"/>
          <p:nvPr/>
        </p:nvSpPr>
        <p:spPr>
          <a:xfrm>
            <a:off x="293614" y="184450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1. 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데이터 기초 특성 파악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B78E49-0D3E-43CB-8620-0203F07B9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267" y="1970357"/>
            <a:ext cx="7921351" cy="236948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F3E7E6-ADB0-4EF7-850C-C8AB1E85B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267" y="4562606"/>
            <a:ext cx="7905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7FCF52-2B87-45A0-A3EC-C8D90540EEFE}"/>
              </a:ext>
            </a:extLst>
          </p:cNvPr>
          <p:cNvSpPr txBox="1"/>
          <p:nvPr/>
        </p:nvSpPr>
        <p:spPr>
          <a:xfrm>
            <a:off x="293614" y="184450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1. 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데이터 기초 특성 파악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44C9A-FA40-4825-9AF9-EA9D95B7124E}"/>
              </a:ext>
            </a:extLst>
          </p:cNvPr>
          <p:cNvSpPr txBox="1"/>
          <p:nvPr/>
        </p:nvSpPr>
        <p:spPr>
          <a:xfrm>
            <a:off x="1910799" y="153387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type</a:t>
            </a:r>
            <a:endParaRPr lang="ko-KR" altLang="en-US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96959B-77E3-4EB8-AD17-918CCD89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708" y="2105025"/>
            <a:ext cx="2133600" cy="25622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EC8DCB-3FC7-4F1B-B015-AC1B57BB5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05431"/>
            <a:ext cx="4991100" cy="2476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17CB3A-11A7-4447-8542-402583E8EB52}"/>
              </a:ext>
            </a:extLst>
          </p:cNvPr>
          <p:cNvSpPr txBox="1"/>
          <p:nvPr/>
        </p:nvSpPr>
        <p:spPr>
          <a:xfrm>
            <a:off x="8239782" y="160559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통계량</a:t>
            </a:r>
          </a:p>
        </p:txBody>
      </p:sp>
    </p:spTree>
    <p:extLst>
      <p:ext uri="{BB962C8B-B14F-4D97-AF65-F5344CB8AC3E}">
        <p14:creationId xmlns:p14="http://schemas.microsoft.com/office/powerpoint/2010/main" val="4115849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D68EB-2782-4D6C-AC72-91900CBA6154}"/>
              </a:ext>
            </a:extLst>
          </p:cNvPr>
          <p:cNvSpPr txBox="1"/>
          <p:nvPr/>
        </p:nvSpPr>
        <p:spPr>
          <a:xfrm>
            <a:off x="293614" y="184450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b="0" dirty="0" err="1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단변량</a:t>
            </a:r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분포 시각화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86AB39-E49E-4C8C-ADF8-E28E8774F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137" y="836403"/>
            <a:ext cx="5419725" cy="430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733F81-D869-417B-BB7F-7D63A917E31E}"/>
              </a:ext>
            </a:extLst>
          </p:cNvPr>
          <p:cNvSpPr txBox="1"/>
          <p:nvPr/>
        </p:nvSpPr>
        <p:spPr>
          <a:xfrm>
            <a:off x="1912689" y="5539040"/>
            <a:ext cx="88889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0" dirty="0">
                <a:effectLst/>
                <a:latin typeface="Consolas" panose="020B0609020204030204" pitchFamily="49" charset="0"/>
              </a:rPr>
              <a:t>월평균구매금액은 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200,000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원 이하에 치우쳐져 있으며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ko-KR" altLang="en-US" sz="1500" b="0" dirty="0">
                <a:effectLst/>
                <a:latin typeface="Consolas" panose="020B0609020204030204" pitchFamily="49" charset="0"/>
              </a:rPr>
              <a:t>높은 금액 쪽에 이상치로 볼 수 있는 데이터가 소수 있지만 충분히 존재할 수 있는 데이터이다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8AFC5B-694A-4F74-A448-972B0F2B73F4}"/>
              </a:ext>
            </a:extLst>
          </p:cNvPr>
          <p:cNvSpPr txBox="1"/>
          <p:nvPr/>
        </p:nvSpPr>
        <p:spPr>
          <a:xfrm>
            <a:off x="293614" y="184450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b="0" dirty="0" err="1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단변량</a:t>
            </a:r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분포 시각화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9F197-9ADD-42C3-AF35-D478C5286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137" y="949180"/>
            <a:ext cx="5419725" cy="4305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34D3E1-14B2-4F22-84CF-16076DBA9F47}"/>
              </a:ext>
            </a:extLst>
          </p:cNvPr>
          <p:cNvSpPr txBox="1"/>
          <p:nvPr/>
        </p:nvSpPr>
        <p:spPr>
          <a:xfrm>
            <a:off x="3884102" y="5700622"/>
            <a:ext cx="47916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0" dirty="0">
                <a:effectLst/>
                <a:latin typeface="Consolas" panose="020B0609020204030204" pitchFamily="49" charset="0"/>
              </a:rPr>
              <a:t>구매 시 쿠폰을 사용 하지 않은 사람들이 더 많다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075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A6BC5-3D4E-4631-960A-D7D9BF9396F7}"/>
              </a:ext>
            </a:extLst>
          </p:cNvPr>
          <p:cNvSpPr txBox="1"/>
          <p:nvPr/>
        </p:nvSpPr>
        <p:spPr>
          <a:xfrm>
            <a:off x="293614" y="184450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상관관계 및 </a:t>
            </a:r>
            <a:r>
              <a:rPr lang="ko-KR" altLang="en-US" b="0" dirty="0" err="1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이변량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분석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566AA3-BD06-437E-80F8-C0DC97C55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37" y="1443037"/>
            <a:ext cx="48863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9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D60CAD-4FEE-4C5F-BE1F-26B8B3DB35CE}"/>
              </a:ext>
            </a:extLst>
          </p:cNvPr>
          <p:cNvSpPr txBox="1"/>
          <p:nvPr/>
        </p:nvSpPr>
        <p:spPr>
          <a:xfrm>
            <a:off x="293614" y="184450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상관관계 및 </a:t>
            </a:r>
            <a:r>
              <a:rPr lang="ko-KR" altLang="en-US" b="0" dirty="0" err="1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이변량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분석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6567BA-2FD5-4EA4-BC30-621809D03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87" y="1276350"/>
            <a:ext cx="53816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8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35478F2-EB68-4E65-9CB5-39FB2F316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7" y="1276350"/>
            <a:ext cx="5457825" cy="4305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BF531B-96F3-4597-A9EB-FB6E65D95FEC}"/>
              </a:ext>
            </a:extLst>
          </p:cNvPr>
          <p:cNvSpPr txBox="1"/>
          <p:nvPr/>
        </p:nvSpPr>
        <p:spPr>
          <a:xfrm>
            <a:off x="293614" y="184450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상관관계 및 </a:t>
            </a:r>
            <a:r>
              <a:rPr lang="ko-KR" altLang="en-US" b="0" dirty="0" err="1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이변량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분석</a:t>
            </a:r>
          </a:p>
        </p:txBody>
      </p:sp>
    </p:spTree>
    <p:extLst>
      <p:ext uri="{BB962C8B-B14F-4D97-AF65-F5344CB8AC3E}">
        <p14:creationId xmlns:p14="http://schemas.microsoft.com/office/powerpoint/2010/main" val="50513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0C50AD-F1AE-4CB4-B590-E112466367B0}"/>
              </a:ext>
            </a:extLst>
          </p:cNvPr>
          <p:cNvSpPr txBox="1"/>
          <p:nvPr/>
        </p:nvSpPr>
        <p:spPr>
          <a:xfrm>
            <a:off x="805611" y="1959019"/>
            <a:ext cx="645561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500" b="0" dirty="0">
                <a:effectLst/>
                <a:latin typeface="Consolas" panose="020B0609020204030204" pitchFamily="49" charset="0"/>
              </a:rPr>
              <a:t>구매횟수와 리뷰점수의 상관관계가 가장 높고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500" dirty="0">
                <a:latin typeface="Consolas" panose="020B0609020204030204" pitchFamily="49" charset="0"/>
              </a:rPr>
              <a:t>   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나이와 구매횟수의 상관관계가 가장 낮다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500" b="0" dirty="0">
              <a:effectLst/>
              <a:latin typeface="Consolas" panose="020B0609020204030204" pitchFamily="49" charset="0"/>
            </a:endParaRPr>
          </a:p>
          <a:p>
            <a:endParaRPr lang="en-US" altLang="ko-KR" sz="1500" b="0" dirty="0">
              <a:effectLst/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1500" b="0" dirty="0">
                <a:effectLst/>
                <a:latin typeface="Consolas" panose="020B0609020204030204" pitchFamily="49" charset="0"/>
              </a:rPr>
              <a:t>하지만 무조건 구매를 많이 했기 때문에 리뷰점수가 높고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500" dirty="0">
                <a:latin typeface="Consolas" panose="020B0609020204030204" pitchFamily="49" charset="0"/>
              </a:rPr>
              <a:t>   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나이가 많기 때문에 구매횟수가 높다고 볼 수는 없다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500" b="0" dirty="0">
              <a:effectLst/>
              <a:latin typeface="Consolas" panose="020B0609020204030204" pitchFamily="49" charset="0"/>
            </a:endParaRPr>
          </a:p>
          <a:p>
            <a:endParaRPr lang="en-US" altLang="ko-KR" sz="1500" b="0" dirty="0">
              <a:effectLst/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1500" b="0" dirty="0">
                <a:effectLst/>
                <a:latin typeface="Consolas" panose="020B0609020204030204" pitchFamily="49" charset="0"/>
              </a:rPr>
              <a:t>구매를 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번 </a:t>
            </a:r>
            <a:r>
              <a:rPr lang="ko-KR" altLang="en-US" sz="1500" b="0" dirty="0" err="1">
                <a:effectLst/>
                <a:latin typeface="Consolas" panose="020B0609020204030204" pitchFamily="49" charset="0"/>
              </a:rPr>
              <a:t>했어도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 리뷰점수를 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5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점 줄 수 있고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ko-KR" altLang="en-US" sz="1500" b="0" dirty="0">
                <a:effectLst/>
                <a:latin typeface="Consolas" panose="020B0609020204030204" pitchFamily="49" charset="0"/>
              </a:rPr>
              <a:t>   나이가 많아도 쇼핑을 즐기지 않는다면</a:t>
            </a:r>
            <a:r>
              <a:rPr lang="en-US" altLang="ko-KR" sz="1500" dirty="0">
                <a:latin typeface="Consolas" panose="020B0609020204030204" pitchFamily="49" charset="0"/>
              </a:rPr>
              <a:t> 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구매횟수가 적을 수 있다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59BAD-E4F3-475D-800A-4A8BD7ADA590}"/>
              </a:ext>
            </a:extLst>
          </p:cNvPr>
          <p:cNvSpPr txBox="1"/>
          <p:nvPr/>
        </p:nvSpPr>
        <p:spPr>
          <a:xfrm>
            <a:off x="293614" y="184450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상관관계 및 </a:t>
            </a:r>
            <a:r>
              <a:rPr lang="ko-KR" altLang="en-US" b="0" dirty="0" err="1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이변량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분석</a:t>
            </a:r>
          </a:p>
        </p:txBody>
      </p:sp>
    </p:spTree>
    <p:extLst>
      <p:ext uri="{BB962C8B-B14F-4D97-AF65-F5344CB8AC3E}">
        <p14:creationId xmlns:p14="http://schemas.microsoft.com/office/powerpoint/2010/main" val="3441076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9603A4-AE60-4CA5-A74D-484FD3D1A166}"/>
              </a:ext>
            </a:extLst>
          </p:cNvPr>
          <p:cNvSpPr txBox="1"/>
          <p:nvPr/>
        </p:nvSpPr>
        <p:spPr>
          <a:xfrm>
            <a:off x="293614" y="184450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그룹별 비교 분석 및 인사이트 도출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A10CEA-52B8-4496-BAC0-4EFE3102B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867299"/>
            <a:ext cx="5486400" cy="4552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14EA29-E3B2-45F0-BCD0-DFB6D69950E3}"/>
              </a:ext>
            </a:extLst>
          </p:cNvPr>
          <p:cNvSpPr txBox="1"/>
          <p:nvPr/>
        </p:nvSpPr>
        <p:spPr>
          <a:xfrm>
            <a:off x="4044636" y="5829118"/>
            <a:ext cx="445506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0" dirty="0">
                <a:effectLst/>
                <a:latin typeface="Consolas" panose="020B0609020204030204" pitchFamily="49" charset="0"/>
              </a:rPr>
              <a:t>멤버십등급이 높을수록 월평균구매금액이 높다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006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33B0B1-0963-4362-AAEC-B983E8AF30BF}"/>
              </a:ext>
            </a:extLst>
          </p:cNvPr>
          <p:cNvSpPr txBox="1"/>
          <p:nvPr/>
        </p:nvSpPr>
        <p:spPr>
          <a:xfrm>
            <a:off x="293614" y="184450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lang="ko-KR" altLang="en-US" b="0" dirty="0"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그룹별 비교 분석 및 인사이트 도출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913E41-3244-464C-87FA-0783B080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725" y="858910"/>
            <a:ext cx="5162550" cy="4552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FDD13A-EF08-40B0-8F42-A8CA96F756E5}"/>
              </a:ext>
            </a:extLst>
          </p:cNvPr>
          <p:cNvSpPr txBox="1"/>
          <p:nvPr/>
        </p:nvSpPr>
        <p:spPr>
          <a:xfrm>
            <a:off x="4402431" y="5837507"/>
            <a:ext cx="387798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0" dirty="0">
                <a:effectLst/>
                <a:latin typeface="Consolas" panose="020B0609020204030204" pitchFamily="49" charset="0"/>
              </a:rPr>
              <a:t>멤버십등급이 높을수록 구매횟수가 높다</a:t>
            </a:r>
            <a:r>
              <a:rPr lang="en-US" altLang="ko-KR" sz="1500" b="0" dirty="0"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7726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235</Words>
  <Application>Microsoft Office PowerPoint</Application>
  <PresentationFormat>와이드스크린</PresentationFormat>
  <Paragraphs>37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HY견고딕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38</cp:revision>
  <dcterms:created xsi:type="dcterms:W3CDTF">2026-03-10T17:23:29Z</dcterms:created>
  <dcterms:modified xsi:type="dcterms:W3CDTF">2026-07-28T03:45:12Z</dcterms:modified>
</cp:coreProperties>
</file>