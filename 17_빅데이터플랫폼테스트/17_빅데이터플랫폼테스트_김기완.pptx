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테스트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2026-09-11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빅데이터플랫폼테스트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성함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플랫폼 테스트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2001020908_24v3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646BC5-7075-45DC-BB02-0A8F368AB653}"/>
              </a:ext>
            </a:extLst>
          </p:cNvPr>
          <p:cNvSpPr txBox="1"/>
          <p:nvPr/>
        </p:nvSpPr>
        <p:spPr>
          <a:xfrm>
            <a:off x="490830" y="511620"/>
            <a:ext cx="6784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소프트웨어 테스트를 수행하는 근본적인 목적을 설명할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5E04F-281B-4583-B7F6-05A05D45EA73}"/>
              </a:ext>
            </a:extLst>
          </p:cNvPr>
          <p:cNvSpPr txBox="1"/>
          <p:nvPr/>
        </p:nvSpPr>
        <p:spPr>
          <a:xfrm>
            <a:off x="490830" y="1623824"/>
            <a:ext cx="7120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단위 테스트와 통합 테스트의 개념 차이를 구분하여 설명할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7532C-301B-4118-AB8B-E7AFA4B18B7D}"/>
              </a:ext>
            </a:extLst>
          </p:cNvPr>
          <p:cNvSpPr txBox="1"/>
          <p:nvPr/>
        </p:nvSpPr>
        <p:spPr>
          <a:xfrm>
            <a:off x="490830" y="2876556"/>
            <a:ext cx="6837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성능 테스트가 무엇을 확인하기 위한 테스트인지 설명할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CED9B-1274-419D-BA65-2080BABF5608}"/>
              </a:ext>
            </a:extLst>
          </p:cNvPr>
          <p:cNvSpPr txBox="1"/>
          <p:nvPr/>
        </p:nvSpPr>
        <p:spPr>
          <a:xfrm>
            <a:off x="194684" y="971657"/>
            <a:ext cx="12234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/>
              <a:t>소프트웨어가 요구사항대로 잘 작동하는지 확인하고</a:t>
            </a:r>
            <a:r>
              <a:rPr lang="en-US" altLang="ko-KR" dirty="0"/>
              <a:t>, </a:t>
            </a:r>
            <a:r>
              <a:rPr lang="ko-KR" altLang="en-US" dirty="0"/>
              <a:t>출시되기 전에 버그를 미리 찾아서 품질을 높이는 게 목적이다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CE30E-5F28-46B1-9B4B-635EFAB33878}"/>
              </a:ext>
            </a:extLst>
          </p:cNvPr>
          <p:cNvSpPr txBox="1"/>
          <p:nvPr/>
        </p:nvSpPr>
        <p:spPr>
          <a:xfrm>
            <a:off x="464381" y="2061973"/>
            <a:ext cx="8787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/>
              <a:t>단위 테스트는 함수 하나하나같이 제일 작은 단위가 제대로 동작하는지 보는 거고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통합 테스트는 그 단위들을 합쳤을 때 서로 잘 연동되는지 보는 거다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6ECC0-77BC-4F21-8FAA-8D186C7A66EB}"/>
              </a:ext>
            </a:extLst>
          </p:cNvPr>
          <p:cNvSpPr txBox="1"/>
          <p:nvPr/>
        </p:nvSpPr>
        <p:spPr>
          <a:xfrm>
            <a:off x="517281" y="3313419"/>
            <a:ext cx="8682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/>
              <a:t>성능 테스트는 사용자가 많이 몰리거나 데이터가 커졌을 때도 시스템이 응답속도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처리량</a:t>
            </a:r>
            <a:r>
              <a:rPr lang="en-US" altLang="ko-KR" dirty="0"/>
              <a:t>, </a:t>
            </a:r>
            <a:r>
              <a:rPr lang="ko-KR" altLang="en-US" dirty="0"/>
              <a:t>안정성을 잘 유지하는지 확인하는 테스트다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2D942-067F-4DC9-B6B0-875B1BCFD7FA}"/>
              </a:ext>
            </a:extLst>
          </p:cNvPr>
          <p:cNvSpPr txBox="1"/>
          <p:nvPr/>
        </p:nvSpPr>
        <p:spPr>
          <a:xfrm>
            <a:off x="464381" y="4155068"/>
            <a:ext cx="7841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Python </a:t>
            </a:r>
            <a:r>
              <a:rPr lang="ko-KR" altLang="en-US" dirty="0"/>
              <a:t>테스트 코드 작성에 사용하는 대표 프레임워크 이름을 말할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850043-315F-4EF4-AC45-1D5D51098E32}"/>
              </a:ext>
            </a:extLst>
          </p:cNvPr>
          <p:cNvSpPr txBox="1"/>
          <p:nvPr/>
        </p:nvSpPr>
        <p:spPr>
          <a:xfrm>
            <a:off x="517281" y="4596741"/>
            <a:ext cx="1110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en-US" altLang="ko-KR" dirty="0" err="1"/>
              <a:t>pytest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78EDD-F5CB-4EB5-BBE5-16EF81A08136}"/>
              </a:ext>
            </a:extLst>
          </p:cNvPr>
          <p:cNvSpPr txBox="1"/>
          <p:nvPr/>
        </p:nvSpPr>
        <p:spPr>
          <a:xfrm>
            <a:off x="464381" y="5110647"/>
            <a:ext cx="7945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</a:t>
            </a:r>
            <a:r>
              <a:rPr lang="en-US" altLang="ko-KR" dirty="0" err="1"/>
              <a:t>FastAPI</a:t>
            </a:r>
            <a:r>
              <a:rPr lang="en-US" altLang="ko-KR" dirty="0"/>
              <a:t> </a:t>
            </a:r>
            <a:r>
              <a:rPr lang="ko-KR" altLang="en-US" dirty="0" err="1"/>
              <a:t>엔드포인트를</a:t>
            </a:r>
            <a:r>
              <a:rPr lang="ko-KR" altLang="en-US" dirty="0"/>
              <a:t> 서버 구동 없이 테스트하는 방법</a:t>
            </a:r>
            <a:r>
              <a:rPr lang="en-US" altLang="ko-KR" dirty="0"/>
              <a:t>(</a:t>
            </a:r>
            <a:r>
              <a:rPr lang="ko-KR" altLang="en-US" dirty="0"/>
              <a:t>도구</a:t>
            </a:r>
            <a:r>
              <a:rPr lang="en-US" altLang="ko-KR" dirty="0"/>
              <a:t>)</a:t>
            </a:r>
            <a:r>
              <a:rPr lang="ko-KR" altLang="en-US" dirty="0"/>
              <a:t>을 말할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020375-71D0-4F67-ABDB-41A86F0B28B6}"/>
              </a:ext>
            </a:extLst>
          </p:cNvPr>
          <p:cNvSpPr txBox="1"/>
          <p:nvPr/>
        </p:nvSpPr>
        <p:spPr>
          <a:xfrm>
            <a:off x="522666" y="5624553"/>
            <a:ext cx="7829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/>
              <a:t>서버 안 켜고도 </a:t>
            </a:r>
            <a:r>
              <a:rPr lang="en-US" altLang="ko-KR" dirty="0" err="1"/>
              <a:t>FastAPI</a:t>
            </a:r>
            <a:r>
              <a:rPr lang="ko-KR" altLang="en-US" dirty="0"/>
              <a:t>의 </a:t>
            </a:r>
            <a:r>
              <a:rPr lang="en-US" altLang="ko-KR" dirty="0" err="1"/>
              <a:t>TestClient</a:t>
            </a:r>
            <a:r>
              <a:rPr lang="ko-KR" altLang="en-US" dirty="0"/>
              <a:t>로 요청</a:t>
            </a:r>
            <a:r>
              <a:rPr lang="en-US" altLang="ko-KR" dirty="0"/>
              <a:t>/</a:t>
            </a:r>
            <a:r>
              <a:rPr lang="ko-KR" altLang="en-US" dirty="0"/>
              <a:t>응답을 바로 테스트할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915EB2-56E8-4A9B-A5B3-1D50B1B8FDE7}"/>
              </a:ext>
            </a:extLst>
          </p:cNvPr>
          <p:cNvSpPr txBox="1"/>
          <p:nvPr/>
        </p:nvSpPr>
        <p:spPr>
          <a:xfrm>
            <a:off x="493925" y="420739"/>
            <a:ext cx="752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요청 성공</a:t>
            </a:r>
            <a:r>
              <a:rPr lang="en-US" altLang="ko-KR" dirty="0"/>
              <a:t>/</a:t>
            </a:r>
            <a:r>
              <a:rPr lang="ko-KR" altLang="en-US" dirty="0"/>
              <a:t>리소스 없음에 해당하는 </a:t>
            </a:r>
            <a:r>
              <a:rPr lang="en-US" altLang="ko-KR" dirty="0"/>
              <a:t>HTTP </a:t>
            </a:r>
            <a:r>
              <a:rPr lang="ko-KR" altLang="en-US" dirty="0"/>
              <a:t>상태 코드를 각각 말할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BFF38-4AC0-44E4-836A-85E2C94F1B59}"/>
              </a:ext>
            </a:extLst>
          </p:cNvPr>
          <p:cNvSpPr txBox="1"/>
          <p:nvPr/>
        </p:nvSpPr>
        <p:spPr>
          <a:xfrm>
            <a:off x="493925" y="1465389"/>
            <a:ext cx="781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테스트 케이스에 반드시 포함되어야 하는 </a:t>
            </a:r>
            <a:r>
              <a:rPr lang="en-US" altLang="ko-KR" dirty="0"/>
              <a:t>3</a:t>
            </a:r>
            <a:r>
              <a:rPr lang="ko-KR" altLang="en-US" dirty="0"/>
              <a:t>가지 구성요소를 말할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D5952-C0A8-4DD9-B3C7-F32F7A7AEB5B}"/>
              </a:ext>
            </a:extLst>
          </p:cNvPr>
          <p:cNvSpPr txBox="1"/>
          <p:nvPr/>
        </p:nvSpPr>
        <p:spPr>
          <a:xfrm>
            <a:off x="629653" y="891985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/>
              <a:t>성공은 </a:t>
            </a:r>
            <a:r>
              <a:rPr lang="en-US" altLang="ko-KR" dirty="0"/>
              <a:t>200, </a:t>
            </a:r>
            <a:r>
              <a:rPr lang="ko-KR" altLang="en-US" dirty="0"/>
              <a:t>리소스 없으면 </a:t>
            </a:r>
            <a:r>
              <a:rPr lang="en-US" altLang="ko-KR" dirty="0"/>
              <a:t>404</a:t>
            </a:r>
            <a:r>
              <a:rPr lang="ko-KR" altLang="en-US" dirty="0"/>
              <a:t>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63D59E-F99B-4241-B3B9-61EE43F08352}"/>
              </a:ext>
            </a:extLst>
          </p:cNvPr>
          <p:cNvSpPr txBox="1"/>
          <p:nvPr/>
        </p:nvSpPr>
        <p:spPr>
          <a:xfrm>
            <a:off x="569749" y="1936635"/>
            <a:ext cx="610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 err="1"/>
              <a:t>입력값</a:t>
            </a:r>
            <a:r>
              <a:rPr lang="en-US" altLang="ko-KR" dirty="0"/>
              <a:t>, </a:t>
            </a:r>
            <a:r>
              <a:rPr lang="ko-KR" altLang="en-US" dirty="0"/>
              <a:t>실행 조건</a:t>
            </a:r>
            <a:r>
              <a:rPr lang="en-US" altLang="ko-KR" dirty="0"/>
              <a:t>, </a:t>
            </a:r>
            <a:r>
              <a:rPr lang="ko-KR" altLang="en-US" dirty="0"/>
              <a:t>기대 결과 이렇게 </a:t>
            </a:r>
            <a:r>
              <a:rPr lang="en-US" altLang="ko-KR" dirty="0"/>
              <a:t>3</a:t>
            </a:r>
            <a:r>
              <a:rPr lang="ko-KR" altLang="en-US" dirty="0"/>
              <a:t>가지다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2564D-85EB-450B-AD1D-3C14EF270C17}"/>
              </a:ext>
            </a:extLst>
          </p:cNvPr>
          <p:cNvSpPr txBox="1"/>
          <p:nvPr/>
        </p:nvSpPr>
        <p:spPr>
          <a:xfrm>
            <a:off x="569749" y="2510039"/>
            <a:ext cx="6492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8. </a:t>
            </a:r>
            <a:r>
              <a:rPr lang="ko-KR" altLang="en-US" dirty="0"/>
              <a:t>결함보고서에 포함되어야 할 항목을 </a:t>
            </a:r>
            <a:r>
              <a:rPr lang="en-US" altLang="ko-KR" dirty="0"/>
              <a:t>3</a:t>
            </a:r>
            <a:r>
              <a:rPr lang="ko-KR" altLang="en-US" dirty="0"/>
              <a:t>가지 이상 말할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77266-72E0-4737-80DF-B2A7AEE9624F}"/>
              </a:ext>
            </a:extLst>
          </p:cNvPr>
          <p:cNvSpPr txBox="1"/>
          <p:nvPr/>
        </p:nvSpPr>
        <p:spPr>
          <a:xfrm>
            <a:off x="566164" y="3628702"/>
            <a:ext cx="451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9. CI(</a:t>
            </a:r>
            <a:r>
              <a:rPr lang="ko-KR" altLang="en-US" dirty="0"/>
              <a:t>지속적 통합</a:t>
            </a:r>
            <a:r>
              <a:rPr lang="en-US" altLang="ko-KR" dirty="0"/>
              <a:t>)</a:t>
            </a:r>
            <a:r>
              <a:rPr lang="ko-KR" altLang="en-US" dirty="0"/>
              <a:t>의 개념을 설명할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4BE33-DD88-429D-A442-7384FA40F8AD}"/>
              </a:ext>
            </a:extLst>
          </p:cNvPr>
          <p:cNvSpPr txBox="1"/>
          <p:nvPr/>
        </p:nvSpPr>
        <p:spPr>
          <a:xfrm>
            <a:off x="569749" y="5106031"/>
            <a:ext cx="500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블랙박스 테스트가 무엇인지 설명할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04124-80B5-4278-B527-20C334853C0B}"/>
              </a:ext>
            </a:extLst>
          </p:cNvPr>
          <p:cNvSpPr txBox="1"/>
          <p:nvPr/>
        </p:nvSpPr>
        <p:spPr>
          <a:xfrm>
            <a:off x="629653" y="2838538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/>
              <a:t>결함</a:t>
            </a:r>
            <a:r>
              <a:rPr lang="en-US" altLang="ko-KR" dirty="0"/>
              <a:t>ID, </a:t>
            </a: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재현 절차</a:t>
            </a:r>
            <a:r>
              <a:rPr lang="en-US" altLang="ko-KR" dirty="0"/>
              <a:t>, </a:t>
            </a:r>
            <a:r>
              <a:rPr lang="ko-KR" altLang="en-US" dirty="0"/>
              <a:t>기대</a:t>
            </a:r>
            <a:r>
              <a:rPr lang="en-US" altLang="ko-KR" dirty="0"/>
              <a:t>/</a:t>
            </a:r>
            <a:r>
              <a:rPr lang="ko-KR" altLang="en-US" dirty="0"/>
              <a:t>실제 결과</a:t>
            </a:r>
            <a:r>
              <a:rPr lang="en-US" altLang="ko-KR" dirty="0"/>
              <a:t>, </a:t>
            </a:r>
            <a:r>
              <a:rPr lang="ko-KR" altLang="en-US" dirty="0"/>
              <a:t>심각도</a:t>
            </a:r>
            <a:r>
              <a:rPr lang="en-US" altLang="ko-KR" dirty="0"/>
              <a:t>, </a:t>
            </a:r>
            <a:r>
              <a:rPr lang="ko-KR" altLang="en-US" dirty="0"/>
              <a:t>우선순위 이런 것들이 들어가야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7F340-27FE-453F-A8D2-B9D909BBBFFE}"/>
              </a:ext>
            </a:extLst>
          </p:cNvPr>
          <p:cNvSpPr txBox="1"/>
          <p:nvPr/>
        </p:nvSpPr>
        <p:spPr>
          <a:xfrm>
            <a:off x="629653" y="4056233"/>
            <a:ext cx="6104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CI</a:t>
            </a:r>
            <a:r>
              <a:rPr lang="ko-KR" altLang="en-US" dirty="0"/>
              <a:t>는 코드를 자주 공유 저장소에 합치면서</a:t>
            </a:r>
            <a:r>
              <a:rPr lang="en-US" altLang="ko-KR" dirty="0"/>
              <a:t>, </a:t>
            </a:r>
            <a:r>
              <a:rPr lang="ko-KR" altLang="en-US" dirty="0"/>
              <a:t>그때마다 자동으로 빌드하고 테스트해서 문제를 빨리 찾아내는 방식이다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DF212-EF3D-4857-BED1-8EA2EC199137}"/>
              </a:ext>
            </a:extLst>
          </p:cNvPr>
          <p:cNvSpPr txBox="1"/>
          <p:nvPr/>
        </p:nvSpPr>
        <p:spPr>
          <a:xfrm>
            <a:off x="566164" y="5554759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답</a:t>
            </a:r>
            <a:r>
              <a:rPr lang="en-US" altLang="ko-KR" dirty="0"/>
              <a:t>: </a:t>
            </a:r>
            <a:r>
              <a:rPr lang="ko-KR" altLang="en-US" dirty="0"/>
              <a:t>블랙박스 테스트는 내부 코드는 모른 채로 </a:t>
            </a:r>
            <a:r>
              <a:rPr lang="ko-KR" altLang="en-US" dirty="0" err="1"/>
              <a:t>입력넣었을때</a:t>
            </a:r>
            <a:r>
              <a:rPr lang="ko-KR" altLang="en-US" dirty="0"/>
              <a:t> 출력이 요구사항대로 </a:t>
            </a:r>
            <a:r>
              <a:rPr lang="ko-KR" altLang="en-US" dirty="0" err="1"/>
              <a:t>나오는지만</a:t>
            </a:r>
            <a:r>
              <a:rPr lang="ko-KR" altLang="en-US" dirty="0"/>
              <a:t> 보고 판단하는 테스트다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53E1E0-F404-47F7-82E7-06428118EDEE}"/>
              </a:ext>
            </a:extLst>
          </p:cNvPr>
          <p:cNvSpPr txBox="1"/>
          <p:nvPr/>
        </p:nvSpPr>
        <p:spPr>
          <a:xfrm>
            <a:off x="310440" y="104647"/>
            <a:ext cx="253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</a:p>
          <a:p>
            <a:r>
              <a:rPr lang="en-US" altLang="ko-KR" dirty="0" err="1"/>
              <a:t>Pytest</a:t>
            </a:r>
            <a:r>
              <a:rPr lang="ko-KR" altLang="en-US" dirty="0"/>
              <a:t> 테스트 코드 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82E73D-85DC-410A-8B96-5A4B7138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4" y="1103315"/>
            <a:ext cx="8287907" cy="34432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A1AB44C-2882-4148-A420-416C6BA0D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14" y="4708201"/>
            <a:ext cx="10648218" cy="139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3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3A5209-D998-4415-8BA3-4DCF8C63E05E}"/>
              </a:ext>
            </a:extLst>
          </p:cNvPr>
          <p:cNvSpPr txBox="1"/>
          <p:nvPr/>
        </p:nvSpPr>
        <p:spPr>
          <a:xfrm>
            <a:off x="427838" y="201336"/>
            <a:ext cx="1853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2</a:t>
            </a:r>
          </a:p>
          <a:p>
            <a:r>
              <a:rPr lang="ko-KR" altLang="en-US" dirty="0"/>
              <a:t>결함보고서 작성</a:t>
            </a:r>
            <a:endParaRPr lang="en-US" altLang="ko-KR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70AAB83B-DC15-47E1-BAFE-732ED6B3A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35361"/>
              </p:ext>
            </p:extLst>
          </p:nvPr>
        </p:nvGraphicFramePr>
        <p:xfrm>
          <a:off x="427838" y="1072004"/>
          <a:ext cx="8128000" cy="28651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305108">
                  <a:extLst>
                    <a:ext uri="{9D8B030D-6E8A-4147-A177-3AD203B41FA5}">
                      <a16:colId xmlns:a16="http://schemas.microsoft.com/office/drawing/2014/main" val="4027183216"/>
                    </a:ext>
                  </a:extLst>
                </a:gridCol>
                <a:gridCol w="5822892">
                  <a:extLst>
                    <a:ext uri="{9D8B030D-6E8A-4147-A177-3AD203B41FA5}">
                      <a16:colId xmlns:a16="http://schemas.microsoft.com/office/drawing/2014/main" val="1134625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/>
                        <a:t>결함 </a:t>
                      </a:r>
                      <a:r>
                        <a:rPr lang="en-US" altLang="ko-KR" b="0" dirty="0"/>
                        <a:t>ID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Test-001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75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결함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중복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으로 도서 등록 시 </a:t>
                      </a:r>
                      <a:r>
                        <a:rPr lang="en-US" altLang="ko-KR" dirty="0"/>
                        <a:t>500 </a:t>
                      </a:r>
                      <a:r>
                        <a:rPr lang="ko-KR" altLang="en-US" dirty="0"/>
                        <a:t>에러 발생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재현 절차</a:t>
                      </a:r>
                      <a:r>
                        <a:rPr lang="en-US" altLang="ko-KR" dirty="0"/>
                        <a:t>(3</a:t>
                      </a:r>
                      <a:r>
                        <a:rPr lang="ko-KR" altLang="en-US" dirty="0"/>
                        <a:t>단계 이상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1) </a:t>
                      </a:r>
                      <a:r>
                        <a:rPr lang="ko-KR" altLang="en-US" dirty="0"/>
                        <a:t>정상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으로 도서 등록 요청 </a:t>
                      </a:r>
                      <a:r>
                        <a:rPr lang="en-US" altLang="ko-KR" dirty="0"/>
                        <a:t>2) </a:t>
                      </a:r>
                      <a:r>
                        <a:rPr lang="ko-KR" altLang="en-US" dirty="0"/>
                        <a:t>동일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으로 재등록 요청 </a:t>
                      </a:r>
                      <a:r>
                        <a:rPr lang="en-US" altLang="ko-KR" dirty="0"/>
                        <a:t>3) </a:t>
                      </a:r>
                      <a:r>
                        <a:rPr lang="ko-KR" altLang="en-US" dirty="0"/>
                        <a:t>응답 상태코드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본문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470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기대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409 Conflict + "</a:t>
                      </a:r>
                      <a:r>
                        <a:rPr lang="ko-KR" altLang="en-US" dirty="0"/>
                        <a:t>이미 등록된 </a:t>
                      </a:r>
                      <a:r>
                        <a:rPr lang="en-US" altLang="ko-KR" dirty="0"/>
                        <a:t>ISBN</a:t>
                      </a:r>
                      <a:r>
                        <a:rPr lang="ko-KR" altLang="en-US" dirty="0"/>
                        <a:t>입니다</a:t>
                      </a:r>
                      <a:r>
                        <a:rPr lang="en-US" altLang="ko-KR" dirty="0"/>
                        <a:t>" </a:t>
                      </a:r>
                      <a:r>
                        <a:rPr lang="ko-KR" altLang="en-US" dirty="0"/>
                        <a:t>메시지 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201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 Internal Server Error </a:t>
                      </a:r>
                      <a:r>
                        <a:rPr lang="ko-KR" altLang="en-US" dirty="0"/>
                        <a:t>반환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80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심각도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중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94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우선순위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상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중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520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407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44488-A948-472C-BE63-1C8A96DC82B6}"/>
              </a:ext>
            </a:extLst>
          </p:cNvPr>
          <p:cNvSpPr txBox="1"/>
          <p:nvPr/>
        </p:nvSpPr>
        <p:spPr>
          <a:xfrm>
            <a:off x="335559" y="201336"/>
            <a:ext cx="2137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3</a:t>
            </a:r>
          </a:p>
          <a:p>
            <a:r>
              <a:rPr lang="ko-KR" altLang="en-US" dirty="0"/>
              <a:t>테스트 케이스 설계</a:t>
            </a:r>
            <a:endParaRPr lang="en-US" altLang="ko-KR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11D3D383-AC2E-4C8E-A93E-5DDF212B7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861640"/>
              </p:ext>
            </p:extLst>
          </p:nvPr>
        </p:nvGraphicFramePr>
        <p:xfrm>
          <a:off x="359792" y="1211990"/>
          <a:ext cx="10361338" cy="20167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69971">
                  <a:extLst>
                    <a:ext uri="{9D8B030D-6E8A-4147-A177-3AD203B41FA5}">
                      <a16:colId xmlns:a16="http://schemas.microsoft.com/office/drawing/2014/main" val="3627411377"/>
                    </a:ext>
                  </a:extLst>
                </a:gridCol>
                <a:gridCol w="1946315">
                  <a:extLst>
                    <a:ext uri="{9D8B030D-6E8A-4147-A177-3AD203B41FA5}">
                      <a16:colId xmlns:a16="http://schemas.microsoft.com/office/drawing/2014/main" val="539200311"/>
                    </a:ext>
                  </a:extLst>
                </a:gridCol>
                <a:gridCol w="3324722">
                  <a:extLst>
                    <a:ext uri="{9D8B030D-6E8A-4147-A177-3AD203B41FA5}">
                      <a16:colId xmlns:a16="http://schemas.microsoft.com/office/drawing/2014/main" val="3937032970"/>
                    </a:ext>
                  </a:extLst>
                </a:gridCol>
                <a:gridCol w="3292292">
                  <a:extLst>
                    <a:ext uri="{9D8B030D-6E8A-4147-A177-3AD203B41FA5}">
                      <a16:colId xmlns:a16="http://schemas.microsoft.com/office/drawing/2014/main" val="3587349154"/>
                    </a:ext>
                  </a:extLst>
                </a:gridCol>
                <a:gridCol w="1028038">
                  <a:extLst>
                    <a:ext uri="{9D8B030D-6E8A-4147-A177-3AD203B41FA5}">
                      <a16:colId xmlns:a16="http://schemas.microsoft.com/office/drawing/2014/main" val="21579542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입력값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기대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Pass/Fail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3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abcdefgh</a:t>
                      </a:r>
                      <a:r>
                        <a:rPr lang="en-US" altLang="ko-KR" dirty="0"/>
                        <a:t> (8</a:t>
                      </a:r>
                      <a:r>
                        <a:rPr lang="ko-KR" altLang="en-US" dirty="0"/>
                        <a:t>자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가입 성공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가입 성공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947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abcdefg</a:t>
                      </a:r>
                      <a:r>
                        <a:rPr lang="en-US" altLang="ko-KR" dirty="0"/>
                        <a:t> (7</a:t>
                      </a:r>
                      <a:r>
                        <a:rPr lang="ko-KR" altLang="en-US" dirty="0"/>
                        <a:t>자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이상이어야 합니다</a:t>
                      </a:r>
                      <a:r>
                        <a:rPr lang="en-US" altLang="ko-KR" dirty="0"/>
                        <a:t>"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이상이어야 합니다</a:t>
                      </a:r>
                      <a:r>
                        <a:rPr lang="en-US" altLang="ko-KR" dirty="0"/>
                        <a:t>"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75178"/>
                  </a:ext>
                </a:extLst>
              </a:tr>
              <a:tr h="2711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"" (</a:t>
                      </a:r>
                      <a:r>
                        <a:rPr lang="ko-KR" altLang="en-US" dirty="0"/>
                        <a:t>빈 문자열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이상이어야 합니다</a:t>
                      </a:r>
                      <a:r>
                        <a:rPr lang="en-US" altLang="ko-KR" dirty="0"/>
                        <a:t>"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비밀번호는 </a:t>
                      </a:r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자 이상이어야 합니다</a:t>
                      </a:r>
                      <a:r>
                        <a:rPr lang="en-US" altLang="ko-KR" dirty="0"/>
                        <a:t>"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64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54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521</Words>
  <Application>Microsoft Office PowerPoint</Application>
  <PresentationFormat>와이드스크린</PresentationFormat>
  <Paragraphs>71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35</cp:revision>
  <dcterms:created xsi:type="dcterms:W3CDTF">2026-03-10T17:23:29Z</dcterms:created>
  <dcterms:modified xsi:type="dcterms:W3CDTF">2026-09-11T01:10:26Z</dcterms:modified>
</cp:coreProperties>
</file>