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embeddedFontLst>
    <p:embeddedFont>
      <p:font typeface="Gong Gothic Light" panose="020B0600000101010101" charset="-127"/>
      <p:regular r:id="rId16"/>
    </p:embeddedFont>
    <p:embeddedFont>
      <p:font typeface="Gong Gothic Medium" panose="020B0600000101010101" charset="-127"/>
      <p:bold r:id="rId17"/>
    </p:embeddedFont>
    <p:embeddedFont>
      <p:font typeface="Pretendard Light" panose="020B0600000101010101" charset="-127"/>
      <p:regular r:id="rId18"/>
    </p:embeddedFont>
    <p:embeddedFont>
      <p:font typeface="Pretendard Regular" panose="020B0600000101010101" charset="-127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 Bold" panose="020B0600000101010101" charset="0"/>
      <p:bold r:id="rId24"/>
    </p:embeddedFont>
    <p:embeddedFont>
      <p:font typeface="Montserrat Regular" panose="020B0600000101010101" charset="0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B21DF-F92D-4F2B-BE0E-4D717A0EE7E0}" type="datetimeFigureOut">
              <a:rPr lang="ko-KR" altLang="en-US" smtClean="0"/>
              <a:t>2026-08-11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3F808-17C9-401B-9BA9-216BFA330BC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30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3F808-17C9-401B-9BA9-216BFA330BC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0145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1.png"/><Relationship Id="rId4" Type="http://schemas.openxmlformats.org/officeDocument/2006/relationships/image" Target="../media/image15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20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62000"/>
            <a:ext cx="18046700" cy="1220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113000" y="10604500"/>
            <a:ext cx="2908300" cy="7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0680700"/>
            <a:ext cx="8280400" cy="227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10680700"/>
            <a:ext cx="82804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4500" y="8572500"/>
            <a:ext cx="17526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16040100" y="11645900"/>
            <a:ext cx="990600" cy="99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51000"/>
          </a:blip>
          <a:stretch>
            <a:fillRect/>
          </a:stretch>
        </p:blipFill>
        <p:spPr>
          <a:xfrm>
            <a:off x="9436100" y="10198100"/>
            <a:ext cx="9906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6300" y="105537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0300" y="11988800"/>
            <a:ext cx="317500" cy="31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13000" y="114681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7100" y="108077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7600" y="118999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00" y="11798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52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49600" y="8699500"/>
            <a:ext cx="1371600" cy="508000"/>
          </a:xfrm>
          <a:prstGeom prst="rect">
            <a:avLst/>
          </a:prstGeom>
        </p:spPr>
        <p:txBody>
          <a:bodyPr lIns="0" tIns="1693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Medium"/>
                <a:ea typeface="Gong Gothic Medium"/>
                <a:cs typeface="Gong Gothic Medium"/>
              </a:rPr>
              <a:t>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720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1400" y="107823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8800" y="101092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E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43700" y="749300"/>
            <a:ext cx="4330700" cy="1220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37400" y="2667000"/>
            <a:ext cx="3581400" cy="914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0104100" y="2870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104100" y="3708400"/>
            <a:ext cx="29718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김동욱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김수완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홍은경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50100" y="5397500"/>
            <a:ext cx="3581400" cy="914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116800" y="5562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평가일시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116800" y="645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2026-08-11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3900" y="1892300"/>
            <a:ext cx="16230600" cy="1447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빅데이터 분석 모델링 및 시스템 개발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93900" y="5600700"/>
            <a:ext cx="111125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OPS 예측 머신러닝 회귀 모델 개발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14600" y="8140700"/>
            <a:ext cx="2603500" cy="317500"/>
          </a:xfrm>
          <a:prstGeom prst="rect">
            <a:avLst/>
          </a:prstGeom>
        </p:spPr>
        <p:txBody>
          <a:bodyPr lIns="0" tIns="1016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600" b="0" i="0" u="none" strike="noStrike" spc="-100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예측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26300" y="1193800"/>
            <a:ext cx="1104900" cy="1104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0" y="7264400"/>
            <a:ext cx="3581400" cy="914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078700" y="742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branch 이름(영문)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04100" y="842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3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Ho</a:t>
            </a:r>
            <a:r>
              <a:rPr lang="en-US" sz="2663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ng EunKyeong</a:t>
            </a:r>
            <a:endParaRPr lang="en-US" sz="2663" b="0" i="0" u="none" strike="noStrike" dirty="0">
              <a:solidFill>
                <a:srgbClr val="595959"/>
              </a:solidFill>
              <a:latin typeface="Gong Gothic Light"/>
              <a:ea typeface="Gong Gothic Light"/>
              <a:cs typeface="Gong Gothic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3086100" y="7429500"/>
            <a:ext cx="76581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5400000">
            <a:off x="9080500" y="7404100"/>
            <a:ext cx="7645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695700"/>
            <a:ext cx="685800" cy="685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695700"/>
            <a:ext cx="685800" cy="68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5565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7900" y="3695700"/>
            <a:ext cx="685800" cy="685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90600" y="3784600"/>
            <a:ext cx="6477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8300" y="10058400"/>
            <a:ext cx="1422400" cy="142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7100" y="10058400"/>
            <a:ext cx="14224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54600" y="10058400"/>
            <a:ext cx="1422400" cy="142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00200" y="47117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문제 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0500" y="5562600"/>
            <a:ext cx="44958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OPS는 타자의 공격력을 종합적으로 평가하는 대표적인 지표이다.
하지만 경기 전에는 OPS를 알 수 없으므로, 선수의 기본 타격 기록을 이용하여 OPS를 예측할 수 있는 머신러닝 모델을 개발하고자 한다.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42200" y="5562600"/>
            <a:ext cx="4394200" cy="264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기록을 활용하여 OPS를 예측하고, 어떤 기록이 OPS에 가장 큰 영향을 미치는지 분석한다.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목적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79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설정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77900" y="5562600"/>
            <a:ext cx="42164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 예측에 유의한 영향을 미친다.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가설 :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vs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귀무가설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대립가설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OPS예측에 유의한 영향을 미치지 않는다.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기본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기록은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OPS예측에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유의한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영향을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미친다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검정방법 : p-value &lt; 0.05 기준 판정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변수 정의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독립변수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정속변수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OPS(출루율 + 장타율)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제외 변수 : 출루율(OBP), 장타율(SLG) -&gt; OPS 계산식에 직접 사용되는 변수이므로 제외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6311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69850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안타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2루타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3루타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721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볼넷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2100" y="63246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삼진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721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0" y="69977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도루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721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득점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8978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홈런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878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유형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독립변수 - 수치형(비율척도)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종속변수 - 수치형(연속형)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결측치, 이상치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분할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Train   80% / Test   20%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교차검증 여부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O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5-Fold Cross Validation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train_test_split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test_size=0.2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random_state=42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목적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모델의 일반화 성능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데이터 분할에 따른 성능 편차 감소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구분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내용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비고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29700" y="12052300"/>
            <a:ext cx="14986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800" y="3365500"/>
            <a:ext cx="10579100" cy="7937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이상치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06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3238500"/>
            <a:ext cx="10693400" cy="8013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변수 분포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07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3200400"/>
            <a:ext cx="9575800" cy="8293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상관관계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 - 선정 이유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선정 근거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변수 간 선형 관계 확인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결과 해석이 쉬움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기준(Baseline) 모델로 활용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비선형 관계 학습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변수 간 복잡한 관계를 잘 반영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과적합을 완화하는 앙상블 모델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사용 모델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선형회귀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 Regressor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08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87900"/>
            <a:ext cx="16116300" cy="650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80200" y="4152900"/>
            <a:ext cx="65532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Random Forest 변수 중요도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09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성능 평가 결과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2622"/>
              </p:ext>
            </p:extLst>
          </p:nvPr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MAE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0.0375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0.0531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RMSE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0.0541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0.0630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R² Score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0.7425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0.6513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848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결과 해석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 선형회귀가 Random Forest보다 더 </a:t>
                      </a:r>
                      <a:r>
                        <a:rPr lang="en-US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높은 </a:t>
                      </a:r>
                      <a:r>
                        <a:rPr lang="en-US" altLang="ko-KR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+mn-cs"/>
                        </a:rPr>
                        <a:t>R²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를 기록했다.  OPS-타격기록 관계가 상당히 선형적이라,</a:t>
                      </a:r>
                      <a:endParaRPr lang="en-US" sz="1100" dirty="0"/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복잡한 모델이 오히려 과적합했을 가능성이 있다.
- 회귀계수·변수중요도 모두 홈런·2루타·타점 등 장타력 지표가 OPS 예측에 핵심적이라는 결론이 일치한다.
- 가설 검정 결론: 타자의 기본 기록은 OPS 예측에 유의한 영향을 미친다.</a:t>
                      </a:r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 → 귀무가설(H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기각, 대립가설(H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채택.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Linear Regression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10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5664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588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팀원별 담당 역할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15038"/>
              </p:ext>
            </p:extLst>
          </p:nvPr>
        </p:nvGraphicFramePr>
        <p:xfrm>
          <a:off x="876300" y="3987800"/>
          <a:ext cx="18008908" cy="9575009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김동욱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Streamlit으로 프론트엔드 (Frontend) 작업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김수완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전반적인 백엔드 (Backend) 작업 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및 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ppt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작성</a:t>
                      </a:r>
                      <a:endParaRPr lang="en-US" sz="2666" b="0" i="0" u="none" strike="noStrike" dirty="0">
                        <a:solidFill>
                          <a:srgbClr val="595959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홍은경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팀원 역할 분담 및 README.md 작성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프로젝트가 잘 수행될 수 있도록 팀원 간의 역할을 조정하고 작업이 진행되는 전반적인 사항들을 검토하고 조율하였다</a:t>
                      </a:r>
                      <a:r>
                        <a:rPr lang="en-US" altLang="ko-KR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 </a:t>
                      </a:r>
                    </a:p>
                    <a:p>
                      <a:pPr lvl="0" algn="just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차후 모아진 정보들을 대상으로  </a:t>
                      </a:r>
                      <a:r>
                        <a:rPr lang="en-US" altLang="ko-KR" sz="28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README.md</a:t>
                      </a:r>
                      <a:r>
                        <a:rPr lang="ko-KR" altLang="en-US" sz="28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을 작성하였다</a:t>
                      </a:r>
                      <a:r>
                        <a:rPr lang="en-US" altLang="ko-KR" sz="28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 </a:t>
                      </a:r>
                    </a:p>
                    <a:p>
                      <a:pPr lvl="0" algn="just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팀원들의 잘 하고 싶은 마음이 간절한 탓인지 수십차례의 수정이 이루어지고서 완성이 될 수 있었다</a:t>
                      </a:r>
                      <a:r>
                        <a:rPr lang="en-US" altLang="ko-KR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 </a:t>
                      </a:r>
                      <a:r>
                        <a:rPr lang="ko-KR" altLang="en-US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처음보다는 팀 워크이 많이 좋아진 것 같다</a:t>
                      </a:r>
                      <a:r>
                        <a:rPr lang="en-US" altLang="ko-KR" sz="2673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</a:t>
                      </a:r>
                      <a:endParaRPr lang="en-US" sz="2673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공동 수행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 분리 방법 및 프론트앤드 내용에 관한 전반적인 의견 조, 서로의 결과물에 대한 피드백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683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개인별 파트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3400" y="3187700"/>
            <a:ext cx="828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소감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0" y="6680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6896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팀원별 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5803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50B9B-AB9B-4E68-B215-87D3063883F2}"/>
              </a:ext>
            </a:extLst>
          </p:cNvPr>
          <p:cNvSpPr txBox="1"/>
          <p:nvPr/>
        </p:nvSpPr>
        <p:spPr>
          <a:xfrm>
            <a:off x="6591300" y="3687901"/>
            <a:ext cx="11201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0" dirty="0"/>
              <a:t>The End</a:t>
            </a:r>
            <a:endParaRPr lang="ko-KR" altLang="en-US" sz="20000" dirty="0"/>
          </a:p>
        </p:txBody>
      </p:sp>
    </p:spTree>
    <p:extLst>
      <p:ext uri="{BB962C8B-B14F-4D97-AF65-F5344CB8AC3E}">
        <p14:creationId xmlns:p14="http://schemas.microsoft.com/office/powerpoint/2010/main" val="96915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702</Words>
  <Application>Microsoft Office PowerPoint</Application>
  <PresentationFormat>사용자 지정</PresentationFormat>
  <Paragraphs>210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Pretendard Light</vt:lpstr>
      <vt:lpstr>Calibri</vt:lpstr>
      <vt:lpstr>Pretendard Regular</vt:lpstr>
      <vt:lpstr>Gong Gothic Light</vt:lpstr>
      <vt:lpstr>Montserrat Regular</vt:lpstr>
      <vt:lpstr>맑은 고딕</vt:lpstr>
      <vt:lpstr>Gong Gothic Medium</vt:lpstr>
      <vt:lpstr>Arial</vt:lpstr>
      <vt:lpstr>Montserrat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8</cp:revision>
  <dcterms:created xsi:type="dcterms:W3CDTF">2006-08-16T00:00:00Z</dcterms:created>
  <dcterms:modified xsi:type="dcterms:W3CDTF">2026-08-11T07:00:00Z</dcterms:modified>
</cp:coreProperties>
</file>