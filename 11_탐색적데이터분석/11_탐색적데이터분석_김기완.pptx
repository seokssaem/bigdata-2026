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343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7FCEC0-9BF7-C7AB-2E28-BF9358ECB10A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A3C5D1-F241-4B07-65D0-0487E88E244A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5">
            <a:extLst>
              <a:ext uri="{FF2B5EF4-FFF2-40B4-BE49-F238E27FC236}">
                <a16:creationId xmlns:a16="http://schemas.microsoft.com/office/drawing/2014/main" id="{A3EFE6F8-DA1A-85A4-6F9E-896D0BB01EE1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5B82CC4B-4723-62DA-34D4-85571F3B4C25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</a:t>
            </a:r>
            <a:r>
              <a:rPr lang="ko-KR" alt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탐색적 데이터 분석</a:t>
            </a:r>
            <a:endParaRPr lang="en-US" sz="800" dirty="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604F34FF-DD31-5BC2-53F0-68A043D0CAAC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93079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</a:t>
            </a:r>
            <a:r>
              <a:rPr lang="en-US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김기완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2026-07-28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7764" y="4892039"/>
            <a:ext cx="11274552" cy="1242061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3"/>
          <p:cNvSpPr/>
          <p:nvPr/>
        </p:nvSpPr>
        <p:spPr>
          <a:xfrm>
            <a:off x="539496" y="4936207"/>
            <a:ext cx="10972800" cy="641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base" latinLnBrk="1"/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sz="1100" b="1" dirty="0">
                <a:solidFill>
                  <a:srgbClr val="1F3864"/>
                </a:solidFill>
                <a:latin typeface="Consolas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탐색적데이터분석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_이름.pptx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README.md, </a:t>
            </a:r>
            <a:r>
              <a:rPr lang="en-US" altLang="ko-KR" sz="1100" dirty="0" err="1">
                <a:solidFill>
                  <a:srgbClr val="1F3864"/>
                </a:solidFill>
                <a:latin typeface="Consolas" pitchFamily="34" charset="0"/>
              </a:rPr>
              <a:t>ipynb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파일</a:t>
            </a:r>
            <a:endParaRPr lang="en-US" altLang="ko-KR" sz="1100" dirty="0">
              <a:solidFill>
                <a:srgbClr val="1F3864"/>
              </a:solidFill>
              <a:latin typeface="Consolas" pitchFamily="34" charset="0"/>
            </a:endParaRPr>
          </a:p>
          <a:p>
            <a:pPr fontAlgn="base" latinLnBrk="1"/>
            <a:endParaRPr lang="en-US" altLang="ko-KR" sz="1100" dirty="0">
              <a:solidFill>
                <a:srgbClr val="1F3864"/>
              </a:solidFill>
              <a:latin typeface="Consolas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94360" y="5733795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BC81973-757D-485D-96FF-3696C0A0A77D}"/>
              </a:ext>
            </a:extLst>
          </p:cNvPr>
          <p:cNvGrpSpPr/>
          <p:nvPr/>
        </p:nvGrpSpPr>
        <p:grpSpPr>
          <a:xfrm>
            <a:off x="320040" y="502920"/>
            <a:ext cx="11564992" cy="2225950"/>
            <a:chOff x="320040" y="502920"/>
            <a:chExt cx="8503920" cy="1636776"/>
          </a:xfrm>
        </p:grpSpPr>
        <p:sp>
          <p:nvSpPr>
            <p:cNvPr id="23" name="Shape 0">
              <a:extLst>
                <a:ext uri="{FF2B5EF4-FFF2-40B4-BE49-F238E27FC236}">
                  <a16:creationId xmlns:a16="http://schemas.microsoft.com/office/drawing/2014/main" id="{E43AED38-6721-43F1-ADB5-9F80281533BE}"/>
                </a:ext>
              </a:extLst>
            </p:cNvPr>
            <p:cNvSpPr/>
            <p:nvPr/>
          </p:nvSpPr>
          <p:spPr>
            <a:xfrm>
              <a:off x="320040" y="502920"/>
              <a:ext cx="8391211" cy="1188720"/>
            </a:xfrm>
            <a:prstGeom prst="rect">
              <a:avLst/>
            </a:prstGeom>
            <a:solidFill>
              <a:srgbClr val="1B3060"/>
            </a:solidFill>
            <a:ln w="12700">
              <a:solidFill>
                <a:srgbClr val="1B3060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4" name="Text 1">
              <a:extLst>
                <a:ext uri="{FF2B5EF4-FFF2-40B4-BE49-F238E27FC236}">
                  <a16:creationId xmlns:a16="http://schemas.microsoft.com/office/drawing/2014/main" id="{B38B700B-665B-4954-A350-4E77CC95815B}"/>
                </a:ext>
              </a:extLst>
            </p:cNvPr>
            <p:cNvSpPr/>
            <p:nvPr/>
          </p:nvSpPr>
          <p:spPr>
            <a:xfrm>
              <a:off x="411480" y="548640"/>
              <a:ext cx="832104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ko-KR" alt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탐색적 데이터 분석</a:t>
              </a:r>
              <a:endParaRPr lang="en-US" sz="3400" dirty="0"/>
            </a:p>
          </p:txBody>
        </p:sp>
        <p:sp>
          <p:nvSpPr>
            <p:cNvPr id="25" name="Text 2">
              <a:extLst>
                <a:ext uri="{FF2B5EF4-FFF2-40B4-BE49-F238E27FC236}">
                  <a16:creationId xmlns:a16="http://schemas.microsoft.com/office/drawing/2014/main" id="{DF463385-4573-444B-A0C5-E828EF08007F}"/>
                </a:ext>
              </a:extLst>
            </p:cNvPr>
            <p:cNvSpPr/>
            <p:nvPr/>
          </p:nvSpPr>
          <p:spPr>
            <a:xfrm>
              <a:off x="411480" y="1097280"/>
              <a:ext cx="8321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kern="0" spc="300" dirty="0">
                  <a:solidFill>
                    <a:srgbClr val="CADCF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평 가 작 업 지 시 서</a:t>
              </a:r>
              <a:endParaRPr lang="en-US" sz="1600" dirty="0"/>
            </a:p>
          </p:txBody>
        </p:sp>
        <p:sp>
          <p:nvSpPr>
            <p:cNvPr id="26" name="Text 3">
              <a:extLst>
                <a:ext uri="{FF2B5EF4-FFF2-40B4-BE49-F238E27FC236}">
                  <a16:creationId xmlns:a16="http://schemas.microsoft.com/office/drawing/2014/main" id="{D719A7B1-B47A-4564-BE8B-9B7839CC1A15}"/>
                </a:ext>
              </a:extLst>
            </p:cNvPr>
            <p:cNvSpPr/>
            <p:nvPr/>
          </p:nvSpPr>
          <p:spPr>
            <a:xfrm>
              <a:off x="320040" y="1847088"/>
              <a:ext cx="850392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[2001010511_21v4]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B5A989-FD6C-4A3D-87AD-BB95DBEA0368}"/>
              </a:ext>
            </a:extLst>
          </p:cNvPr>
          <p:cNvSpPr txBox="1"/>
          <p:nvPr/>
        </p:nvSpPr>
        <p:spPr>
          <a:xfrm>
            <a:off x="4440196" y="276837"/>
            <a:ext cx="3161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0" i="0" dirty="0">
                <a:solidFill>
                  <a:srgbClr val="212529"/>
                </a:solidFill>
                <a:effectLst/>
                <a:latin typeface="ChosunGu"/>
              </a:rPr>
              <a:t>데이터 기초 특성 파악</a:t>
            </a:r>
            <a:endParaRPr lang="ko-KR" altLang="en-US" sz="2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6AEB2F7-886B-4474-AD97-A00E0B1A6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803" y="921210"/>
            <a:ext cx="1314633" cy="94310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31E46C6-D6B0-4EA4-BB07-C555C1404F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803" y="2286884"/>
            <a:ext cx="4483360" cy="25359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FA88176-CDB2-4C25-AFC8-E384951512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998210"/>
            <a:ext cx="6096000" cy="150717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90CF83F-2716-4424-9183-74D1046053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2765097"/>
            <a:ext cx="3610479" cy="205768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A31EFB8-EBB7-4F50-9C75-CCCC30E7772F}"/>
              </a:ext>
            </a:extLst>
          </p:cNvPr>
          <p:cNvSpPr txBox="1"/>
          <p:nvPr/>
        </p:nvSpPr>
        <p:spPr>
          <a:xfrm>
            <a:off x="2869035" y="5318728"/>
            <a:ext cx="70920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500</a:t>
            </a:r>
            <a:r>
              <a:rPr lang="ko-KR" altLang="en-US" dirty="0"/>
              <a:t>행 </a:t>
            </a:r>
            <a:r>
              <a:rPr lang="en-US" altLang="ko-KR" dirty="0"/>
              <a:t>11</a:t>
            </a:r>
            <a:r>
              <a:rPr lang="ko-KR" altLang="en-US" dirty="0"/>
              <a:t>열 </a:t>
            </a:r>
            <a:r>
              <a:rPr lang="en-US" altLang="ko-KR" dirty="0"/>
              <a:t>/ </a:t>
            </a:r>
            <a:r>
              <a:rPr lang="ko-KR" altLang="en-US" dirty="0"/>
              <a:t>수치형 </a:t>
            </a:r>
            <a:r>
              <a:rPr lang="en-US" altLang="ko-KR" dirty="0"/>
              <a:t>4</a:t>
            </a:r>
            <a:r>
              <a:rPr lang="ko-KR" altLang="en-US" dirty="0"/>
              <a:t>개</a:t>
            </a:r>
            <a:r>
              <a:rPr lang="en-US" altLang="ko-KR" dirty="0"/>
              <a:t>, </a:t>
            </a:r>
            <a:r>
              <a:rPr lang="ko-KR" altLang="en-US" dirty="0"/>
              <a:t>범주형 </a:t>
            </a:r>
            <a:r>
              <a:rPr lang="en-US" altLang="ko-KR" dirty="0"/>
              <a:t>5</a:t>
            </a:r>
            <a:r>
              <a:rPr lang="ko-KR" altLang="en-US" dirty="0"/>
              <a:t>개 </a:t>
            </a:r>
            <a:r>
              <a:rPr lang="en-US" altLang="ko-KR" dirty="0"/>
              <a:t>/ </a:t>
            </a:r>
            <a:r>
              <a:rPr lang="ko-KR" altLang="en-US" dirty="0"/>
              <a:t>거주지역은 서울</a:t>
            </a:r>
            <a:r>
              <a:rPr lang="en-US" altLang="ko-KR" dirty="0"/>
              <a:t>·</a:t>
            </a:r>
            <a:r>
              <a:rPr lang="ko-KR" altLang="en-US" dirty="0"/>
              <a:t>경기에 편중</a:t>
            </a:r>
          </a:p>
        </p:txBody>
      </p:sp>
    </p:spTree>
    <p:extLst>
      <p:ext uri="{BB962C8B-B14F-4D97-AF65-F5344CB8AC3E}">
        <p14:creationId xmlns:p14="http://schemas.microsoft.com/office/powerpoint/2010/main" val="4288695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5F2C53-619C-4715-A2CF-6387DB4A015F}"/>
              </a:ext>
            </a:extLst>
          </p:cNvPr>
          <p:cNvSpPr txBox="1"/>
          <p:nvPr/>
        </p:nvSpPr>
        <p:spPr>
          <a:xfrm>
            <a:off x="4440196" y="276837"/>
            <a:ext cx="28344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0" i="0" dirty="0" err="1">
                <a:solidFill>
                  <a:srgbClr val="212529"/>
                </a:solidFill>
                <a:effectLst/>
                <a:latin typeface="ChosunGu"/>
              </a:rPr>
              <a:t>단변량</a:t>
            </a:r>
            <a:r>
              <a:rPr lang="en-US" altLang="ko-KR" sz="2400" b="0" i="0" dirty="0">
                <a:solidFill>
                  <a:srgbClr val="212529"/>
                </a:solidFill>
                <a:effectLst/>
                <a:latin typeface="ChosunGu"/>
              </a:rPr>
              <a:t>/</a:t>
            </a:r>
            <a:r>
              <a:rPr lang="ko-KR" altLang="en-US" sz="2400" b="0" i="0" dirty="0">
                <a:solidFill>
                  <a:srgbClr val="212529"/>
                </a:solidFill>
                <a:effectLst/>
                <a:latin typeface="ChosunGu"/>
              </a:rPr>
              <a:t>분포 시각화</a:t>
            </a:r>
            <a:endParaRPr lang="ko-KR" altLang="en-US" sz="2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FEC701-F134-4EE2-8FE5-9A7A6B03C3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33" y="870153"/>
            <a:ext cx="4189218" cy="413857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4163CC6-24C4-4092-8DCD-529FF6B7FC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9251" y="738502"/>
            <a:ext cx="4240043" cy="413857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730DA13-2FE3-41BA-BDD5-BA29A76D97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8568" y="2200184"/>
            <a:ext cx="3255863" cy="73925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75277EB-EB86-49DB-8B77-8C98C7238665}"/>
              </a:ext>
            </a:extLst>
          </p:cNvPr>
          <p:cNvSpPr txBox="1"/>
          <p:nvPr/>
        </p:nvSpPr>
        <p:spPr>
          <a:xfrm>
            <a:off x="497379" y="5377127"/>
            <a:ext cx="11655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월평균구매금액 </a:t>
            </a:r>
            <a:r>
              <a:rPr lang="ko-KR" altLang="en-US" dirty="0" err="1"/>
              <a:t>왜도</a:t>
            </a:r>
            <a:r>
              <a:rPr lang="ko-KR" altLang="en-US" dirty="0"/>
              <a:t> </a:t>
            </a:r>
            <a:r>
              <a:rPr lang="en-US" altLang="ko-KR" dirty="0"/>
              <a:t>0.91</a:t>
            </a:r>
            <a:r>
              <a:rPr lang="ko-KR" altLang="en-US" dirty="0"/>
              <a:t>로 오른쪽 치우침 </a:t>
            </a:r>
            <a:r>
              <a:rPr lang="en-US" altLang="ko-KR" dirty="0"/>
              <a:t>/ </a:t>
            </a:r>
            <a:r>
              <a:rPr lang="ko-KR" altLang="en-US" dirty="0"/>
              <a:t>대부분 </a:t>
            </a:r>
            <a:r>
              <a:rPr lang="en-US" altLang="ko-KR" dirty="0"/>
              <a:t>5~15</a:t>
            </a:r>
            <a:r>
              <a:rPr lang="ko-KR" altLang="en-US" dirty="0" err="1"/>
              <a:t>만원대</a:t>
            </a:r>
            <a:r>
              <a:rPr lang="en-US" altLang="ko-KR" dirty="0"/>
              <a:t>, 20</a:t>
            </a:r>
            <a:r>
              <a:rPr lang="ko-KR" altLang="en-US" dirty="0"/>
              <a:t>만원 이상은 소수 </a:t>
            </a:r>
            <a:r>
              <a:rPr lang="en-US" altLang="ko-KR" dirty="0"/>
              <a:t>/ </a:t>
            </a:r>
            <a:r>
              <a:rPr lang="ko-KR" altLang="en-US" dirty="0"/>
              <a:t>거주지역은 서울</a:t>
            </a:r>
            <a:r>
              <a:rPr lang="en-US" altLang="ko-KR" dirty="0"/>
              <a:t>·</a:t>
            </a:r>
            <a:r>
              <a:rPr lang="ko-KR" altLang="en-US" dirty="0"/>
              <a:t>경기 편중</a:t>
            </a:r>
          </a:p>
        </p:txBody>
      </p:sp>
    </p:spTree>
    <p:extLst>
      <p:ext uri="{BB962C8B-B14F-4D97-AF65-F5344CB8AC3E}">
        <p14:creationId xmlns:p14="http://schemas.microsoft.com/office/powerpoint/2010/main" val="2391977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AF5508-C8F7-4C89-B62F-89DD05F9CCDB}"/>
              </a:ext>
            </a:extLst>
          </p:cNvPr>
          <p:cNvSpPr txBox="1"/>
          <p:nvPr/>
        </p:nvSpPr>
        <p:spPr>
          <a:xfrm>
            <a:off x="4440196" y="276837"/>
            <a:ext cx="3469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0" i="0" dirty="0">
                <a:solidFill>
                  <a:srgbClr val="212529"/>
                </a:solidFill>
                <a:effectLst/>
                <a:latin typeface="ChosunGu"/>
              </a:rPr>
              <a:t>상관관계 및 </a:t>
            </a:r>
            <a:r>
              <a:rPr lang="ko-KR" altLang="en-US" sz="2400" b="0" i="0" dirty="0" err="1">
                <a:solidFill>
                  <a:srgbClr val="212529"/>
                </a:solidFill>
                <a:effectLst/>
                <a:latin typeface="ChosunGu"/>
              </a:rPr>
              <a:t>이변량</a:t>
            </a:r>
            <a:r>
              <a:rPr lang="ko-KR" altLang="en-US" sz="2400" b="0" i="0" dirty="0">
                <a:solidFill>
                  <a:srgbClr val="212529"/>
                </a:solidFill>
                <a:effectLst/>
                <a:latin typeface="ChosunGu"/>
              </a:rPr>
              <a:t> 분석</a:t>
            </a:r>
            <a:endParaRPr lang="ko-KR" altLang="en-US" sz="24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EA73C42-A45D-474A-AE02-81FBBC91C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14" y="904764"/>
            <a:ext cx="3469219" cy="291930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4CEBB28-2123-4A9B-AD78-E46AD5C7B5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9773" y="829264"/>
            <a:ext cx="3629020" cy="308839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8799469-36FB-4C90-A9EE-46A54DC00C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8514" y="904764"/>
            <a:ext cx="3793486" cy="289519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0808C86-C3FF-4343-9175-E46DBB92DE33}"/>
              </a:ext>
            </a:extLst>
          </p:cNvPr>
          <p:cNvSpPr txBox="1"/>
          <p:nvPr/>
        </p:nvSpPr>
        <p:spPr>
          <a:xfrm>
            <a:off x="246050" y="4692770"/>
            <a:ext cx="120645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월평균구매금액</a:t>
            </a:r>
            <a:r>
              <a:rPr lang="en-US" altLang="ko-KR" dirty="0"/>
              <a:t>-</a:t>
            </a:r>
            <a:r>
              <a:rPr lang="ko-KR" altLang="en-US" dirty="0"/>
              <a:t>구매횟수 상관계수 </a:t>
            </a:r>
            <a:r>
              <a:rPr lang="en-US" altLang="ko-KR" dirty="0"/>
              <a:t>0.77</a:t>
            </a:r>
            <a:r>
              <a:rPr lang="ko-KR" altLang="en-US" dirty="0"/>
              <a:t>로 가장 높음 </a:t>
            </a:r>
            <a:r>
              <a:rPr lang="en-US" altLang="ko-KR" dirty="0"/>
              <a:t>/ </a:t>
            </a:r>
            <a:r>
              <a:rPr lang="ko-KR" altLang="en-US" dirty="0"/>
              <a:t>상관관계일 뿐 인과관계 아님 </a:t>
            </a:r>
            <a:r>
              <a:rPr lang="en-US" altLang="ko-KR" dirty="0"/>
              <a:t>/ </a:t>
            </a:r>
            <a:r>
              <a:rPr lang="ko-KR" altLang="en-US" dirty="0"/>
              <a:t>거주지역별 구매금액 차이 존재</a:t>
            </a:r>
          </a:p>
        </p:txBody>
      </p:sp>
    </p:spTree>
    <p:extLst>
      <p:ext uri="{BB962C8B-B14F-4D97-AF65-F5344CB8AC3E}">
        <p14:creationId xmlns:p14="http://schemas.microsoft.com/office/powerpoint/2010/main" val="1628966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429177-12D7-4F98-BCB3-28928515D40E}"/>
              </a:ext>
            </a:extLst>
          </p:cNvPr>
          <p:cNvSpPr txBox="1"/>
          <p:nvPr/>
        </p:nvSpPr>
        <p:spPr>
          <a:xfrm>
            <a:off x="3467073" y="276837"/>
            <a:ext cx="48381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0" i="0" dirty="0">
                <a:solidFill>
                  <a:srgbClr val="212529"/>
                </a:solidFill>
                <a:effectLst/>
                <a:latin typeface="ChosunGu"/>
              </a:rPr>
              <a:t>그룹별 비교 분석 및 인사이트 도출</a:t>
            </a:r>
            <a:endParaRPr lang="ko-KR" altLang="en-US" sz="2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074075F-8AAE-4D50-A72F-1C931BD41B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706" y="1019658"/>
            <a:ext cx="3896778" cy="32836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B5F8FFB-C20D-4DB7-9CCF-2B57E142581F}"/>
              </a:ext>
            </a:extLst>
          </p:cNvPr>
          <p:cNvSpPr txBox="1"/>
          <p:nvPr/>
        </p:nvSpPr>
        <p:spPr>
          <a:xfrm>
            <a:off x="833830" y="3705564"/>
            <a:ext cx="61744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VIP 17</a:t>
            </a:r>
            <a:r>
              <a:rPr lang="ko-KR" altLang="en-US" dirty="0"/>
              <a:t>만원 </a:t>
            </a:r>
            <a:r>
              <a:rPr lang="en-US" altLang="ko-KR" dirty="0"/>
              <a:t>vs </a:t>
            </a:r>
            <a:r>
              <a:rPr lang="ko-KR" altLang="en-US" dirty="0"/>
              <a:t>브론즈 </a:t>
            </a:r>
            <a:r>
              <a:rPr lang="en-US" altLang="ko-KR" dirty="0"/>
              <a:t>4.7</a:t>
            </a:r>
            <a:r>
              <a:rPr lang="ko-KR" altLang="en-US" dirty="0"/>
              <a:t>만원 </a:t>
            </a:r>
            <a:r>
              <a:rPr lang="en-US" altLang="ko-KR" dirty="0"/>
              <a:t>/ </a:t>
            </a:r>
            <a:r>
              <a:rPr lang="ko-KR" altLang="en-US" dirty="0"/>
              <a:t>등급 오를수록 구매금액↑ → 승급 유도 프로모션 효과적일 수 있음 </a:t>
            </a:r>
            <a:r>
              <a:rPr lang="en-US" altLang="ko-KR" dirty="0"/>
              <a:t>/ </a:t>
            </a:r>
            <a:r>
              <a:rPr lang="ko-KR" altLang="en-US" dirty="0"/>
              <a:t>같은 등급 내 이탈여부별 차이 있어 등급만으론 이탈 예측 부족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99D7FDD-040E-4621-BB4C-E4009761E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827" y="1019658"/>
            <a:ext cx="4010585" cy="194337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F2A7CDD-AE15-4625-8F17-FAE1D6BCE3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6875" y="1019658"/>
            <a:ext cx="3115110" cy="205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905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176</Words>
  <Application>Microsoft Office PowerPoint</Application>
  <PresentationFormat>와이드스크린</PresentationFormat>
  <Paragraphs>18</Paragraphs>
  <Slides>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1" baseType="lpstr">
      <vt:lpstr>ChosunGu</vt:lpstr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21</cp:revision>
  <dcterms:created xsi:type="dcterms:W3CDTF">2026-03-10T17:23:29Z</dcterms:created>
  <dcterms:modified xsi:type="dcterms:W3CDTF">2026-07-28T03:17:49Z</dcterms:modified>
</cp:coreProperties>
</file>