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Noto Sans KR" panose="020B0200000000000000" pitchFamily="50" charset="-127"/>
      <p:regular r:id="rId22"/>
      <p:bold r:id="rId23"/>
    </p:embeddedFont>
    <p:embeddedFont>
      <p:font typeface="Noto Sans Kr Bold" panose="020B0200000000000000" pitchFamily="50" charset="-127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8AF1"/>
    <a:srgbClr val="6557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0" y="2985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0F1226">
                    <a:alpha val="38000"/>
                  </a:srgbClr>
                </a:gs>
                <a:gs pos="55000">
                  <a:srgbClr val="0F1226">
                    <a:alpha val="30400"/>
                  </a:srgbClr>
                </a:gs>
                <a:gs pos="100000">
                  <a:srgbClr val="6557E8">
                    <a:alpha val="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3239750" y="904875"/>
            <a:ext cx="3714750" cy="5581650"/>
          </a:xfrm>
          <a:custGeom>
            <a:avLst/>
            <a:gdLst/>
            <a:ahLst/>
            <a:cxnLst/>
            <a:rect l="l" t="t" r="r" b="b"/>
            <a:pathLst>
              <a:path w="3714750" h="5581650">
                <a:moveTo>
                  <a:pt x="0" y="0"/>
                </a:moveTo>
                <a:lnTo>
                  <a:pt x="3714750" y="0"/>
                </a:lnTo>
                <a:lnTo>
                  <a:pt x="3714750" y="5581650"/>
                </a:lnTo>
                <a:lnTo>
                  <a:pt x="0" y="5581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9" b="-39"/>
            </a:stretch>
          </a:blipFill>
          <a:ln w="19050" cap="rnd">
            <a:solidFill>
              <a:srgbClr val="DCD8FF"/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1047750" y="2990850"/>
            <a:ext cx="10668000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0"/>
              </a:lnSpc>
            </a:pPr>
            <a:r>
              <a:rPr lang="en-US" sz="7500" b="1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MeetFlow AI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7750" y="4162425"/>
            <a:ext cx="8763000" cy="980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3150" b="1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AI 기반 스마트 회의록 생성 및</a:t>
            </a:r>
          </a:p>
          <a:p>
            <a:pPr algn="l">
              <a:lnSpc>
                <a:spcPts val="3937"/>
              </a:lnSpc>
            </a:pPr>
            <a:r>
              <a:rPr lang="en-US" sz="3150" b="1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협업 관리 플랫폼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7750" y="8143875"/>
            <a:ext cx="10477500" cy="38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 dirty="0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NCS </a:t>
            </a:r>
            <a:r>
              <a:rPr lang="en-US" sz="2250" dirty="0" err="1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빅데이터</a:t>
            </a:r>
            <a:r>
              <a:rPr lang="en-US" sz="2250" dirty="0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250" dirty="0" err="1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분석</a:t>
            </a:r>
            <a:r>
              <a:rPr lang="en-US" sz="2250" dirty="0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250" dirty="0" err="1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플랫폼</a:t>
            </a:r>
            <a:r>
              <a:rPr lang="en-US" sz="2250" dirty="0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250" dirty="0" err="1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개발자</a:t>
            </a:r>
            <a:r>
              <a:rPr lang="en-US" sz="2250" dirty="0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250" dirty="0" err="1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양성과정</a:t>
            </a:r>
            <a:r>
              <a:rPr lang="en-US" sz="2250" dirty="0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250" dirty="0" err="1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최종</a:t>
            </a:r>
            <a:r>
              <a:rPr lang="en-US" sz="2250" dirty="0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250" dirty="0" err="1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</a:t>
            </a:r>
            <a:endParaRPr lang="en-US" sz="2250" dirty="0">
              <a:solidFill>
                <a:srgbClr val="DCD8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49" y="709612"/>
            <a:ext cx="4956375" cy="1233487"/>
          </a:xfrm>
          <a:prstGeom prst="rect">
            <a:avLst/>
          </a:prstGeom>
        </p:spPr>
      </p:pic>
      <p:sp>
        <p:nvSpPr>
          <p:cNvPr id="12" name="TextBox 10"/>
          <p:cNvSpPr txBox="1"/>
          <p:nvPr/>
        </p:nvSpPr>
        <p:spPr>
          <a:xfrm>
            <a:off x="1028415" y="8724900"/>
            <a:ext cx="10477500" cy="386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ko-KR" altLang="en-US" sz="2250" dirty="0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조원</a:t>
            </a:r>
            <a:r>
              <a:rPr lang="en-US" altLang="ko-KR" sz="2250" dirty="0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: </a:t>
            </a:r>
            <a:r>
              <a:rPr lang="ko-KR" altLang="en-US" sz="2250" dirty="0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김시현</a:t>
            </a:r>
            <a:r>
              <a:rPr lang="en-US" altLang="ko-KR" sz="2250" dirty="0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sz="2250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홍은경</a:t>
            </a:r>
            <a:endParaRPr lang="en-US" sz="2250" dirty="0">
              <a:solidFill>
                <a:srgbClr val="DCD8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42950"/>
            <a:ext cx="14287500" cy="694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6"/>
              </a:lnSpc>
            </a:pPr>
            <a:r>
              <a:rPr lang="en-US" sz="4950" b="1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목차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47750" y="1457325"/>
            <a:ext cx="13811250" cy="38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MeetFlow AI의 문제 정의부터 구현·배포·확장까지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47750" y="2381250"/>
            <a:ext cx="7620000" cy="723900"/>
            <a:chOff x="0" y="0"/>
            <a:chExt cx="10160000" cy="96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160000" cy="965200"/>
            </a:xfrm>
            <a:custGeom>
              <a:avLst/>
              <a:gdLst/>
              <a:ahLst/>
              <a:cxnLst/>
              <a:rect l="l" t="t" r="r" b="b"/>
              <a:pathLst>
                <a:path w="10160000" h="965200">
                  <a:moveTo>
                    <a:pt x="0" y="0"/>
                  </a:moveTo>
                  <a:lnTo>
                    <a:pt x="10160000" y="0"/>
                  </a:lnTo>
                  <a:lnTo>
                    <a:pt x="10160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0160000" cy="1003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39250" y="2381250"/>
            <a:ext cx="7620000" cy="723900"/>
            <a:chOff x="0" y="0"/>
            <a:chExt cx="10160000" cy="965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160000" cy="965200"/>
            </a:xfrm>
            <a:custGeom>
              <a:avLst/>
              <a:gdLst/>
              <a:ahLst/>
              <a:cxnLst/>
              <a:rect l="l" t="t" r="r" b="b"/>
              <a:pathLst>
                <a:path w="10160000" h="965200">
                  <a:moveTo>
                    <a:pt x="0" y="0"/>
                  </a:moveTo>
                  <a:lnTo>
                    <a:pt x="10160000" y="0"/>
                  </a:lnTo>
                  <a:lnTo>
                    <a:pt x="10160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0160000" cy="1003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47750" y="3352800"/>
            <a:ext cx="7620000" cy="723900"/>
            <a:chOff x="0" y="0"/>
            <a:chExt cx="10160000" cy="965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160000" cy="965200"/>
            </a:xfrm>
            <a:custGeom>
              <a:avLst/>
              <a:gdLst/>
              <a:ahLst/>
              <a:cxnLst/>
              <a:rect l="l" t="t" r="r" b="b"/>
              <a:pathLst>
                <a:path w="10160000" h="965200">
                  <a:moveTo>
                    <a:pt x="0" y="0"/>
                  </a:moveTo>
                  <a:lnTo>
                    <a:pt x="10160000" y="0"/>
                  </a:lnTo>
                  <a:lnTo>
                    <a:pt x="10160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0160000" cy="1003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239250" y="3352800"/>
            <a:ext cx="7620000" cy="723900"/>
            <a:chOff x="0" y="0"/>
            <a:chExt cx="10160000" cy="965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160000" cy="965200"/>
            </a:xfrm>
            <a:custGeom>
              <a:avLst/>
              <a:gdLst/>
              <a:ahLst/>
              <a:cxnLst/>
              <a:rect l="l" t="t" r="r" b="b"/>
              <a:pathLst>
                <a:path w="10160000" h="965200">
                  <a:moveTo>
                    <a:pt x="0" y="0"/>
                  </a:moveTo>
                  <a:lnTo>
                    <a:pt x="10160000" y="0"/>
                  </a:lnTo>
                  <a:lnTo>
                    <a:pt x="10160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0160000" cy="1003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47750" y="4324350"/>
            <a:ext cx="7620000" cy="723900"/>
            <a:chOff x="0" y="0"/>
            <a:chExt cx="10160000" cy="965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160000" cy="965200"/>
            </a:xfrm>
            <a:custGeom>
              <a:avLst/>
              <a:gdLst/>
              <a:ahLst/>
              <a:cxnLst/>
              <a:rect l="l" t="t" r="r" b="b"/>
              <a:pathLst>
                <a:path w="10160000" h="965200">
                  <a:moveTo>
                    <a:pt x="0" y="0"/>
                  </a:moveTo>
                  <a:lnTo>
                    <a:pt x="10160000" y="0"/>
                  </a:lnTo>
                  <a:lnTo>
                    <a:pt x="10160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0160000" cy="1003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239250" y="4324350"/>
            <a:ext cx="7620000" cy="723900"/>
            <a:chOff x="0" y="0"/>
            <a:chExt cx="10160000" cy="965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160000" cy="965200"/>
            </a:xfrm>
            <a:custGeom>
              <a:avLst/>
              <a:gdLst/>
              <a:ahLst/>
              <a:cxnLst/>
              <a:rect l="l" t="t" r="r" b="b"/>
              <a:pathLst>
                <a:path w="10160000" h="965200">
                  <a:moveTo>
                    <a:pt x="0" y="0"/>
                  </a:moveTo>
                  <a:lnTo>
                    <a:pt x="10160000" y="0"/>
                  </a:lnTo>
                  <a:lnTo>
                    <a:pt x="10160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0160000" cy="1003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47750" y="5295900"/>
            <a:ext cx="7620000" cy="723900"/>
            <a:chOff x="0" y="0"/>
            <a:chExt cx="10160000" cy="9652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160000" cy="965200"/>
            </a:xfrm>
            <a:custGeom>
              <a:avLst/>
              <a:gdLst/>
              <a:ahLst/>
              <a:cxnLst/>
              <a:rect l="l" t="t" r="r" b="b"/>
              <a:pathLst>
                <a:path w="10160000" h="965200">
                  <a:moveTo>
                    <a:pt x="0" y="0"/>
                  </a:moveTo>
                  <a:lnTo>
                    <a:pt x="10160000" y="0"/>
                  </a:lnTo>
                  <a:lnTo>
                    <a:pt x="10160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0160000" cy="1003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239250" y="5295900"/>
            <a:ext cx="7620000" cy="723900"/>
            <a:chOff x="0" y="0"/>
            <a:chExt cx="10160000" cy="9652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160000" cy="965200"/>
            </a:xfrm>
            <a:custGeom>
              <a:avLst/>
              <a:gdLst/>
              <a:ahLst/>
              <a:cxnLst/>
              <a:rect l="l" t="t" r="r" b="b"/>
              <a:pathLst>
                <a:path w="10160000" h="965200">
                  <a:moveTo>
                    <a:pt x="0" y="0"/>
                  </a:moveTo>
                  <a:lnTo>
                    <a:pt x="10160000" y="0"/>
                  </a:lnTo>
                  <a:lnTo>
                    <a:pt x="10160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EEEF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10160000" cy="1003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47750" y="6267450"/>
            <a:ext cx="7620000" cy="723900"/>
            <a:chOff x="0" y="0"/>
            <a:chExt cx="10160000" cy="9652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160000" cy="965200"/>
            </a:xfrm>
            <a:custGeom>
              <a:avLst/>
              <a:gdLst/>
              <a:ahLst/>
              <a:cxnLst/>
              <a:rect l="l" t="t" r="r" b="b"/>
              <a:pathLst>
                <a:path w="10160000" h="965200">
                  <a:moveTo>
                    <a:pt x="0" y="0"/>
                  </a:moveTo>
                  <a:lnTo>
                    <a:pt x="10160000" y="0"/>
                  </a:lnTo>
                  <a:lnTo>
                    <a:pt x="10160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EEEF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10160000" cy="1003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239250" y="6267450"/>
            <a:ext cx="7620000" cy="723900"/>
            <a:chOff x="0" y="0"/>
            <a:chExt cx="10160000" cy="9652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160000" cy="965200"/>
            </a:xfrm>
            <a:custGeom>
              <a:avLst/>
              <a:gdLst/>
              <a:ahLst/>
              <a:cxnLst/>
              <a:rect l="l" t="t" r="r" b="b"/>
              <a:pathLst>
                <a:path w="10160000" h="965200">
                  <a:moveTo>
                    <a:pt x="0" y="0"/>
                  </a:moveTo>
                  <a:lnTo>
                    <a:pt x="10160000" y="0"/>
                  </a:lnTo>
                  <a:lnTo>
                    <a:pt x="10160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EEEF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0160000" cy="1003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47750" y="7239000"/>
            <a:ext cx="7620000" cy="723900"/>
            <a:chOff x="0" y="0"/>
            <a:chExt cx="10160000" cy="9652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160000" cy="965200"/>
            </a:xfrm>
            <a:custGeom>
              <a:avLst/>
              <a:gdLst/>
              <a:ahLst/>
              <a:cxnLst/>
              <a:rect l="l" t="t" r="r" b="b"/>
              <a:pathLst>
                <a:path w="10160000" h="965200">
                  <a:moveTo>
                    <a:pt x="0" y="0"/>
                  </a:moveTo>
                  <a:lnTo>
                    <a:pt x="10160000" y="0"/>
                  </a:lnTo>
                  <a:lnTo>
                    <a:pt x="10160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EEEF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10160000" cy="1003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239250" y="7239000"/>
            <a:ext cx="7620000" cy="723900"/>
            <a:chOff x="0" y="0"/>
            <a:chExt cx="10160000" cy="9652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160000" cy="965200"/>
            </a:xfrm>
            <a:custGeom>
              <a:avLst/>
              <a:gdLst/>
              <a:ahLst/>
              <a:cxnLst/>
              <a:rect l="l" t="t" r="r" b="b"/>
              <a:pathLst>
                <a:path w="10160000" h="965200">
                  <a:moveTo>
                    <a:pt x="0" y="0"/>
                  </a:moveTo>
                  <a:lnTo>
                    <a:pt x="10160000" y="0"/>
                  </a:lnTo>
                  <a:lnTo>
                    <a:pt x="10160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EEEF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10160000" cy="1003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47750" y="8210550"/>
            <a:ext cx="7620000" cy="723900"/>
            <a:chOff x="0" y="0"/>
            <a:chExt cx="10160000" cy="9652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0160000" cy="965200"/>
            </a:xfrm>
            <a:custGeom>
              <a:avLst/>
              <a:gdLst/>
              <a:ahLst/>
              <a:cxnLst/>
              <a:rect l="l" t="t" r="r" b="b"/>
              <a:pathLst>
                <a:path w="10160000" h="965200">
                  <a:moveTo>
                    <a:pt x="0" y="0"/>
                  </a:moveTo>
                  <a:lnTo>
                    <a:pt x="10160000" y="0"/>
                  </a:lnTo>
                  <a:lnTo>
                    <a:pt x="10160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EEEF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10160000" cy="1003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239250" y="8210550"/>
            <a:ext cx="7620000" cy="723900"/>
            <a:chOff x="0" y="0"/>
            <a:chExt cx="10160000" cy="9652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0160000" cy="965200"/>
            </a:xfrm>
            <a:custGeom>
              <a:avLst/>
              <a:gdLst/>
              <a:ahLst/>
              <a:cxnLst/>
              <a:rect l="l" t="t" r="r" b="b"/>
              <a:pathLst>
                <a:path w="10160000" h="965200">
                  <a:moveTo>
                    <a:pt x="0" y="0"/>
                  </a:moveTo>
                  <a:lnTo>
                    <a:pt x="10160000" y="0"/>
                  </a:lnTo>
                  <a:lnTo>
                    <a:pt x="10160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EEEF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10160000" cy="1003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276350" y="2571750"/>
            <a:ext cx="6915150" cy="285750"/>
            <a:chOff x="0" y="0"/>
            <a:chExt cx="9220200" cy="381000"/>
          </a:xfrm>
        </p:grpSpPr>
        <p:sp>
          <p:nvSpPr>
            <p:cNvPr id="47" name="TextBox 47"/>
            <p:cNvSpPr txBox="1"/>
            <p:nvPr/>
          </p:nvSpPr>
          <p:spPr>
            <a:xfrm>
              <a:off x="0" y="25400"/>
              <a:ext cx="68580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01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65200" y="-38100"/>
              <a:ext cx="8255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기획 배경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467850" y="2571750"/>
            <a:ext cx="6915150" cy="285750"/>
            <a:chOff x="0" y="0"/>
            <a:chExt cx="9220200" cy="381000"/>
          </a:xfrm>
        </p:grpSpPr>
        <p:sp>
          <p:nvSpPr>
            <p:cNvPr id="50" name="TextBox 50"/>
            <p:cNvSpPr txBox="1"/>
            <p:nvPr/>
          </p:nvSpPr>
          <p:spPr>
            <a:xfrm>
              <a:off x="0" y="25400"/>
              <a:ext cx="68580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02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65200" y="-38100"/>
              <a:ext cx="8255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목표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276350" y="3543300"/>
            <a:ext cx="6915150" cy="285750"/>
            <a:chOff x="0" y="0"/>
            <a:chExt cx="9220200" cy="381000"/>
          </a:xfrm>
        </p:grpSpPr>
        <p:sp>
          <p:nvSpPr>
            <p:cNvPr id="53" name="TextBox 53"/>
            <p:cNvSpPr txBox="1"/>
            <p:nvPr/>
          </p:nvSpPr>
          <p:spPr>
            <a:xfrm>
              <a:off x="0" y="25400"/>
              <a:ext cx="68580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03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65200" y="-38100"/>
              <a:ext cx="8255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주요 기능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467850" y="3543300"/>
            <a:ext cx="6915150" cy="285750"/>
            <a:chOff x="0" y="0"/>
            <a:chExt cx="9220200" cy="381000"/>
          </a:xfrm>
        </p:grpSpPr>
        <p:sp>
          <p:nvSpPr>
            <p:cNvPr id="56" name="TextBox 56"/>
            <p:cNvSpPr txBox="1"/>
            <p:nvPr/>
          </p:nvSpPr>
          <p:spPr>
            <a:xfrm>
              <a:off x="0" y="25400"/>
              <a:ext cx="68580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04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65200" y="-38100"/>
              <a:ext cx="8255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회의 등록 방식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276350" y="4514850"/>
            <a:ext cx="6915150" cy="285750"/>
            <a:chOff x="0" y="0"/>
            <a:chExt cx="9220200" cy="381000"/>
          </a:xfrm>
        </p:grpSpPr>
        <p:sp>
          <p:nvSpPr>
            <p:cNvPr id="59" name="TextBox 59"/>
            <p:cNvSpPr txBox="1"/>
            <p:nvPr/>
          </p:nvSpPr>
          <p:spPr>
            <a:xfrm>
              <a:off x="0" y="25400"/>
              <a:ext cx="68580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05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65200" y="-38100"/>
              <a:ext cx="8255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AI 기반 회의 분석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9467850" y="4514850"/>
            <a:ext cx="6915150" cy="285750"/>
            <a:chOff x="0" y="0"/>
            <a:chExt cx="9220200" cy="381000"/>
          </a:xfrm>
        </p:grpSpPr>
        <p:sp>
          <p:nvSpPr>
            <p:cNvPr id="62" name="TextBox 62"/>
            <p:cNvSpPr txBox="1"/>
            <p:nvPr/>
          </p:nvSpPr>
          <p:spPr>
            <a:xfrm>
              <a:off x="0" y="25400"/>
              <a:ext cx="68580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06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65200" y="-38100"/>
              <a:ext cx="8255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대시보드 및 캘린더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276350" y="5486400"/>
            <a:ext cx="6915150" cy="285750"/>
            <a:chOff x="0" y="0"/>
            <a:chExt cx="9220200" cy="381000"/>
          </a:xfrm>
        </p:grpSpPr>
        <p:sp>
          <p:nvSpPr>
            <p:cNvPr id="65" name="TextBox 65"/>
            <p:cNvSpPr txBox="1"/>
            <p:nvPr/>
          </p:nvSpPr>
          <p:spPr>
            <a:xfrm>
              <a:off x="0" y="25400"/>
              <a:ext cx="68580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07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65200" y="-38100"/>
              <a:ext cx="8255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공유 및 권한 관리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9467850" y="5486400"/>
            <a:ext cx="6915150" cy="285750"/>
            <a:chOff x="0" y="0"/>
            <a:chExt cx="9220200" cy="381000"/>
          </a:xfrm>
        </p:grpSpPr>
        <p:sp>
          <p:nvSpPr>
            <p:cNvPr id="68" name="TextBox 68"/>
            <p:cNvSpPr txBox="1"/>
            <p:nvPr/>
          </p:nvSpPr>
          <p:spPr>
            <a:xfrm>
              <a:off x="0" y="25400"/>
              <a:ext cx="68580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08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65200" y="-38100"/>
              <a:ext cx="8255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시스템 아키텍처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276350" y="6457950"/>
            <a:ext cx="6915150" cy="285750"/>
            <a:chOff x="0" y="0"/>
            <a:chExt cx="9220200" cy="381000"/>
          </a:xfrm>
        </p:grpSpPr>
        <p:sp>
          <p:nvSpPr>
            <p:cNvPr id="71" name="TextBox 71"/>
            <p:cNvSpPr txBox="1"/>
            <p:nvPr/>
          </p:nvSpPr>
          <p:spPr>
            <a:xfrm>
              <a:off x="0" y="25400"/>
              <a:ext cx="68580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09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65200" y="-38100"/>
              <a:ext cx="8255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기술 스택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9467850" y="6457950"/>
            <a:ext cx="6915150" cy="285750"/>
            <a:chOff x="0" y="0"/>
            <a:chExt cx="9220200" cy="381000"/>
          </a:xfrm>
        </p:grpSpPr>
        <p:sp>
          <p:nvSpPr>
            <p:cNvPr id="74" name="TextBox 74"/>
            <p:cNvSpPr txBox="1"/>
            <p:nvPr/>
          </p:nvSpPr>
          <p:spPr>
            <a:xfrm>
              <a:off x="0" y="25400"/>
              <a:ext cx="68580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10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65200" y="-38100"/>
              <a:ext cx="8255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데이터베이스 설계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276350" y="7429500"/>
            <a:ext cx="6915150" cy="285750"/>
            <a:chOff x="0" y="0"/>
            <a:chExt cx="9220200" cy="381000"/>
          </a:xfrm>
        </p:grpSpPr>
        <p:sp>
          <p:nvSpPr>
            <p:cNvPr id="77" name="TextBox 77"/>
            <p:cNvSpPr txBox="1"/>
            <p:nvPr/>
          </p:nvSpPr>
          <p:spPr>
            <a:xfrm>
              <a:off x="0" y="25400"/>
              <a:ext cx="68580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11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65200" y="-38100"/>
              <a:ext cx="8255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문제 해결 사례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9467850" y="7429500"/>
            <a:ext cx="6915150" cy="285750"/>
            <a:chOff x="0" y="0"/>
            <a:chExt cx="9220200" cy="381000"/>
          </a:xfrm>
        </p:grpSpPr>
        <p:sp>
          <p:nvSpPr>
            <p:cNvPr id="80" name="TextBox 80"/>
            <p:cNvSpPr txBox="1"/>
            <p:nvPr/>
          </p:nvSpPr>
          <p:spPr>
            <a:xfrm>
              <a:off x="0" y="25400"/>
              <a:ext cx="68580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12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65200" y="-38100"/>
              <a:ext cx="8255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배포 및 테스트 결과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276350" y="8401050"/>
            <a:ext cx="6915150" cy="285750"/>
            <a:chOff x="0" y="0"/>
            <a:chExt cx="9220200" cy="381000"/>
          </a:xfrm>
        </p:grpSpPr>
        <p:sp>
          <p:nvSpPr>
            <p:cNvPr id="83" name="TextBox 83"/>
            <p:cNvSpPr txBox="1"/>
            <p:nvPr/>
          </p:nvSpPr>
          <p:spPr>
            <a:xfrm>
              <a:off x="0" y="25400"/>
              <a:ext cx="68580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13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65200" y="-38100"/>
              <a:ext cx="8255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개발 역할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9467850" y="8401050"/>
            <a:ext cx="6915150" cy="285750"/>
            <a:chOff x="0" y="0"/>
            <a:chExt cx="9220200" cy="381000"/>
          </a:xfrm>
        </p:grpSpPr>
        <p:sp>
          <p:nvSpPr>
            <p:cNvPr id="86" name="TextBox 86"/>
            <p:cNvSpPr txBox="1"/>
            <p:nvPr/>
          </p:nvSpPr>
          <p:spPr>
            <a:xfrm>
              <a:off x="0" y="25400"/>
              <a:ext cx="68580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14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65200" y="-38100"/>
              <a:ext cx="8255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성과 및 발전 방향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42950"/>
            <a:ext cx="14287500" cy="694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6"/>
              </a:lnSpc>
            </a:pPr>
            <a:r>
              <a:rPr lang="en-US" sz="4950" b="1" dirty="0" err="1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회의가</a:t>
            </a:r>
            <a:r>
              <a:rPr lang="en-US" sz="4950" b="1" dirty="0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</a:t>
            </a:r>
            <a:r>
              <a:rPr lang="en-US" sz="4950" b="1" dirty="0" err="1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끝나도</a:t>
            </a:r>
            <a:r>
              <a:rPr lang="en-US" sz="4950" b="1" dirty="0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, </a:t>
            </a:r>
            <a:r>
              <a:rPr lang="en-US" sz="4950" b="1" dirty="0" err="1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일이</a:t>
            </a:r>
            <a:r>
              <a:rPr lang="en-US" sz="4950" b="1" dirty="0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</a:t>
            </a:r>
            <a:r>
              <a:rPr lang="en-US" sz="4950" b="1" dirty="0" err="1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시작되지</a:t>
            </a:r>
            <a:r>
              <a:rPr lang="en-US" sz="4950" b="1" dirty="0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</a:t>
            </a:r>
            <a:r>
              <a:rPr lang="en-US" sz="4950" b="1" dirty="0" err="1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않았다</a:t>
            </a:r>
            <a:endParaRPr lang="en-US" sz="4950" b="1" dirty="0">
              <a:solidFill>
                <a:srgbClr val="161A2F"/>
              </a:solidFill>
              <a:latin typeface="Noto Sans Kr Bold"/>
              <a:ea typeface="Noto Sans Kr Bold"/>
              <a:cs typeface="Noto Sans Kr Bold"/>
              <a:sym typeface="Noto Sans Kr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47750" y="1457325"/>
            <a:ext cx="13811250" cy="38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 dirty="0" err="1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기록·결정·담당·일정이</a:t>
            </a:r>
            <a:r>
              <a:rPr lang="en-US" sz="2250" dirty="0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250" dirty="0" err="1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서로</a:t>
            </a:r>
            <a:r>
              <a:rPr lang="en-US" sz="2250" dirty="0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250" dirty="0" err="1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다른</a:t>
            </a:r>
            <a:r>
              <a:rPr lang="en-US" sz="2250" dirty="0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250" dirty="0" err="1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곳에</a:t>
            </a:r>
            <a:r>
              <a:rPr lang="en-US" sz="2250" dirty="0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250" dirty="0" err="1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흩어지는</a:t>
            </a:r>
            <a:r>
              <a:rPr lang="en-US" sz="2250" dirty="0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250" dirty="0" err="1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구조적</a:t>
            </a:r>
            <a:r>
              <a:rPr lang="en-US" sz="2250" dirty="0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250" dirty="0" err="1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문제</a:t>
            </a:r>
            <a:endParaRPr lang="en-US" sz="2250" dirty="0">
              <a:solidFill>
                <a:srgbClr val="69708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047750" y="3143250"/>
            <a:ext cx="3571875" cy="4095750"/>
            <a:chOff x="0" y="0"/>
            <a:chExt cx="4762500" cy="5461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762500" cy="5461000"/>
            </a:xfrm>
            <a:custGeom>
              <a:avLst/>
              <a:gdLst/>
              <a:ahLst/>
              <a:cxnLst/>
              <a:rect l="l" t="t" r="r" b="b"/>
              <a:pathLst>
                <a:path w="4762500" h="5461000">
                  <a:moveTo>
                    <a:pt x="0" y="0"/>
                  </a:moveTo>
                  <a:lnTo>
                    <a:pt x="4762500" y="0"/>
                  </a:lnTo>
                  <a:lnTo>
                    <a:pt x="4762500" y="5461000"/>
                  </a:lnTo>
                  <a:lnTo>
                    <a:pt x="0" y="5461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762500" cy="549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191125" y="3143250"/>
            <a:ext cx="3571875" cy="4095750"/>
            <a:chOff x="0" y="0"/>
            <a:chExt cx="4762500" cy="5461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762500" cy="5461000"/>
            </a:xfrm>
            <a:custGeom>
              <a:avLst/>
              <a:gdLst/>
              <a:ahLst/>
              <a:cxnLst/>
              <a:rect l="l" t="t" r="r" b="b"/>
              <a:pathLst>
                <a:path w="4762500" h="5461000">
                  <a:moveTo>
                    <a:pt x="0" y="0"/>
                  </a:moveTo>
                  <a:lnTo>
                    <a:pt x="4762500" y="0"/>
                  </a:lnTo>
                  <a:lnTo>
                    <a:pt x="4762500" y="5461000"/>
                  </a:lnTo>
                  <a:lnTo>
                    <a:pt x="0" y="5461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762500" cy="549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334500" y="3143250"/>
            <a:ext cx="3571875" cy="4095750"/>
            <a:chOff x="0" y="0"/>
            <a:chExt cx="4762500" cy="5461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762500" cy="5461000"/>
            </a:xfrm>
            <a:custGeom>
              <a:avLst/>
              <a:gdLst/>
              <a:ahLst/>
              <a:cxnLst/>
              <a:rect l="l" t="t" r="r" b="b"/>
              <a:pathLst>
                <a:path w="4762500" h="5461000">
                  <a:moveTo>
                    <a:pt x="0" y="0"/>
                  </a:moveTo>
                  <a:lnTo>
                    <a:pt x="4762500" y="0"/>
                  </a:lnTo>
                  <a:lnTo>
                    <a:pt x="4762500" y="5461000"/>
                  </a:lnTo>
                  <a:lnTo>
                    <a:pt x="0" y="5461000"/>
                  </a:lnTo>
                  <a:close/>
                </a:path>
              </a:pathLst>
            </a:custGeom>
            <a:solidFill>
              <a:srgbClr val="6557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762500" cy="549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477875" y="3143250"/>
            <a:ext cx="3571875" cy="4095750"/>
            <a:chOff x="0" y="0"/>
            <a:chExt cx="4762500" cy="5461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762500" cy="5461000"/>
            </a:xfrm>
            <a:custGeom>
              <a:avLst/>
              <a:gdLst/>
              <a:ahLst/>
              <a:cxnLst/>
              <a:rect l="l" t="t" r="r" b="b"/>
              <a:pathLst>
                <a:path w="4762500" h="5461000">
                  <a:moveTo>
                    <a:pt x="0" y="0"/>
                  </a:moveTo>
                  <a:lnTo>
                    <a:pt x="4762500" y="0"/>
                  </a:lnTo>
                  <a:lnTo>
                    <a:pt x="4762500" y="5461000"/>
                  </a:lnTo>
                  <a:lnTo>
                    <a:pt x="0" y="5461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762500" cy="549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90650" y="3476625"/>
            <a:ext cx="2857500" cy="2409825"/>
            <a:chOff x="0" y="0"/>
            <a:chExt cx="3810000" cy="3213100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38100"/>
              <a:ext cx="1143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841375"/>
              <a:ext cx="3810000" cy="6242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90"/>
                </a:lnSpc>
              </a:pPr>
              <a:r>
                <a:rPr lang="en-US" sz="28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기록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2238375"/>
              <a:ext cx="3810000" cy="974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00">
                  <a:solidFill>
                    <a:srgbClr val="69708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회의 기록에</a:t>
              </a:r>
            </a:p>
            <a:p>
              <a:pPr algn="l">
                <a:lnSpc>
                  <a:spcPts val="3045"/>
                </a:lnSpc>
              </a:pPr>
              <a:r>
                <a:rPr lang="en-US" sz="2100">
                  <a:solidFill>
                    <a:srgbClr val="69708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많은 시간 소요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534025" y="3476625"/>
            <a:ext cx="2857500" cy="2409825"/>
            <a:chOff x="0" y="0"/>
            <a:chExt cx="3810000" cy="3213100"/>
          </a:xfrm>
        </p:grpSpPr>
        <p:sp>
          <p:nvSpPr>
            <p:cNvPr id="21" name="TextBox 21"/>
            <p:cNvSpPr txBox="1"/>
            <p:nvPr/>
          </p:nvSpPr>
          <p:spPr>
            <a:xfrm>
              <a:off x="0" y="-38100"/>
              <a:ext cx="1143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841375"/>
              <a:ext cx="3810000" cy="6242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90"/>
                </a:lnSpc>
              </a:pPr>
              <a:r>
                <a:rPr lang="en-US" sz="28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정리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2238375"/>
              <a:ext cx="3810000" cy="974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00">
                  <a:solidFill>
                    <a:srgbClr val="69708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결정사항 재정리</a:t>
              </a:r>
            </a:p>
            <a:p>
              <a:pPr algn="l">
                <a:lnSpc>
                  <a:spcPts val="3045"/>
                </a:lnSpc>
              </a:pPr>
              <a:r>
                <a:rPr lang="en-US" sz="2100">
                  <a:solidFill>
                    <a:srgbClr val="69708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어려움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677400" y="3476625"/>
            <a:ext cx="2857500" cy="2409825"/>
            <a:chOff x="0" y="0"/>
            <a:chExt cx="3810000" cy="3213100"/>
          </a:xfrm>
        </p:grpSpPr>
        <p:sp>
          <p:nvSpPr>
            <p:cNvPr id="25" name="TextBox 25"/>
            <p:cNvSpPr txBox="1"/>
            <p:nvPr/>
          </p:nvSpPr>
          <p:spPr>
            <a:xfrm>
              <a:off x="0" y="-38100"/>
              <a:ext cx="1143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>
                  <a:solidFill>
                    <a:srgbClr val="BFF3E5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03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841375"/>
              <a:ext cx="3810000" cy="6242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90"/>
                </a:lnSpc>
              </a:pPr>
              <a:r>
                <a:rPr lang="en-US" sz="285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실행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2238375"/>
              <a:ext cx="3810000" cy="974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담당자·마감일</a:t>
              </a:r>
            </a:p>
            <a:p>
              <a:pPr algn="l">
                <a:lnSpc>
                  <a:spcPts val="3045"/>
                </a:lnSpc>
              </a:pPr>
              <a:r>
                <a:rPr lang="en-US" sz="21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누락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3820775" y="3476625"/>
            <a:ext cx="2857500" cy="2409825"/>
            <a:chOff x="0" y="0"/>
            <a:chExt cx="3810000" cy="3213100"/>
          </a:xfrm>
        </p:grpSpPr>
        <p:sp>
          <p:nvSpPr>
            <p:cNvPr id="29" name="TextBox 29"/>
            <p:cNvSpPr txBox="1"/>
            <p:nvPr/>
          </p:nvSpPr>
          <p:spPr>
            <a:xfrm>
              <a:off x="0" y="-38100"/>
              <a:ext cx="1143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04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841375"/>
              <a:ext cx="3810000" cy="6242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90"/>
                </a:lnSpc>
              </a:pPr>
              <a:r>
                <a:rPr lang="en-US" sz="28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공유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2238375"/>
              <a:ext cx="3810000" cy="974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00">
                  <a:solidFill>
                    <a:srgbClr val="69708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참석자 간 정보</a:t>
              </a:r>
            </a:p>
            <a:p>
              <a:pPr algn="l">
                <a:lnSpc>
                  <a:spcPts val="3045"/>
                </a:lnSpc>
              </a:pPr>
              <a:r>
                <a:rPr lang="en-US" sz="2100">
                  <a:solidFill>
                    <a:srgbClr val="69708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비대칭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2476500" y="8048625"/>
            <a:ext cx="13335000" cy="480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0"/>
              </a:lnSpc>
            </a:pPr>
            <a:r>
              <a:rPr lang="en-US" sz="2850" b="1">
                <a:solidFill>
                  <a:srgbClr val="6557E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회의록과 후속 업무를 하나의 흐름으로 연결해야 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42950"/>
            <a:ext cx="14287500" cy="694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6"/>
              </a:lnSpc>
            </a:pPr>
            <a:r>
              <a:rPr lang="en-US" sz="4950" b="1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기록에서 실행으로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47750" y="1457325"/>
            <a:ext cx="13811250" cy="38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MeetFlow AI가 만드는 세 단계의 업무 전환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47750" y="3048000"/>
            <a:ext cx="4762500" cy="4476750"/>
            <a:chOff x="0" y="0"/>
            <a:chExt cx="6350000" cy="5969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5969000"/>
            </a:xfrm>
            <a:custGeom>
              <a:avLst/>
              <a:gdLst/>
              <a:ahLst/>
              <a:cxnLst/>
              <a:rect l="l" t="t" r="r" b="b"/>
              <a:pathLst>
                <a:path w="6350000" h="5969000">
                  <a:moveTo>
                    <a:pt x="0" y="0"/>
                  </a:moveTo>
                  <a:lnTo>
                    <a:pt x="6350000" y="0"/>
                  </a:lnTo>
                  <a:lnTo>
                    <a:pt x="6350000" y="5969000"/>
                  </a:lnTo>
                  <a:lnTo>
                    <a:pt x="0" y="5969000"/>
                  </a:lnTo>
                  <a:close/>
                </a:path>
              </a:pathLst>
            </a:custGeom>
            <a:solidFill>
              <a:srgbClr val="1B204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6350000" cy="600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477000" y="3048000"/>
            <a:ext cx="4762500" cy="4476750"/>
            <a:chOff x="0" y="0"/>
            <a:chExt cx="6350000" cy="5969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5969000"/>
            </a:xfrm>
            <a:custGeom>
              <a:avLst/>
              <a:gdLst/>
              <a:ahLst/>
              <a:cxnLst/>
              <a:rect l="l" t="t" r="r" b="b"/>
              <a:pathLst>
                <a:path w="6350000" h="5969000">
                  <a:moveTo>
                    <a:pt x="0" y="0"/>
                  </a:moveTo>
                  <a:lnTo>
                    <a:pt x="6350000" y="0"/>
                  </a:lnTo>
                  <a:lnTo>
                    <a:pt x="6350000" y="5969000"/>
                  </a:lnTo>
                  <a:lnTo>
                    <a:pt x="0" y="5969000"/>
                  </a:lnTo>
                  <a:close/>
                </a:path>
              </a:pathLst>
            </a:custGeom>
            <a:solidFill>
              <a:srgbClr val="6557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6350000" cy="600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906250" y="3048000"/>
            <a:ext cx="4762500" cy="4476750"/>
            <a:chOff x="0" y="0"/>
            <a:chExt cx="6350000" cy="5969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5969000"/>
            </a:xfrm>
            <a:custGeom>
              <a:avLst/>
              <a:gdLst/>
              <a:ahLst/>
              <a:cxnLst/>
              <a:rect l="l" t="t" r="r" b="b"/>
              <a:pathLst>
                <a:path w="6350000" h="5969000">
                  <a:moveTo>
                    <a:pt x="0" y="0"/>
                  </a:moveTo>
                  <a:lnTo>
                    <a:pt x="6350000" y="0"/>
                  </a:lnTo>
                  <a:lnTo>
                    <a:pt x="6350000" y="5969000"/>
                  </a:lnTo>
                  <a:lnTo>
                    <a:pt x="0" y="5969000"/>
                  </a:lnTo>
                  <a:close/>
                </a:path>
              </a:pathLst>
            </a:custGeom>
            <a:solidFill>
              <a:srgbClr val="1B204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350000" cy="600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09700" y="3429000"/>
            <a:ext cx="4000500" cy="2219325"/>
            <a:chOff x="0" y="0"/>
            <a:chExt cx="5334000" cy="2959100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38100"/>
              <a:ext cx="1270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39C6D4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01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149350"/>
              <a:ext cx="5334000" cy="687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09"/>
                </a:lnSpc>
              </a:pPr>
              <a:r>
                <a:rPr lang="en-US" sz="315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CAPTURE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2492375"/>
              <a:ext cx="5207000" cy="466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00">
                  <a:solidFill>
                    <a:srgbClr val="DCD8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회의 내용을 놓치지 않고 수집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838950" y="3429000"/>
            <a:ext cx="4000500" cy="2219325"/>
            <a:chOff x="0" y="0"/>
            <a:chExt cx="5334000" cy="2959100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38100"/>
              <a:ext cx="1270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39C6D4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02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1149350"/>
              <a:ext cx="5334000" cy="687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09"/>
                </a:lnSpc>
              </a:pPr>
              <a:r>
                <a:rPr lang="en-US" sz="315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UNDERSTAND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2492375"/>
              <a:ext cx="5207000" cy="466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00">
                  <a:solidFill>
                    <a:srgbClr val="DCD8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AI가 핵심 맥락과 결정을 구조화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268200" y="3429000"/>
            <a:ext cx="4000500" cy="2219325"/>
            <a:chOff x="0" y="0"/>
            <a:chExt cx="5334000" cy="2959100"/>
          </a:xfrm>
        </p:grpSpPr>
        <p:sp>
          <p:nvSpPr>
            <p:cNvPr id="22" name="TextBox 22"/>
            <p:cNvSpPr txBox="1"/>
            <p:nvPr/>
          </p:nvSpPr>
          <p:spPr>
            <a:xfrm>
              <a:off x="0" y="-38100"/>
              <a:ext cx="1270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39C6D4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1149350"/>
              <a:ext cx="5334000" cy="687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09"/>
                </a:lnSpc>
              </a:pPr>
              <a:r>
                <a:rPr lang="en-US" sz="315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ACT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2492375"/>
              <a:ext cx="5207000" cy="466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00">
                  <a:solidFill>
                    <a:srgbClr val="DCD8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업무·담당자·일정으로 즉시 연결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42950"/>
            <a:ext cx="14287500" cy="694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6"/>
              </a:lnSpc>
            </a:pPr>
            <a:r>
              <a:rPr lang="en-US" sz="4950" b="1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하나의 플랫폼, 8개의 연결된 기능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47750" y="1457325"/>
            <a:ext cx="13811250" cy="38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인증부터 분석·업무·공유까지 끊김 없는 회의 경험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47750" y="2857500"/>
            <a:ext cx="3619500" cy="2286000"/>
            <a:chOff x="0" y="0"/>
            <a:chExt cx="4826000" cy="3048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26000" cy="3048000"/>
            </a:xfrm>
            <a:custGeom>
              <a:avLst/>
              <a:gdLst/>
              <a:ahLst/>
              <a:cxnLst/>
              <a:rect l="l" t="t" r="r" b="b"/>
              <a:pathLst>
                <a:path w="4826000" h="3048000">
                  <a:moveTo>
                    <a:pt x="0" y="0"/>
                  </a:moveTo>
                  <a:lnTo>
                    <a:pt x="4826000" y="0"/>
                  </a:lnTo>
                  <a:lnTo>
                    <a:pt x="48260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826000" cy="308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143500" y="2857500"/>
            <a:ext cx="3619500" cy="2286000"/>
            <a:chOff x="0" y="0"/>
            <a:chExt cx="4826000" cy="3048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26000" cy="3048000"/>
            </a:xfrm>
            <a:custGeom>
              <a:avLst/>
              <a:gdLst/>
              <a:ahLst/>
              <a:cxnLst/>
              <a:rect l="l" t="t" r="r" b="b"/>
              <a:pathLst>
                <a:path w="4826000" h="3048000">
                  <a:moveTo>
                    <a:pt x="0" y="0"/>
                  </a:moveTo>
                  <a:lnTo>
                    <a:pt x="4826000" y="0"/>
                  </a:lnTo>
                  <a:lnTo>
                    <a:pt x="48260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826000" cy="308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239250" y="2857500"/>
            <a:ext cx="3619500" cy="2286000"/>
            <a:chOff x="0" y="0"/>
            <a:chExt cx="4826000" cy="3048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26000" cy="3048000"/>
            </a:xfrm>
            <a:custGeom>
              <a:avLst/>
              <a:gdLst/>
              <a:ahLst/>
              <a:cxnLst/>
              <a:rect l="l" t="t" r="r" b="b"/>
              <a:pathLst>
                <a:path w="4826000" h="3048000">
                  <a:moveTo>
                    <a:pt x="0" y="0"/>
                  </a:moveTo>
                  <a:lnTo>
                    <a:pt x="4826000" y="0"/>
                  </a:lnTo>
                  <a:lnTo>
                    <a:pt x="48260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826000" cy="308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335000" y="2857500"/>
            <a:ext cx="3619500" cy="2286000"/>
            <a:chOff x="0" y="0"/>
            <a:chExt cx="4826000" cy="3048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26000" cy="3048000"/>
            </a:xfrm>
            <a:custGeom>
              <a:avLst/>
              <a:gdLst/>
              <a:ahLst/>
              <a:cxnLst/>
              <a:rect l="l" t="t" r="r" b="b"/>
              <a:pathLst>
                <a:path w="4826000" h="3048000">
                  <a:moveTo>
                    <a:pt x="0" y="0"/>
                  </a:moveTo>
                  <a:lnTo>
                    <a:pt x="4826000" y="0"/>
                  </a:lnTo>
                  <a:lnTo>
                    <a:pt x="48260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826000" cy="308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47750" y="5715000"/>
            <a:ext cx="3619500" cy="2286000"/>
            <a:chOff x="0" y="0"/>
            <a:chExt cx="4826000" cy="3048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826000" cy="3048000"/>
            </a:xfrm>
            <a:custGeom>
              <a:avLst/>
              <a:gdLst/>
              <a:ahLst/>
              <a:cxnLst/>
              <a:rect l="l" t="t" r="r" b="b"/>
              <a:pathLst>
                <a:path w="4826000" h="3048000">
                  <a:moveTo>
                    <a:pt x="0" y="0"/>
                  </a:moveTo>
                  <a:lnTo>
                    <a:pt x="4826000" y="0"/>
                  </a:lnTo>
                  <a:lnTo>
                    <a:pt x="48260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6557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4826000" cy="308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143500" y="5715000"/>
            <a:ext cx="3619500" cy="2286000"/>
            <a:chOff x="0" y="0"/>
            <a:chExt cx="4826000" cy="3048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826000" cy="3048000"/>
            </a:xfrm>
            <a:custGeom>
              <a:avLst/>
              <a:gdLst/>
              <a:ahLst/>
              <a:cxnLst/>
              <a:rect l="l" t="t" r="r" b="b"/>
              <a:pathLst>
                <a:path w="4826000" h="3048000">
                  <a:moveTo>
                    <a:pt x="0" y="0"/>
                  </a:moveTo>
                  <a:lnTo>
                    <a:pt x="4826000" y="0"/>
                  </a:lnTo>
                  <a:lnTo>
                    <a:pt x="48260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4826000" cy="308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239250" y="5715000"/>
            <a:ext cx="3619500" cy="2286000"/>
            <a:chOff x="0" y="0"/>
            <a:chExt cx="4826000" cy="3048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26000" cy="3048000"/>
            </a:xfrm>
            <a:custGeom>
              <a:avLst/>
              <a:gdLst/>
              <a:ahLst/>
              <a:cxnLst/>
              <a:rect l="l" t="t" r="r" b="b"/>
              <a:pathLst>
                <a:path w="4826000" h="3048000">
                  <a:moveTo>
                    <a:pt x="0" y="0"/>
                  </a:moveTo>
                  <a:lnTo>
                    <a:pt x="4826000" y="0"/>
                  </a:lnTo>
                  <a:lnTo>
                    <a:pt x="48260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4826000" cy="308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3335000" y="5715000"/>
            <a:ext cx="3619500" cy="2286000"/>
            <a:chOff x="0" y="0"/>
            <a:chExt cx="4826000" cy="3048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826000" cy="3048000"/>
            </a:xfrm>
            <a:custGeom>
              <a:avLst/>
              <a:gdLst/>
              <a:ahLst/>
              <a:cxnLst/>
              <a:rect l="l" t="t" r="r" b="b"/>
              <a:pathLst>
                <a:path w="4826000" h="3048000">
                  <a:moveTo>
                    <a:pt x="0" y="0"/>
                  </a:moveTo>
                  <a:lnTo>
                    <a:pt x="4826000" y="0"/>
                  </a:lnTo>
                  <a:lnTo>
                    <a:pt x="48260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4826000" cy="308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314450" y="3124200"/>
            <a:ext cx="3048000" cy="1076325"/>
            <a:chOff x="0" y="0"/>
            <a:chExt cx="4064000" cy="1435100"/>
          </a:xfrm>
        </p:grpSpPr>
        <p:sp>
          <p:nvSpPr>
            <p:cNvPr id="29" name="TextBox 29"/>
            <p:cNvSpPr txBox="1"/>
            <p:nvPr/>
          </p:nvSpPr>
          <p:spPr>
            <a:xfrm>
              <a:off x="0" y="-38100"/>
              <a:ext cx="635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939800"/>
              <a:ext cx="4064000" cy="495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회원 인증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410200" y="3124200"/>
            <a:ext cx="3048000" cy="1076325"/>
            <a:chOff x="0" y="0"/>
            <a:chExt cx="4064000" cy="1435100"/>
          </a:xfrm>
        </p:grpSpPr>
        <p:sp>
          <p:nvSpPr>
            <p:cNvPr id="32" name="TextBox 32"/>
            <p:cNvSpPr txBox="1"/>
            <p:nvPr/>
          </p:nvSpPr>
          <p:spPr>
            <a:xfrm>
              <a:off x="0" y="-38100"/>
              <a:ext cx="635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939800"/>
              <a:ext cx="4064000" cy="495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프로젝트 관리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05950" y="3124200"/>
            <a:ext cx="3048000" cy="1076325"/>
            <a:chOff x="0" y="0"/>
            <a:chExt cx="4064000" cy="1435100"/>
          </a:xfrm>
        </p:grpSpPr>
        <p:sp>
          <p:nvSpPr>
            <p:cNvPr id="35" name="TextBox 35"/>
            <p:cNvSpPr txBox="1"/>
            <p:nvPr/>
          </p:nvSpPr>
          <p:spPr>
            <a:xfrm>
              <a:off x="0" y="-38100"/>
              <a:ext cx="635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939800"/>
              <a:ext cx="4064000" cy="495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3가지 회의 등록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3601700" y="3124200"/>
            <a:ext cx="3048000" cy="1076325"/>
            <a:chOff x="0" y="0"/>
            <a:chExt cx="4064000" cy="1435100"/>
          </a:xfrm>
        </p:grpSpPr>
        <p:sp>
          <p:nvSpPr>
            <p:cNvPr id="38" name="TextBox 38"/>
            <p:cNvSpPr txBox="1"/>
            <p:nvPr/>
          </p:nvSpPr>
          <p:spPr>
            <a:xfrm>
              <a:off x="0" y="-38100"/>
              <a:ext cx="635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939800"/>
              <a:ext cx="4064000" cy="495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STT 음성 변환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314450" y="5981700"/>
            <a:ext cx="3048000" cy="1076325"/>
            <a:chOff x="0" y="0"/>
            <a:chExt cx="4064000" cy="1435100"/>
          </a:xfrm>
        </p:grpSpPr>
        <p:sp>
          <p:nvSpPr>
            <p:cNvPr id="41" name="TextBox 41"/>
            <p:cNvSpPr txBox="1"/>
            <p:nvPr/>
          </p:nvSpPr>
          <p:spPr>
            <a:xfrm>
              <a:off x="0" y="-38100"/>
              <a:ext cx="635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BFF3E5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939800"/>
              <a:ext cx="4064000" cy="495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AI 핵심 추출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410200" y="5981700"/>
            <a:ext cx="3048000" cy="1076325"/>
            <a:chOff x="0" y="0"/>
            <a:chExt cx="4064000" cy="1435100"/>
          </a:xfrm>
        </p:grpSpPr>
        <p:sp>
          <p:nvSpPr>
            <p:cNvPr id="44" name="TextBox 44"/>
            <p:cNvSpPr txBox="1"/>
            <p:nvPr/>
          </p:nvSpPr>
          <p:spPr>
            <a:xfrm>
              <a:off x="0" y="-38100"/>
              <a:ext cx="635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939800"/>
              <a:ext cx="4064000" cy="495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업무·캘린더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505950" y="5981700"/>
            <a:ext cx="3048000" cy="1076325"/>
            <a:chOff x="0" y="0"/>
            <a:chExt cx="4064000" cy="1435100"/>
          </a:xfrm>
        </p:grpSpPr>
        <p:sp>
          <p:nvSpPr>
            <p:cNvPr id="47" name="TextBox 47"/>
            <p:cNvSpPr txBox="1"/>
            <p:nvPr/>
          </p:nvSpPr>
          <p:spPr>
            <a:xfrm>
              <a:off x="0" y="-38100"/>
              <a:ext cx="635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7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939800"/>
              <a:ext cx="4064000" cy="495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통합 대시보드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3601700" y="5981700"/>
            <a:ext cx="3048000" cy="1076325"/>
            <a:chOff x="0" y="0"/>
            <a:chExt cx="4064000" cy="1435100"/>
          </a:xfrm>
        </p:grpSpPr>
        <p:sp>
          <p:nvSpPr>
            <p:cNvPr id="50" name="TextBox 50"/>
            <p:cNvSpPr txBox="1"/>
            <p:nvPr/>
          </p:nvSpPr>
          <p:spPr>
            <a:xfrm>
              <a:off x="0" y="-38100"/>
              <a:ext cx="635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8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939800"/>
              <a:ext cx="4064000" cy="495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공유·권한 관리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42950"/>
            <a:ext cx="14287500" cy="694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6"/>
              </a:lnSpc>
            </a:pPr>
            <a:r>
              <a:rPr lang="en-US" sz="4950" b="1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환경에 맞춰 선택하는 3가지 입력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47750" y="1457325"/>
            <a:ext cx="13811250" cy="38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준비된 문서부터 현장 녹음까지, 같은 분석 흐름으로 연결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47750" y="3000375"/>
            <a:ext cx="4762500" cy="4762500"/>
            <a:chOff x="0" y="0"/>
            <a:chExt cx="6350000" cy="635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6350000"/>
                  </a:lnTo>
                  <a:lnTo>
                    <a:pt x="0" y="6350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6350000" cy="638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47800" y="3476625"/>
            <a:ext cx="857250" cy="950595"/>
            <a:chOff x="0" y="0"/>
            <a:chExt cx="1143000" cy="12674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43000" cy="1267460"/>
            </a:xfrm>
            <a:custGeom>
              <a:avLst/>
              <a:gdLst/>
              <a:ahLst/>
              <a:cxnLst/>
              <a:rect l="l" t="t" r="r" b="b"/>
              <a:pathLst>
                <a:path w="1143000" h="1267460">
                  <a:moveTo>
                    <a:pt x="571500" y="0"/>
                  </a:moveTo>
                  <a:cubicBezTo>
                    <a:pt x="887131" y="0"/>
                    <a:pt x="1143000" y="283731"/>
                    <a:pt x="1143000" y="633730"/>
                  </a:cubicBezTo>
                  <a:cubicBezTo>
                    <a:pt x="1143000" y="983729"/>
                    <a:pt x="887131" y="1267460"/>
                    <a:pt x="571500" y="1267460"/>
                  </a:cubicBezTo>
                  <a:cubicBezTo>
                    <a:pt x="255869" y="1267460"/>
                    <a:pt x="0" y="983729"/>
                    <a:pt x="0" y="633730"/>
                  </a:cubicBezTo>
                  <a:cubicBezTo>
                    <a:pt x="0" y="283731"/>
                    <a:pt x="255869" y="0"/>
                    <a:pt x="571500" y="0"/>
                  </a:cubicBezTo>
                  <a:close/>
                </a:path>
              </a:pathLst>
            </a:custGeom>
            <a:solidFill>
              <a:srgbClr val="DCD8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143000" cy="130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9"/>
                </a:lnSpc>
              </a:pPr>
              <a:r>
                <a:rPr lang="en-US" sz="22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1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477000" y="3000375"/>
            <a:ext cx="4762500" cy="4762500"/>
            <a:chOff x="0" y="0"/>
            <a:chExt cx="6350000" cy="635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6350000"/>
                  </a:lnTo>
                  <a:lnTo>
                    <a:pt x="0" y="6350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350000" cy="638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877050" y="3476625"/>
            <a:ext cx="857250" cy="950595"/>
            <a:chOff x="0" y="0"/>
            <a:chExt cx="1143000" cy="12674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43000" cy="1267460"/>
            </a:xfrm>
            <a:custGeom>
              <a:avLst/>
              <a:gdLst/>
              <a:ahLst/>
              <a:cxnLst/>
              <a:rect l="l" t="t" r="r" b="b"/>
              <a:pathLst>
                <a:path w="1143000" h="1267460">
                  <a:moveTo>
                    <a:pt x="571500" y="0"/>
                  </a:moveTo>
                  <a:cubicBezTo>
                    <a:pt x="887131" y="0"/>
                    <a:pt x="1143000" y="283731"/>
                    <a:pt x="1143000" y="633730"/>
                  </a:cubicBezTo>
                  <a:cubicBezTo>
                    <a:pt x="1143000" y="983729"/>
                    <a:pt x="887131" y="1267460"/>
                    <a:pt x="571500" y="1267460"/>
                  </a:cubicBezTo>
                  <a:cubicBezTo>
                    <a:pt x="255869" y="1267460"/>
                    <a:pt x="0" y="983729"/>
                    <a:pt x="0" y="633730"/>
                  </a:cubicBezTo>
                  <a:cubicBezTo>
                    <a:pt x="0" y="283731"/>
                    <a:pt x="255869" y="0"/>
                    <a:pt x="571500" y="0"/>
                  </a:cubicBezTo>
                  <a:close/>
                </a:path>
              </a:pathLst>
            </a:custGeom>
            <a:solidFill>
              <a:srgbClr val="DCD8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143000" cy="130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9"/>
                </a:lnSpc>
              </a:pPr>
              <a:r>
                <a:rPr lang="en-US" sz="22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2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906250" y="3000375"/>
            <a:ext cx="4762500" cy="4762500"/>
            <a:chOff x="0" y="0"/>
            <a:chExt cx="6350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6350000"/>
                  </a:lnTo>
                  <a:lnTo>
                    <a:pt x="0" y="6350000"/>
                  </a:lnTo>
                  <a:close/>
                </a:path>
              </a:pathLst>
            </a:custGeom>
            <a:solidFill>
              <a:srgbClr val="6557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6350000" cy="638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306300" y="3476625"/>
            <a:ext cx="857250" cy="950595"/>
            <a:chOff x="0" y="0"/>
            <a:chExt cx="1143000" cy="126746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43000" cy="1267460"/>
            </a:xfrm>
            <a:custGeom>
              <a:avLst/>
              <a:gdLst/>
              <a:ahLst/>
              <a:cxnLst/>
              <a:rect l="l" t="t" r="r" b="b"/>
              <a:pathLst>
                <a:path w="1143000" h="1267460">
                  <a:moveTo>
                    <a:pt x="571500" y="0"/>
                  </a:moveTo>
                  <a:cubicBezTo>
                    <a:pt x="887131" y="0"/>
                    <a:pt x="1143000" y="283731"/>
                    <a:pt x="1143000" y="633730"/>
                  </a:cubicBezTo>
                  <a:cubicBezTo>
                    <a:pt x="1143000" y="983729"/>
                    <a:pt x="887131" y="1267460"/>
                    <a:pt x="571500" y="1267460"/>
                  </a:cubicBezTo>
                  <a:cubicBezTo>
                    <a:pt x="255869" y="1267460"/>
                    <a:pt x="0" y="983729"/>
                    <a:pt x="0" y="633730"/>
                  </a:cubicBezTo>
                  <a:cubicBezTo>
                    <a:pt x="0" y="283731"/>
                    <a:pt x="255869" y="0"/>
                    <a:pt x="571500" y="0"/>
                  </a:cubicBezTo>
                  <a:close/>
                </a:path>
              </a:pathLst>
            </a:custGeom>
            <a:solidFill>
              <a:srgbClr val="BFF3E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143000" cy="130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9"/>
                </a:lnSpc>
              </a:pPr>
              <a:r>
                <a:rPr lang="en-US" sz="22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3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447800" y="4810125"/>
            <a:ext cx="3905250" cy="1195388"/>
            <a:chOff x="0" y="0"/>
            <a:chExt cx="5207000" cy="1593850"/>
          </a:xfrm>
        </p:grpSpPr>
        <p:sp>
          <p:nvSpPr>
            <p:cNvPr id="23" name="TextBox 23"/>
            <p:cNvSpPr txBox="1"/>
            <p:nvPr/>
          </p:nvSpPr>
          <p:spPr>
            <a:xfrm>
              <a:off x="0" y="-47625"/>
              <a:ext cx="52070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텍스트 직접 입력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1158875"/>
              <a:ext cx="5080000" cy="434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27"/>
                </a:lnSpc>
              </a:pPr>
              <a:r>
                <a:rPr lang="en-US" sz="1950">
                  <a:solidFill>
                    <a:srgbClr val="69708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빠른 편집과 즉시 분석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877050" y="4810125"/>
            <a:ext cx="3905250" cy="1195388"/>
            <a:chOff x="0" y="0"/>
            <a:chExt cx="5207000" cy="1593850"/>
          </a:xfrm>
        </p:grpSpPr>
        <p:sp>
          <p:nvSpPr>
            <p:cNvPr id="26" name="TextBox 26"/>
            <p:cNvSpPr txBox="1"/>
            <p:nvPr/>
          </p:nvSpPr>
          <p:spPr>
            <a:xfrm>
              <a:off x="0" y="-47625"/>
              <a:ext cx="52070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음성 파일 업로드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1158875"/>
              <a:ext cx="5080000" cy="434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27"/>
                </a:lnSpc>
              </a:pPr>
              <a:r>
                <a:rPr lang="en-US" sz="1950">
                  <a:solidFill>
                    <a:srgbClr val="69708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기존 녹음 파일을 STT로 변환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306300" y="4810125"/>
            <a:ext cx="3905250" cy="1195388"/>
            <a:chOff x="0" y="0"/>
            <a:chExt cx="5207000" cy="1593850"/>
          </a:xfrm>
        </p:grpSpPr>
        <p:sp>
          <p:nvSpPr>
            <p:cNvPr id="29" name="TextBox 29"/>
            <p:cNvSpPr txBox="1"/>
            <p:nvPr/>
          </p:nvSpPr>
          <p:spPr>
            <a:xfrm>
              <a:off x="0" y="-47625"/>
              <a:ext cx="52070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브라우저 즉시 녹음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1158875"/>
              <a:ext cx="5080000" cy="434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27"/>
                </a:lnSpc>
              </a:pPr>
              <a:r>
                <a:rPr lang="en-US" sz="1950">
                  <a:solidFill>
                    <a:srgbClr val="DCD8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별도 앱 없이 현장에서 시작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42950"/>
            <a:ext cx="14287500" cy="694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6"/>
              </a:lnSpc>
            </a:pPr>
            <a:r>
              <a:rPr lang="en-US" sz="4950" b="1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AI가 회의를 ‘업무 데이터’로 바꿉니다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47750" y="1457325"/>
            <a:ext cx="13811250" cy="38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음성에서 실행 항목까지 이어지는 자동 처리 파이프라인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809625" y="4095750"/>
            <a:ext cx="2333625" cy="1428750"/>
            <a:chOff x="0" y="0"/>
            <a:chExt cx="3111500" cy="1905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111500" cy="1905000"/>
            </a:xfrm>
            <a:custGeom>
              <a:avLst/>
              <a:gdLst/>
              <a:ahLst/>
              <a:cxnLst/>
              <a:rect l="l" t="t" r="r" b="b"/>
              <a:pathLst>
                <a:path w="3111500" h="1905000">
                  <a:moveTo>
                    <a:pt x="93306" y="0"/>
                  </a:moveTo>
                  <a:lnTo>
                    <a:pt x="3018194" y="0"/>
                  </a:lnTo>
                  <a:cubicBezTo>
                    <a:pt x="3069725" y="0"/>
                    <a:pt x="3111500" y="41775"/>
                    <a:pt x="3111500" y="93306"/>
                  </a:cubicBezTo>
                  <a:lnTo>
                    <a:pt x="3111500" y="1811694"/>
                  </a:lnTo>
                  <a:cubicBezTo>
                    <a:pt x="3111500" y="1863225"/>
                    <a:pt x="3069725" y="1905000"/>
                    <a:pt x="3018194" y="1905000"/>
                  </a:cubicBezTo>
                  <a:lnTo>
                    <a:pt x="93306" y="1905000"/>
                  </a:lnTo>
                  <a:cubicBezTo>
                    <a:pt x="41775" y="1905000"/>
                    <a:pt x="0" y="1863225"/>
                    <a:pt x="0" y="1811694"/>
                  </a:cubicBezTo>
                  <a:lnTo>
                    <a:pt x="0" y="93306"/>
                  </a:lnTo>
                  <a:cubicBezTo>
                    <a:pt x="0" y="41775"/>
                    <a:pt x="41775" y="0"/>
                    <a:pt x="93306" y="0"/>
                  </a:cubicBezTo>
                  <a:close/>
                </a:path>
              </a:pathLst>
            </a:custGeom>
            <a:solidFill>
              <a:srgbClr val="282E5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1115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음성·텍스트</a:t>
              </a:r>
            </a:p>
          </p:txBody>
        </p:sp>
      </p:grpSp>
      <p:sp>
        <p:nvSpPr>
          <p:cNvPr id="7" name="AutoShape 7"/>
          <p:cNvSpPr/>
          <p:nvPr/>
        </p:nvSpPr>
        <p:spPr>
          <a:xfrm>
            <a:off x="3190875" y="4810125"/>
            <a:ext cx="419100" cy="0"/>
          </a:xfrm>
          <a:prstGeom prst="line">
            <a:avLst/>
          </a:prstGeom>
          <a:ln w="47625" cap="rnd">
            <a:solidFill>
              <a:srgbClr val="39C6D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8" name="Group 8"/>
          <p:cNvGrpSpPr/>
          <p:nvPr/>
        </p:nvGrpSpPr>
        <p:grpSpPr>
          <a:xfrm>
            <a:off x="3714750" y="4095750"/>
            <a:ext cx="2333625" cy="1428750"/>
            <a:chOff x="0" y="0"/>
            <a:chExt cx="3111500" cy="1905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111500" cy="1905000"/>
            </a:xfrm>
            <a:custGeom>
              <a:avLst/>
              <a:gdLst/>
              <a:ahLst/>
              <a:cxnLst/>
              <a:rect l="l" t="t" r="r" b="b"/>
              <a:pathLst>
                <a:path w="3111500" h="1905000">
                  <a:moveTo>
                    <a:pt x="93306" y="0"/>
                  </a:moveTo>
                  <a:lnTo>
                    <a:pt x="3018194" y="0"/>
                  </a:lnTo>
                  <a:cubicBezTo>
                    <a:pt x="3069725" y="0"/>
                    <a:pt x="3111500" y="41775"/>
                    <a:pt x="3111500" y="93306"/>
                  </a:cubicBezTo>
                  <a:lnTo>
                    <a:pt x="3111500" y="1811694"/>
                  </a:lnTo>
                  <a:cubicBezTo>
                    <a:pt x="3111500" y="1863225"/>
                    <a:pt x="3069725" y="1905000"/>
                    <a:pt x="3018194" y="1905000"/>
                  </a:cubicBezTo>
                  <a:lnTo>
                    <a:pt x="93306" y="1905000"/>
                  </a:lnTo>
                  <a:cubicBezTo>
                    <a:pt x="41775" y="1905000"/>
                    <a:pt x="0" y="1863225"/>
                    <a:pt x="0" y="1811694"/>
                  </a:cubicBezTo>
                  <a:lnTo>
                    <a:pt x="0" y="93306"/>
                  </a:lnTo>
                  <a:cubicBezTo>
                    <a:pt x="0" y="41775"/>
                    <a:pt x="41775" y="0"/>
                    <a:pt x="93306" y="0"/>
                  </a:cubicBezTo>
                  <a:close/>
                </a:path>
              </a:pathLst>
            </a:custGeom>
            <a:solidFill>
              <a:srgbClr val="6557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1115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STT 변환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6096000" y="4810125"/>
            <a:ext cx="419100" cy="0"/>
          </a:xfrm>
          <a:prstGeom prst="line">
            <a:avLst/>
          </a:prstGeom>
          <a:ln w="47625" cap="rnd">
            <a:solidFill>
              <a:srgbClr val="39C6D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12" name="Group 12"/>
          <p:cNvGrpSpPr/>
          <p:nvPr/>
        </p:nvGrpSpPr>
        <p:grpSpPr>
          <a:xfrm>
            <a:off x="6619875" y="4095750"/>
            <a:ext cx="2333625" cy="1428750"/>
            <a:chOff x="0" y="0"/>
            <a:chExt cx="3111500" cy="1905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111500" cy="1905000"/>
            </a:xfrm>
            <a:custGeom>
              <a:avLst/>
              <a:gdLst/>
              <a:ahLst/>
              <a:cxnLst/>
              <a:rect l="l" t="t" r="r" b="b"/>
              <a:pathLst>
                <a:path w="3111500" h="1905000">
                  <a:moveTo>
                    <a:pt x="93306" y="0"/>
                  </a:moveTo>
                  <a:lnTo>
                    <a:pt x="3018194" y="0"/>
                  </a:lnTo>
                  <a:cubicBezTo>
                    <a:pt x="3069725" y="0"/>
                    <a:pt x="3111500" y="41775"/>
                    <a:pt x="3111500" y="93306"/>
                  </a:cubicBezTo>
                  <a:lnTo>
                    <a:pt x="3111500" y="1811694"/>
                  </a:lnTo>
                  <a:cubicBezTo>
                    <a:pt x="3111500" y="1863225"/>
                    <a:pt x="3069725" y="1905000"/>
                    <a:pt x="3018194" y="1905000"/>
                  </a:cubicBezTo>
                  <a:lnTo>
                    <a:pt x="93306" y="1905000"/>
                  </a:lnTo>
                  <a:cubicBezTo>
                    <a:pt x="41775" y="1905000"/>
                    <a:pt x="0" y="1863225"/>
                    <a:pt x="0" y="1811694"/>
                  </a:cubicBezTo>
                  <a:lnTo>
                    <a:pt x="0" y="93306"/>
                  </a:lnTo>
                  <a:cubicBezTo>
                    <a:pt x="0" y="41775"/>
                    <a:pt x="41775" y="0"/>
                    <a:pt x="93306" y="0"/>
                  </a:cubicBezTo>
                  <a:close/>
                </a:path>
              </a:pathLst>
            </a:custGeom>
            <a:solidFill>
              <a:srgbClr val="6557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1115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요약·안건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9001125" y="4810125"/>
            <a:ext cx="419100" cy="0"/>
          </a:xfrm>
          <a:prstGeom prst="line">
            <a:avLst/>
          </a:prstGeom>
          <a:ln w="47625" cap="rnd">
            <a:solidFill>
              <a:srgbClr val="39C6D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16" name="Group 16"/>
          <p:cNvGrpSpPr/>
          <p:nvPr/>
        </p:nvGrpSpPr>
        <p:grpSpPr>
          <a:xfrm>
            <a:off x="9525000" y="4095750"/>
            <a:ext cx="2333625" cy="1428750"/>
            <a:chOff x="0" y="0"/>
            <a:chExt cx="3111500" cy="1905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111500" cy="1905000"/>
            </a:xfrm>
            <a:custGeom>
              <a:avLst/>
              <a:gdLst/>
              <a:ahLst/>
              <a:cxnLst/>
              <a:rect l="l" t="t" r="r" b="b"/>
              <a:pathLst>
                <a:path w="3111500" h="1905000">
                  <a:moveTo>
                    <a:pt x="93306" y="0"/>
                  </a:moveTo>
                  <a:lnTo>
                    <a:pt x="3018194" y="0"/>
                  </a:lnTo>
                  <a:cubicBezTo>
                    <a:pt x="3069725" y="0"/>
                    <a:pt x="3111500" y="41775"/>
                    <a:pt x="3111500" y="93306"/>
                  </a:cubicBezTo>
                  <a:lnTo>
                    <a:pt x="3111500" y="1811694"/>
                  </a:lnTo>
                  <a:cubicBezTo>
                    <a:pt x="3111500" y="1863225"/>
                    <a:pt x="3069725" y="1905000"/>
                    <a:pt x="3018194" y="1905000"/>
                  </a:cubicBezTo>
                  <a:lnTo>
                    <a:pt x="93306" y="1905000"/>
                  </a:lnTo>
                  <a:cubicBezTo>
                    <a:pt x="41775" y="1905000"/>
                    <a:pt x="0" y="1863225"/>
                    <a:pt x="0" y="1811694"/>
                  </a:cubicBezTo>
                  <a:lnTo>
                    <a:pt x="0" y="93306"/>
                  </a:lnTo>
                  <a:cubicBezTo>
                    <a:pt x="0" y="41775"/>
                    <a:pt x="41775" y="0"/>
                    <a:pt x="93306" y="0"/>
                  </a:cubicBezTo>
                  <a:close/>
                </a:path>
              </a:pathLst>
            </a:custGeom>
            <a:solidFill>
              <a:srgbClr val="6557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31115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결정사항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>
            <a:off x="11906250" y="4810125"/>
            <a:ext cx="419100" cy="0"/>
          </a:xfrm>
          <a:prstGeom prst="line">
            <a:avLst/>
          </a:prstGeom>
          <a:ln w="47625" cap="rnd">
            <a:solidFill>
              <a:srgbClr val="39C6D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20" name="Group 20"/>
          <p:cNvGrpSpPr/>
          <p:nvPr/>
        </p:nvGrpSpPr>
        <p:grpSpPr>
          <a:xfrm>
            <a:off x="12430125" y="4095750"/>
            <a:ext cx="2333625" cy="1428750"/>
            <a:chOff x="0" y="0"/>
            <a:chExt cx="3111500" cy="1905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111500" cy="1905000"/>
            </a:xfrm>
            <a:custGeom>
              <a:avLst/>
              <a:gdLst/>
              <a:ahLst/>
              <a:cxnLst/>
              <a:rect l="l" t="t" r="r" b="b"/>
              <a:pathLst>
                <a:path w="3111500" h="1905000">
                  <a:moveTo>
                    <a:pt x="93306" y="0"/>
                  </a:moveTo>
                  <a:lnTo>
                    <a:pt x="3018194" y="0"/>
                  </a:lnTo>
                  <a:cubicBezTo>
                    <a:pt x="3069725" y="0"/>
                    <a:pt x="3111500" y="41775"/>
                    <a:pt x="3111500" y="93306"/>
                  </a:cubicBezTo>
                  <a:lnTo>
                    <a:pt x="3111500" y="1811694"/>
                  </a:lnTo>
                  <a:cubicBezTo>
                    <a:pt x="3111500" y="1863225"/>
                    <a:pt x="3069725" y="1905000"/>
                    <a:pt x="3018194" y="1905000"/>
                  </a:cubicBezTo>
                  <a:lnTo>
                    <a:pt x="93306" y="1905000"/>
                  </a:lnTo>
                  <a:cubicBezTo>
                    <a:pt x="41775" y="1905000"/>
                    <a:pt x="0" y="1863225"/>
                    <a:pt x="0" y="1811694"/>
                  </a:cubicBezTo>
                  <a:lnTo>
                    <a:pt x="0" y="93306"/>
                  </a:lnTo>
                  <a:cubicBezTo>
                    <a:pt x="0" y="41775"/>
                    <a:pt x="41775" y="0"/>
                    <a:pt x="93306" y="0"/>
                  </a:cubicBezTo>
                  <a:close/>
                </a:path>
              </a:pathLst>
            </a:custGeom>
            <a:solidFill>
              <a:srgbClr val="6557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31115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Action Item</a:t>
              </a:r>
            </a:p>
          </p:txBody>
        </p:sp>
      </p:grpSp>
      <p:sp>
        <p:nvSpPr>
          <p:cNvPr id="23" name="AutoShape 23"/>
          <p:cNvSpPr/>
          <p:nvPr/>
        </p:nvSpPr>
        <p:spPr>
          <a:xfrm>
            <a:off x="14811375" y="4810125"/>
            <a:ext cx="419100" cy="0"/>
          </a:xfrm>
          <a:prstGeom prst="line">
            <a:avLst/>
          </a:prstGeom>
          <a:ln w="47625" cap="rnd">
            <a:solidFill>
              <a:srgbClr val="39C6D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24" name="Group 24"/>
          <p:cNvGrpSpPr/>
          <p:nvPr/>
        </p:nvGrpSpPr>
        <p:grpSpPr>
          <a:xfrm>
            <a:off x="15335250" y="4095750"/>
            <a:ext cx="2333625" cy="1428750"/>
            <a:chOff x="0" y="0"/>
            <a:chExt cx="3111500" cy="1905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111500" cy="1905000"/>
            </a:xfrm>
            <a:custGeom>
              <a:avLst/>
              <a:gdLst/>
              <a:ahLst/>
              <a:cxnLst/>
              <a:rect l="l" t="t" r="r" b="b"/>
              <a:pathLst>
                <a:path w="3111500" h="1905000">
                  <a:moveTo>
                    <a:pt x="93306" y="0"/>
                  </a:moveTo>
                  <a:lnTo>
                    <a:pt x="3018194" y="0"/>
                  </a:lnTo>
                  <a:cubicBezTo>
                    <a:pt x="3069725" y="0"/>
                    <a:pt x="3111500" y="41775"/>
                    <a:pt x="3111500" y="93306"/>
                  </a:cubicBezTo>
                  <a:lnTo>
                    <a:pt x="3111500" y="1811694"/>
                  </a:lnTo>
                  <a:cubicBezTo>
                    <a:pt x="3111500" y="1863225"/>
                    <a:pt x="3069725" y="1905000"/>
                    <a:pt x="3018194" y="1905000"/>
                  </a:cubicBezTo>
                  <a:lnTo>
                    <a:pt x="93306" y="1905000"/>
                  </a:lnTo>
                  <a:cubicBezTo>
                    <a:pt x="41775" y="1905000"/>
                    <a:pt x="0" y="1863225"/>
                    <a:pt x="0" y="1811694"/>
                  </a:cubicBezTo>
                  <a:lnTo>
                    <a:pt x="0" y="93306"/>
                  </a:lnTo>
                  <a:cubicBezTo>
                    <a:pt x="0" y="41775"/>
                    <a:pt x="41775" y="0"/>
                    <a:pt x="93306" y="0"/>
                  </a:cubicBezTo>
                  <a:close/>
                </a:path>
              </a:pathLst>
            </a:custGeom>
            <a:solidFill>
              <a:srgbClr val="BFF3E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31115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담당자·마감일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2667000" y="7096125"/>
            <a:ext cx="12954000" cy="480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0"/>
              </a:lnSpc>
            </a:pPr>
            <a:r>
              <a:rPr lang="en-US" sz="2850" b="1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핵심은 요약이 아니라, 결정과 실행 주체를 자동으로 연결하는 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42950"/>
            <a:ext cx="14287500" cy="694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6"/>
              </a:lnSpc>
            </a:pPr>
            <a:r>
              <a:rPr lang="en-US" sz="4950" b="1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한눈에 보는 업무와 일정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47750" y="1457325"/>
            <a:ext cx="13811250" cy="38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회의 결과가 대시보드와 캘린더에서 실시간 상태로 이어집니다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81050" y="3181350"/>
            <a:ext cx="95250" cy="1143000"/>
            <a:chOff x="0" y="0"/>
            <a:chExt cx="127000" cy="1524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7000" cy="1524000"/>
            </a:xfrm>
            <a:custGeom>
              <a:avLst/>
              <a:gdLst/>
              <a:ahLst/>
              <a:cxnLst/>
              <a:rect l="l" t="t" r="r" b="b"/>
              <a:pathLst>
                <a:path w="127000" h="1524000">
                  <a:moveTo>
                    <a:pt x="0" y="0"/>
                  </a:moveTo>
                  <a:lnTo>
                    <a:pt x="127000" y="0"/>
                  </a:lnTo>
                  <a:lnTo>
                    <a:pt x="127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6557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7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47750" y="3152775"/>
            <a:ext cx="809625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지금 해야 할 일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7750" y="4714875"/>
            <a:ext cx="6191250" cy="352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025">
                <a:solidFill>
                  <a:srgbClr val="161A2F"/>
                </a:solidFill>
                <a:latin typeface="Noto Sans Kr"/>
                <a:ea typeface="Noto Sans Kr"/>
                <a:cs typeface="Noto Sans Kr"/>
                <a:sym typeface="Noto Sans Kr"/>
              </a:rPr>
              <a:t>진행 현황 시각화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7750" y="5572125"/>
            <a:ext cx="6191250" cy="352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025">
                <a:solidFill>
                  <a:srgbClr val="161A2F"/>
                </a:solidFill>
                <a:latin typeface="Noto Sans Kr"/>
                <a:ea typeface="Noto Sans Kr"/>
                <a:cs typeface="Noto Sans Kr"/>
                <a:sym typeface="Noto Sans Kr"/>
              </a:rPr>
              <a:t>마감 임박 업무 알림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7750" y="6429375"/>
            <a:ext cx="6191250" cy="352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025">
                <a:solidFill>
                  <a:srgbClr val="161A2F"/>
                </a:solidFill>
                <a:latin typeface="Noto Sans Kr"/>
                <a:ea typeface="Noto Sans Kr"/>
                <a:cs typeface="Noto Sans Kr"/>
                <a:sym typeface="Noto Sans Kr"/>
              </a:rPr>
              <a:t>캘린더 일정 연동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7750" y="7286625"/>
            <a:ext cx="6191250" cy="352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025">
                <a:solidFill>
                  <a:srgbClr val="161A2F"/>
                </a:solidFill>
                <a:latin typeface="Noto Sans Kr"/>
                <a:ea typeface="Noto Sans Kr"/>
                <a:cs typeface="Noto Sans Kr"/>
                <a:sym typeface="Noto Sans Kr"/>
              </a:rPr>
              <a:t>실시간 상태 확인</a:t>
            </a: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2324100"/>
            <a:ext cx="4495800" cy="6917195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0" y="2297373"/>
            <a:ext cx="3810000" cy="69467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42950"/>
            <a:ext cx="14287500" cy="694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6"/>
              </a:lnSpc>
            </a:pPr>
            <a:r>
              <a:rPr lang="en-US" sz="4950" b="1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사람이 아니라 ‘회원 ID’로 권한을 구분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47750" y="1457325"/>
            <a:ext cx="13811250" cy="38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동명이인을 안전하게 식별하고 회의별 참석 여부에 따라 접근을 제어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7239000" y="4000500"/>
            <a:ext cx="3810000" cy="1714500"/>
            <a:chOff x="0" y="0"/>
            <a:chExt cx="50800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080000" cy="2286000"/>
            </a:xfrm>
            <a:custGeom>
              <a:avLst/>
              <a:gdLst/>
              <a:ahLst/>
              <a:cxnLst/>
              <a:rect l="l" t="t" r="r" b="b"/>
              <a:pathLst>
                <a:path w="5080000" h="2286000">
                  <a:moveTo>
                    <a:pt x="57150" y="0"/>
                  </a:moveTo>
                  <a:lnTo>
                    <a:pt x="5022850" y="0"/>
                  </a:lnTo>
                  <a:cubicBezTo>
                    <a:pt x="5054413" y="0"/>
                    <a:pt x="5080000" y="25587"/>
                    <a:pt x="5080000" y="57150"/>
                  </a:cubicBezTo>
                  <a:lnTo>
                    <a:pt x="5080000" y="2228850"/>
                  </a:lnTo>
                  <a:cubicBezTo>
                    <a:pt x="5080000" y="2260413"/>
                    <a:pt x="5054413" y="2286000"/>
                    <a:pt x="5022850" y="2286000"/>
                  </a:cubicBezTo>
                  <a:lnTo>
                    <a:pt x="57150" y="2286000"/>
                  </a:lnTo>
                  <a:cubicBezTo>
                    <a:pt x="25587" y="2286000"/>
                    <a:pt x="0" y="2260413"/>
                    <a:pt x="0" y="2228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6557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5080000" cy="232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회의 데이터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000250" y="3143250"/>
            <a:ext cx="3714750" cy="1143000"/>
            <a:chOff x="0" y="0"/>
            <a:chExt cx="4953000" cy="1524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53000" cy="1524000"/>
            </a:xfrm>
            <a:custGeom>
              <a:avLst/>
              <a:gdLst/>
              <a:ahLst/>
              <a:cxnLst/>
              <a:rect l="l" t="t" r="r" b="b"/>
              <a:pathLst>
                <a:path w="4953000" h="1524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1465385"/>
                  </a:lnTo>
                  <a:cubicBezTo>
                    <a:pt x="4953000" y="1497757"/>
                    <a:pt x="4926757" y="1524000"/>
                    <a:pt x="4894385" y="1524000"/>
                  </a:cubicBezTo>
                  <a:lnTo>
                    <a:pt x="58615" y="1524000"/>
                  </a:lnTo>
                  <a:cubicBezTo>
                    <a:pt x="26243" y="1524000"/>
                    <a:pt x="0" y="1497757"/>
                    <a:pt x="0" y="14653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BFF3E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953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참석자</a:t>
              </a:r>
            </a:p>
          </p:txBody>
        </p:sp>
      </p:grpSp>
      <p:sp>
        <p:nvSpPr>
          <p:cNvPr id="10" name="AutoShape 10"/>
          <p:cNvSpPr/>
          <p:nvPr/>
        </p:nvSpPr>
        <p:spPr>
          <a:xfrm>
            <a:off x="3857625" y="3714750"/>
            <a:ext cx="5286375" cy="1143000"/>
          </a:xfrm>
          <a:prstGeom prst="line">
            <a:avLst/>
          </a:prstGeom>
          <a:ln w="28575" cap="flat">
            <a:solidFill>
              <a:srgbClr val="D9DDE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>
            <a:off x="12477750" y="3143250"/>
            <a:ext cx="3714750" cy="1143000"/>
            <a:chOff x="0" y="0"/>
            <a:chExt cx="4953000" cy="1524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953000" cy="1524000"/>
            </a:xfrm>
            <a:custGeom>
              <a:avLst/>
              <a:gdLst/>
              <a:ahLst/>
              <a:cxnLst/>
              <a:rect l="l" t="t" r="r" b="b"/>
              <a:pathLst>
                <a:path w="4953000" h="1524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1465385"/>
                  </a:lnTo>
                  <a:cubicBezTo>
                    <a:pt x="4953000" y="1497757"/>
                    <a:pt x="4926757" y="1524000"/>
                    <a:pt x="4894385" y="1524000"/>
                  </a:cubicBezTo>
                  <a:lnTo>
                    <a:pt x="58615" y="1524000"/>
                  </a:lnTo>
                  <a:cubicBezTo>
                    <a:pt x="26243" y="1524000"/>
                    <a:pt x="0" y="1497757"/>
                    <a:pt x="0" y="14653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FFE1E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953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미참석자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 flipH="1">
            <a:off x="9144000" y="3714750"/>
            <a:ext cx="5191125" cy="1143000"/>
          </a:xfrm>
          <a:prstGeom prst="line">
            <a:avLst/>
          </a:prstGeom>
          <a:ln w="28575" cap="flat">
            <a:solidFill>
              <a:srgbClr val="D9DDE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15" name="Group 15"/>
          <p:cNvGrpSpPr/>
          <p:nvPr/>
        </p:nvGrpSpPr>
        <p:grpSpPr>
          <a:xfrm>
            <a:off x="2000250" y="6667500"/>
            <a:ext cx="3714750" cy="1143000"/>
            <a:chOff x="0" y="0"/>
            <a:chExt cx="4953000" cy="1524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953000" cy="1524000"/>
            </a:xfrm>
            <a:custGeom>
              <a:avLst/>
              <a:gdLst/>
              <a:ahLst/>
              <a:cxnLst/>
              <a:rect l="l" t="t" r="r" b="b"/>
              <a:pathLst>
                <a:path w="4953000" h="1524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1465385"/>
                  </a:lnTo>
                  <a:cubicBezTo>
                    <a:pt x="4953000" y="1497757"/>
                    <a:pt x="4926757" y="1524000"/>
                    <a:pt x="4894385" y="1524000"/>
                  </a:cubicBezTo>
                  <a:lnTo>
                    <a:pt x="58615" y="1524000"/>
                  </a:lnTo>
                  <a:cubicBezTo>
                    <a:pt x="26243" y="1524000"/>
                    <a:pt x="0" y="1497757"/>
                    <a:pt x="0" y="14653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4953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이름 + 이메일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 flipV="1">
            <a:off x="3857625" y="4857750"/>
            <a:ext cx="5286375" cy="2381250"/>
          </a:xfrm>
          <a:prstGeom prst="line">
            <a:avLst/>
          </a:prstGeom>
          <a:ln w="28575" cap="flat">
            <a:solidFill>
              <a:srgbClr val="D9DDE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19" name="Group 19"/>
          <p:cNvGrpSpPr/>
          <p:nvPr/>
        </p:nvGrpSpPr>
        <p:grpSpPr>
          <a:xfrm>
            <a:off x="12477750" y="6667500"/>
            <a:ext cx="3714750" cy="1143000"/>
            <a:chOff x="0" y="0"/>
            <a:chExt cx="4953000" cy="1524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953000" cy="1524000"/>
            </a:xfrm>
            <a:custGeom>
              <a:avLst/>
              <a:gdLst/>
              <a:ahLst/>
              <a:cxnLst/>
              <a:rect l="l" t="t" r="r" b="b"/>
              <a:pathLst>
                <a:path w="4953000" h="1524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1465385"/>
                  </a:lnTo>
                  <a:cubicBezTo>
                    <a:pt x="4953000" y="1497757"/>
                    <a:pt x="4926757" y="1524000"/>
                    <a:pt x="4894385" y="1524000"/>
                  </a:cubicBezTo>
                  <a:lnTo>
                    <a:pt x="58615" y="1524000"/>
                  </a:lnTo>
                  <a:cubicBezTo>
                    <a:pt x="26243" y="1524000"/>
                    <a:pt x="0" y="1497757"/>
                    <a:pt x="0" y="14653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4953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고유 회원 ID</a:t>
              </a:r>
            </a:p>
          </p:txBody>
        </p:sp>
      </p:grpSp>
      <p:sp>
        <p:nvSpPr>
          <p:cNvPr id="22" name="AutoShape 22"/>
          <p:cNvSpPr/>
          <p:nvPr/>
        </p:nvSpPr>
        <p:spPr>
          <a:xfrm flipH="1" flipV="1">
            <a:off x="9144000" y="4857750"/>
            <a:ext cx="5191125" cy="2381250"/>
          </a:xfrm>
          <a:prstGeom prst="line">
            <a:avLst/>
          </a:prstGeom>
          <a:ln w="28575" cap="flat">
            <a:solidFill>
              <a:srgbClr val="D9DDE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2000250" y="4438650"/>
            <a:ext cx="371475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조회·공유 허용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477750" y="4438650"/>
            <a:ext cx="371475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접근 제한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000250" y="7962900"/>
            <a:ext cx="371475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동명이인 구분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477750" y="7962900"/>
            <a:ext cx="371475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권한 기준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42950"/>
            <a:ext cx="14287500" cy="694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6"/>
              </a:lnSpc>
            </a:pPr>
            <a:r>
              <a:rPr lang="en-US" sz="4950" b="1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단순하고 명확한 서비스 아키텍처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47750" y="1457325"/>
            <a:ext cx="13811250" cy="38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HTTPS 진입부터 AI·DB 연동, 컨테이너 배포까지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52500" y="4286250"/>
            <a:ext cx="2381250" cy="1333500"/>
            <a:chOff x="0" y="0"/>
            <a:chExt cx="3175000" cy="1778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175000" cy="1778000"/>
            </a:xfrm>
            <a:custGeom>
              <a:avLst/>
              <a:gdLst/>
              <a:ahLst/>
              <a:cxnLst/>
              <a:rect l="l" t="t" r="r" b="b"/>
              <a:pathLst>
                <a:path w="3175000" h="1778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1686560"/>
                  </a:lnTo>
                  <a:cubicBezTo>
                    <a:pt x="3175000" y="1737061"/>
                    <a:pt x="3134061" y="1778000"/>
                    <a:pt x="3083560" y="1778000"/>
                  </a:cubicBezTo>
                  <a:lnTo>
                    <a:pt x="91440" y="1778000"/>
                  </a:lnTo>
                  <a:cubicBezTo>
                    <a:pt x="40939" y="1778000"/>
                    <a:pt x="0" y="1737061"/>
                    <a:pt x="0" y="1686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242A4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175000" cy="181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사용자 브라우저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095750" y="4286250"/>
            <a:ext cx="2381250" cy="1333500"/>
            <a:chOff x="0" y="0"/>
            <a:chExt cx="3175000" cy="1778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75000" cy="1778000"/>
            </a:xfrm>
            <a:custGeom>
              <a:avLst/>
              <a:gdLst/>
              <a:ahLst/>
              <a:cxnLst/>
              <a:rect l="l" t="t" r="r" b="b"/>
              <a:pathLst>
                <a:path w="3175000" h="1778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1686560"/>
                  </a:lnTo>
                  <a:cubicBezTo>
                    <a:pt x="3175000" y="1737061"/>
                    <a:pt x="3134061" y="1778000"/>
                    <a:pt x="3083560" y="1778000"/>
                  </a:cubicBezTo>
                  <a:lnTo>
                    <a:pt x="91440" y="1778000"/>
                  </a:lnTo>
                  <a:cubicBezTo>
                    <a:pt x="40939" y="1778000"/>
                    <a:pt x="0" y="1737061"/>
                    <a:pt x="0" y="1686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242A4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175000" cy="181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Nginx / HTTPS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239000" y="4286250"/>
            <a:ext cx="2381250" cy="1333500"/>
            <a:chOff x="0" y="0"/>
            <a:chExt cx="3175000" cy="1778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175000" cy="1778000"/>
            </a:xfrm>
            <a:custGeom>
              <a:avLst/>
              <a:gdLst/>
              <a:ahLst/>
              <a:cxnLst/>
              <a:rect l="l" t="t" r="r" b="b"/>
              <a:pathLst>
                <a:path w="3175000" h="1778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1686560"/>
                  </a:lnTo>
                  <a:cubicBezTo>
                    <a:pt x="3175000" y="1737061"/>
                    <a:pt x="3134061" y="1778000"/>
                    <a:pt x="3083560" y="1778000"/>
                  </a:cubicBezTo>
                  <a:lnTo>
                    <a:pt x="91440" y="1778000"/>
                  </a:lnTo>
                  <a:cubicBezTo>
                    <a:pt x="40939" y="1778000"/>
                    <a:pt x="0" y="1737061"/>
                    <a:pt x="0" y="1686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6557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175000" cy="181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FastAPI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572750" y="3143250"/>
            <a:ext cx="2381250" cy="1333500"/>
            <a:chOff x="0" y="0"/>
            <a:chExt cx="3175000" cy="1778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175000" cy="1778000"/>
            </a:xfrm>
            <a:custGeom>
              <a:avLst/>
              <a:gdLst/>
              <a:ahLst/>
              <a:cxnLst/>
              <a:rect l="l" t="t" r="r" b="b"/>
              <a:pathLst>
                <a:path w="3175000" h="1778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1686560"/>
                  </a:lnTo>
                  <a:cubicBezTo>
                    <a:pt x="3175000" y="1737061"/>
                    <a:pt x="3134061" y="1778000"/>
                    <a:pt x="3083560" y="1778000"/>
                  </a:cubicBezTo>
                  <a:lnTo>
                    <a:pt x="91440" y="1778000"/>
                  </a:lnTo>
                  <a:cubicBezTo>
                    <a:pt x="40939" y="1778000"/>
                    <a:pt x="0" y="1737061"/>
                    <a:pt x="0" y="1686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242A4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3175000" cy="181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PostgreSQL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572750" y="5715000"/>
            <a:ext cx="2381250" cy="1333500"/>
            <a:chOff x="0" y="0"/>
            <a:chExt cx="3175000" cy="1778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175000" cy="1778000"/>
            </a:xfrm>
            <a:custGeom>
              <a:avLst/>
              <a:gdLst/>
              <a:ahLst/>
              <a:cxnLst/>
              <a:rect l="l" t="t" r="r" b="b"/>
              <a:pathLst>
                <a:path w="3175000" h="1778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1686560"/>
                  </a:lnTo>
                  <a:cubicBezTo>
                    <a:pt x="3175000" y="1737061"/>
                    <a:pt x="3134061" y="1778000"/>
                    <a:pt x="3083560" y="1778000"/>
                  </a:cubicBezTo>
                  <a:lnTo>
                    <a:pt x="91440" y="1778000"/>
                  </a:lnTo>
                  <a:cubicBezTo>
                    <a:pt x="40939" y="1778000"/>
                    <a:pt x="0" y="1737061"/>
                    <a:pt x="0" y="1686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242A4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3175000" cy="181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STT · LLM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4382750" y="4286250"/>
            <a:ext cx="2857500" cy="1333500"/>
            <a:chOff x="0" y="0"/>
            <a:chExt cx="3810000" cy="1778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810000" cy="1778000"/>
            </a:xfrm>
            <a:custGeom>
              <a:avLst/>
              <a:gdLst/>
              <a:ahLst/>
              <a:cxnLst/>
              <a:rect l="l" t="t" r="r" b="b"/>
              <a:pathLst>
                <a:path w="3810000" h="1778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701800"/>
                  </a:lnTo>
                  <a:cubicBezTo>
                    <a:pt x="3810000" y="1743884"/>
                    <a:pt x="3775884" y="1778000"/>
                    <a:pt x="3733800" y="1778000"/>
                  </a:cubicBezTo>
                  <a:lnTo>
                    <a:pt x="76200" y="1778000"/>
                  </a:lnTo>
                  <a:cubicBezTo>
                    <a:pt x="34116" y="1778000"/>
                    <a:pt x="0" y="1743884"/>
                    <a:pt x="0" y="1701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242A4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810000" cy="181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AWS Lightsail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Docker Compose</a:t>
              </a:r>
            </a:p>
          </p:txBody>
        </p:sp>
      </p:grpSp>
      <p:sp>
        <p:nvSpPr>
          <p:cNvPr id="22" name="AutoShape 22"/>
          <p:cNvSpPr/>
          <p:nvPr/>
        </p:nvSpPr>
        <p:spPr>
          <a:xfrm>
            <a:off x="3333750" y="4953000"/>
            <a:ext cx="666750" cy="0"/>
          </a:xfrm>
          <a:prstGeom prst="line">
            <a:avLst/>
          </a:prstGeom>
          <a:ln w="38100" cap="rnd">
            <a:solidFill>
              <a:srgbClr val="39C6D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477000" y="4953000"/>
            <a:ext cx="666750" cy="0"/>
          </a:xfrm>
          <a:prstGeom prst="line">
            <a:avLst/>
          </a:prstGeom>
          <a:ln w="38100" cap="rnd">
            <a:solidFill>
              <a:srgbClr val="39C6D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4" name="AutoShape 24"/>
          <p:cNvSpPr/>
          <p:nvPr/>
        </p:nvSpPr>
        <p:spPr>
          <a:xfrm flipV="1">
            <a:off x="9620250" y="3810000"/>
            <a:ext cx="857250" cy="952500"/>
          </a:xfrm>
          <a:prstGeom prst="line">
            <a:avLst/>
          </a:prstGeom>
          <a:ln w="38100" cap="rnd">
            <a:solidFill>
              <a:srgbClr val="39C6D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9620250" y="5143500"/>
            <a:ext cx="857250" cy="1238250"/>
          </a:xfrm>
          <a:prstGeom prst="line">
            <a:avLst/>
          </a:prstGeom>
          <a:ln w="38100" cap="rnd">
            <a:solidFill>
              <a:srgbClr val="39C6D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12954000" y="3810000"/>
            <a:ext cx="1333500" cy="952500"/>
          </a:xfrm>
          <a:prstGeom prst="line">
            <a:avLst/>
          </a:prstGeom>
          <a:ln w="38100" cap="rnd">
            <a:solidFill>
              <a:srgbClr val="39C6D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7" name="AutoShape 27"/>
          <p:cNvSpPr/>
          <p:nvPr/>
        </p:nvSpPr>
        <p:spPr>
          <a:xfrm flipV="1">
            <a:off x="12954000" y="5143500"/>
            <a:ext cx="1333500" cy="1238250"/>
          </a:xfrm>
          <a:prstGeom prst="line">
            <a:avLst/>
          </a:prstGeom>
          <a:ln w="38100" cap="rnd">
            <a:solidFill>
              <a:srgbClr val="39C6D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42950"/>
            <a:ext cx="14287500" cy="694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6"/>
              </a:lnSpc>
            </a:pPr>
            <a:r>
              <a:rPr lang="en-US" sz="4950" b="1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기술 스택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47750" y="1457325"/>
            <a:ext cx="13811250" cy="38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 계층별로 선택한 검증된 도구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47750" y="2571750"/>
            <a:ext cx="16192500" cy="857250"/>
            <a:chOff x="0" y="0"/>
            <a:chExt cx="21590000" cy="1143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590000" cy="1143000"/>
            </a:xfrm>
            <a:custGeom>
              <a:avLst/>
              <a:gdLst/>
              <a:ahLst/>
              <a:cxnLst/>
              <a:rect l="l" t="t" r="r" b="b"/>
              <a:pathLst>
                <a:path w="21590000" h="1143000">
                  <a:moveTo>
                    <a:pt x="0" y="0"/>
                  </a:moveTo>
                  <a:lnTo>
                    <a:pt x="21590000" y="0"/>
                  </a:lnTo>
                  <a:lnTo>
                    <a:pt x="215900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590000" cy="118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47750" y="3714750"/>
            <a:ext cx="16192500" cy="857250"/>
            <a:chOff x="0" y="0"/>
            <a:chExt cx="21590000" cy="1143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590000" cy="1143000"/>
            </a:xfrm>
            <a:custGeom>
              <a:avLst/>
              <a:gdLst/>
              <a:ahLst/>
              <a:cxnLst/>
              <a:rect l="l" t="t" r="r" b="b"/>
              <a:pathLst>
                <a:path w="21590000" h="1143000">
                  <a:moveTo>
                    <a:pt x="0" y="0"/>
                  </a:moveTo>
                  <a:lnTo>
                    <a:pt x="21590000" y="0"/>
                  </a:lnTo>
                  <a:lnTo>
                    <a:pt x="215900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EEEF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1590000" cy="118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47750" y="4857750"/>
            <a:ext cx="16192500" cy="857250"/>
            <a:chOff x="0" y="0"/>
            <a:chExt cx="21590000" cy="1143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590000" cy="1143000"/>
            </a:xfrm>
            <a:custGeom>
              <a:avLst/>
              <a:gdLst/>
              <a:ahLst/>
              <a:cxnLst/>
              <a:rect l="l" t="t" r="r" b="b"/>
              <a:pathLst>
                <a:path w="21590000" h="1143000">
                  <a:moveTo>
                    <a:pt x="0" y="0"/>
                  </a:moveTo>
                  <a:lnTo>
                    <a:pt x="21590000" y="0"/>
                  </a:lnTo>
                  <a:lnTo>
                    <a:pt x="215900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1590000" cy="118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47750" y="6000750"/>
            <a:ext cx="16192500" cy="857250"/>
            <a:chOff x="0" y="0"/>
            <a:chExt cx="21590000" cy="1143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590000" cy="1143000"/>
            </a:xfrm>
            <a:custGeom>
              <a:avLst/>
              <a:gdLst/>
              <a:ahLst/>
              <a:cxnLst/>
              <a:rect l="l" t="t" r="r" b="b"/>
              <a:pathLst>
                <a:path w="21590000" h="1143000">
                  <a:moveTo>
                    <a:pt x="0" y="0"/>
                  </a:moveTo>
                  <a:lnTo>
                    <a:pt x="21590000" y="0"/>
                  </a:lnTo>
                  <a:lnTo>
                    <a:pt x="215900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EEEF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1590000" cy="118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47750" y="7143750"/>
            <a:ext cx="16192500" cy="857250"/>
            <a:chOff x="0" y="0"/>
            <a:chExt cx="21590000" cy="1143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590000" cy="1143000"/>
            </a:xfrm>
            <a:custGeom>
              <a:avLst/>
              <a:gdLst/>
              <a:ahLst/>
              <a:cxnLst/>
              <a:rect l="l" t="t" r="r" b="b"/>
              <a:pathLst>
                <a:path w="21590000" h="1143000">
                  <a:moveTo>
                    <a:pt x="0" y="0"/>
                  </a:moveTo>
                  <a:lnTo>
                    <a:pt x="21590000" y="0"/>
                  </a:lnTo>
                  <a:lnTo>
                    <a:pt x="215900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1590000" cy="118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47750" y="8286750"/>
            <a:ext cx="16192500" cy="857250"/>
            <a:chOff x="0" y="0"/>
            <a:chExt cx="21590000" cy="1143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590000" cy="1143000"/>
            </a:xfrm>
            <a:custGeom>
              <a:avLst/>
              <a:gdLst/>
              <a:ahLst/>
              <a:cxnLst/>
              <a:rect l="l" t="t" r="r" b="b"/>
              <a:pathLst>
                <a:path w="21590000" h="1143000">
                  <a:moveTo>
                    <a:pt x="0" y="0"/>
                  </a:moveTo>
                  <a:lnTo>
                    <a:pt x="21590000" y="0"/>
                  </a:lnTo>
                  <a:lnTo>
                    <a:pt x="215900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EEEF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21590000" cy="118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81125" y="2809875"/>
            <a:ext cx="15287625" cy="293370"/>
            <a:chOff x="0" y="0"/>
            <a:chExt cx="20383500" cy="391160"/>
          </a:xfrm>
        </p:grpSpPr>
        <p:sp>
          <p:nvSpPr>
            <p:cNvPr id="23" name="TextBox 23"/>
            <p:cNvSpPr txBox="1"/>
            <p:nvPr/>
          </p:nvSpPr>
          <p:spPr>
            <a:xfrm>
              <a:off x="0" y="25400"/>
              <a:ext cx="304800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BACKEND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619500" y="-38100"/>
              <a:ext cx="16764000" cy="429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Python · FastAPI · SQLAlchemy · Pydantic · JWT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381125" y="3952875"/>
            <a:ext cx="15287625" cy="293370"/>
            <a:chOff x="0" y="0"/>
            <a:chExt cx="20383500" cy="391160"/>
          </a:xfrm>
        </p:grpSpPr>
        <p:sp>
          <p:nvSpPr>
            <p:cNvPr id="26" name="TextBox 26"/>
            <p:cNvSpPr txBox="1"/>
            <p:nvPr/>
          </p:nvSpPr>
          <p:spPr>
            <a:xfrm>
              <a:off x="0" y="25400"/>
              <a:ext cx="304800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FRONTEND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19500" y="-38100"/>
              <a:ext cx="16764000" cy="429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HTML · CSS · JavaScript · Jinja2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381125" y="5095875"/>
            <a:ext cx="15287625" cy="293370"/>
            <a:chOff x="0" y="0"/>
            <a:chExt cx="20383500" cy="391160"/>
          </a:xfrm>
        </p:grpSpPr>
        <p:sp>
          <p:nvSpPr>
            <p:cNvPr id="29" name="TextBox 29"/>
            <p:cNvSpPr txBox="1"/>
            <p:nvPr/>
          </p:nvSpPr>
          <p:spPr>
            <a:xfrm>
              <a:off x="0" y="25400"/>
              <a:ext cx="304800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AI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619500" y="-38100"/>
              <a:ext cx="16764000" cy="429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STT · LLM · OpenAI API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381125" y="6238875"/>
            <a:ext cx="15287625" cy="293370"/>
            <a:chOff x="0" y="0"/>
            <a:chExt cx="20383500" cy="391160"/>
          </a:xfrm>
        </p:grpSpPr>
        <p:sp>
          <p:nvSpPr>
            <p:cNvPr id="32" name="TextBox 32"/>
            <p:cNvSpPr txBox="1"/>
            <p:nvPr/>
          </p:nvSpPr>
          <p:spPr>
            <a:xfrm>
              <a:off x="0" y="25400"/>
              <a:ext cx="304800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INFRA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619500" y="-38100"/>
              <a:ext cx="16764000" cy="429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AWS Lightsail · Ubuntu 24.04 · Docker Compose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381125" y="7381875"/>
            <a:ext cx="15287625" cy="293370"/>
            <a:chOff x="0" y="0"/>
            <a:chExt cx="20383500" cy="391160"/>
          </a:xfrm>
        </p:grpSpPr>
        <p:sp>
          <p:nvSpPr>
            <p:cNvPr id="35" name="TextBox 35"/>
            <p:cNvSpPr txBox="1"/>
            <p:nvPr/>
          </p:nvSpPr>
          <p:spPr>
            <a:xfrm>
              <a:off x="0" y="25400"/>
              <a:ext cx="304800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NETWORK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619500" y="-38100"/>
              <a:ext cx="16764000" cy="429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Nginx · DuckDNS · Let's Encrypt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381125" y="8524875"/>
            <a:ext cx="15287625" cy="293370"/>
            <a:chOff x="0" y="0"/>
            <a:chExt cx="20383500" cy="391160"/>
          </a:xfrm>
        </p:grpSpPr>
        <p:sp>
          <p:nvSpPr>
            <p:cNvPr id="38" name="TextBox 38"/>
            <p:cNvSpPr txBox="1"/>
            <p:nvPr/>
          </p:nvSpPr>
          <p:spPr>
            <a:xfrm>
              <a:off x="0" y="25400"/>
              <a:ext cx="304800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DEVOPS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619500" y="-38100"/>
              <a:ext cx="16764000" cy="429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VS Code · Git · GitHub Actions CI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42950"/>
            <a:ext cx="14287500" cy="694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6"/>
              </a:lnSpc>
            </a:pPr>
            <a:r>
              <a:rPr lang="en-US" sz="4950" b="1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권한과 관계를 중심으로 설계한 데이터베이스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47750" y="1457325"/>
            <a:ext cx="13811250" cy="38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회원·프로젝트·회의·업무를 연결하는 핵심 엔터티 구조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143000" y="3714750"/>
            <a:ext cx="2286000" cy="1143000"/>
            <a:chOff x="0" y="0"/>
            <a:chExt cx="3048000" cy="152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048000" cy="1524000"/>
            </a:xfrm>
            <a:custGeom>
              <a:avLst/>
              <a:gdLst/>
              <a:ahLst/>
              <a:cxnLst/>
              <a:rect l="l" t="t" r="r" b="b"/>
              <a:pathLst>
                <a:path w="3048000" h="1524000">
                  <a:moveTo>
                    <a:pt x="95250" y="0"/>
                  </a:moveTo>
                  <a:lnTo>
                    <a:pt x="2952750" y="0"/>
                  </a:lnTo>
                  <a:cubicBezTo>
                    <a:pt x="3005355" y="0"/>
                    <a:pt x="3048000" y="42645"/>
                    <a:pt x="3048000" y="95250"/>
                  </a:cubicBezTo>
                  <a:lnTo>
                    <a:pt x="3048000" y="1428750"/>
                  </a:lnTo>
                  <a:cubicBezTo>
                    <a:pt x="3048000" y="1481355"/>
                    <a:pt x="3005355" y="1524000"/>
                    <a:pt x="2952750" y="1524000"/>
                  </a:cubicBezTo>
                  <a:lnTo>
                    <a:pt x="95250" y="1524000"/>
                  </a:lnTo>
                  <a:cubicBezTo>
                    <a:pt x="42645" y="1524000"/>
                    <a:pt x="0" y="1481355"/>
                    <a:pt x="0" y="1428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048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users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286250" y="2857500"/>
            <a:ext cx="2286000" cy="1143000"/>
            <a:chOff x="0" y="0"/>
            <a:chExt cx="3048000" cy="1524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048000" cy="1524000"/>
            </a:xfrm>
            <a:custGeom>
              <a:avLst/>
              <a:gdLst/>
              <a:ahLst/>
              <a:cxnLst/>
              <a:rect l="l" t="t" r="r" b="b"/>
              <a:pathLst>
                <a:path w="3048000" h="1524000">
                  <a:moveTo>
                    <a:pt x="95250" y="0"/>
                  </a:moveTo>
                  <a:lnTo>
                    <a:pt x="2952750" y="0"/>
                  </a:lnTo>
                  <a:cubicBezTo>
                    <a:pt x="3005355" y="0"/>
                    <a:pt x="3048000" y="42645"/>
                    <a:pt x="3048000" y="95250"/>
                  </a:cubicBezTo>
                  <a:lnTo>
                    <a:pt x="3048000" y="1428750"/>
                  </a:lnTo>
                  <a:cubicBezTo>
                    <a:pt x="3048000" y="1481355"/>
                    <a:pt x="3005355" y="1524000"/>
                    <a:pt x="2952750" y="1524000"/>
                  </a:cubicBezTo>
                  <a:lnTo>
                    <a:pt x="95250" y="1524000"/>
                  </a:lnTo>
                  <a:cubicBezTo>
                    <a:pt x="42645" y="1524000"/>
                    <a:pt x="0" y="1481355"/>
                    <a:pt x="0" y="1428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048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projects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286250" y="5334000"/>
            <a:ext cx="2857500" cy="1143000"/>
            <a:chOff x="0" y="0"/>
            <a:chExt cx="3810000" cy="1524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810000" cy="1524000"/>
            </a:xfrm>
            <a:custGeom>
              <a:avLst/>
              <a:gdLst/>
              <a:ahLst/>
              <a:cxnLst/>
              <a:rect l="l" t="t" r="r" b="b"/>
              <a:pathLst>
                <a:path w="3810000" h="1524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447800"/>
                  </a:lnTo>
                  <a:cubicBezTo>
                    <a:pt x="3810000" y="1489884"/>
                    <a:pt x="3775884" y="1524000"/>
                    <a:pt x="3733800" y="1524000"/>
                  </a:cubicBezTo>
                  <a:lnTo>
                    <a:pt x="76200" y="1524000"/>
                  </a:lnTo>
                  <a:cubicBezTo>
                    <a:pt x="34116" y="1524000"/>
                    <a:pt x="0" y="1489884"/>
                    <a:pt x="0" y="1447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810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project_members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810500" y="2857500"/>
            <a:ext cx="2286000" cy="1143000"/>
            <a:chOff x="0" y="0"/>
            <a:chExt cx="3048000" cy="1524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048000" cy="1524000"/>
            </a:xfrm>
            <a:custGeom>
              <a:avLst/>
              <a:gdLst/>
              <a:ahLst/>
              <a:cxnLst/>
              <a:rect l="l" t="t" r="r" b="b"/>
              <a:pathLst>
                <a:path w="3048000" h="1524000">
                  <a:moveTo>
                    <a:pt x="95250" y="0"/>
                  </a:moveTo>
                  <a:lnTo>
                    <a:pt x="2952750" y="0"/>
                  </a:lnTo>
                  <a:cubicBezTo>
                    <a:pt x="3005355" y="0"/>
                    <a:pt x="3048000" y="42645"/>
                    <a:pt x="3048000" y="95250"/>
                  </a:cubicBezTo>
                  <a:lnTo>
                    <a:pt x="3048000" y="1428750"/>
                  </a:lnTo>
                  <a:cubicBezTo>
                    <a:pt x="3048000" y="1481355"/>
                    <a:pt x="3005355" y="1524000"/>
                    <a:pt x="2952750" y="1524000"/>
                  </a:cubicBezTo>
                  <a:lnTo>
                    <a:pt x="95250" y="1524000"/>
                  </a:lnTo>
                  <a:cubicBezTo>
                    <a:pt x="42645" y="1524000"/>
                    <a:pt x="0" y="1481355"/>
                    <a:pt x="0" y="1428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3048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meetings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810500" y="5334000"/>
            <a:ext cx="2857500" cy="1143000"/>
            <a:chOff x="0" y="0"/>
            <a:chExt cx="3810000" cy="1524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810000" cy="1524000"/>
            </a:xfrm>
            <a:custGeom>
              <a:avLst/>
              <a:gdLst/>
              <a:ahLst/>
              <a:cxnLst/>
              <a:rect l="l" t="t" r="r" b="b"/>
              <a:pathLst>
                <a:path w="3810000" h="1524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447800"/>
                  </a:lnTo>
                  <a:cubicBezTo>
                    <a:pt x="3810000" y="1489884"/>
                    <a:pt x="3775884" y="1524000"/>
                    <a:pt x="3733800" y="1524000"/>
                  </a:cubicBezTo>
                  <a:lnTo>
                    <a:pt x="76200" y="1524000"/>
                  </a:lnTo>
                  <a:cubicBezTo>
                    <a:pt x="34116" y="1524000"/>
                    <a:pt x="0" y="1489884"/>
                    <a:pt x="0" y="1447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6557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3810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meeting_participants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001500" y="4095750"/>
            <a:ext cx="2286000" cy="1143000"/>
            <a:chOff x="0" y="0"/>
            <a:chExt cx="3048000" cy="1524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048000" cy="1524000"/>
            </a:xfrm>
            <a:custGeom>
              <a:avLst/>
              <a:gdLst/>
              <a:ahLst/>
              <a:cxnLst/>
              <a:rect l="l" t="t" r="r" b="b"/>
              <a:pathLst>
                <a:path w="3048000" h="1524000">
                  <a:moveTo>
                    <a:pt x="95250" y="0"/>
                  </a:moveTo>
                  <a:lnTo>
                    <a:pt x="2952750" y="0"/>
                  </a:lnTo>
                  <a:cubicBezTo>
                    <a:pt x="3005355" y="0"/>
                    <a:pt x="3048000" y="42645"/>
                    <a:pt x="3048000" y="95250"/>
                  </a:cubicBezTo>
                  <a:lnTo>
                    <a:pt x="3048000" y="1428750"/>
                  </a:lnTo>
                  <a:cubicBezTo>
                    <a:pt x="3048000" y="1481355"/>
                    <a:pt x="3005355" y="1524000"/>
                    <a:pt x="2952750" y="1524000"/>
                  </a:cubicBezTo>
                  <a:lnTo>
                    <a:pt x="95250" y="1524000"/>
                  </a:lnTo>
                  <a:cubicBezTo>
                    <a:pt x="42645" y="1524000"/>
                    <a:pt x="0" y="1481355"/>
                    <a:pt x="0" y="1428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048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tasks</a:t>
              </a:r>
            </a:p>
          </p:txBody>
        </p:sp>
      </p:grpSp>
      <p:sp>
        <p:nvSpPr>
          <p:cNvPr id="22" name="AutoShape 22"/>
          <p:cNvSpPr/>
          <p:nvPr/>
        </p:nvSpPr>
        <p:spPr>
          <a:xfrm flipV="1">
            <a:off x="3429000" y="3429000"/>
            <a:ext cx="857250" cy="857250"/>
          </a:xfrm>
          <a:prstGeom prst="line">
            <a:avLst/>
          </a:prstGeom>
          <a:ln w="28575" cap="flat">
            <a:solidFill>
              <a:srgbClr val="6557E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3429000" y="4286250"/>
            <a:ext cx="857250" cy="1619250"/>
          </a:xfrm>
          <a:prstGeom prst="line">
            <a:avLst/>
          </a:prstGeom>
          <a:ln w="28575" cap="flat">
            <a:solidFill>
              <a:srgbClr val="6557E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7143750" y="3429000"/>
            <a:ext cx="666750" cy="0"/>
          </a:xfrm>
          <a:prstGeom prst="line">
            <a:avLst/>
          </a:prstGeom>
          <a:ln w="28575" cap="flat">
            <a:solidFill>
              <a:srgbClr val="6557E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7143750" y="5905500"/>
            <a:ext cx="666750" cy="0"/>
          </a:xfrm>
          <a:prstGeom prst="line">
            <a:avLst/>
          </a:prstGeom>
          <a:ln w="28575" cap="flat">
            <a:solidFill>
              <a:srgbClr val="6557E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10096500" y="3429000"/>
            <a:ext cx="1905000" cy="1047750"/>
          </a:xfrm>
          <a:prstGeom prst="line">
            <a:avLst/>
          </a:prstGeom>
          <a:ln w="28575" cap="flat">
            <a:solidFill>
              <a:srgbClr val="6557E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7" name="AutoShape 27"/>
          <p:cNvSpPr/>
          <p:nvPr/>
        </p:nvSpPr>
        <p:spPr>
          <a:xfrm flipV="1">
            <a:off x="10668000" y="5238750"/>
            <a:ext cx="2476500" cy="666750"/>
          </a:xfrm>
          <a:prstGeom prst="line">
            <a:avLst/>
          </a:prstGeom>
          <a:ln w="28575" cap="flat">
            <a:solidFill>
              <a:srgbClr val="6557E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8" name="TextBox 28"/>
          <p:cNvSpPr txBox="1"/>
          <p:nvPr/>
        </p:nvSpPr>
        <p:spPr>
          <a:xfrm>
            <a:off x="2381250" y="8191500"/>
            <a:ext cx="135255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6557E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meeting_participants가 회의 ↔ 회원의 다대다 관계와 접근 권한을 담당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42950"/>
            <a:ext cx="14287500" cy="694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6"/>
              </a:lnSpc>
            </a:pPr>
            <a:r>
              <a:rPr lang="en-US" sz="4950" b="1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문제를 구조로 바꾸고, 운영까지 해결했습니다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47750" y="1457325"/>
            <a:ext cx="13811250" cy="38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실제 오류 → 원인 분석 → 코드·환경 수정 → 테스트 검증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47750" y="2714625"/>
            <a:ext cx="7620000" cy="1619250"/>
            <a:chOff x="0" y="0"/>
            <a:chExt cx="10160000" cy="2159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160000" cy="2159000"/>
            </a:xfrm>
            <a:custGeom>
              <a:avLst/>
              <a:gdLst/>
              <a:ahLst/>
              <a:cxnLst/>
              <a:rect l="l" t="t" r="r" b="b"/>
              <a:pathLst>
                <a:path w="10160000" h="2159000">
                  <a:moveTo>
                    <a:pt x="0" y="0"/>
                  </a:moveTo>
                  <a:lnTo>
                    <a:pt x="10160000" y="0"/>
                  </a:lnTo>
                  <a:lnTo>
                    <a:pt x="10160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20264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0160000" cy="219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39250" y="2714625"/>
            <a:ext cx="7620000" cy="1619250"/>
            <a:chOff x="0" y="0"/>
            <a:chExt cx="10160000" cy="2159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160000" cy="2159000"/>
            </a:xfrm>
            <a:custGeom>
              <a:avLst/>
              <a:gdLst/>
              <a:ahLst/>
              <a:cxnLst/>
              <a:rect l="l" t="t" r="r" b="b"/>
              <a:pathLst>
                <a:path w="10160000" h="2159000">
                  <a:moveTo>
                    <a:pt x="0" y="0"/>
                  </a:moveTo>
                  <a:lnTo>
                    <a:pt x="10160000" y="0"/>
                  </a:lnTo>
                  <a:lnTo>
                    <a:pt x="10160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20264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0160000" cy="219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47750" y="4810125"/>
            <a:ext cx="7620000" cy="1619250"/>
            <a:chOff x="0" y="0"/>
            <a:chExt cx="10160000" cy="2159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160000" cy="2159000"/>
            </a:xfrm>
            <a:custGeom>
              <a:avLst/>
              <a:gdLst/>
              <a:ahLst/>
              <a:cxnLst/>
              <a:rect l="l" t="t" r="r" b="b"/>
              <a:pathLst>
                <a:path w="10160000" h="2159000">
                  <a:moveTo>
                    <a:pt x="0" y="0"/>
                  </a:moveTo>
                  <a:lnTo>
                    <a:pt x="10160000" y="0"/>
                  </a:lnTo>
                  <a:lnTo>
                    <a:pt x="10160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20264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0160000" cy="219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239250" y="4810125"/>
            <a:ext cx="7620000" cy="1619250"/>
            <a:chOff x="0" y="0"/>
            <a:chExt cx="10160000" cy="2159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160000" cy="2159000"/>
            </a:xfrm>
            <a:custGeom>
              <a:avLst/>
              <a:gdLst/>
              <a:ahLst/>
              <a:cxnLst/>
              <a:rect l="l" t="t" r="r" b="b"/>
              <a:pathLst>
                <a:path w="10160000" h="2159000">
                  <a:moveTo>
                    <a:pt x="0" y="0"/>
                  </a:moveTo>
                  <a:lnTo>
                    <a:pt x="10160000" y="0"/>
                  </a:lnTo>
                  <a:lnTo>
                    <a:pt x="10160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20264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0160000" cy="219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47750" y="6905625"/>
            <a:ext cx="7620000" cy="1619250"/>
            <a:chOff x="0" y="0"/>
            <a:chExt cx="10160000" cy="2159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160000" cy="2159000"/>
            </a:xfrm>
            <a:custGeom>
              <a:avLst/>
              <a:gdLst/>
              <a:ahLst/>
              <a:cxnLst/>
              <a:rect l="l" t="t" r="r" b="b"/>
              <a:pathLst>
                <a:path w="10160000" h="2159000">
                  <a:moveTo>
                    <a:pt x="0" y="0"/>
                  </a:moveTo>
                  <a:lnTo>
                    <a:pt x="10160000" y="0"/>
                  </a:lnTo>
                  <a:lnTo>
                    <a:pt x="10160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20264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0160000" cy="219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239250" y="6905625"/>
            <a:ext cx="7620000" cy="1619250"/>
            <a:chOff x="0" y="0"/>
            <a:chExt cx="10160000" cy="2159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160000" cy="2159000"/>
            </a:xfrm>
            <a:custGeom>
              <a:avLst/>
              <a:gdLst/>
              <a:ahLst/>
              <a:cxnLst/>
              <a:rect l="l" t="t" r="r" b="b"/>
              <a:pathLst>
                <a:path w="10160000" h="2159000">
                  <a:moveTo>
                    <a:pt x="0" y="0"/>
                  </a:moveTo>
                  <a:lnTo>
                    <a:pt x="10160000" y="0"/>
                  </a:lnTo>
                  <a:lnTo>
                    <a:pt x="10160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6557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0160000" cy="219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81125" y="3000375"/>
            <a:ext cx="6667500" cy="876300"/>
            <a:chOff x="0" y="0"/>
            <a:chExt cx="8890000" cy="1168400"/>
          </a:xfrm>
        </p:grpSpPr>
        <p:sp>
          <p:nvSpPr>
            <p:cNvPr id="23" name="TextBox 23"/>
            <p:cNvSpPr txBox="1"/>
            <p:nvPr/>
          </p:nvSpPr>
          <p:spPr>
            <a:xfrm>
              <a:off x="0" y="-38100"/>
              <a:ext cx="4191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JWT 인증·접근 제어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749300"/>
              <a:ext cx="8890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DCD8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→  토큰 검증·회원별 권한 확인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72625" y="3000375"/>
            <a:ext cx="6667500" cy="876300"/>
            <a:chOff x="0" y="0"/>
            <a:chExt cx="8890000" cy="1168400"/>
          </a:xfrm>
        </p:grpSpPr>
        <p:sp>
          <p:nvSpPr>
            <p:cNvPr id="26" name="TextBox 26"/>
            <p:cNvSpPr txBox="1"/>
            <p:nvPr/>
          </p:nvSpPr>
          <p:spPr>
            <a:xfrm>
              <a:off x="0" y="-38100"/>
              <a:ext cx="4191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회의 등록 API 오류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749300"/>
              <a:ext cx="8890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DCD8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→  요청·DB 세션 흐름 수정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381125" y="5095875"/>
            <a:ext cx="6667500" cy="876300"/>
            <a:chOff x="0" y="0"/>
            <a:chExt cx="8890000" cy="1168400"/>
          </a:xfrm>
        </p:grpSpPr>
        <p:sp>
          <p:nvSpPr>
            <p:cNvPr id="29" name="TextBox 29"/>
            <p:cNvSpPr txBox="1"/>
            <p:nvPr/>
          </p:nvSpPr>
          <p:spPr>
            <a:xfrm>
              <a:off x="0" y="-38100"/>
              <a:ext cx="4191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프로젝트 조회 권한 문제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749300"/>
              <a:ext cx="8890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DCD8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→  회원 ID 기준 접근 범위 제한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72625" y="5095875"/>
            <a:ext cx="6667500" cy="876300"/>
            <a:chOff x="0" y="0"/>
            <a:chExt cx="8890000" cy="1168400"/>
          </a:xfrm>
        </p:grpSpPr>
        <p:sp>
          <p:nvSpPr>
            <p:cNvPr id="32" name="TextBox 32"/>
            <p:cNvSpPr txBox="1"/>
            <p:nvPr/>
          </p:nvSpPr>
          <p:spPr>
            <a:xfrm>
              <a:off x="0" y="-38100"/>
              <a:ext cx="4191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동명이인 회의 공유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749300"/>
              <a:ext cx="8890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DCD8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→  회원 ID·이메일로 대상 식별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381125" y="7191375"/>
            <a:ext cx="6667500" cy="876300"/>
            <a:chOff x="0" y="0"/>
            <a:chExt cx="8890000" cy="1168400"/>
          </a:xfrm>
        </p:grpSpPr>
        <p:sp>
          <p:nvSpPr>
            <p:cNvPr id="35" name="TextBox 35"/>
            <p:cNvSpPr txBox="1"/>
            <p:nvPr/>
          </p:nvSpPr>
          <p:spPr>
            <a:xfrm>
              <a:off x="0" y="-38100"/>
              <a:ext cx="4191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Docker–PostgreSQL 연결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749300"/>
              <a:ext cx="8890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DCD8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→  db 서비스명·헬스체크 적용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72625" y="7191375"/>
            <a:ext cx="6667500" cy="876300"/>
            <a:chOff x="0" y="0"/>
            <a:chExt cx="8890000" cy="1168400"/>
          </a:xfrm>
        </p:grpSpPr>
        <p:sp>
          <p:nvSpPr>
            <p:cNvPr id="38" name="TextBox 38"/>
            <p:cNvSpPr txBox="1"/>
            <p:nvPr/>
          </p:nvSpPr>
          <p:spPr>
            <a:xfrm>
              <a:off x="0" y="-38100"/>
              <a:ext cx="4191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HTTPS 배포 환경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749300"/>
              <a:ext cx="8890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BFF3E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→  Nginx·TLS 인증서 구성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42950"/>
            <a:ext cx="14287500" cy="694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6"/>
              </a:lnSpc>
            </a:pPr>
            <a:r>
              <a:rPr lang="en-US" sz="4950" b="1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배포 완료. 핵심 시나리오 검증 완료.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47750" y="1457325"/>
            <a:ext cx="13811250" cy="38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외부 HTTPS 배포 및 기능 검증 · GitHub Actions 28개 테스트 통과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47750" y="2952750"/>
            <a:ext cx="3571875" cy="2381250"/>
            <a:chOff x="0" y="0"/>
            <a:chExt cx="4762500" cy="3175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762500" cy="3175000"/>
            </a:xfrm>
            <a:custGeom>
              <a:avLst/>
              <a:gdLst/>
              <a:ahLst/>
              <a:cxnLst/>
              <a:rect l="l" t="t" r="r" b="b"/>
              <a:pathLst>
                <a:path w="4762500" h="3175000">
                  <a:moveTo>
                    <a:pt x="0" y="0"/>
                  </a:moveTo>
                  <a:lnTo>
                    <a:pt x="4762500" y="0"/>
                  </a:lnTo>
                  <a:lnTo>
                    <a:pt x="4762500" y="3175000"/>
                  </a:lnTo>
                  <a:lnTo>
                    <a:pt x="0" y="3175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762500" cy="321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191125" y="2952750"/>
            <a:ext cx="3571875" cy="2381250"/>
            <a:chOff x="0" y="0"/>
            <a:chExt cx="4762500" cy="3175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762500" cy="3175000"/>
            </a:xfrm>
            <a:custGeom>
              <a:avLst/>
              <a:gdLst/>
              <a:ahLst/>
              <a:cxnLst/>
              <a:rect l="l" t="t" r="r" b="b"/>
              <a:pathLst>
                <a:path w="4762500" h="3175000">
                  <a:moveTo>
                    <a:pt x="0" y="0"/>
                  </a:moveTo>
                  <a:lnTo>
                    <a:pt x="4762500" y="0"/>
                  </a:lnTo>
                  <a:lnTo>
                    <a:pt x="4762500" y="3175000"/>
                  </a:lnTo>
                  <a:lnTo>
                    <a:pt x="0" y="3175000"/>
                  </a:lnTo>
                  <a:close/>
                </a:path>
              </a:pathLst>
            </a:custGeom>
            <a:solidFill>
              <a:srgbClr val="6557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762500" cy="321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334500" y="2952750"/>
            <a:ext cx="3571875" cy="2381250"/>
            <a:chOff x="0" y="0"/>
            <a:chExt cx="4762500" cy="3175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762500" cy="3175000"/>
            </a:xfrm>
            <a:custGeom>
              <a:avLst/>
              <a:gdLst/>
              <a:ahLst/>
              <a:cxnLst/>
              <a:rect l="l" t="t" r="r" b="b"/>
              <a:pathLst>
                <a:path w="4762500" h="3175000">
                  <a:moveTo>
                    <a:pt x="0" y="0"/>
                  </a:moveTo>
                  <a:lnTo>
                    <a:pt x="4762500" y="0"/>
                  </a:lnTo>
                  <a:lnTo>
                    <a:pt x="4762500" y="3175000"/>
                  </a:lnTo>
                  <a:lnTo>
                    <a:pt x="0" y="3175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762500" cy="321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477875" y="2952750"/>
            <a:ext cx="3571875" cy="2381250"/>
            <a:chOff x="0" y="0"/>
            <a:chExt cx="4762500" cy="3175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762500" cy="3175000"/>
            </a:xfrm>
            <a:custGeom>
              <a:avLst/>
              <a:gdLst/>
              <a:ahLst/>
              <a:cxnLst/>
              <a:rect l="l" t="t" r="r" b="b"/>
              <a:pathLst>
                <a:path w="4762500" h="3175000">
                  <a:moveTo>
                    <a:pt x="0" y="0"/>
                  </a:moveTo>
                  <a:lnTo>
                    <a:pt x="4762500" y="0"/>
                  </a:lnTo>
                  <a:lnTo>
                    <a:pt x="4762500" y="3175000"/>
                  </a:lnTo>
                  <a:lnTo>
                    <a:pt x="0" y="3175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762500" cy="321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33500" y="3381375"/>
            <a:ext cx="3000375" cy="1144905"/>
            <a:chOff x="0" y="0"/>
            <a:chExt cx="4000500" cy="1526540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47625"/>
              <a:ext cx="4000500" cy="448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5"/>
                </a:lnSpc>
              </a:pPr>
              <a:r>
                <a:rPr lang="en-US" sz="2025">
                  <a:solidFill>
                    <a:srgbClr val="69708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HTTPS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968375"/>
              <a:ext cx="40005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정상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476875" y="3381375"/>
            <a:ext cx="3000375" cy="1144905"/>
            <a:chOff x="0" y="0"/>
            <a:chExt cx="4000500" cy="1526540"/>
          </a:xfrm>
        </p:grpSpPr>
        <p:sp>
          <p:nvSpPr>
            <p:cNvPr id="20" name="TextBox 20"/>
            <p:cNvSpPr txBox="1"/>
            <p:nvPr/>
          </p:nvSpPr>
          <p:spPr>
            <a:xfrm>
              <a:off x="0" y="-47625"/>
              <a:ext cx="4000500" cy="448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5"/>
                </a:lnSpc>
              </a:pPr>
              <a:r>
                <a:rPr lang="en-US" sz="2025">
                  <a:solidFill>
                    <a:srgbClr val="DCD8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3가지 입력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968375"/>
              <a:ext cx="40005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분석 성공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620250" y="3381375"/>
            <a:ext cx="3000375" cy="1144905"/>
            <a:chOff x="0" y="0"/>
            <a:chExt cx="4000500" cy="1526540"/>
          </a:xfrm>
        </p:grpSpPr>
        <p:sp>
          <p:nvSpPr>
            <p:cNvPr id="23" name="TextBox 23"/>
            <p:cNvSpPr txBox="1"/>
            <p:nvPr/>
          </p:nvSpPr>
          <p:spPr>
            <a:xfrm>
              <a:off x="0" y="-47625"/>
              <a:ext cx="4000500" cy="448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5"/>
                </a:lnSpc>
              </a:pPr>
              <a:r>
                <a:rPr lang="en-US" sz="2025">
                  <a:solidFill>
                    <a:srgbClr val="69708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접근 제한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968375"/>
              <a:ext cx="40005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구현 완료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3763625" y="3381375"/>
            <a:ext cx="3000375" cy="1144905"/>
            <a:chOff x="0" y="0"/>
            <a:chExt cx="4000500" cy="1526540"/>
          </a:xfrm>
        </p:grpSpPr>
        <p:sp>
          <p:nvSpPr>
            <p:cNvPr id="26" name="TextBox 26"/>
            <p:cNvSpPr txBox="1"/>
            <p:nvPr/>
          </p:nvSpPr>
          <p:spPr>
            <a:xfrm>
              <a:off x="0" y="-47625"/>
              <a:ext cx="4000500" cy="448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5"/>
                </a:lnSpc>
              </a:pPr>
              <a:r>
                <a:rPr lang="en-US" sz="2025">
                  <a:solidFill>
                    <a:srgbClr val="69708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Docker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968375"/>
              <a:ext cx="40005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빌드·실행 정상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2286000" y="6600825"/>
            <a:ext cx="1371600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 dirty="0">
                <a:solidFill>
                  <a:srgbClr val="6557E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aimeetflow.duckdns.org/views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095500" y="7629525"/>
            <a:ext cx="1409700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AWS Lightsail · Ubuntu 24.04 · Docker Compose · Nginx · DuckDNS · Let's Encrypt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42950"/>
            <a:ext cx="14287500" cy="694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6"/>
              </a:lnSpc>
            </a:pPr>
            <a:r>
              <a:rPr lang="ko-KR" altLang="en-US" sz="4950" b="1" dirty="0" err="1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팀원별</a:t>
            </a:r>
            <a:r>
              <a:rPr lang="ko-KR" altLang="en-US" sz="4950" b="1" dirty="0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</a:t>
            </a:r>
            <a:r>
              <a:rPr lang="en-US" sz="4950" b="1" dirty="0" err="1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역할</a:t>
            </a:r>
            <a:r>
              <a:rPr lang="en-US" sz="4950" b="1" dirty="0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</a:t>
            </a:r>
            <a:r>
              <a:rPr lang="ko-KR" altLang="en-US" sz="4950" b="1" dirty="0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분담 및</a:t>
            </a:r>
            <a:r>
              <a:rPr lang="en-US" sz="4950" b="1" dirty="0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</a:t>
            </a:r>
            <a:r>
              <a:rPr lang="ko-KR" altLang="en-US" sz="4950" b="1" dirty="0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협업 성과</a:t>
            </a:r>
            <a:endParaRPr lang="en-US" sz="4950" b="1" dirty="0">
              <a:solidFill>
                <a:srgbClr val="161A2F"/>
              </a:solidFill>
              <a:latin typeface="Noto Sans Kr Bold"/>
              <a:ea typeface="Noto Sans Kr Bold"/>
              <a:cs typeface="Noto Sans Kr Bold"/>
              <a:sym typeface="Noto Sans Kr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47750" y="1457325"/>
            <a:ext cx="13811250" cy="38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백엔드·인프라·프론트엔드·AI·CI를 교차 연결한 2인 개발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47750" y="2714625"/>
            <a:ext cx="7620000" cy="6000750"/>
            <a:chOff x="0" y="0"/>
            <a:chExt cx="10160000" cy="8001000"/>
          </a:xfrm>
          <a:solidFill>
            <a:srgbClr val="6557E8"/>
          </a:solidFill>
        </p:grpSpPr>
        <p:sp>
          <p:nvSpPr>
            <p:cNvPr id="5" name="Freeform 5"/>
            <p:cNvSpPr/>
            <p:nvPr/>
          </p:nvSpPr>
          <p:spPr>
            <a:xfrm>
              <a:off x="0" y="0"/>
              <a:ext cx="10160000" cy="8001000"/>
            </a:xfrm>
            <a:custGeom>
              <a:avLst/>
              <a:gdLst/>
              <a:ahLst/>
              <a:cxnLst/>
              <a:rect l="l" t="t" r="r" b="b"/>
              <a:pathLst>
                <a:path w="10160000" h="8001000">
                  <a:moveTo>
                    <a:pt x="0" y="0"/>
                  </a:moveTo>
                  <a:lnTo>
                    <a:pt x="10160000" y="0"/>
                  </a:lnTo>
                  <a:lnTo>
                    <a:pt x="10160000" y="8001000"/>
                  </a:lnTo>
                  <a:lnTo>
                    <a:pt x="0" y="8001000"/>
                  </a:lnTo>
                  <a:close/>
                </a:path>
              </a:pathLst>
            </a:custGeom>
            <a:grpFill/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0160000" cy="803910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39250" y="2714625"/>
            <a:ext cx="7620000" cy="6000750"/>
            <a:chOff x="0" y="0"/>
            <a:chExt cx="10160000" cy="8001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160000" cy="8001000"/>
            </a:xfrm>
            <a:custGeom>
              <a:avLst/>
              <a:gdLst/>
              <a:ahLst/>
              <a:cxnLst/>
              <a:rect l="l" t="t" r="r" b="b"/>
              <a:pathLst>
                <a:path w="10160000" h="8001000">
                  <a:moveTo>
                    <a:pt x="0" y="0"/>
                  </a:moveTo>
                  <a:lnTo>
                    <a:pt x="10160000" y="0"/>
                  </a:lnTo>
                  <a:lnTo>
                    <a:pt x="10160000" y="8001000"/>
                  </a:lnTo>
                  <a:lnTo>
                    <a:pt x="0" y="8001000"/>
                  </a:lnTo>
                  <a:close/>
                </a:path>
              </a:pathLst>
            </a:custGeom>
            <a:solidFill>
              <a:srgbClr val="6557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0160000" cy="803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24000" y="3238500"/>
            <a:ext cx="6667500" cy="3144679"/>
            <a:chOff x="0" y="0"/>
            <a:chExt cx="8890000" cy="4192905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66675"/>
              <a:ext cx="8890000" cy="7626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830"/>
                </a:lnSpc>
              </a:pPr>
              <a:r>
                <a:rPr lang="en-US" sz="3450" b="1" dirty="0" err="1">
                  <a:solidFill>
                    <a:schemeClr val="bg1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김시현</a:t>
              </a:r>
              <a:endParaRPr lang="en-US" sz="3450" b="1" dirty="0">
                <a:solidFill>
                  <a:schemeClr val="bg1"/>
                </a:solidFill>
                <a:latin typeface="Noto Sans Kr Bold"/>
                <a:ea typeface="Noto Sans Kr Bold"/>
                <a:cs typeface="Noto Sans Kr Bold"/>
                <a:sym typeface="Noto Sans Kr Bold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282700"/>
              <a:ext cx="8763000" cy="29102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43"/>
                </a:lnSpc>
              </a:pPr>
              <a:r>
                <a:rPr lang="en-US" sz="2025" dirty="0">
                  <a:solidFill>
                    <a:srgbClr val="958AF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DB </a:t>
              </a:r>
              <a:r>
                <a:rPr lang="en-US" sz="2025" dirty="0" err="1">
                  <a:solidFill>
                    <a:srgbClr val="958AF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세션·테이블·서버</a:t>
              </a:r>
              <a:r>
                <a:rPr lang="en-US" sz="2025" dirty="0">
                  <a:solidFill>
                    <a:srgbClr val="958AF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2025" dirty="0" err="1">
                  <a:solidFill>
                    <a:srgbClr val="958AF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진입점</a:t>
              </a:r>
              <a:endParaRPr lang="en-US" sz="2025" dirty="0">
                <a:solidFill>
                  <a:srgbClr val="958AF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algn="l">
                <a:lnSpc>
                  <a:spcPts val="3543"/>
                </a:lnSpc>
              </a:pPr>
              <a:r>
                <a:rPr lang="en-US" sz="2025" dirty="0">
                  <a:solidFill>
                    <a:srgbClr val="958AF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Python 3.11 </a:t>
              </a:r>
              <a:r>
                <a:rPr lang="en-US" sz="2025" dirty="0" err="1">
                  <a:solidFill>
                    <a:srgbClr val="958AF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컨테이너</a:t>
              </a:r>
              <a:r>
                <a:rPr lang="en-US" sz="2025" dirty="0">
                  <a:solidFill>
                    <a:srgbClr val="958AF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2025" dirty="0" err="1">
                  <a:solidFill>
                    <a:srgbClr val="958AF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최적화</a:t>
              </a:r>
              <a:endParaRPr lang="en-US" sz="2025" dirty="0">
                <a:solidFill>
                  <a:srgbClr val="958AF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algn="l">
                <a:lnSpc>
                  <a:spcPts val="3543"/>
                </a:lnSpc>
              </a:pPr>
              <a:r>
                <a:rPr lang="en-US" sz="2025" dirty="0" err="1">
                  <a:solidFill>
                    <a:srgbClr val="958AF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FastAPI</a:t>
              </a:r>
              <a:r>
                <a:rPr lang="en-US" sz="2025" dirty="0">
                  <a:solidFill>
                    <a:srgbClr val="958AF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+ PostgreSQL </a:t>
              </a:r>
              <a:r>
                <a:rPr lang="en-US" sz="2025" dirty="0" err="1">
                  <a:solidFill>
                    <a:srgbClr val="958AF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멀티</a:t>
              </a:r>
              <a:r>
                <a:rPr lang="en-US" sz="2025" dirty="0">
                  <a:solidFill>
                    <a:srgbClr val="958AF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2025" dirty="0" err="1">
                  <a:solidFill>
                    <a:srgbClr val="958AF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컨테이너</a:t>
              </a:r>
              <a:endParaRPr lang="en-US" sz="2025" dirty="0">
                <a:solidFill>
                  <a:srgbClr val="958AF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algn="l">
                <a:lnSpc>
                  <a:spcPts val="3543"/>
                </a:lnSpc>
              </a:pPr>
              <a:r>
                <a:rPr lang="en-US" sz="2025" dirty="0" err="1">
                  <a:solidFill>
                    <a:srgbClr val="958AF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볼륨</a:t>
              </a:r>
              <a:r>
                <a:rPr lang="en-US" sz="2025" dirty="0">
                  <a:solidFill>
                    <a:srgbClr val="958AF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2025" dirty="0" err="1">
                  <a:solidFill>
                    <a:srgbClr val="958AF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마운트·pytest</a:t>
              </a:r>
              <a:r>
                <a:rPr lang="en-US" sz="2025" dirty="0">
                  <a:solidFill>
                    <a:srgbClr val="958AF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2025" dirty="0" err="1">
                  <a:solidFill>
                    <a:srgbClr val="958AF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자동화</a:t>
              </a:r>
              <a:endParaRPr lang="en-US" sz="2025" dirty="0">
                <a:solidFill>
                  <a:srgbClr val="958AF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algn="l">
                <a:lnSpc>
                  <a:spcPts val="3543"/>
                </a:lnSpc>
              </a:pPr>
              <a:r>
                <a:rPr lang="en-US" sz="2025" dirty="0">
                  <a:solidFill>
                    <a:srgbClr val="958AF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Jinja2 </a:t>
              </a:r>
              <a:r>
                <a:rPr lang="en-US" sz="2025" dirty="0" err="1">
                  <a:solidFill>
                    <a:srgbClr val="958AF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모바일</a:t>
              </a:r>
              <a:r>
                <a:rPr lang="en-US" sz="2025" dirty="0">
                  <a:solidFill>
                    <a:srgbClr val="958AF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UI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15500" y="3238500"/>
            <a:ext cx="6667500" cy="3144679"/>
            <a:chOff x="0" y="0"/>
            <a:chExt cx="8890000" cy="4192905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66675"/>
              <a:ext cx="8890000" cy="7626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830"/>
                </a:lnSpc>
              </a:pPr>
              <a:r>
                <a:rPr lang="en-US" sz="345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홍은경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282700"/>
              <a:ext cx="8763000" cy="29102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43"/>
                </a:lnSpc>
              </a:pPr>
              <a:r>
                <a:rPr lang="en-US" sz="2025">
                  <a:solidFill>
                    <a:srgbClr val="DCD8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JWT Bearer 인증</a:t>
              </a:r>
            </a:p>
            <a:p>
              <a:pPr algn="l">
                <a:lnSpc>
                  <a:spcPts val="3543"/>
                </a:lnSpc>
              </a:pPr>
              <a:r>
                <a:rPr lang="en-US" sz="2025">
                  <a:solidFill>
                    <a:srgbClr val="DCD8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STT·LLM·Action Item·OpenAI 연동</a:t>
              </a:r>
            </a:p>
            <a:p>
              <a:pPr algn="l">
                <a:lnSpc>
                  <a:spcPts val="3543"/>
                </a:lnSpc>
              </a:pPr>
              <a:r>
                <a:rPr lang="en-US" sz="2025">
                  <a:solidFill>
                    <a:srgbClr val="DCD8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JavaScript 비동기 UI</a:t>
              </a:r>
            </a:p>
            <a:p>
              <a:pPr algn="l">
                <a:lnSpc>
                  <a:spcPts val="3543"/>
                </a:lnSpc>
              </a:pPr>
              <a:r>
                <a:rPr lang="en-US" sz="2025">
                  <a:solidFill>
                    <a:srgbClr val="DCD8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GitHub Actions CI/CD</a:t>
              </a:r>
            </a:p>
            <a:p>
              <a:pPr algn="l">
                <a:lnSpc>
                  <a:spcPts val="3543"/>
                </a:lnSpc>
              </a:pPr>
              <a:r>
                <a:rPr lang="en-US" sz="2025">
                  <a:solidFill>
                    <a:srgbClr val="DCD8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Lightsail·Nginx·DuckDNS 배포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42950"/>
            <a:ext cx="14287500" cy="694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6"/>
              </a:lnSpc>
            </a:pPr>
            <a:r>
              <a:rPr lang="en-US" sz="4950" b="1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회의의 끝을, 실행의 시작으로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47750" y="1457325"/>
            <a:ext cx="13811250" cy="38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MeetFlow AI가 만든 성과와 다음 단계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47750" y="3333750"/>
            <a:ext cx="6667500" cy="1000125"/>
            <a:chOff x="0" y="0"/>
            <a:chExt cx="8890000" cy="13335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890000" cy="1333500"/>
            </a:xfrm>
            <a:custGeom>
              <a:avLst/>
              <a:gdLst/>
              <a:ahLst/>
              <a:cxnLst/>
              <a:rect l="l" t="t" r="r" b="b"/>
              <a:pathLst>
                <a:path w="8890000" h="1333500">
                  <a:moveTo>
                    <a:pt x="0" y="0"/>
                  </a:moveTo>
                  <a:lnTo>
                    <a:pt x="8890000" y="0"/>
                  </a:lnTo>
                  <a:lnTo>
                    <a:pt x="8890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22284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890000" cy="137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47750" y="4714875"/>
            <a:ext cx="6667500" cy="1000125"/>
            <a:chOff x="0" y="0"/>
            <a:chExt cx="8890000" cy="13335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890000" cy="1333500"/>
            </a:xfrm>
            <a:custGeom>
              <a:avLst/>
              <a:gdLst/>
              <a:ahLst/>
              <a:cxnLst/>
              <a:rect l="l" t="t" r="r" b="b"/>
              <a:pathLst>
                <a:path w="8890000" h="1333500">
                  <a:moveTo>
                    <a:pt x="0" y="0"/>
                  </a:moveTo>
                  <a:lnTo>
                    <a:pt x="8890000" y="0"/>
                  </a:lnTo>
                  <a:lnTo>
                    <a:pt x="8890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22284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890000" cy="137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47750" y="6096000"/>
            <a:ext cx="6667500" cy="1000125"/>
            <a:chOff x="0" y="0"/>
            <a:chExt cx="8890000" cy="13335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890000" cy="1333500"/>
            </a:xfrm>
            <a:custGeom>
              <a:avLst/>
              <a:gdLst/>
              <a:ahLst/>
              <a:cxnLst/>
              <a:rect l="l" t="t" r="r" b="b"/>
              <a:pathLst>
                <a:path w="8890000" h="1333500">
                  <a:moveTo>
                    <a:pt x="0" y="0"/>
                  </a:moveTo>
                  <a:lnTo>
                    <a:pt x="8890000" y="0"/>
                  </a:lnTo>
                  <a:lnTo>
                    <a:pt x="8890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22284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890000" cy="137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810750" y="3333750"/>
            <a:ext cx="2857500" cy="1428750"/>
            <a:chOff x="0" y="0"/>
            <a:chExt cx="3810000" cy="1905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810000" cy="1905000"/>
            </a:xfrm>
            <a:custGeom>
              <a:avLst/>
              <a:gdLst/>
              <a:ahLst/>
              <a:cxnLst/>
              <a:rect l="l" t="t" r="r" b="b"/>
              <a:pathLst>
                <a:path w="3810000" h="1905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828800"/>
                  </a:lnTo>
                  <a:cubicBezTo>
                    <a:pt x="3810000" y="1870884"/>
                    <a:pt x="3775884" y="1905000"/>
                    <a:pt x="3733800" y="1905000"/>
                  </a:cubicBezTo>
                  <a:lnTo>
                    <a:pt x="76200" y="1905000"/>
                  </a:lnTo>
                  <a:cubicBezTo>
                    <a:pt x="34116" y="1905000"/>
                    <a:pt x="0" y="1870884"/>
                    <a:pt x="0" y="1828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6557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3810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모바일 앱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239750" y="3333750"/>
            <a:ext cx="2857500" cy="1428750"/>
            <a:chOff x="0" y="0"/>
            <a:chExt cx="3810000" cy="1905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810000" cy="1905000"/>
            </a:xfrm>
            <a:custGeom>
              <a:avLst/>
              <a:gdLst/>
              <a:ahLst/>
              <a:cxnLst/>
              <a:rect l="l" t="t" r="r" b="b"/>
              <a:pathLst>
                <a:path w="3810000" h="1905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828800"/>
                  </a:lnTo>
                  <a:cubicBezTo>
                    <a:pt x="3810000" y="1870884"/>
                    <a:pt x="3775884" y="1905000"/>
                    <a:pt x="3733800" y="1905000"/>
                  </a:cubicBezTo>
                  <a:lnTo>
                    <a:pt x="76200" y="1905000"/>
                  </a:lnTo>
                  <a:cubicBezTo>
                    <a:pt x="34116" y="1905000"/>
                    <a:pt x="0" y="1870884"/>
                    <a:pt x="0" y="1828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6557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3810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AI 기능 확대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810750" y="5334000"/>
            <a:ext cx="2857500" cy="1428750"/>
            <a:chOff x="0" y="0"/>
            <a:chExt cx="3810000" cy="1905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810000" cy="1905000"/>
            </a:xfrm>
            <a:custGeom>
              <a:avLst/>
              <a:gdLst/>
              <a:ahLst/>
              <a:cxnLst/>
              <a:rect l="l" t="t" r="r" b="b"/>
              <a:pathLst>
                <a:path w="3810000" h="1905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828800"/>
                  </a:lnTo>
                  <a:cubicBezTo>
                    <a:pt x="3810000" y="1870884"/>
                    <a:pt x="3775884" y="1905000"/>
                    <a:pt x="3733800" y="1905000"/>
                  </a:cubicBezTo>
                  <a:lnTo>
                    <a:pt x="76200" y="1905000"/>
                  </a:lnTo>
                  <a:cubicBezTo>
                    <a:pt x="34116" y="1905000"/>
                    <a:pt x="0" y="1870884"/>
                    <a:pt x="0" y="1828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6557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810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피드백 기반 고도화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239750" y="5334000"/>
            <a:ext cx="2857500" cy="1428750"/>
            <a:chOff x="0" y="0"/>
            <a:chExt cx="3810000" cy="1905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810000" cy="1905000"/>
            </a:xfrm>
            <a:custGeom>
              <a:avLst/>
              <a:gdLst/>
              <a:ahLst/>
              <a:cxnLst/>
              <a:rect l="l" t="t" r="r" b="b"/>
              <a:pathLst>
                <a:path w="3810000" h="1905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828800"/>
                  </a:lnTo>
                  <a:cubicBezTo>
                    <a:pt x="3810000" y="1870884"/>
                    <a:pt x="3775884" y="1905000"/>
                    <a:pt x="3733800" y="1905000"/>
                  </a:cubicBezTo>
                  <a:lnTo>
                    <a:pt x="76200" y="1905000"/>
                  </a:lnTo>
                  <a:cubicBezTo>
                    <a:pt x="34116" y="1905000"/>
                    <a:pt x="0" y="1870884"/>
                    <a:pt x="0" y="1828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BFF3E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3810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산업 확장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381125" y="3609975"/>
            <a:ext cx="600075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1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AI 회의록 → 업무 연결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81125" y="4991100"/>
            <a:ext cx="600075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1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권한별 안전한 공유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81125" y="6372225"/>
            <a:ext cx="600075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1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클라우드 운영체계 완성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476500" y="8172450"/>
            <a:ext cx="1333500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39C6D4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더 빠른 결정, 더 선명한 책임, 더 안전한 협업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748</Words>
  <Application>Microsoft Office PowerPoint</Application>
  <PresentationFormat>사용자 지정</PresentationFormat>
  <Paragraphs>203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Arial</vt:lpstr>
      <vt:lpstr>Calibri</vt:lpstr>
      <vt:lpstr>Noto Sans KR</vt:lpstr>
      <vt:lpstr>Noto Sans Kr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MeetFlow AI 발표</dc:title>
  <dc:creator>user</dc:creator>
  <cp:lastModifiedBy>FullName</cp:lastModifiedBy>
  <cp:revision>5</cp:revision>
  <dcterms:created xsi:type="dcterms:W3CDTF">2006-08-16T00:00:00Z</dcterms:created>
  <dcterms:modified xsi:type="dcterms:W3CDTF">2026-10-19T02:31:38Z</dcterms:modified>
  <dc:identifier>DAHYCZa7Bj0</dc:identifier>
</cp:coreProperties>
</file>