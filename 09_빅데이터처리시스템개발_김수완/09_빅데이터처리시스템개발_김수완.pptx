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7" r:id="rId2"/>
    <p:sldId id="256" r:id="rId3"/>
    <p:sldId id="266" r:id="rId4"/>
    <p:sldId id="258" r:id="rId5"/>
    <p:sldId id="259" r:id="rId6"/>
    <p:sldId id="260" r:id="rId7"/>
    <p:sldId id="261" r:id="rId8"/>
    <p:sldId id="262" r:id="rId9"/>
    <p:sldId id="265" r:id="rId10"/>
    <p:sldId id="263" r:id="rId11"/>
    <p:sldId id="264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6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770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0942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791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김수완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2026-07-20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KimSuWan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빅데이터처리시스템개발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_이름.pptx(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postgreSQL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에서 결과로 나온 테이블 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캡쳐본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포함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</a:p>
          <a:p>
            <a:pPr fontAlgn="base" latinLnBrk="1"/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				config.py, database.py, batch_processor.py, event_processor.py, pipeline.py, README.md</a:t>
            </a:r>
          </a:p>
          <a:p>
            <a:pPr fontAlgn="base" latinLnBrk="1"/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				verify-processing.py(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선택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,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있으면 가산점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) 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처리</a:t>
              </a: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시스템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개발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처리</a:t>
              </a: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시스템</a:t>
              </a: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개발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97680"/>
            <a:ext cx="4023360" cy="4023360"/>
          </a:xfrm>
          <a:prstGeom prst="ellipse">
            <a:avLst/>
          </a:prstGeom>
          <a:solidFill>
            <a:srgbClr val="2438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212080"/>
            <a:ext cx="2377440" cy="237744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NCS 빅데이터 처리시스템 개발 평가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처리 파이프라인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640080" y="4974336"/>
            <a:ext cx="7863840" cy="0"/>
          </a:xfrm>
          <a:prstGeom prst="line">
            <a:avLst/>
          </a:prstGeom>
          <a:noFill/>
          <a:ln w="12700">
            <a:solidFill>
              <a:srgbClr val="3347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5902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주제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45902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Steam Games Dataset (games, game_genres)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541264"/>
            <a:ext cx="7863840" cy="0"/>
          </a:xfrm>
          <a:prstGeom prst="line">
            <a:avLst/>
          </a:prstGeom>
          <a:noFill/>
          <a:ln w="12700">
            <a:solidFill>
              <a:srgbClr val="3347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1572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DB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515721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gamesdb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빅데이터 처리시스템 개발 · Steam Games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INPUT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데이터 소개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저장시스템(steam_games) 프로젝트에서 PostgreSQL(gamesdb)에 적재해 둔 테이블을 그대로 입력으로 재사용한다.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01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저장시스템에서 만든 테이블 (총 6개)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772668" cy="329184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94560"/>
            <a:ext cx="7726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577340" y="2194560"/>
            <a:ext cx="1348740" cy="329184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/>
        </p:spPr>
      </p:sp>
      <p:sp>
        <p:nvSpPr>
          <p:cNvPr id="10" name="Text 8"/>
          <p:cNvSpPr/>
          <p:nvPr/>
        </p:nvSpPr>
        <p:spPr>
          <a:xfrm>
            <a:off x="1577340" y="2194560"/>
            <a:ext cx="1348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game_genres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90672" y="2194560"/>
            <a:ext cx="1732788" cy="329184"/>
          </a:xfrm>
          <a:prstGeom prst="roundRect">
            <a:avLst>
              <a:gd name="adj" fmla="val 50000"/>
            </a:avLst>
          </a:prstGeom>
          <a:solidFill>
            <a:srgbClr val="E4EAF1"/>
          </a:solidFill>
          <a:ln/>
        </p:spPr>
      </p:sp>
      <p:sp>
        <p:nvSpPr>
          <p:cNvPr id="12" name="Text 10"/>
          <p:cNvSpPr/>
          <p:nvPr/>
        </p:nvSpPr>
        <p:spPr>
          <a:xfrm>
            <a:off x="3090672" y="2194560"/>
            <a:ext cx="17327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game_categories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88052" y="2194560"/>
            <a:ext cx="1732788" cy="329184"/>
          </a:xfrm>
          <a:prstGeom prst="roundRect">
            <a:avLst>
              <a:gd name="adj" fmla="val 50000"/>
            </a:avLst>
          </a:prstGeom>
          <a:solidFill>
            <a:srgbClr val="E4EAF1"/>
          </a:solidFill>
          <a:ln/>
        </p:spPr>
      </p:sp>
      <p:sp>
        <p:nvSpPr>
          <p:cNvPr id="14" name="Text 12"/>
          <p:cNvSpPr/>
          <p:nvPr/>
        </p:nvSpPr>
        <p:spPr>
          <a:xfrm>
            <a:off x="4988052" y="2194560"/>
            <a:ext cx="17327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game_developers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85432" y="2194560"/>
            <a:ext cx="1732788" cy="329184"/>
          </a:xfrm>
          <a:prstGeom prst="roundRect">
            <a:avLst>
              <a:gd name="adj" fmla="val 50000"/>
            </a:avLst>
          </a:prstGeom>
          <a:solidFill>
            <a:srgbClr val="E4EAF1"/>
          </a:solidFill>
          <a:ln/>
        </p:spPr>
      </p:sp>
      <p:sp>
        <p:nvSpPr>
          <p:cNvPr id="16" name="Text 14"/>
          <p:cNvSpPr/>
          <p:nvPr/>
        </p:nvSpPr>
        <p:spPr>
          <a:xfrm>
            <a:off x="6885432" y="2194560"/>
            <a:ext cx="17327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game_publishers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82812" y="2194560"/>
            <a:ext cx="1156716" cy="329184"/>
          </a:xfrm>
          <a:prstGeom prst="roundRect">
            <a:avLst>
              <a:gd name="adj" fmla="val 50000"/>
            </a:avLst>
          </a:prstGeom>
          <a:solidFill>
            <a:srgbClr val="E4EAF1"/>
          </a:solidFill>
          <a:ln/>
        </p:spPr>
      </p:sp>
      <p:sp>
        <p:nvSpPr>
          <p:cNvPr id="18" name="Text 16"/>
          <p:cNvSpPr/>
          <p:nvPr/>
        </p:nvSpPr>
        <p:spPr>
          <a:xfrm>
            <a:off x="8782812" y="2194560"/>
            <a:ext cx="11567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game_tags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261518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중 games · game_genres 두 테이블을 이번 처리시스템의 입력으로 사용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063240"/>
            <a:ext cx="507492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01600" dist="25400" dir="5400000" algn="bl" rotWithShape="0">
              <a:srgbClr val="8CA0B3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06324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3A6EA5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0632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30632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125,854건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703320"/>
            <a:ext cx="4526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app_id (PK, 자연키 · Steam AppID)</a:t>
            </a:r>
            <a:endParaRPr lang="en-US" sz="120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release_date</a:t>
            </a:r>
            <a:endParaRPr lang="en-US" sz="120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discount</a:t>
            </a:r>
            <a:endParaRPr lang="en-US" sz="120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owners_min, owners_max, peak_ccu</a:t>
            </a:r>
            <a:endParaRPr lang="en-US" sz="120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required_age, metacritic_score</a:t>
            </a:r>
            <a:endParaRPr lang="en-US" sz="120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positive, negative (리뷰 수)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3063240"/>
            <a:ext cx="507492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01600" dist="25400" dir="5400000" algn="bl" rotWithShape="0">
              <a:srgbClr val="8CA0B3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306324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2F7E8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30632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game_genres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72200" y="30632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338,583건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46520" y="3703320"/>
            <a:ext cx="4526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(PK, 대체키)</a:t>
            </a:r>
            <a:endParaRPr lang="en-US" sz="120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app_id (FK → games.app_id, ON DELETE CASCADE)</a:t>
            </a:r>
            <a:endParaRPr lang="en-US" sz="120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genre_name</a:t>
            </a:r>
            <a:endParaRPr lang="en-US" sz="120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UNIQUE(app_id, genre_name)</a:t>
            </a:r>
            <a:endParaRPr lang="en-US" sz="120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: game_genres = 1 : N</a:t>
            </a:r>
            <a:endParaRPr lang="en-US" sz="120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(게임 1개당 장르 여러 개 → 정규화 테이블)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빅데이터 처리시스템 개발 · Steam Games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2F7E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BATCH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배치 처리 설계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01600" dist="25400" dir="5400000" algn="bl" rotWithShape="0">
              <a:srgbClr val="8CA0B3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흐름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468880"/>
            <a:ext cx="384048" cy="384048"/>
          </a:xfrm>
          <a:prstGeom prst="ellipse">
            <a:avLst/>
          </a:prstGeom>
          <a:solidFill>
            <a:srgbClr val="2F7E8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24140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27249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원본 데이터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106424" y="2852928"/>
            <a:ext cx="0" cy="457200"/>
          </a:xfrm>
          <a:prstGeom prst="line">
            <a:avLst/>
          </a:prstGeom>
          <a:noFill/>
          <a:ln w="19050">
            <a:solidFill>
              <a:srgbClr val="D8E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337560"/>
            <a:ext cx="384048" cy="384048"/>
          </a:xfrm>
          <a:prstGeom prst="ellipse">
            <a:avLst/>
          </a:prstGeom>
          <a:solidFill>
            <a:srgbClr val="2F7E8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328269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game_genres (app_id)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35935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↔ 장르 연결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106424" y="3721608"/>
            <a:ext cx="0" cy="457200"/>
          </a:xfrm>
          <a:prstGeom prst="line">
            <a:avLst/>
          </a:prstGeom>
          <a:noFill/>
          <a:ln w="19050">
            <a:solidFill>
              <a:srgbClr val="D8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206240"/>
            <a:ext cx="384048" cy="384048"/>
          </a:xfrm>
          <a:prstGeom prst="ellipse">
            <a:avLst/>
          </a:prstGeom>
          <a:solidFill>
            <a:srgbClr val="2F7E82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415137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genre_name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63040" y="44622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범주형 컬럼 기준 그룹핑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106424" y="4590288"/>
            <a:ext cx="0" cy="457200"/>
          </a:xfrm>
          <a:prstGeom prst="line">
            <a:avLst/>
          </a:prstGeom>
          <a:noFill/>
          <a:ln w="19050">
            <a:solidFill>
              <a:srgbClr val="D8E0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5074920"/>
            <a:ext cx="384048" cy="384048"/>
          </a:xfrm>
          <a:prstGeom prst="ellipse">
            <a:avLst/>
          </a:prstGeom>
          <a:solidFill>
            <a:srgbClr val="2F7E82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63040" y="50200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... AS SELECT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63040" y="5330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집계 결과를 새 테이블로 저장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92240" y="1691640"/>
            <a:ext cx="50566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01600" dist="25400" dir="5400000" algn="bl" rotWithShape="0">
              <a:srgbClr val="8CA0B3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766560" y="1892808"/>
            <a:ext cx="4507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집계 지표 (genre_name 기준)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66560" y="2286000"/>
            <a:ext cx="45079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game_count — 장르별 게임 수</a:t>
            </a:r>
            <a:endParaRPr lang="en-US" sz="125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avg_price — 평균 가격</a:t>
            </a:r>
            <a:endParaRPr lang="en-US" sz="125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avg_metacritic_score — 평균 메타크리틱 점수</a:t>
            </a:r>
            <a:endParaRPr lang="en-US" sz="125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avg_positive / avg_negative — 평균 긍정·부정 리뷰 수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92240" y="4297680"/>
            <a:ext cx="5056632" cy="1691640"/>
          </a:xfrm>
          <a:prstGeom prst="roundRect">
            <a:avLst>
              <a:gd name="adj" fmla="val 4324"/>
            </a:avLst>
          </a:prstGeom>
          <a:solidFill>
            <a:srgbClr val="15243D"/>
          </a:solidFill>
          <a:ln w="12700">
            <a:solidFill>
              <a:srgbClr val="D8E0EA"/>
            </a:solidFill>
            <a:prstDash val="solid"/>
          </a:ln>
          <a:effectLst>
            <a:outerShdw blurRad="101600" dist="25400" dir="5400000" algn="bl" rotWithShape="0">
              <a:srgbClr val="8CA0B3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66560" y="4480560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r>
              <a:rPr lang="en-US" sz="12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테이블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66560" y="5060743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batch_genre_summary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766560" y="5230368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빅데이터 처리시스템 개발 · Steam Games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E0A45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EVENT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 처리 설계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5778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01600" dist="25400" dir="5400000" algn="bl" rotWithShape="0">
              <a:srgbClr val="8CA0B3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 규칙 — HIGH_METACRITIC_SCORE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F7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컬럼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games.metacritic_score (숫자형)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035808"/>
            <a:ext cx="50292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186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F7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기준값(threshold)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32186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 (초과 시 이벤트 판정)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3785616"/>
            <a:ext cx="50292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6849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F7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39684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metacritic_score &gt; 85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4535424"/>
            <a:ext cx="50292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7183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F7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멱등성 처리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47183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재실행 시 DELETE FROM ... WHERE event_type='HIGH_METACRITIC_SCORE' 후 재삽입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4400" y="5285232"/>
            <a:ext cx="50292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1691640"/>
            <a:ext cx="4873752" cy="4297680"/>
          </a:xfrm>
          <a:prstGeom prst="roundRect">
            <a:avLst>
              <a:gd name="adj" fmla="val 1702"/>
            </a:avLst>
          </a:prstGeom>
          <a:solidFill>
            <a:srgbClr val="15243D"/>
          </a:solidFill>
          <a:ln w="12700">
            <a:solidFill>
              <a:srgbClr val="D8E0EA"/>
            </a:solidFill>
            <a:prstDash val="solid"/>
          </a:ln>
          <a:effectLst>
            <a:outerShdw blurRad="101600" dist="25400" dir="5400000" algn="bl" rotWithShape="0">
              <a:srgbClr val="8CA0B3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49440" y="1920240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테이블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9440" y="219456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event_game_alerts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949440" y="2743200"/>
            <a:ext cx="432511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BIGSERIAL PK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event_type  VARCHAR(50)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app_id  INTEGER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game_name  VARCHAR(500)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metric_value  INTEGER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threshold_value  INTEGER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detected_at  TIMESTAMP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빅데이터 처리시스템 개발 · Steam Games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2F7E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CODE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배치 처리 코드와 실행 결과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943600" cy="4297680"/>
          </a:xfrm>
          <a:prstGeom prst="roundRect">
            <a:avLst>
              <a:gd name="adj" fmla="val 1277"/>
            </a:avLst>
          </a:prstGeom>
          <a:solidFill>
            <a:srgbClr val="1524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5486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batch_processor.py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execute_sql(engine, '''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DROP TABLE IF EXISTS batch_genre_summary;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 TABLE batch_genre_summary AS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gg.genre_name,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COUNT(*) AS game_count,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ROUND(AVG(g.price)::numeric, 2) AS avg_price,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ROUND(AVG(g.metacritic_score)::numeric, 2)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avg_metacritic_score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games g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game_genres gg ON g.app_id = gg.app_id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gg.genre_name;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040880" y="1691640"/>
            <a:ext cx="4507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결과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빅데이터 처리시스템 개발 · Steam Games</a:t>
            </a:r>
            <a:endParaRPr lang="en-US" sz="9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A03A204-DDC8-46A1-B8E0-719B79766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735" y="3299633"/>
            <a:ext cx="4010585" cy="8668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E0A45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CODE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 처리 코드와 실행 결과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943600" cy="4297680"/>
          </a:xfrm>
          <a:prstGeom prst="roundRect">
            <a:avLst>
              <a:gd name="adj" fmla="val 1277"/>
            </a:avLst>
          </a:prstGeom>
          <a:solidFill>
            <a:srgbClr val="1524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5486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event_processor.py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execute_sql(engine, '''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DELETE FROM event_game_alerts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event_type = 'HIGH_METACRITIC_SCORE';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''')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execute_sql(engine, '''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INTO event_game_alerts(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event_type, app_id, game_name,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metric_value, threshold_value, detected_at)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'HIGH_METACRITIC_SCORE', app_id, name,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metacritic_score, :threshold, :detected_at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games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metacritic_score &gt; :threshold;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''', {'threshold': 85, 'detected_at': datetime.now()})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040880" y="1691640"/>
            <a:ext cx="4507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결과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40880" y="2057400"/>
            <a:ext cx="450799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빅데이터 처리시스템 개발 · Steam Games</a:t>
            </a:r>
            <a:endParaRPr lang="en-US" sz="9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0E502E0-FA9B-4D6B-88BC-1BDF46755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259740"/>
            <a:ext cx="4382112" cy="6858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결과 테이블 캡처 (pgAdmin)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batch_genre_summary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72200" y="169164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event_game_alerts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507492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빅데이터 처리시스템 개발 · Steam Games</a:t>
            </a:r>
            <a:endParaRPr lang="en-US" sz="9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CE711A7-5C9C-4C11-A8C1-EA7CD525F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45" y="2074094"/>
            <a:ext cx="5244190" cy="428258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0A0ECC7-9448-4F84-9AB8-9C9ADB870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155131"/>
            <a:ext cx="5711182" cy="39576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rgbClr val="15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</a:t>
            </a:r>
            <a:r>
              <a:rPr lang="en-US" sz="3000" b="1" dirty="0" err="1">
                <a:solidFill>
                  <a:srgbClr val="15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r>
              <a:rPr lang="en-US" sz="3000" b="1" dirty="0">
                <a:solidFill>
                  <a:srgbClr val="15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5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캡처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68680" y="507492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빅데이터 처리시스템 개발 · Steam Games</a:t>
            </a:r>
            <a:endParaRPr lang="en-US" sz="9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96C1F9C-04E4-4DE3-BDF2-9EBDDAF11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3391" y="3014604"/>
            <a:ext cx="5325218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589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요약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08792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1691640"/>
            <a:ext cx="7662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접속정보 (환경변수 DATABASE_URL)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16712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database.py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2167128"/>
            <a:ext cx="7662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생성 + 공통 유틸(execute_sql, table_count, check_required_tables)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642616"/>
            <a:ext cx="10908792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64261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batch_processor.py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2642616"/>
            <a:ext cx="7662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장르별 집계 → batch_genre_summary 생성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311810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event_processor.py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3118104"/>
            <a:ext cx="7662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메타크리틱 고평가 탐지 → event_game_alerts 생성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593592"/>
            <a:ext cx="10908792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59359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pipeline.py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3593592"/>
            <a:ext cx="7662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배치 → 이벤트 순서로 통합 실행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" y="40690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verify_processing.py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4069080"/>
            <a:ext cx="7662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테이블 건수 자동 검증 (선택/가산점)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빅데이터 처리시스템 개발 · Steam Games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E0A45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느낀 점 &amp; 오류 해결 과정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01600" dist="25400" dir="5400000" algn="bl" rotWithShape="0">
              <a:srgbClr val="8CA0B3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20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느낀 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3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처리에서 재실행해도 결과가 중복되지 않도록 DELETE 후 </a:t>
            </a:r>
            <a:r>
              <a:rPr lang="en-US" sz="13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재삽입하는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멱등성의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중요성을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느꼈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다.</a:t>
            </a:r>
            <a:endParaRPr lang="en-US" sz="13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저장시스템(적재)과 처리시스템(가공)의 관심사를 분리하니, 입력 테이블만 준비되면 처리 로직을 독립적으로 재실행/검증할 수 있어 </a:t>
            </a:r>
            <a:r>
              <a:rPr lang="en-US" sz="13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편했다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cs typeface="Calibri" pitchFamily="34" charset="-120"/>
              </a:rPr>
              <a:t>Batch processor </a:t>
            </a:r>
            <a:r>
              <a:rPr lang="ko-KR" altLang="en-US" sz="1300" dirty="0">
                <a:solidFill>
                  <a:srgbClr val="1F2933"/>
                </a:solidFill>
                <a:latin typeface="Calibri" pitchFamily="34" charset="0"/>
                <a:cs typeface="Calibri" pitchFamily="34" charset="-120"/>
              </a:rPr>
              <a:t>작성 중 내가 정한 기준을 가지고 새로 컬럼을 만들어내는 과정에서 어려움을 겪었다</a:t>
            </a:r>
            <a:r>
              <a:rPr lang="en-US" altLang="ko-KR" sz="1300" dirty="0">
                <a:solidFill>
                  <a:srgbClr val="1F2933"/>
                </a:solidFill>
                <a:latin typeface="Calibri" pitchFamily="34" charset="0"/>
                <a:cs typeface="Calibri" pitchFamily="34" charset="-120"/>
              </a:rPr>
              <a:t>.</a:t>
            </a:r>
            <a:r>
              <a:rPr lang="ko-KR" altLang="en-US" sz="1300" dirty="0">
                <a:solidFill>
                  <a:srgbClr val="1F2933"/>
                </a:solidFill>
                <a:latin typeface="Calibri" pitchFamily="34" charset="0"/>
                <a:cs typeface="Calibri" pitchFamily="34" charset="-120"/>
              </a:rPr>
              <a:t> 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239512" cy="4297680"/>
          </a:xfrm>
          <a:prstGeom prst="roundRect">
            <a:avLst>
              <a:gd name="adj" fmla="val 1702"/>
            </a:avLst>
          </a:prstGeom>
          <a:solidFill>
            <a:srgbClr val="FDF3E4"/>
          </a:solidFill>
          <a:ln w="12700">
            <a:solidFill>
              <a:srgbClr val="E0A458"/>
            </a:solidFill>
            <a:prstDash val="solid"/>
          </a:ln>
          <a:effectLst>
            <a:outerShdw blurRad="101600" dist="25400" dir="5400000" algn="bl" rotWithShape="0">
              <a:srgbClr val="8CA0B3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920240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F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해결 과정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28803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7F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955280" y="2880360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저장시스템(steam_games) pipeline.py를 먼저 실행하지 않고, 이 프로젝트의 pipeline.py를 바로 실행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363016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7F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증상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955280" y="3630168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RuntimeError: games 테이블을 확인할 수 없습니다 / 데이터가 없습니다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4379976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7F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955280" y="4379976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check_required_tables()가 games·game_genres 존재·건수를 배치/이벤트 실행 전에 </a:t>
            </a:r>
            <a:r>
              <a:rPr lang="en-US" sz="11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</a:t>
            </a: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5129784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7F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955280" y="5129784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steam_games/pipeline.py를 먼저 실행해 입력 테이블을 적재한 뒤, 이 프로젝트의 pipeline.py 실행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빅데이터 처리시스템 개발 · Steam Games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E0A45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느낀 점 &amp; 오류 해결 과정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796796"/>
            <a:ext cx="5239512" cy="4297680"/>
          </a:xfrm>
          <a:prstGeom prst="roundRect">
            <a:avLst>
              <a:gd name="adj" fmla="val 1702"/>
            </a:avLst>
          </a:prstGeom>
          <a:solidFill>
            <a:srgbClr val="FDF3E4"/>
          </a:solidFill>
          <a:ln w="12700">
            <a:solidFill>
              <a:srgbClr val="E0A458"/>
            </a:solidFill>
            <a:prstDash val="solid"/>
          </a:ln>
          <a:effectLst>
            <a:outerShdw blurRad="101600" dist="25400" dir="5400000" algn="bl" rotWithShape="0">
              <a:srgbClr val="8CA0B3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025396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F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해결 과정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985516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7F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286000" y="2985516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cs typeface="Calibri" pitchFamily="34" charset="-120"/>
              </a:rPr>
              <a:t>Batch / event / pipeline </a:t>
            </a:r>
            <a:r>
              <a:rPr lang="ko-KR" altLang="en-US" sz="1100" dirty="0">
                <a:solidFill>
                  <a:srgbClr val="1F2933"/>
                </a:solidFill>
                <a:latin typeface="Calibri" pitchFamily="34" charset="0"/>
                <a:cs typeface="Calibri" pitchFamily="34" charset="-120"/>
              </a:rPr>
              <a:t>등 코드를 여러 번 실행 후 </a:t>
            </a:r>
            <a:r>
              <a:rPr lang="en-US" altLang="ko-KR" sz="1100" dirty="0" err="1">
                <a:solidFill>
                  <a:srgbClr val="1F2933"/>
                </a:solidFill>
                <a:latin typeface="Calibri" pitchFamily="34" charset="0"/>
                <a:cs typeface="Calibri" pitchFamily="34" charset="-120"/>
              </a:rPr>
              <a:t>pgAdmin</a:t>
            </a:r>
            <a:r>
              <a:rPr lang="ko-KR" altLang="en-US" sz="1100" dirty="0">
                <a:solidFill>
                  <a:srgbClr val="1F2933"/>
                </a:solidFill>
                <a:latin typeface="Calibri" pitchFamily="34" charset="0"/>
                <a:cs typeface="Calibri" pitchFamily="34" charset="-120"/>
              </a:rPr>
              <a:t>에서 테이블을 불러옴</a:t>
            </a:r>
            <a:endParaRPr lang="en-US" altLang="ko-KR" sz="1100" dirty="0">
              <a:solidFill>
                <a:srgbClr val="1F2933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14400" y="3735324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7F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증상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286000" y="3735324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ko-KR" sz="1100" dirty="0"/>
              <a:t>The specified object could not be found</a:t>
            </a:r>
            <a:r>
              <a:rPr lang="ko-KR" altLang="en-US" sz="1100" dirty="0">
                <a:solidFill>
                  <a:srgbClr val="1F2933"/>
                </a:solidFill>
                <a:latin typeface="Calibri" pitchFamily="34" charset="0"/>
                <a:cs typeface="Calibri" pitchFamily="34" charset="-120"/>
              </a:rPr>
              <a:t>와 같은 메시지가 뜬 경우가 있었다</a:t>
            </a:r>
            <a:r>
              <a:rPr lang="en-US" altLang="ko-KR" sz="1100" dirty="0">
                <a:solidFill>
                  <a:srgbClr val="1F2933"/>
                </a:solidFill>
                <a:latin typeface="Calibri" pitchFamily="34" charset="0"/>
                <a:cs typeface="Calibri" pitchFamily="34" charset="-120"/>
              </a:rPr>
              <a:t>.</a:t>
            </a:r>
            <a:endParaRPr lang="en-US" altLang="ko-KR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48513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7F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286000" y="4485132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 </a:t>
            </a:r>
            <a:r>
              <a:rPr lang="ko-KR" altLang="en-US" sz="1100" dirty="0" err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업로드된</a:t>
            </a:r>
            <a:r>
              <a:rPr lang="ko-KR" alt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테이블을 읽지 못함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52349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7F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286000" y="5234940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1F2933"/>
                </a:solidFill>
                <a:latin typeface="Calibri" pitchFamily="34" charset="0"/>
                <a:cs typeface="Calibri" pitchFamily="34" charset="-120"/>
              </a:rPr>
              <a:t>해당 전체 테이블에서 </a:t>
            </a:r>
            <a:r>
              <a:rPr lang="en-US" altLang="ko-KR" sz="1100" dirty="0">
                <a:solidFill>
                  <a:srgbClr val="1F2933"/>
                </a:solidFill>
                <a:latin typeface="Calibri" pitchFamily="34" charset="0"/>
                <a:cs typeface="Calibri" pitchFamily="34" charset="-120"/>
              </a:rPr>
              <a:t>refresh </a:t>
            </a:r>
            <a:r>
              <a:rPr lang="ko-KR" altLang="en-US" sz="1100" dirty="0">
                <a:solidFill>
                  <a:srgbClr val="1F2933"/>
                </a:solidFill>
                <a:latin typeface="Calibri" pitchFamily="34" charset="0"/>
                <a:cs typeface="Calibri" pitchFamily="34" charset="-120"/>
              </a:rPr>
              <a:t>후 다시 조회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빅데이터 처리시스템 개발 · Steam Games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26929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1181</Words>
  <Application>Microsoft Office PowerPoint</Application>
  <PresentationFormat>와이드스크린</PresentationFormat>
  <Paragraphs>194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맑은 고딕</vt:lpstr>
      <vt:lpstr>Arial</vt:lpstr>
      <vt:lpstr>Calibri</vt:lpstr>
      <vt:lpstr>Consolas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FullName</cp:lastModifiedBy>
  <cp:revision>7</cp:revision>
  <dcterms:created xsi:type="dcterms:W3CDTF">2026-07-20T05:32:24Z</dcterms:created>
  <dcterms:modified xsi:type="dcterms:W3CDTF">2026-07-20T06:06:57Z</dcterms:modified>
</cp:coreProperties>
</file>