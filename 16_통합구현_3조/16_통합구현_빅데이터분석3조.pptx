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  <p:sldId id="263" r:id="rId10"/>
    <p:sldId id="264" r:id="rId11"/>
    <p:sldId id="265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Lato Bold" panose="020F0502020204030203" charset="0"/>
      <p:regular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682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18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://api:8000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0558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74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빅데이터 분석 3조</a:t>
            </a:r>
            <a:endParaRPr lang="ko-KR" sz="74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3799979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altLang="ko-KR" sz="1400" b="1" dirty="0">
                <a:solidFill>
                  <a:srgbClr val="282824"/>
                </a:solidFill>
                <a:latin typeface="+mn-ea"/>
              </a:rPr>
              <a:t>Docker </a:t>
            </a:r>
            <a:r>
              <a:rPr lang="ko-KR" altLang="en-US" sz="1400" b="1" dirty="0">
                <a:solidFill>
                  <a:srgbClr val="282824"/>
                </a:solidFill>
                <a:latin typeface="+mn-ea"/>
              </a:rPr>
              <a:t>기반 </a:t>
            </a:r>
            <a:r>
              <a:rPr lang="en-US" altLang="ko-KR" sz="1400" b="1" dirty="0">
                <a:solidFill>
                  <a:srgbClr val="282824"/>
                </a:solidFill>
                <a:latin typeface="+mn-ea"/>
              </a:rPr>
              <a:t>2026 FIFA </a:t>
            </a:r>
            <a:r>
              <a:rPr lang="ko-KR" altLang="en-US" sz="1400" b="1" dirty="0">
                <a:solidFill>
                  <a:srgbClr val="282824"/>
                </a:solidFill>
                <a:latin typeface="+mn-ea"/>
              </a:rPr>
              <a:t>월드컵 데이터 서비스 </a:t>
            </a:r>
            <a:r>
              <a:rPr lang="en-US" altLang="ko-KR" sz="1600" dirty="0" err="1">
                <a:latin typeface="+mn-ea"/>
              </a:rPr>
              <a:t>FastAPI</a:t>
            </a:r>
            <a:r>
              <a:rPr lang="en-US" altLang="ko-KR" sz="1600" dirty="0">
                <a:latin typeface="+mn-ea"/>
              </a:rPr>
              <a:t> · PostgreSQL · </a:t>
            </a:r>
            <a:r>
              <a:rPr lang="en-US" altLang="ko-KR" sz="1600" dirty="0" err="1">
                <a:latin typeface="+mn-ea"/>
              </a:rPr>
              <a:t>Streamlit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통합</a:t>
            </a:r>
            <a:endParaRPr lang="en-US" altLang="ko-KR" sz="1600" dirty="0">
              <a:latin typeface="+mn-ea"/>
            </a:endParaRPr>
          </a:p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ko-KR" altLang="en-US" sz="1450" dirty="0">
                <a:solidFill>
                  <a:srgbClr val="4A4A45"/>
                </a:solidFill>
                <a:latin typeface="+mn-ea"/>
                <a:cs typeface="Lato" pitchFamily="34" charset="-120"/>
              </a:rPr>
              <a:t>조원 : 태두혁, 김수완, </a:t>
            </a:r>
            <a:r>
              <a:rPr lang="ko-KR" altLang="en-US" sz="1450" dirty="0" err="1">
                <a:solidFill>
                  <a:srgbClr val="4A4A45"/>
                </a:solidFill>
                <a:latin typeface="+mn-ea"/>
                <a:cs typeface="Lato" pitchFamily="34" charset="-120"/>
              </a:rPr>
              <a:t>장호균</a:t>
            </a:r>
            <a:endParaRPr lang="ko-KR" sz="1450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069" y="1130157"/>
            <a:ext cx="10868745" cy="40529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31909" y="1924392"/>
            <a:ext cx="9683905" cy="325869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Autofit/>
          </a:bodyPr>
          <a:lstStyle/>
          <a:p>
            <a:pPr>
              <a:spcAft>
                <a:spcPts val="1650"/>
              </a:spcAft>
              <a:buSzPct val="100000"/>
            </a:pP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 FIFA </a:t>
            </a:r>
            <a:r>
              <a:rPr lang="ko-KR" altLang="en-US" sz="1400" dirty="0">
                <a:solidFill>
                  <a:srgbClr val="4A4A45"/>
                </a:solidFill>
                <a:latin typeface="Lato" pitchFamily="34" charset="0"/>
                <a:cs typeface="Lato" pitchFamily="34" charset="-120"/>
              </a:rPr>
              <a:t>월드컵 선수</a:t>
            </a: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·</a:t>
            </a:r>
            <a:r>
              <a:rPr lang="ko-KR" altLang="en-US" sz="1400" dirty="0">
                <a:solidFill>
                  <a:srgbClr val="4A4A45"/>
                </a:solidFill>
                <a:latin typeface="Lato" pitchFamily="34" charset="0"/>
                <a:cs typeface="Lato" pitchFamily="34" charset="-120"/>
              </a:rPr>
              <a:t>경기</a:t>
            </a: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·</a:t>
            </a:r>
            <a:r>
              <a:rPr lang="ko-KR" altLang="en-US" sz="1400" dirty="0">
                <a:solidFill>
                  <a:srgbClr val="4A4A45"/>
                </a:solidFill>
                <a:latin typeface="Lato" pitchFamily="34" charset="0"/>
                <a:cs typeface="Lato" pitchFamily="34" charset="-120"/>
              </a:rPr>
              <a:t>팀 데이터를 활용하여 </a:t>
            </a:r>
            <a:endParaRPr lang="en-US" altLang="ko-KR" sz="14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>
              <a:spcAft>
                <a:spcPts val="1650"/>
              </a:spcAft>
              <a:buSzPct val="100000"/>
            </a:pP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PostgreSQL → </a:t>
            </a:r>
            <a:r>
              <a:rPr lang="en-US" altLang="ko-KR" sz="14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FastAPI</a:t>
            </a: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r>
              <a:rPr lang="en-US" altLang="ko-KR" sz="14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</a:t>
            </a:r>
            <a:r>
              <a:rPr lang="ko-KR" altLang="en-US" sz="1400" dirty="0">
                <a:solidFill>
                  <a:srgbClr val="4A4A45"/>
                </a:solidFill>
                <a:latin typeface="Lato" pitchFamily="34" charset="0"/>
                <a:cs typeface="Lato" pitchFamily="34" charset="-120"/>
              </a:rPr>
              <a:t>으로 연결되는 </a:t>
            </a:r>
            <a:endParaRPr lang="en-US" altLang="ko-KR" sz="140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>
              <a:spcAft>
                <a:spcPts val="1650"/>
              </a:spcAft>
              <a:buSzPct val="100000"/>
            </a:pPr>
            <a:r>
              <a:rPr lang="ko-KR" altLang="en-US" sz="1400" dirty="0">
                <a:solidFill>
                  <a:srgbClr val="4A4A45"/>
                </a:solidFill>
                <a:latin typeface="Lato" pitchFamily="34" charset="0"/>
                <a:cs typeface="Lato" pitchFamily="34" charset="-120"/>
              </a:rPr>
              <a:t>데이터 서비스를 </a:t>
            </a: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Docker </a:t>
            </a:r>
            <a:r>
              <a:rPr lang="ko-KR" altLang="en-US" sz="1400" dirty="0">
                <a:solidFill>
                  <a:srgbClr val="4A4A45"/>
                </a:solidFill>
                <a:latin typeface="Lato" pitchFamily="34" charset="0"/>
                <a:cs typeface="Lato" pitchFamily="34" charset="-120"/>
              </a:rPr>
              <a:t>환경으로 통합</a:t>
            </a:r>
            <a:endParaRPr lang="en-US" altLang="ko-KR" sz="1400" dirty="0">
              <a:solidFill>
                <a:srgbClr val="4A4A45"/>
              </a:solidFill>
              <a:latin typeface="Lato" pitchFamily="34" charset="0"/>
              <a:cs typeface="Lato" pitchFamily="34" charset="-120"/>
            </a:endParaRPr>
          </a:p>
          <a:p>
            <a:pPr>
              <a:spcAft>
                <a:spcPts val="1650"/>
              </a:spcAft>
              <a:buSzPct val="100000"/>
            </a:pPr>
            <a:endParaRPr lang="en-US" altLang="ko-KR" sz="145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>
              <a:spcAft>
                <a:spcPts val="1650"/>
              </a:spcAft>
              <a:buSzPct val="100000"/>
            </a:pPr>
            <a:r>
              <a:rPr lang="ko-KR" altLang="en-US" sz="1400" dirty="0">
                <a:solidFill>
                  <a:srgbClr val="4A4A45"/>
                </a:solidFill>
                <a:latin typeface="Lato" pitchFamily="34" charset="0"/>
                <a:cs typeface="Lato" pitchFamily="34" charset="-120"/>
              </a:rPr>
              <a:t> 사용 기술</a:t>
            </a: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cs typeface="Lato" pitchFamily="34" charset="-120"/>
              </a:rPr>
              <a:t>:</a:t>
            </a:r>
          </a:p>
          <a:p>
            <a:pPr>
              <a:spcAft>
                <a:spcPts val="1650"/>
              </a:spcAft>
              <a:buSzPct val="100000"/>
            </a:pPr>
            <a:r>
              <a:rPr lang="ko-KR" altLang="en-US" sz="1400" dirty="0">
                <a:solidFill>
                  <a:srgbClr val="4A4A45"/>
                </a:solidFill>
                <a:latin typeface="Lato" pitchFamily="34" charset="0"/>
                <a:cs typeface="Lato" pitchFamily="34" charset="-120"/>
              </a:rPr>
              <a:t> </a:t>
            </a: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· </a:t>
            </a:r>
            <a:r>
              <a:rPr lang="en-US" altLang="ko-KR" sz="14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FastAPI</a:t>
            </a: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PostgreSQL · </a:t>
            </a:r>
            <a:r>
              <a:rPr lang="en-US" altLang="ko-KR" sz="14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</a:t>
            </a: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</a:p>
          <a:p>
            <a:pPr>
              <a:spcAft>
                <a:spcPts val="1650"/>
              </a:spcAft>
              <a:buSzPct val="100000"/>
            </a:pP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Docker · Docker Compose · </a:t>
            </a:r>
            <a:r>
              <a:rPr lang="en-US" altLang="ko-KR" sz="140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SQLAlchemy</a:t>
            </a:r>
            <a:r>
              <a:rPr lang="en-US" altLang="ko-KR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Pandas</a:t>
            </a:r>
            <a:endParaRPr lang="ko-KR" altLang="en-US" sz="1400" dirty="0">
              <a:solidFill>
                <a:srgbClr val="4A4A45"/>
              </a:solidFill>
              <a:latin typeface="Lato" pitchFamily="34" charset="0"/>
              <a:cs typeface="Lato" pitchFamily="34" charset="-12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91D49DF-A9E8-43DB-82D3-AA57E30A9E9E}"/>
              </a:ext>
            </a:extLst>
          </p:cNvPr>
          <p:cNvSpPr/>
          <p:nvPr/>
        </p:nvSpPr>
        <p:spPr>
          <a:xfrm>
            <a:off x="1545052" y="1371199"/>
            <a:ext cx="1424179" cy="30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ko-KR" altLang="en-US" sz="1600" b="1" dirty="0">
                <a:solidFill>
                  <a:srgbClr val="282824"/>
                </a:solidFill>
                <a:latin typeface="Lato Bold" pitchFamily="34" charset="0"/>
              </a:rPr>
              <a:t>프로젝트 목표</a:t>
            </a:r>
            <a:endParaRPr lang="ko-K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94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프로젝트 구조</a:t>
            </a:r>
            <a:endParaRPr lang="ko-KR" sz="2750" dirty="0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233587"/>
            <a:ext cx="10249680" cy="5046464"/>
          </a:xfrm>
          <a:prstGeom prst="roundRect">
            <a:avLst>
              <a:gd name="adj" fmla="val 421"/>
            </a:avLst>
          </a:prstGeom>
          <a:solidFill>
            <a:srgbClr val="E2DFD9"/>
          </a:solidFill>
          <a:ln/>
        </p:spPr>
      </p:sp>
      <p:sp>
        <p:nvSpPr>
          <p:cNvPr id="4" name="Text 2"/>
          <p:cNvSpPr/>
          <p:nvPr/>
        </p:nvSpPr>
        <p:spPr>
          <a:xfrm>
            <a:off x="750039" y="1428108"/>
            <a:ext cx="10017277" cy="4736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n-US" altLang="ko-KR" sz="1200" b="0" dirty="0" err="1">
                <a:effectLst/>
                <a:latin typeface="+mn-ea"/>
              </a:rPr>
              <a:t>worldcup</a:t>
            </a:r>
            <a:r>
              <a:rPr lang="en-US" altLang="ko-KR" sz="1200" b="0" dirty="0">
                <a:effectLst/>
                <a:latin typeface="+mn-ea"/>
              </a:rPr>
              <a:t>/</a:t>
            </a:r>
          </a:p>
          <a:p>
            <a:r>
              <a:rPr lang="en-US" altLang="ko-KR" sz="1200" b="0" dirty="0">
                <a:effectLst/>
                <a:latin typeface="+mn-ea"/>
              </a:rPr>
              <a:t>├── main.py                  </a:t>
            </a:r>
            <a:endParaRPr lang="ko-KR" altLang="en-US" sz="1200" b="0" dirty="0">
              <a:effectLst/>
              <a:latin typeface="+mn-ea"/>
            </a:endParaRPr>
          </a:p>
          <a:p>
            <a:r>
              <a:rPr lang="ko-KR" altLang="en-US" sz="1200" b="0" dirty="0">
                <a:effectLst/>
                <a:latin typeface="+mn-ea"/>
              </a:rPr>
              <a:t>├── </a:t>
            </a:r>
            <a:r>
              <a:rPr lang="en-US" altLang="ko-KR" sz="1200" b="0" dirty="0">
                <a:effectLst/>
                <a:latin typeface="+mn-ea"/>
              </a:rPr>
              <a:t>models.py                  </a:t>
            </a:r>
          </a:p>
          <a:p>
            <a:r>
              <a:rPr lang="en-US" altLang="ko-KR" sz="1200" b="0" dirty="0">
                <a:effectLst/>
                <a:latin typeface="+mn-ea"/>
              </a:rPr>
              <a:t>├── auth/</a:t>
            </a:r>
          </a:p>
          <a:p>
            <a:r>
              <a:rPr lang="en-US" altLang="ko-KR" sz="1200" b="0" dirty="0">
                <a:effectLst/>
                <a:latin typeface="+mn-ea"/>
              </a:rPr>
              <a:t>│   └── jwt.py                 </a:t>
            </a:r>
          </a:p>
          <a:p>
            <a:r>
              <a:rPr lang="en-US" altLang="ko-KR" sz="1200" b="0" dirty="0">
                <a:effectLst/>
                <a:latin typeface="+mn-ea"/>
              </a:rPr>
              <a:t>├── data/                      </a:t>
            </a:r>
          </a:p>
          <a:p>
            <a:r>
              <a:rPr lang="en-US" altLang="ko-KR" sz="1200" b="0" dirty="0">
                <a:effectLst/>
                <a:latin typeface="+mn-ea"/>
              </a:rPr>
              <a:t>├── database/</a:t>
            </a:r>
          </a:p>
          <a:p>
            <a:r>
              <a:rPr lang="en-US" altLang="ko-KR" sz="1200" b="0" dirty="0">
                <a:effectLst/>
                <a:latin typeface="+mn-ea"/>
              </a:rPr>
              <a:t>│   ├── db_connection.py       </a:t>
            </a:r>
          </a:p>
          <a:p>
            <a:r>
              <a:rPr lang="en-US" altLang="ko-KR" sz="1200" b="0" dirty="0">
                <a:effectLst/>
                <a:latin typeface="+mn-ea"/>
              </a:rPr>
              <a:t>│   └── orm.py                 </a:t>
            </a:r>
          </a:p>
          <a:p>
            <a:r>
              <a:rPr lang="ko-KR" altLang="en-US" sz="1200" b="0" dirty="0">
                <a:effectLst/>
                <a:latin typeface="+mn-ea"/>
              </a:rPr>
              <a:t>├── </a:t>
            </a:r>
            <a:r>
              <a:rPr lang="en-US" altLang="ko-KR" sz="1200" b="0" dirty="0">
                <a:effectLst/>
                <a:latin typeface="+mn-ea"/>
              </a:rPr>
              <a:t>routers/</a:t>
            </a:r>
          </a:p>
          <a:p>
            <a:r>
              <a:rPr lang="en-US" altLang="ko-KR" sz="1200" b="0" dirty="0">
                <a:effectLst/>
                <a:latin typeface="+mn-ea"/>
              </a:rPr>
              <a:t>│   ├── users.py                </a:t>
            </a:r>
          </a:p>
          <a:p>
            <a:r>
              <a:rPr lang="ko-KR" altLang="en-US" sz="1200" b="0" dirty="0">
                <a:effectLst/>
                <a:latin typeface="+mn-ea"/>
              </a:rPr>
              <a:t>│   ├── </a:t>
            </a:r>
            <a:r>
              <a:rPr lang="en-US" altLang="ko-KR" sz="1200" b="0" dirty="0">
                <a:effectLst/>
                <a:latin typeface="+mn-ea"/>
              </a:rPr>
              <a:t>players.py              </a:t>
            </a:r>
          </a:p>
          <a:p>
            <a:r>
              <a:rPr lang="en-US" altLang="ko-KR" sz="1200" b="0" dirty="0">
                <a:effectLst/>
                <a:latin typeface="+mn-ea"/>
              </a:rPr>
              <a:t>│   ├── matches.py              </a:t>
            </a:r>
            <a:endParaRPr lang="ko-KR" altLang="en-US" sz="1200" b="0" dirty="0">
              <a:effectLst/>
              <a:latin typeface="+mn-ea"/>
            </a:endParaRPr>
          </a:p>
          <a:p>
            <a:r>
              <a:rPr lang="ko-KR" altLang="en-US" sz="1200" b="0" dirty="0">
                <a:effectLst/>
                <a:latin typeface="+mn-ea"/>
              </a:rPr>
              <a:t>│   ├── </a:t>
            </a:r>
            <a:r>
              <a:rPr lang="en-US" altLang="ko-KR" sz="1200" b="0" dirty="0">
                <a:effectLst/>
                <a:latin typeface="+mn-ea"/>
              </a:rPr>
              <a:t>teams.py                 </a:t>
            </a:r>
          </a:p>
          <a:p>
            <a:r>
              <a:rPr lang="ko-KR" altLang="en-US" sz="1200" b="0" dirty="0">
                <a:effectLst/>
                <a:latin typeface="+mn-ea"/>
              </a:rPr>
              <a:t>│   └── </a:t>
            </a:r>
            <a:r>
              <a:rPr lang="en-US" altLang="ko-KR" sz="1200" b="0" dirty="0">
                <a:effectLst/>
                <a:latin typeface="+mn-ea"/>
              </a:rPr>
              <a:t>stats.py                  </a:t>
            </a:r>
            <a:endParaRPr lang="ko-KR" altLang="en-US" sz="1200" b="0" dirty="0">
              <a:effectLst/>
              <a:latin typeface="+mn-ea"/>
            </a:endParaRPr>
          </a:p>
          <a:p>
            <a:r>
              <a:rPr lang="ko-KR" altLang="en-US" sz="1200" b="0" dirty="0">
                <a:effectLst/>
                <a:latin typeface="+mn-ea"/>
              </a:rPr>
              <a:t>├── </a:t>
            </a:r>
            <a:r>
              <a:rPr lang="en-US" altLang="ko-KR" sz="1200" b="0" dirty="0">
                <a:effectLst/>
                <a:latin typeface="+mn-ea"/>
              </a:rPr>
              <a:t>schema/</a:t>
            </a:r>
          </a:p>
          <a:p>
            <a:r>
              <a:rPr lang="en-US" altLang="ko-KR" sz="1200" b="0" dirty="0">
                <a:effectLst/>
                <a:latin typeface="+mn-ea"/>
              </a:rPr>
              <a:t>│   ├── request.py              </a:t>
            </a:r>
            <a:endParaRPr lang="ko-KR" altLang="en-US" sz="1200" b="0" dirty="0">
              <a:effectLst/>
              <a:latin typeface="+mn-ea"/>
            </a:endParaRPr>
          </a:p>
          <a:p>
            <a:r>
              <a:rPr lang="ko-KR" altLang="en-US" sz="1200" b="0" dirty="0">
                <a:effectLst/>
                <a:latin typeface="+mn-ea"/>
              </a:rPr>
              <a:t>│   └── </a:t>
            </a:r>
            <a:r>
              <a:rPr lang="en-US" altLang="ko-KR" sz="1200" b="0" dirty="0">
                <a:effectLst/>
                <a:latin typeface="+mn-ea"/>
              </a:rPr>
              <a:t>response.py              </a:t>
            </a:r>
            <a:endParaRPr lang="ko-KR" altLang="en-US" sz="1200" b="0" dirty="0">
              <a:effectLst/>
              <a:latin typeface="+mn-ea"/>
            </a:endParaRPr>
          </a:p>
          <a:p>
            <a:r>
              <a:rPr lang="ko-KR" altLang="en-US" sz="1200" b="0" dirty="0">
                <a:effectLst/>
                <a:latin typeface="+mn-ea"/>
              </a:rPr>
              <a:t>├── </a:t>
            </a:r>
            <a:r>
              <a:rPr lang="en-US" altLang="ko-KR" sz="1200" b="0" dirty="0" err="1">
                <a:effectLst/>
                <a:latin typeface="+mn-ea"/>
              </a:rPr>
              <a:t>streamlit_api</a:t>
            </a:r>
            <a:r>
              <a:rPr lang="en-US" altLang="ko-KR" sz="1200" b="0" dirty="0">
                <a:effectLst/>
                <a:latin typeface="+mn-ea"/>
              </a:rPr>
              <a:t>/                </a:t>
            </a:r>
          </a:p>
          <a:p>
            <a:r>
              <a:rPr lang="en-US" altLang="ko-KR" sz="1200" b="0" dirty="0">
                <a:effectLst/>
                <a:latin typeface="+mn-ea"/>
              </a:rPr>
              <a:t>│   ├── </a:t>
            </a:r>
            <a:r>
              <a:rPr lang="en-US" altLang="ko-KR" sz="1200" b="0" dirty="0" err="1">
                <a:effectLst/>
                <a:latin typeface="+mn-ea"/>
              </a:rPr>
              <a:t>Dockerfile</a:t>
            </a:r>
            <a:endParaRPr lang="en-US" altLang="ko-KR" sz="1200" b="0" dirty="0">
              <a:effectLst/>
              <a:latin typeface="+mn-ea"/>
            </a:endParaRPr>
          </a:p>
          <a:p>
            <a:r>
              <a:rPr lang="en-US" altLang="ko-KR" sz="1200" b="0" dirty="0">
                <a:effectLst/>
                <a:latin typeface="+mn-ea"/>
              </a:rPr>
              <a:t>│   ├── app.py</a:t>
            </a:r>
          </a:p>
          <a:p>
            <a:r>
              <a:rPr lang="en-US" altLang="ko-KR" sz="1200" b="0" dirty="0">
                <a:effectLst/>
                <a:latin typeface="+mn-ea"/>
              </a:rPr>
              <a:t>│   ├── api_client.py</a:t>
            </a:r>
          </a:p>
          <a:p>
            <a:r>
              <a:rPr lang="en-US" altLang="ko-KR" sz="1200" b="0" dirty="0">
                <a:effectLst/>
                <a:latin typeface="+mn-ea"/>
              </a:rPr>
              <a:t>│   ├── pages/</a:t>
            </a:r>
          </a:p>
          <a:p>
            <a:r>
              <a:rPr lang="en-US" altLang="ko-KR" sz="1200" b="0" dirty="0">
                <a:effectLst/>
                <a:latin typeface="+mn-ea"/>
              </a:rPr>
              <a:t>│   └── requirements_streamlit.txt</a:t>
            </a:r>
          </a:p>
          <a:p>
            <a:r>
              <a:rPr lang="en-US" altLang="ko-KR" sz="1200" b="0" dirty="0">
                <a:effectLst/>
                <a:latin typeface="+mn-ea"/>
              </a:rPr>
              <a:t>├── </a:t>
            </a:r>
            <a:r>
              <a:rPr lang="en-US" altLang="ko-KR" sz="1200" b="0" dirty="0" err="1">
                <a:effectLst/>
                <a:latin typeface="+mn-ea"/>
              </a:rPr>
              <a:t>Dockerfile</a:t>
            </a:r>
            <a:r>
              <a:rPr lang="en-US" altLang="ko-KR" sz="1200" b="0" dirty="0">
                <a:effectLst/>
                <a:latin typeface="+mn-ea"/>
              </a:rPr>
              <a:t>                    </a:t>
            </a:r>
            <a:endParaRPr lang="ko-KR" altLang="en-US" sz="1200" b="0" dirty="0">
              <a:effectLst/>
              <a:latin typeface="+mn-ea"/>
            </a:endParaRPr>
          </a:p>
          <a:p>
            <a:r>
              <a:rPr lang="ko-KR" altLang="en-US" sz="1200" b="0" dirty="0">
                <a:effectLst/>
                <a:latin typeface="+mn-ea"/>
              </a:rPr>
              <a:t>├── </a:t>
            </a:r>
            <a:r>
              <a:rPr lang="en-US" altLang="ko-KR" sz="1200" b="0" dirty="0">
                <a:effectLst/>
                <a:latin typeface="+mn-ea"/>
              </a:rPr>
              <a:t>docker-</a:t>
            </a:r>
            <a:r>
              <a:rPr lang="en-US" altLang="ko-KR" sz="1200" b="0" dirty="0" err="1">
                <a:effectLst/>
                <a:latin typeface="+mn-ea"/>
              </a:rPr>
              <a:t>compose.yml</a:t>
            </a:r>
            <a:endParaRPr lang="en-US" altLang="ko-KR" sz="1200" b="0" dirty="0">
              <a:effectLst/>
              <a:latin typeface="+mn-ea"/>
            </a:endParaRPr>
          </a:p>
          <a:p>
            <a:r>
              <a:rPr lang="en-US" altLang="ko-KR" sz="1200" b="0" dirty="0">
                <a:effectLst/>
                <a:latin typeface="+mn-ea"/>
              </a:rPr>
              <a:t>├── requirements.txt</a:t>
            </a:r>
          </a:p>
          <a:p>
            <a:r>
              <a:rPr lang="en-US" altLang="ko-KR" sz="1200" b="0" dirty="0">
                <a:effectLst/>
                <a:latin typeface="+mn-ea"/>
              </a:rPr>
              <a:t>├── </a:t>
            </a:r>
            <a:r>
              <a:rPr lang="en-US" altLang="ko-KR" sz="1200" b="0" dirty="0" err="1">
                <a:effectLst/>
                <a:latin typeface="+mn-ea"/>
              </a:rPr>
              <a:t>schema.sql</a:t>
            </a:r>
            <a:r>
              <a:rPr lang="en-US" altLang="ko-KR" sz="1200" b="0" dirty="0">
                <a:effectLst/>
                <a:latin typeface="+mn-ea"/>
              </a:rPr>
              <a:t>                      </a:t>
            </a:r>
          </a:p>
          <a:p>
            <a:r>
              <a:rPr lang="en-US" altLang="ko-KR" sz="1200" b="0" dirty="0">
                <a:effectLst/>
                <a:latin typeface="+mn-ea"/>
              </a:rPr>
              <a:t>├── setup_database.py            </a:t>
            </a:r>
            <a:endParaRPr lang="ko-KR" altLang="en-US" sz="1200" b="0" dirty="0">
              <a:effectLst/>
              <a:latin typeface="+mn-ea"/>
            </a:endParaRPr>
          </a:p>
          <a:p>
            <a:r>
              <a:rPr lang="ko-KR" altLang="en-US" sz="1200" b="0" dirty="0">
                <a:effectLst/>
                <a:latin typeface="+mn-ea"/>
              </a:rPr>
              <a:t>└── </a:t>
            </a:r>
            <a:r>
              <a:rPr lang="en-US" altLang="ko-KR" sz="1200" b="0" dirty="0">
                <a:effectLst/>
                <a:latin typeface="+mn-ea"/>
              </a:rPr>
              <a:t>.env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36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40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컨테이너 기반 서비스 구성</a:t>
            </a:r>
            <a:endParaRPr lang="ko-KR" sz="3700" dirty="0"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048FA52-049D-4271-A1B5-8BB97A720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7620"/>
            <a:ext cx="1638889" cy="392276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3D87C1C-EC6F-4BFE-A892-0923FD58D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841" y="1467620"/>
            <a:ext cx="2971966" cy="116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C56C36B-8518-4F74-844F-DE1D45FFA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8841" y="2942219"/>
            <a:ext cx="3007864" cy="138582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9228208-8670-44C9-A00C-076EDE1DF6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8841" y="4642158"/>
            <a:ext cx="5418784" cy="10471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2E83EFC-4C83-4454-9FD2-021FE0B0EBA0}"/>
              </a:ext>
            </a:extLst>
          </p:cNvPr>
          <p:cNvSpPr txBox="1"/>
          <p:nvPr/>
        </p:nvSpPr>
        <p:spPr>
          <a:xfrm rot="10800000" flipV="1">
            <a:off x="8352418" y="1529419"/>
            <a:ext cx="30078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+mn-ea"/>
              </a:rPr>
              <a:t>FastAPI</a:t>
            </a:r>
            <a:r>
              <a:rPr lang="en-US" altLang="ko-KR" sz="1400" dirty="0">
                <a:latin typeface="+mn-ea"/>
              </a:rPr>
              <a:t>, </a:t>
            </a:r>
            <a:r>
              <a:rPr lang="en-US" altLang="ko-KR" sz="1400" dirty="0" err="1">
                <a:latin typeface="+mn-ea"/>
              </a:rPr>
              <a:t>Streamlit</a:t>
            </a:r>
            <a:r>
              <a:rPr lang="en-US" altLang="ko-KR" sz="1400" dirty="0">
                <a:latin typeface="+mn-ea"/>
              </a:rPr>
              <a:t>, PostgreSQL </a:t>
            </a:r>
          </a:p>
          <a:p>
            <a:r>
              <a:rPr lang="ko-KR" altLang="en-US" sz="1400" dirty="0">
                <a:latin typeface="+mn-ea"/>
              </a:rPr>
              <a:t>총 </a:t>
            </a:r>
            <a:r>
              <a:rPr lang="en-US" altLang="ko-KR" sz="1400" dirty="0">
                <a:latin typeface="+mn-ea"/>
              </a:rPr>
              <a:t>3</a:t>
            </a:r>
            <a:r>
              <a:rPr lang="ko-KR" altLang="en-US" sz="1400" dirty="0">
                <a:latin typeface="+mn-ea"/>
              </a:rPr>
              <a:t>개의 컨테이너로 구성했습니다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r>
              <a:rPr lang="en-US" altLang="ko-KR" sz="1400" dirty="0">
                <a:latin typeface="+mn-ea"/>
              </a:rPr>
              <a:t>--------------------------------------</a:t>
            </a:r>
          </a:p>
          <a:p>
            <a:r>
              <a:rPr lang="en-US" altLang="ko-KR" sz="1400" dirty="0">
                <a:effectLst/>
                <a:latin typeface="+mn-ea"/>
              </a:rPr>
              <a:t>- </a:t>
            </a:r>
            <a:r>
              <a:rPr lang="en-US" altLang="ko-KR" sz="1400" dirty="0" err="1">
                <a:effectLst/>
                <a:latin typeface="+mn-ea"/>
              </a:rPr>
              <a:t>api</a:t>
            </a:r>
            <a:r>
              <a:rPr lang="ko-KR" altLang="en-US" sz="1400" dirty="0">
                <a:effectLst/>
                <a:latin typeface="+mn-ea"/>
              </a:rPr>
              <a:t> → </a:t>
            </a:r>
            <a:r>
              <a:rPr lang="en-US" altLang="ko-KR" sz="1400" dirty="0" err="1">
                <a:effectLst/>
                <a:latin typeface="+mn-ea"/>
              </a:rPr>
              <a:t>db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effectLst/>
                <a:latin typeface="+mn-ea"/>
              </a:rPr>
              <a:t>접속</a:t>
            </a:r>
            <a:r>
              <a:rPr lang="en-US" altLang="ko-KR" sz="1400" dirty="0">
                <a:effectLst/>
                <a:latin typeface="+mn-ea"/>
              </a:rPr>
              <a:t>: </a:t>
            </a:r>
            <a:r>
              <a:rPr lang="ko-KR" altLang="en-US" sz="1400" dirty="0">
                <a:effectLst/>
                <a:latin typeface="+mn-ea"/>
              </a:rPr>
              <a:t>서비스명 </a:t>
            </a:r>
            <a:r>
              <a:rPr lang="en-US" altLang="ko-KR" sz="1400" dirty="0" err="1">
                <a:effectLst/>
                <a:latin typeface="+mn-ea"/>
              </a:rPr>
              <a:t>db</a:t>
            </a:r>
            <a:r>
              <a:rPr lang="ko-KR" altLang="en-US" sz="1400" dirty="0">
                <a:effectLst/>
                <a:latin typeface="+mn-ea"/>
              </a:rPr>
              <a:t>로 접속 </a:t>
            </a:r>
            <a:r>
              <a:rPr lang="en-US" altLang="ko-KR" sz="1400" dirty="0">
                <a:effectLst/>
                <a:latin typeface="+mn-ea"/>
              </a:rPr>
              <a:t>(db:5432)</a:t>
            </a:r>
          </a:p>
          <a:p>
            <a:endParaRPr lang="en-US" altLang="ko-KR" sz="1400" dirty="0">
              <a:effectLst/>
              <a:latin typeface="+mn-ea"/>
            </a:endParaRPr>
          </a:p>
          <a:p>
            <a:r>
              <a:rPr lang="en-US" altLang="ko-KR" sz="1400" dirty="0">
                <a:effectLst/>
                <a:latin typeface="+mn-ea"/>
              </a:rPr>
              <a:t>-</a:t>
            </a:r>
            <a:r>
              <a:rPr lang="ko-KR" altLang="en-US" sz="1400" dirty="0">
                <a:effectLst/>
                <a:latin typeface="+mn-ea"/>
              </a:rPr>
              <a:t> </a:t>
            </a:r>
            <a:r>
              <a:rPr lang="en-US" altLang="ko-KR" sz="1400" dirty="0">
                <a:effectLst/>
                <a:latin typeface="+mn-ea"/>
              </a:rPr>
              <a:t>web</a:t>
            </a:r>
            <a:r>
              <a:rPr lang="ko-KR" altLang="en-US" sz="1400" dirty="0">
                <a:effectLst/>
                <a:latin typeface="+mn-ea"/>
              </a:rPr>
              <a:t> → </a:t>
            </a:r>
            <a:r>
              <a:rPr lang="en-US" altLang="ko-KR" sz="1400" dirty="0" err="1">
                <a:effectLst/>
                <a:latin typeface="+mn-ea"/>
              </a:rPr>
              <a:t>api</a:t>
            </a:r>
            <a:r>
              <a:rPr lang="ko-KR" altLang="en-US" sz="1400" dirty="0">
                <a:effectLst/>
                <a:latin typeface="+mn-ea"/>
              </a:rPr>
              <a:t> 접속</a:t>
            </a:r>
            <a:r>
              <a:rPr lang="en-US" altLang="ko-KR" sz="1400" dirty="0">
                <a:effectLst/>
                <a:latin typeface="+mn-ea"/>
              </a:rPr>
              <a:t>: </a:t>
            </a:r>
            <a:r>
              <a:rPr lang="ko-KR" altLang="en-US" sz="1400" dirty="0">
                <a:effectLst/>
                <a:latin typeface="+mn-ea"/>
              </a:rPr>
              <a:t>서비스명 </a:t>
            </a:r>
            <a:r>
              <a:rPr lang="en-US" altLang="ko-KR" sz="1400" dirty="0" err="1">
                <a:effectLst/>
                <a:latin typeface="+mn-ea"/>
              </a:rPr>
              <a:t>api</a:t>
            </a:r>
            <a:r>
              <a:rPr lang="ko-KR" altLang="en-US" sz="1400" dirty="0">
                <a:effectLst/>
                <a:latin typeface="+mn-ea"/>
              </a:rPr>
              <a:t>로 접속 </a:t>
            </a:r>
            <a:r>
              <a:rPr lang="en-US" altLang="ko-KR" sz="1400" dirty="0">
                <a:effectLst/>
                <a:latin typeface="+mn-ea"/>
              </a:rPr>
              <a:t>(</a:t>
            </a:r>
            <a:r>
              <a:rPr lang="en-US" altLang="ko-KR" sz="1400" dirty="0">
                <a:effectLst/>
                <a:latin typeface="+mn-ea"/>
                <a:hlinkClick r:id="rId7"/>
              </a:rPr>
              <a:t>http://api:8000</a:t>
            </a:r>
            <a:r>
              <a:rPr lang="en-US" altLang="ko-KR" sz="1400" dirty="0">
                <a:effectLst/>
                <a:latin typeface="+mn-ea"/>
              </a:rPr>
              <a:t>)</a:t>
            </a:r>
          </a:p>
          <a:p>
            <a:endParaRPr lang="en-US" altLang="ko-KR" sz="1400" dirty="0">
              <a:effectLst/>
              <a:latin typeface="+mn-ea"/>
            </a:endParaRPr>
          </a:p>
          <a:p>
            <a:r>
              <a:rPr lang="en-US" altLang="ko-KR" sz="1400" dirty="0">
                <a:effectLst/>
                <a:latin typeface="+mn-ea"/>
              </a:rPr>
              <a:t>-</a:t>
            </a:r>
            <a:r>
              <a:rPr lang="ko-KR" altLang="en-US" sz="1400" dirty="0">
                <a:effectLst/>
                <a:latin typeface="+mn-ea"/>
              </a:rPr>
              <a:t> 컨테이너 간 통신에는 호스트 포트가 아닌 컨테이너 내부 포트와 서비스명을 사용합니다</a:t>
            </a:r>
            <a:r>
              <a:rPr lang="en-US" altLang="ko-KR" sz="1400" dirty="0">
                <a:effectLst/>
                <a:latin typeface="+mn-ea"/>
              </a:rPr>
              <a:t>.</a:t>
            </a:r>
            <a:endParaRPr lang="en-US" altLang="ko-KR" sz="1400" dirty="0"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4C60779-B09C-43F2-B3D5-01BDB33C898F}"/>
              </a:ext>
            </a:extLst>
          </p:cNvPr>
          <p:cNvCxnSpPr/>
          <p:nvPr/>
        </p:nvCxnSpPr>
        <p:spPr>
          <a:xfrm>
            <a:off x="2917861" y="1438037"/>
            <a:ext cx="0" cy="45209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40E0F1C-9453-4503-B268-16CA45C667E9}"/>
              </a:ext>
            </a:extLst>
          </p:cNvPr>
          <p:cNvCxnSpPr>
            <a:cxnSpLocks/>
          </p:cNvCxnSpPr>
          <p:nvPr/>
        </p:nvCxnSpPr>
        <p:spPr>
          <a:xfrm>
            <a:off x="7611438" y="1480725"/>
            <a:ext cx="0" cy="29417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513" y="4551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37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서버실행</a:t>
            </a:r>
            <a:endParaRPr lang="ko-KR" sz="3700" dirty="0">
              <a:latin typeface="+mj-ea"/>
              <a:ea typeface="+mj-e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513" y="1176929"/>
            <a:ext cx="5339820" cy="11303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9718" y="1623725"/>
            <a:ext cx="4809409" cy="552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altLang="ko-KR" sz="1400" b="0" dirty="0">
                <a:effectLst/>
                <a:latin typeface="+mn-ea"/>
              </a:rPr>
              <a:t>```bash</a:t>
            </a:r>
          </a:p>
          <a:p>
            <a:r>
              <a:rPr lang="en-US" altLang="ko-KR" sz="1400" b="0" dirty="0">
                <a:effectLst/>
                <a:latin typeface="+mn-ea"/>
              </a:rPr>
              <a:t>docker-compose up --build</a:t>
            </a:r>
          </a:p>
          <a:p>
            <a:r>
              <a:rPr lang="en-US" altLang="ko-KR" sz="1400" b="0" dirty="0">
                <a:effectLst/>
                <a:latin typeface="+mn-ea"/>
              </a:rPr>
              <a:t>```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400" dirty="0">
              <a:latin typeface="+mn-ea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3339" y="1176929"/>
            <a:ext cx="5339919" cy="113992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513" y="2489121"/>
            <a:ext cx="5339820" cy="12196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3555" y="2749965"/>
            <a:ext cx="3117697" cy="900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altLang="ko-KR" sz="1400" b="0" dirty="0">
                <a:effectLst/>
                <a:latin typeface="+mn-ea"/>
              </a:rPr>
              <a:t>```bash</a:t>
            </a:r>
          </a:p>
          <a:p>
            <a:r>
              <a:rPr lang="en-US" altLang="ko-KR" sz="1400" b="0" dirty="0">
                <a:effectLst/>
                <a:latin typeface="+mn-ea"/>
              </a:rPr>
              <a:t>DATABASE_URL="postgresql+psycopg2://</a:t>
            </a:r>
          </a:p>
          <a:p>
            <a:r>
              <a:rPr lang="en-US" altLang="ko-KR" sz="1400" b="0" dirty="0">
                <a:effectLst/>
                <a:latin typeface="+mn-ea"/>
              </a:rPr>
              <a:t>postgres:1234@localhost:5433/</a:t>
            </a:r>
            <a:r>
              <a:rPr lang="en-US" altLang="ko-KR" sz="1400" b="0" dirty="0" err="1">
                <a:effectLst/>
                <a:latin typeface="+mn-ea"/>
              </a:rPr>
              <a:t>worldcup</a:t>
            </a:r>
            <a:r>
              <a:rPr lang="en-US" altLang="ko-KR" sz="1400" b="0" dirty="0">
                <a:effectLst/>
                <a:latin typeface="+mn-ea"/>
              </a:rPr>
              <a:t>" </a:t>
            </a:r>
          </a:p>
          <a:p>
            <a:r>
              <a:rPr lang="en-US" altLang="ko-KR" sz="1400" b="0" dirty="0">
                <a:effectLst/>
                <a:latin typeface="+mn-ea"/>
              </a:rPr>
              <a:t>python setup_database.py</a:t>
            </a:r>
          </a:p>
          <a:p>
            <a:r>
              <a:rPr lang="en-US" altLang="ko-KR" sz="1400" b="0" dirty="0">
                <a:effectLst/>
                <a:latin typeface="+mn-ea"/>
              </a:rPr>
              <a:t>```</a:t>
            </a: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669" y="2507165"/>
            <a:ext cx="5339919" cy="11399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3557786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>
              <a:latin typeface="+mn-ea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978" y="3840101"/>
            <a:ext cx="5339820" cy="11399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4183" y="4145155"/>
            <a:ext cx="4809409" cy="76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altLang="ko-KR" sz="1400" b="0" dirty="0">
                <a:effectLst/>
                <a:latin typeface="+mn-ea"/>
              </a:rPr>
              <a:t>```bash</a:t>
            </a:r>
          </a:p>
          <a:p>
            <a:r>
              <a:rPr lang="en-US" altLang="ko-KR" sz="1400" b="0" dirty="0">
                <a:effectLst/>
                <a:latin typeface="+mn-ea"/>
              </a:rPr>
              <a:t>docker exec -it </a:t>
            </a:r>
            <a:r>
              <a:rPr lang="en-US" altLang="ko-KR" sz="1400" b="0" dirty="0" err="1">
                <a:effectLst/>
                <a:latin typeface="+mn-ea"/>
              </a:rPr>
              <a:t>worldcup_db</a:t>
            </a:r>
            <a:r>
              <a:rPr lang="en-US" altLang="ko-KR" sz="1400" b="0" dirty="0">
                <a:effectLst/>
                <a:latin typeface="+mn-ea"/>
              </a:rPr>
              <a:t> </a:t>
            </a:r>
            <a:r>
              <a:rPr lang="en-US" altLang="ko-KR" sz="1400" b="0" dirty="0" err="1">
                <a:effectLst/>
                <a:latin typeface="+mn-ea"/>
              </a:rPr>
              <a:t>psql</a:t>
            </a:r>
            <a:r>
              <a:rPr lang="en-US" altLang="ko-KR" sz="1400" b="0" dirty="0">
                <a:effectLst/>
                <a:latin typeface="+mn-ea"/>
              </a:rPr>
              <a:t> -U </a:t>
            </a:r>
          </a:p>
          <a:p>
            <a:r>
              <a:rPr lang="en-US" altLang="ko-KR" sz="1400" b="0" dirty="0" err="1">
                <a:effectLst/>
                <a:latin typeface="+mn-ea"/>
              </a:rPr>
              <a:t>postgres</a:t>
            </a:r>
            <a:r>
              <a:rPr lang="en-US" altLang="ko-KR" sz="1400" b="0" dirty="0">
                <a:effectLst/>
                <a:latin typeface="+mn-ea"/>
              </a:rPr>
              <a:t> -d </a:t>
            </a:r>
            <a:r>
              <a:rPr lang="en-US" altLang="ko-KR" sz="1400" b="0" dirty="0" err="1">
                <a:effectLst/>
                <a:latin typeface="+mn-ea"/>
              </a:rPr>
              <a:t>worldcup</a:t>
            </a:r>
            <a:r>
              <a:rPr lang="en-US" altLang="ko-KR" sz="1400" b="0" dirty="0">
                <a:effectLst/>
                <a:latin typeface="+mn-ea"/>
              </a:rPr>
              <a:t> -c "SELECT COUNT(*) FROM players;"</a:t>
            </a:r>
          </a:p>
          <a:p>
            <a:r>
              <a:rPr lang="en-US" altLang="ko-KR" sz="1400" b="0" dirty="0">
                <a:effectLst/>
                <a:latin typeface="+mn-ea"/>
              </a:rPr>
              <a:t>```</a:t>
            </a: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669" y="3868303"/>
            <a:ext cx="5339919" cy="113992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12520" y="4224605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altLang="ko-KR" sz="1200" dirty="0">
                <a:latin typeface="+mn-ea"/>
                <a:cs typeface="Lato" pitchFamily="34" charset="-120"/>
              </a:rPr>
              <a:t>0</a:t>
            </a:r>
            <a:r>
              <a:rPr lang="ko-KR" altLang="en-US" sz="1200" dirty="0">
                <a:latin typeface="+mn-ea"/>
                <a:cs typeface="Lato" pitchFamily="34" charset="-120"/>
              </a:rPr>
              <a:t>이 아닌 실제 행 개수가 나오면 정상적으로 적재된 것</a:t>
            </a:r>
            <a:r>
              <a:rPr lang="en-US" altLang="ko-KR" sz="1200" dirty="0">
                <a:latin typeface="+mn-ea"/>
                <a:cs typeface="Lato" pitchFamily="34" charset="-120"/>
              </a:rPr>
              <a:t>.</a:t>
            </a:r>
            <a:endParaRPr lang="ko-KR" sz="1200" dirty="0">
              <a:latin typeface="+mn-ea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1104D24-D42E-4640-84C8-AAA7D58A3F89}"/>
              </a:ext>
            </a:extLst>
          </p:cNvPr>
          <p:cNvSpPr/>
          <p:nvPr/>
        </p:nvSpPr>
        <p:spPr>
          <a:xfrm>
            <a:off x="6378188" y="2643592"/>
            <a:ext cx="5065742" cy="1007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altLang="ko-KR" sz="1200" dirty="0">
                <a:latin typeface="+mn-ea"/>
                <a:cs typeface="Lato" pitchFamily="34" charset="-120"/>
              </a:rPr>
              <a:t>Docker</a:t>
            </a:r>
            <a:r>
              <a:rPr lang="ko-KR" altLang="en-US" sz="1200" dirty="0">
                <a:latin typeface="+mn-ea"/>
                <a:cs typeface="Lato" pitchFamily="34" charset="-120"/>
              </a:rPr>
              <a:t>의 </a:t>
            </a:r>
            <a:r>
              <a:rPr lang="en-US" altLang="ko-KR" sz="1200" dirty="0">
                <a:latin typeface="+mn-ea"/>
                <a:cs typeface="Lato" pitchFamily="34" charset="-120"/>
              </a:rPr>
              <a:t>`</a:t>
            </a:r>
            <a:r>
              <a:rPr lang="en-US" altLang="ko-KR" sz="1200" dirty="0" err="1">
                <a:latin typeface="+mn-ea"/>
                <a:cs typeface="Lato" pitchFamily="34" charset="-120"/>
              </a:rPr>
              <a:t>db</a:t>
            </a:r>
            <a:r>
              <a:rPr lang="en-US" altLang="ko-KR" sz="1200" dirty="0">
                <a:latin typeface="+mn-ea"/>
                <a:cs typeface="Lato" pitchFamily="34" charset="-120"/>
              </a:rPr>
              <a:t>`</a:t>
            </a:r>
            <a:r>
              <a:rPr lang="ko-KR" altLang="en-US" sz="1200" dirty="0">
                <a:latin typeface="+mn-ea"/>
                <a:cs typeface="Lato" pitchFamily="34" charset="-120"/>
              </a:rPr>
              <a:t> 컨테이너는 로컬에 설치된 </a:t>
            </a:r>
            <a:r>
              <a:rPr lang="en-US" altLang="ko-KR" sz="1200" dirty="0">
                <a:latin typeface="+mn-ea"/>
                <a:cs typeface="Lato" pitchFamily="34" charset="-120"/>
              </a:rPr>
              <a:t>PostgreSQL</a:t>
            </a:r>
            <a:r>
              <a:rPr lang="ko-KR" altLang="en-US" sz="1200" dirty="0">
                <a:latin typeface="+mn-ea"/>
                <a:cs typeface="Lato" pitchFamily="34" charset="-120"/>
              </a:rPr>
              <a:t>과</a:t>
            </a:r>
            <a:endParaRPr lang="en-US" altLang="ko-KR" sz="1200" dirty="0">
              <a:latin typeface="+mn-ea"/>
              <a:cs typeface="Lato" pitchFamily="34" charset="-120"/>
            </a:endParaRPr>
          </a:p>
          <a:p>
            <a:r>
              <a:rPr lang="ko-KR" altLang="en-US" sz="1200" dirty="0">
                <a:latin typeface="+mn-ea"/>
                <a:cs typeface="Lato" pitchFamily="34" charset="-120"/>
              </a:rPr>
              <a:t>별개의 </a:t>
            </a:r>
            <a:r>
              <a:rPr lang="en-US" altLang="ko-KR" sz="1200" dirty="0">
                <a:latin typeface="+mn-ea"/>
                <a:cs typeface="Lato" pitchFamily="34" charset="-120"/>
              </a:rPr>
              <a:t>DB</a:t>
            </a:r>
            <a:r>
              <a:rPr lang="ko-KR" altLang="en-US" sz="1200" dirty="0">
                <a:latin typeface="+mn-ea"/>
                <a:cs typeface="Lato" pitchFamily="34" charset="-120"/>
              </a:rPr>
              <a:t>이므로</a:t>
            </a:r>
            <a:r>
              <a:rPr lang="en-US" altLang="ko-KR" sz="1200" dirty="0">
                <a:latin typeface="+mn-ea"/>
                <a:cs typeface="Lato" pitchFamily="34" charset="-120"/>
              </a:rPr>
              <a:t>, </a:t>
            </a:r>
            <a:r>
              <a:rPr lang="ko-KR" altLang="en-US" sz="1200" dirty="0">
                <a:latin typeface="+mn-ea"/>
                <a:cs typeface="Lato" pitchFamily="34" charset="-120"/>
              </a:rPr>
              <a:t>로컬 </a:t>
            </a:r>
            <a:r>
              <a:rPr lang="en-US" altLang="ko-KR" sz="1200" dirty="0">
                <a:latin typeface="+mn-ea"/>
                <a:cs typeface="Lato" pitchFamily="34" charset="-120"/>
              </a:rPr>
              <a:t>PostgreSQL</a:t>
            </a:r>
            <a:r>
              <a:rPr lang="ko-KR" altLang="en-US" sz="1200" dirty="0">
                <a:latin typeface="+mn-ea"/>
                <a:cs typeface="Lato" pitchFamily="34" charset="-120"/>
              </a:rPr>
              <a:t>과 포트가 겹치지 않도록</a:t>
            </a:r>
            <a:endParaRPr lang="en-US" altLang="ko-KR" sz="1200" dirty="0">
              <a:latin typeface="+mn-ea"/>
              <a:cs typeface="Lato" pitchFamily="34" charset="-120"/>
            </a:endParaRPr>
          </a:p>
          <a:p>
            <a:r>
              <a:rPr lang="ko-KR" altLang="en-US" sz="1200" dirty="0">
                <a:latin typeface="+mn-ea"/>
                <a:cs typeface="Lato" pitchFamily="34" charset="-120"/>
              </a:rPr>
              <a:t> </a:t>
            </a:r>
            <a:endParaRPr lang="en-US" altLang="ko-KR" sz="1200" dirty="0">
              <a:latin typeface="+mn-ea"/>
              <a:cs typeface="Lato" pitchFamily="34" charset="-120"/>
            </a:endParaRPr>
          </a:p>
          <a:p>
            <a:r>
              <a:rPr lang="en-US" altLang="ko-KR" sz="1200" dirty="0">
                <a:latin typeface="+mn-ea"/>
                <a:cs typeface="Lato" pitchFamily="34" charset="-120"/>
              </a:rPr>
              <a:t>`</a:t>
            </a:r>
            <a:r>
              <a:rPr lang="en-US" altLang="ko-KR" sz="1200" dirty="0" err="1">
                <a:latin typeface="+mn-ea"/>
                <a:cs typeface="Lato" pitchFamily="34" charset="-120"/>
              </a:rPr>
              <a:t>db</a:t>
            </a:r>
            <a:r>
              <a:rPr lang="en-US" altLang="ko-KR" sz="1200" dirty="0">
                <a:latin typeface="+mn-ea"/>
                <a:cs typeface="Lato" pitchFamily="34" charset="-120"/>
              </a:rPr>
              <a:t>`</a:t>
            </a:r>
            <a:r>
              <a:rPr lang="ko-KR" altLang="en-US" sz="1200" dirty="0">
                <a:latin typeface="+mn-ea"/>
                <a:cs typeface="Lato" pitchFamily="34" charset="-120"/>
              </a:rPr>
              <a:t> 서비스는 호스트 포트 </a:t>
            </a:r>
            <a:r>
              <a:rPr lang="en-US" altLang="ko-KR" sz="1200" dirty="0">
                <a:latin typeface="+mn-ea"/>
                <a:cs typeface="Lato" pitchFamily="34" charset="-120"/>
              </a:rPr>
              <a:t>5433</a:t>
            </a:r>
            <a:r>
              <a:rPr lang="ko-KR" altLang="en-US" sz="1200" dirty="0">
                <a:latin typeface="+mn-ea"/>
                <a:cs typeface="Lato" pitchFamily="34" charset="-120"/>
              </a:rPr>
              <a:t>으로 매핑</a:t>
            </a:r>
            <a:r>
              <a:rPr lang="en-US" altLang="ko-KR" sz="1200" dirty="0">
                <a:latin typeface="+mn-ea"/>
                <a:cs typeface="Lato" pitchFamily="34" charset="-120"/>
              </a:rPr>
              <a:t>. </a:t>
            </a:r>
          </a:p>
          <a:p>
            <a:r>
              <a:rPr lang="en-US" altLang="ko-KR" sz="1200" dirty="0">
                <a:latin typeface="+mn-ea"/>
                <a:cs typeface="Lato" pitchFamily="34" charset="-120"/>
              </a:rPr>
              <a:t>(</a:t>
            </a:r>
            <a:r>
              <a:rPr lang="ko-KR" altLang="en-US" sz="1200" dirty="0">
                <a:latin typeface="+mn-ea"/>
                <a:cs typeface="Lato" pitchFamily="34" charset="-120"/>
              </a:rPr>
              <a:t>컨테이너 내부에서는 그대로 </a:t>
            </a:r>
            <a:r>
              <a:rPr lang="en-US" altLang="ko-KR" sz="1200" dirty="0">
                <a:latin typeface="+mn-ea"/>
                <a:cs typeface="Lato" pitchFamily="34" charset="-120"/>
              </a:rPr>
              <a:t>5432)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433296-5E06-44DF-A21A-8538ABE94983}"/>
              </a:ext>
            </a:extLst>
          </p:cNvPr>
          <p:cNvSpPr txBox="1"/>
          <p:nvPr/>
        </p:nvSpPr>
        <p:spPr>
          <a:xfrm>
            <a:off x="6378188" y="1447461"/>
            <a:ext cx="3149030" cy="561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latin typeface="+mn-ea"/>
                <a:cs typeface="Lato" pitchFamily="34" charset="-120"/>
              </a:rPr>
              <a:t>정상적으로 뜨면 </a:t>
            </a:r>
            <a:r>
              <a:rPr lang="en-US" altLang="ko-KR" sz="1200" dirty="0">
                <a:latin typeface="+mn-ea"/>
                <a:cs typeface="Lato" pitchFamily="34" charset="-120"/>
              </a:rPr>
              <a:t>‘</a:t>
            </a:r>
            <a:r>
              <a:rPr lang="en-US" altLang="ko-KR" sz="1200" dirty="0" err="1">
                <a:latin typeface="+mn-ea"/>
                <a:cs typeface="Lato" pitchFamily="34" charset="-120"/>
              </a:rPr>
              <a:t>api</a:t>
            </a:r>
            <a:r>
              <a:rPr lang="en-US" altLang="ko-KR" sz="1200" dirty="0">
                <a:latin typeface="+mn-ea"/>
                <a:cs typeface="Lato" pitchFamily="34" charset="-120"/>
              </a:rPr>
              <a:t>’, ‘wed’, ‘</a:t>
            </a:r>
            <a:r>
              <a:rPr lang="en-US" altLang="ko-KR" sz="1200" dirty="0" err="1">
                <a:latin typeface="+mn-ea"/>
                <a:cs typeface="Lato" pitchFamily="34" charset="-120"/>
              </a:rPr>
              <a:t>db</a:t>
            </a:r>
            <a:r>
              <a:rPr lang="en-US" altLang="ko-KR" sz="1200" dirty="0">
                <a:latin typeface="+mn-ea"/>
                <a:cs typeface="Lato" pitchFamily="34" charset="-120"/>
              </a:rPr>
              <a:t>’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ko-KR" sz="1200" dirty="0">
                <a:latin typeface="+mn-ea"/>
                <a:cs typeface="Lato" pitchFamily="34" charset="-120"/>
              </a:rPr>
              <a:t>3</a:t>
            </a:r>
            <a:r>
              <a:rPr lang="ko-KR" altLang="en-US" sz="1200" dirty="0">
                <a:latin typeface="+mn-ea"/>
                <a:cs typeface="Lato" pitchFamily="34" charset="-120"/>
              </a:rPr>
              <a:t>개 컨테이너가 모두 </a:t>
            </a:r>
            <a:r>
              <a:rPr lang="en-US" altLang="ko-KR" sz="1200" dirty="0">
                <a:latin typeface="+mn-ea"/>
                <a:cs typeface="Lato" pitchFamily="34" charset="-120"/>
              </a:rPr>
              <a:t>‘up’ </a:t>
            </a:r>
            <a:r>
              <a:rPr lang="ko-KR" altLang="en-US" sz="1200" dirty="0">
                <a:latin typeface="+mn-ea"/>
                <a:cs typeface="Lato" pitchFamily="34" charset="-120"/>
              </a:rPr>
              <a:t>상태가 됨)</a:t>
            </a:r>
            <a:endParaRPr lang="ko-KR" altLang="ko-KR" sz="1200" dirty="0">
              <a:latin typeface="+mn-ea"/>
            </a:endParaRPr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70CD1C02-9897-4056-98E8-280E59E0B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513" y="5244621"/>
            <a:ext cx="5339820" cy="1139924"/>
          </a:xfrm>
          <a:prstGeom prst="rect">
            <a:avLst/>
          </a:prstGeom>
        </p:spPr>
      </p:pic>
      <p:pic>
        <p:nvPicPr>
          <p:cNvPr id="27" name="Image 5" descr="preencoded.png">
            <a:extLst>
              <a:ext uri="{FF2B5EF4-FFF2-40B4-BE49-F238E27FC236}">
                <a16:creationId xmlns:a16="http://schemas.microsoft.com/office/drawing/2014/main" id="{8DCF4008-82F1-4A07-89A8-5EC7A4676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568" y="5238061"/>
            <a:ext cx="5339919" cy="113992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DB95E07-C06F-42BA-B873-5CB60A112E15}"/>
              </a:ext>
            </a:extLst>
          </p:cNvPr>
          <p:cNvSpPr txBox="1"/>
          <p:nvPr/>
        </p:nvSpPr>
        <p:spPr>
          <a:xfrm>
            <a:off x="799592" y="5614922"/>
            <a:ext cx="40806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effectLst/>
                <a:latin typeface="+mn-ea"/>
                <a:cs typeface="Lato" panose="020F0502020204030203" pitchFamily="34" charset="0"/>
              </a:rPr>
              <a:t>- </a:t>
            </a:r>
            <a:r>
              <a:rPr lang="en-US" altLang="ko-KR" sz="1400" b="0" dirty="0" err="1">
                <a:effectLst/>
                <a:latin typeface="+mn-ea"/>
                <a:cs typeface="Lato" panose="020F0502020204030203" pitchFamily="34" charset="0"/>
              </a:rPr>
              <a:t>FastAPI</a:t>
            </a:r>
            <a:r>
              <a:rPr lang="en-US" altLang="ko-KR" sz="1400" b="0" dirty="0">
                <a:effectLst/>
                <a:latin typeface="+mn-ea"/>
                <a:cs typeface="Lato" panose="020F0502020204030203" pitchFamily="34" charset="0"/>
              </a:rPr>
              <a:t> </a:t>
            </a:r>
            <a:r>
              <a:rPr lang="en-US" altLang="ko-KR" sz="1400" b="0" dirty="0" err="1">
                <a:effectLst/>
                <a:latin typeface="+mn-ea"/>
                <a:cs typeface="Lato" panose="020F0502020204030203" pitchFamily="34" charset="0"/>
              </a:rPr>
              <a:t>Swagger:http</a:t>
            </a:r>
            <a:r>
              <a:rPr lang="en-US" altLang="ko-KR" sz="1400" b="0" dirty="0">
                <a:effectLst/>
                <a:latin typeface="+mn-ea"/>
                <a:cs typeface="Lato" panose="020F0502020204030203" pitchFamily="34" charset="0"/>
              </a:rPr>
              <a:t>://localhost:8000/docs</a:t>
            </a:r>
          </a:p>
          <a:p>
            <a:r>
              <a:rPr lang="en-US" altLang="ko-KR" sz="1400" b="0" dirty="0">
                <a:effectLst/>
                <a:latin typeface="+mn-ea"/>
                <a:cs typeface="Lato" panose="020F0502020204030203" pitchFamily="34" charset="0"/>
              </a:rPr>
              <a:t>- </a:t>
            </a:r>
            <a:r>
              <a:rPr lang="en-US" altLang="ko-KR" sz="1400" b="0" dirty="0" err="1">
                <a:effectLst/>
                <a:latin typeface="+mn-ea"/>
                <a:cs typeface="Lato" panose="020F0502020204030203" pitchFamily="34" charset="0"/>
              </a:rPr>
              <a:t>Streamlit</a:t>
            </a:r>
            <a:r>
              <a:rPr lang="en-US" altLang="ko-KR" sz="1400" b="0" dirty="0">
                <a:effectLst/>
                <a:latin typeface="+mn-ea"/>
                <a:cs typeface="Lato" panose="020F0502020204030203" pitchFamily="34" charset="0"/>
              </a:rPr>
              <a:t> </a:t>
            </a:r>
            <a:r>
              <a:rPr lang="ko-KR" altLang="en-US" sz="1400" b="0" dirty="0">
                <a:effectLst/>
                <a:latin typeface="+mn-ea"/>
                <a:cs typeface="Lato" panose="020F0502020204030203" pitchFamily="34" charset="0"/>
              </a:rPr>
              <a:t>대시보드</a:t>
            </a:r>
            <a:r>
              <a:rPr lang="en-US" altLang="ko-KR" sz="1400" b="0" dirty="0">
                <a:effectLst/>
                <a:latin typeface="+mn-ea"/>
                <a:cs typeface="Lato" panose="020F0502020204030203" pitchFamily="34" charset="0"/>
              </a:rPr>
              <a:t>: http://localhost:8501</a:t>
            </a: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64BF48F8-EACB-4444-94C9-03D8FA3BC834}"/>
              </a:ext>
            </a:extLst>
          </p:cNvPr>
          <p:cNvSpPr/>
          <p:nvPr/>
        </p:nvSpPr>
        <p:spPr>
          <a:xfrm>
            <a:off x="819936" y="1244205"/>
            <a:ext cx="1738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altLang="ko-KR" sz="1200" b="1" dirty="0">
                <a:latin typeface="+mn-ea"/>
                <a:cs typeface="Lato" pitchFamily="34" charset="-120"/>
              </a:rPr>
              <a:t>1. </a:t>
            </a:r>
            <a:r>
              <a:rPr lang="ko-KR" altLang="en-US" sz="1200" b="1" dirty="0">
                <a:latin typeface="+mn-ea"/>
                <a:cs typeface="Lato" pitchFamily="34" charset="-120"/>
              </a:rPr>
              <a:t>컨테이너</a:t>
            </a:r>
            <a:r>
              <a:rPr lang="en-US" altLang="ko-KR" sz="1200" b="1" dirty="0">
                <a:latin typeface="+mn-ea"/>
                <a:cs typeface="Lato" pitchFamily="34" charset="-120"/>
              </a:rPr>
              <a:t> </a:t>
            </a:r>
            <a:r>
              <a:rPr lang="ko-KR" altLang="en-US" sz="1200" b="1" dirty="0">
                <a:latin typeface="+mn-ea"/>
                <a:cs typeface="Lato" pitchFamily="34" charset="-120"/>
              </a:rPr>
              <a:t>빌드 및 기둥</a:t>
            </a:r>
            <a:endParaRPr lang="ko-KR" sz="1200" b="1" dirty="0">
              <a:latin typeface="+mn-ea"/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A8B605E7-945E-4F4B-A478-9D50FCAB0611}"/>
              </a:ext>
            </a:extLst>
          </p:cNvPr>
          <p:cNvSpPr/>
          <p:nvPr/>
        </p:nvSpPr>
        <p:spPr>
          <a:xfrm>
            <a:off x="840484" y="2496210"/>
            <a:ext cx="1738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altLang="ko-KR" sz="1200" b="1" dirty="0">
                <a:latin typeface="+mn-ea"/>
                <a:cs typeface="Lato" pitchFamily="34" charset="-120"/>
              </a:rPr>
              <a:t>2. </a:t>
            </a:r>
            <a:r>
              <a:rPr lang="en-US" altLang="ko-KR" sz="1200" b="1" dirty="0" err="1">
                <a:latin typeface="+mn-ea"/>
                <a:cs typeface="Lato" pitchFamily="34" charset="-120"/>
              </a:rPr>
              <a:t>db</a:t>
            </a:r>
            <a:r>
              <a:rPr lang="ko-KR" altLang="en-US" sz="1200" b="1" dirty="0">
                <a:latin typeface="+mn-ea"/>
                <a:cs typeface="Lato" pitchFamily="34" charset="-120"/>
              </a:rPr>
              <a:t>에</a:t>
            </a:r>
            <a:r>
              <a:rPr lang="en-US" altLang="ko-KR" sz="1200" b="1" dirty="0">
                <a:latin typeface="+mn-ea"/>
                <a:cs typeface="Lato" pitchFamily="34" charset="-120"/>
              </a:rPr>
              <a:t> </a:t>
            </a:r>
            <a:r>
              <a:rPr lang="ko-KR" altLang="en-US" sz="1200" b="1" dirty="0">
                <a:latin typeface="+mn-ea"/>
                <a:cs typeface="Lato" pitchFamily="34" charset="-120"/>
              </a:rPr>
              <a:t>데이터 적재</a:t>
            </a:r>
            <a:endParaRPr lang="ko-KR" sz="1200" b="1" dirty="0">
              <a:latin typeface="+mn-ea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ED8221F0-D193-4241-9CB2-AF5D449431C5}"/>
              </a:ext>
            </a:extLst>
          </p:cNvPr>
          <p:cNvSpPr/>
          <p:nvPr/>
        </p:nvSpPr>
        <p:spPr>
          <a:xfrm>
            <a:off x="819935" y="3868303"/>
            <a:ext cx="1738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altLang="ko-KR" sz="1200" b="1" dirty="0">
                <a:latin typeface="+mn-ea"/>
                <a:cs typeface="Lato" pitchFamily="34" charset="-120"/>
              </a:rPr>
              <a:t>3. </a:t>
            </a:r>
            <a:r>
              <a:rPr lang="ko-KR" altLang="en-US" sz="1200" b="1" dirty="0">
                <a:latin typeface="+mn-ea"/>
                <a:cs typeface="Lato" pitchFamily="34" charset="-120"/>
              </a:rPr>
              <a:t>데이터</a:t>
            </a:r>
            <a:r>
              <a:rPr lang="en-US" altLang="ko-KR" sz="1200" b="1" dirty="0">
                <a:latin typeface="+mn-ea"/>
                <a:cs typeface="Lato" pitchFamily="34" charset="-120"/>
              </a:rPr>
              <a:t> </a:t>
            </a:r>
            <a:r>
              <a:rPr lang="ko-KR" altLang="en-US" sz="1200" b="1" dirty="0">
                <a:latin typeface="+mn-ea"/>
                <a:cs typeface="Lato" pitchFamily="34" charset="-120"/>
              </a:rPr>
              <a:t>적재 확인</a:t>
            </a:r>
            <a:endParaRPr lang="ko-KR" sz="1200" b="1" dirty="0">
              <a:latin typeface="+mn-ea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C5CEC75E-78B0-4221-9AE3-F56083560E45}"/>
              </a:ext>
            </a:extLst>
          </p:cNvPr>
          <p:cNvSpPr/>
          <p:nvPr/>
        </p:nvSpPr>
        <p:spPr>
          <a:xfrm>
            <a:off x="819936" y="5278436"/>
            <a:ext cx="1738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altLang="ko-KR" sz="1200" b="1" dirty="0">
                <a:latin typeface="+mn-ea"/>
                <a:cs typeface="Lato" pitchFamily="34" charset="-120"/>
              </a:rPr>
              <a:t>4. </a:t>
            </a:r>
            <a:r>
              <a:rPr lang="ko-KR" altLang="en-US" sz="1200" b="1" dirty="0">
                <a:latin typeface="+mn-ea"/>
                <a:cs typeface="Lato" pitchFamily="34" charset="-120"/>
              </a:rPr>
              <a:t>접속 확인</a:t>
            </a:r>
            <a:endParaRPr lang="ko-KR" sz="1200" b="1" dirty="0">
              <a:latin typeface="+mn-ea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119674C8-F546-431D-9513-5FEE5461D553}"/>
              </a:ext>
            </a:extLst>
          </p:cNvPr>
          <p:cNvSpPr/>
          <p:nvPr/>
        </p:nvSpPr>
        <p:spPr>
          <a:xfrm>
            <a:off x="6412520" y="5548773"/>
            <a:ext cx="4005475" cy="65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altLang="ko-KR" sz="1200" dirty="0">
                <a:latin typeface="+mn-ea"/>
                <a:cs typeface="Lato" pitchFamily="34" charset="-120"/>
              </a:rPr>
              <a:t> </a:t>
            </a:r>
            <a:r>
              <a:rPr lang="ko-KR" altLang="en-US" sz="1200" dirty="0">
                <a:latin typeface="+mn-ea"/>
                <a:cs typeface="Lato" pitchFamily="34" charset="-120"/>
              </a:rPr>
              <a:t>해당 링크를 접속하여 확인한다</a:t>
            </a:r>
            <a:r>
              <a:rPr lang="en-US" altLang="ko-KR" sz="1200" dirty="0">
                <a:latin typeface="+mn-ea"/>
                <a:cs typeface="Lato" pitchFamily="34" charset="-120"/>
              </a:rPr>
              <a:t>.</a:t>
            </a:r>
            <a:endParaRPr lang="ko-KR" sz="1200" dirty="0"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966" y="68909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altLang="ko-KR" sz="26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TROUBLESHOOTING(</a:t>
            </a:r>
            <a:r>
              <a:rPr lang="ko-KR" altLang="en-US" sz="26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트러블 슈팅</a:t>
            </a:r>
            <a:r>
              <a:rPr lang="en-US" altLang="ko-KR" sz="26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)</a:t>
            </a:r>
            <a:r>
              <a:rPr lang="ko-KR" altLang="en-US" sz="26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기록</a:t>
            </a:r>
            <a:endParaRPr lang="ko-KR" sz="2600" dirty="0">
              <a:latin typeface="+mj-ea"/>
              <a:ea typeface="+mj-ea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6268B32F-9D0E-4322-B0EF-1EEEC536A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895" y="1398362"/>
            <a:ext cx="10444889" cy="2211013"/>
          </a:xfrm>
          <a:prstGeom prst="rect">
            <a:avLst/>
          </a:prstGeom>
        </p:spPr>
      </p:pic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DD939291-06FC-42D0-AF37-A56A537A8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895" y="3803810"/>
            <a:ext cx="10444889" cy="2925763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40B72977-55F2-4C38-ADFF-B3CBDA49579B}"/>
              </a:ext>
            </a:extLst>
          </p:cNvPr>
          <p:cNvSpPr/>
          <p:nvPr/>
        </p:nvSpPr>
        <p:spPr>
          <a:xfrm>
            <a:off x="873555" y="1940754"/>
            <a:ext cx="8537573" cy="1583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buFontTx/>
              <a:buChar char="-"/>
            </a:pPr>
            <a:r>
              <a:rPr lang="ko-KR" altLang="en-US" sz="1200" i="0" dirty="0">
                <a:effectLst/>
                <a:latin typeface="+mn-ea"/>
              </a:rPr>
              <a:t>시도</a:t>
            </a:r>
            <a:r>
              <a:rPr lang="en-US" altLang="ko-KR" sz="1200" i="0" dirty="0">
                <a:effectLst/>
                <a:latin typeface="+mn-ea"/>
              </a:rPr>
              <a:t>: Docker</a:t>
            </a:r>
            <a:r>
              <a:rPr lang="ko-KR" altLang="en-US" sz="1200" i="0" dirty="0">
                <a:effectLst/>
                <a:latin typeface="+mn-ea"/>
              </a:rPr>
              <a:t>로 실행한 </a:t>
            </a:r>
            <a:r>
              <a:rPr lang="en-US" altLang="ko-KR" sz="1200" i="0" dirty="0" err="1">
                <a:effectLst/>
                <a:latin typeface="+mn-ea"/>
              </a:rPr>
              <a:t>Streamlit</a:t>
            </a:r>
            <a:r>
              <a:rPr lang="ko-KR" altLang="en-US" sz="1200" i="0" dirty="0">
                <a:effectLst/>
                <a:latin typeface="+mn-ea"/>
              </a:rPr>
              <a:t>에서 </a:t>
            </a:r>
            <a:r>
              <a:rPr lang="en-US" altLang="ko-KR" sz="1200" i="0" dirty="0">
                <a:effectLst/>
                <a:latin typeface="+mn-ea"/>
              </a:rPr>
              <a:t>"</a:t>
            </a:r>
            <a:r>
              <a:rPr lang="ko-KR" altLang="en-US" sz="1200" i="0" dirty="0">
                <a:effectLst/>
                <a:latin typeface="+mn-ea"/>
              </a:rPr>
              <a:t>월드컵 최종 순위</a:t>
            </a:r>
            <a:r>
              <a:rPr lang="en-US" altLang="ko-KR" sz="1200" i="0" dirty="0">
                <a:effectLst/>
                <a:latin typeface="+mn-ea"/>
              </a:rPr>
              <a:t>" </a:t>
            </a:r>
            <a:r>
              <a:rPr lang="ko-KR" altLang="en-US" sz="1200" i="0" dirty="0">
                <a:effectLst/>
                <a:latin typeface="+mn-ea"/>
              </a:rPr>
              <a:t>조회</a:t>
            </a:r>
            <a:endParaRPr lang="en-US" altLang="ko-KR" sz="1200" i="0" dirty="0">
              <a:effectLst/>
              <a:latin typeface="+mn-ea"/>
            </a:endParaRPr>
          </a:p>
          <a:p>
            <a:pPr marL="285750" indent="-285750" algn="l">
              <a:buFontTx/>
              <a:buChar char="-"/>
            </a:pPr>
            <a:endParaRPr lang="en-US" altLang="ko-KR" sz="1200" i="0" dirty="0">
              <a:effectLst/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ko-KR" altLang="en-US" sz="1200" dirty="0">
                <a:effectLst/>
                <a:latin typeface="+mn-ea"/>
              </a:rPr>
              <a:t>문제점</a:t>
            </a:r>
            <a:r>
              <a:rPr lang="en-US" altLang="ko-KR" sz="1200" dirty="0">
                <a:effectLst/>
                <a:latin typeface="+mn-ea"/>
              </a:rPr>
              <a:t>: `data/matches.csv </a:t>
            </a:r>
            <a:r>
              <a:rPr lang="ko-KR" altLang="en-US" sz="1200" dirty="0">
                <a:effectLst/>
                <a:latin typeface="+mn-ea"/>
              </a:rPr>
              <a:t>파일을 찾을 수 없습니다</a:t>
            </a:r>
            <a:r>
              <a:rPr lang="en-US" altLang="ko-KR" sz="1200" dirty="0">
                <a:effectLst/>
                <a:latin typeface="+mn-ea"/>
              </a:rPr>
              <a:t>`</a:t>
            </a:r>
            <a:r>
              <a:rPr lang="ko-KR" altLang="en-US" sz="1200" dirty="0">
                <a:effectLst/>
                <a:latin typeface="+mn-ea"/>
              </a:rPr>
              <a:t> 에러 발생</a:t>
            </a:r>
            <a:r>
              <a:rPr lang="en-US" altLang="ko-KR" sz="1200" dirty="0">
                <a:effectLst/>
                <a:latin typeface="+mn-ea"/>
              </a:rPr>
              <a:t>. </a:t>
            </a:r>
            <a:r>
              <a:rPr lang="ko-KR" altLang="en-US" sz="1200" dirty="0">
                <a:effectLst/>
                <a:latin typeface="+mn-ea"/>
              </a:rPr>
              <a:t>기존 </a:t>
            </a:r>
            <a:r>
              <a:rPr lang="en-US" altLang="ko-KR" sz="1200" dirty="0">
                <a:effectLst/>
                <a:latin typeface="+mn-ea"/>
              </a:rPr>
              <a:t>`COPY data ./data`</a:t>
            </a:r>
            <a:r>
              <a:rPr lang="ko-KR" altLang="en-US" sz="1200" dirty="0">
                <a:effectLst/>
                <a:latin typeface="+mn-ea"/>
              </a:rPr>
              <a:t> 방식은 </a:t>
            </a:r>
            <a:r>
              <a:rPr lang="en-US" altLang="ko-KR" sz="1200" dirty="0">
                <a:effectLst/>
                <a:latin typeface="+mn-ea"/>
              </a:rPr>
              <a:t>WORKDIR(`/web`) </a:t>
            </a:r>
          </a:p>
          <a:p>
            <a:r>
              <a:rPr lang="ko-KR" altLang="en-US" sz="1200" dirty="0">
                <a:latin typeface="+mn-ea"/>
              </a:rPr>
              <a:t>        </a:t>
            </a:r>
            <a:r>
              <a:rPr lang="ko-KR" altLang="en-US" sz="1200" dirty="0">
                <a:effectLst/>
                <a:latin typeface="+mn-ea"/>
              </a:rPr>
              <a:t>기준 상대경로</a:t>
            </a:r>
            <a:r>
              <a:rPr lang="en-US" altLang="ko-KR" sz="1200" dirty="0">
                <a:effectLst/>
                <a:latin typeface="+mn-ea"/>
              </a:rPr>
              <a:t>(`/web/data`)</a:t>
            </a:r>
            <a:r>
              <a:rPr lang="ko-KR" altLang="en-US" sz="1200" dirty="0">
                <a:effectLst/>
                <a:latin typeface="+mn-ea"/>
              </a:rPr>
              <a:t>에 파일을 넣었지만</a:t>
            </a:r>
            <a:r>
              <a:rPr lang="en-US" altLang="ko-KR" sz="1200" dirty="0">
                <a:effectLst/>
                <a:latin typeface="+mn-ea"/>
              </a:rPr>
              <a:t>, </a:t>
            </a:r>
            <a:r>
              <a:rPr lang="ko-KR" altLang="en-US" sz="1200" dirty="0">
                <a:effectLst/>
                <a:latin typeface="+mn-ea"/>
              </a:rPr>
              <a:t>코드는 </a:t>
            </a:r>
            <a:r>
              <a:rPr lang="en-US" altLang="ko-KR" sz="1200" dirty="0">
                <a:effectLst/>
                <a:latin typeface="+mn-ea"/>
              </a:rPr>
              <a:t>`Path(__file__)`</a:t>
            </a:r>
            <a:r>
              <a:rPr lang="ko-KR" altLang="en-US" sz="1200" dirty="0">
                <a:effectLst/>
                <a:latin typeface="+mn-ea"/>
              </a:rPr>
              <a:t> 기준으로 계산된 다른 절대경로</a:t>
            </a:r>
            <a:r>
              <a:rPr lang="en-US" altLang="ko-KR" sz="1200" dirty="0">
                <a:effectLst/>
                <a:latin typeface="+mn-ea"/>
              </a:rPr>
              <a:t>(`/data`)</a:t>
            </a:r>
            <a:r>
              <a:rPr lang="ko-KR" altLang="en-US" sz="1200" dirty="0">
                <a:effectLst/>
                <a:latin typeface="+mn-ea"/>
              </a:rPr>
              <a:t>에서 </a:t>
            </a:r>
            <a:endParaRPr lang="en-US" altLang="ko-KR" sz="1200" dirty="0">
              <a:effectLst/>
              <a:latin typeface="+mn-ea"/>
            </a:endParaRPr>
          </a:p>
          <a:p>
            <a:r>
              <a:rPr lang="ko-KR" altLang="en-US" sz="1200" dirty="0">
                <a:effectLst/>
                <a:latin typeface="+mn-ea"/>
              </a:rPr>
              <a:t>        파일을 찾고 있어 경로가 서로 어긋남</a:t>
            </a:r>
          </a:p>
          <a:p>
            <a:pPr marL="285750" indent="-285750">
              <a:buFontTx/>
              <a:buChar char="-"/>
            </a:pPr>
            <a:endParaRPr lang="en-US" altLang="ko-KR" sz="1200" dirty="0">
              <a:effectLst/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ko-KR" altLang="en-US" sz="1200" dirty="0">
                <a:effectLst/>
                <a:latin typeface="+mn-ea"/>
              </a:rPr>
              <a:t>해결방법</a:t>
            </a:r>
            <a:r>
              <a:rPr lang="en-US" altLang="ko-KR" sz="1200" dirty="0">
                <a:effectLst/>
                <a:latin typeface="+mn-ea"/>
              </a:rPr>
              <a:t>: docker-</a:t>
            </a:r>
            <a:r>
              <a:rPr lang="en-US" altLang="ko-KR" sz="1200" dirty="0" err="1">
                <a:effectLst/>
                <a:latin typeface="+mn-ea"/>
              </a:rPr>
              <a:t>compose.yml</a:t>
            </a:r>
            <a:r>
              <a:rPr lang="ko-KR" altLang="en-US" sz="1200" dirty="0">
                <a:effectLst/>
                <a:latin typeface="+mn-ea"/>
              </a:rPr>
              <a:t>의 </a:t>
            </a:r>
            <a:r>
              <a:rPr lang="en-US" altLang="ko-KR" sz="1200" dirty="0">
                <a:effectLst/>
                <a:latin typeface="+mn-ea"/>
              </a:rPr>
              <a:t>web </a:t>
            </a:r>
            <a:r>
              <a:rPr lang="ko-KR" altLang="en-US" sz="1200" dirty="0">
                <a:effectLst/>
                <a:latin typeface="+mn-ea"/>
              </a:rPr>
              <a:t>서비스에 </a:t>
            </a:r>
            <a:r>
              <a:rPr lang="en-US" altLang="ko-KR" sz="1200" dirty="0">
                <a:effectLst/>
                <a:latin typeface="+mn-ea"/>
              </a:rPr>
              <a:t>`volumes: - ./</a:t>
            </a:r>
            <a:r>
              <a:rPr lang="en-US" altLang="ko-KR" sz="1200" dirty="0" err="1">
                <a:effectLst/>
                <a:latin typeface="+mn-ea"/>
              </a:rPr>
              <a:t>streamlit_api</a:t>
            </a:r>
            <a:r>
              <a:rPr lang="en-US" altLang="ko-KR" sz="1200" dirty="0">
                <a:effectLst/>
                <a:latin typeface="+mn-ea"/>
              </a:rPr>
              <a:t>/data:/data`</a:t>
            </a:r>
            <a:r>
              <a:rPr lang="ko-KR" altLang="en-US" sz="1200" dirty="0">
                <a:effectLst/>
                <a:latin typeface="+mn-ea"/>
              </a:rPr>
              <a:t>를 추가해</a:t>
            </a:r>
            <a:r>
              <a:rPr lang="en-US" altLang="ko-KR" sz="1200" dirty="0">
                <a:effectLst/>
                <a:latin typeface="+mn-ea"/>
              </a:rPr>
              <a:t>, </a:t>
            </a:r>
          </a:p>
          <a:p>
            <a:r>
              <a:rPr lang="ko-KR" altLang="en-US" sz="1200" dirty="0">
                <a:effectLst/>
                <a:latin typeface="+mn-ea"/>
              </a:rPr>
              <a:t>        코드가 찾는 절대경로</a:t>
            </a:r>
            <a:r>
              <a:rPr lang="en-US" altLang="ko-KR" sz="1200" dirty="0">
                <a:effectLst/>
                <a:latin typeface="+mn-ea"/>
              </a:rPr>
              <a:t>(`/data`)</a:t>
            </a:r>
            <a:r>
              <a:rPr lang="ko-KR" altLang="en-US" sz="1200" dirty="0">
                <a:effectLst/>
                <a:latin typeface="+mn-ea"/>
              </a:rPr>
              <a:t>에 정확히 파일이 위치하도록 수정</a:t>
            </a:r>
          </a:p>
          <a:p>
            <a:pPr marL="285750" indent="-285750" algn="l">
              <a:buFontTx/>
              <a:buChar char="-"/>
            </a:pPr>
            <a:endParaRPr lang="en-US" altLang="ko-KR" sz="1200" dirty="0">
              <a:latin typeface="+mn-ea"/>
            </a:endParaRPr>
          </a:p>
          <a:p>
            <a:pPr marL="285750" indent="-285750" algn="l">
              <a:buFontTx/>
              <a:buChar char="-"/>
            </a:pPr>
            <a:endParaRPr lang="ko-KR" altLang="en-US" sz="1400" b="0" i="0" dirty="0">
              <a:solidFill>
                <a:srgbClr val="BBBEBF"/>
              </a:solidFill>
              <a:effectLst/>
              <a:latin typeface="+mn-ea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8BA57B0B-5994-45F6-843C-24BB1D52912F}"/>
              </a:ext>
            </a:extLst>
          </p:cNvPr>
          <p:cNvSpPr/>
          <p:nvPr/>
        </p:nvSpPr>
        <p:spPr>
          <a:xfrm>
            <a:off x="873555" y="1592797"/>
            <a:ext cx="5455326" cy="347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altLang="ko-KR" sz="1400" b="1" dirty="0" err="1">
                <a:effectLst/>
                <a:latin typeface="+mn-ea"/>
              </a:rPr>
              <a:t>Streamlit</a:t>
            </a:r>
            <a:r>
              <a:rPr lang="en-US" altLang="ko-KR" sz="1400" b="1" dirty="0">
                <a:effectLst/>
                <a:latin typeface="+mn-ea"/>
              </a:rPr>
              <a:t> </a:t>
            </a:r>
            <a:r>
              <a:rPr lang="ko-KR" altLang="en-US" sz="1400" b="1" dirty="0">
                <a:effectLst/>
                <a:latin typeface="+mn-ea"/>
              </a:rPr>
              <a:t>컨테이너에서 </a:t>
            </a:r>
            <a:r>
              <a:rPr lang="en-US" altLang="ko-KR" sz="1400" b="1" dirty="0" err="1">
                <a:effectLst/>
                <a:latin typeface="+mn-ea"/>
              </a:rPr>
              <a:t>Dockerfile</a:t>
            </a:r>
            <a:r>
              <a:rPr lang="ko-KR" altLang="en-US" sz="1400" b="1" dirty="0">
                <a:effectLst/>
                <a:latin typeface="+mn-ea"/>
              </a:rPr>
              <a:t>이 </a:t>
            </a:r>
            <a:r>
              <a:rPr lang="en-US" altLang="ko-KR" sz="1400" b="1" dirty="0">
                <a:effectLst/>
                <a:latin typeface="+mn-ea"/>
              </a:rPr>
              <a:t>data </a:t>
            </a:r>
            <a:r>
              <a:rPr lang="ko-KR" altLang="en-US" sz="1400" b="1" dirty="0">
                <a:effectLst/>
                <a:latin typeface="+mn-ea"/>
              </a:rPr>
              <a:t>폴더를 찾지 못하는 오류</a:t>
            </a:r>
            <a:endParaRPr lang="ko-KR" altLang="en-US" sz="1400" b="0" dirty="0">
              <a:effectLst/>
              <a:latin typeface="+mn-ea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C6DBFA53-E9E5-4C02-8195-639390AE5086}"/>
              </a:ext>
            </a:extLst>
          </p:cNvPr>
          <p:cNvSpPr/>
          <p:nvPr/>
        </p:nvSpPr>
        <p:spPr>
          <a:xfrm>
            <a:off x="873555" y="3993503"/>
            <a:ext cx="5455326" cy="347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altLang="ko-KR" sz="1400" b="1" dirty="0">
                <a:effectLst/>
                <a:latin typeface="+mn-ea"/>
              </a:rPr>
              <a:t>Docker</a:t>
            </a:r>
            <a:r>
              <a:rPr lang="ko-KR" altLang="en-US" sz="1400" b="1" dirty="0">
                <a:effectLst/>
                <a:latin typeface="+mn-ea"/>
              </a:rPr>
              <a:t>로 실행한 </a:t>
            </a:r>
            <a:r>
              <a:rPr lang="en-US" altLang="ko-KR" sz="1400" b="1" dirty="0" err="1">
                <a:effectLst/>
                <a:latin typeface="+mn-ea"/>
              </a:rPr>
              <a:t>Streamlit</a:t>
            </a:r>
            <a:r>
              <a:rPr lang="ko-KR" altLang="en-US" sz="1400" b="1" dirty="0">
                <a:effectLst/>
                <a:latin typeface="+mn-ea"/>
              </a:rPr>
              <a:t>에서 선수 이름 검색 결과가 안 뜨는 오류</a:t>
            </a:r>
            <a:endParaRPr lang="ko-KR" altLang="en-US" sz="1400" b="0" dirty="0">
              <a:effectLst/>
              <a:latin typeface="+mn-ea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DE3C07F-433C-4B0F-BF78-6D5509AE927D}"/>
              </a:ext>
            </a:extLst>
          </p:cNvPr>
          <p:cNvSpPr/>
          <p:nvPr/>
        </p:nvSpPr>
        <p:spPr>
          <a:xfrm>
            <a:off x="873554" y="4360241"/>
            <a:ext cx="8537573" cy="2235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- 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시도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: Docker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로 실행한 </a:t>
            </a:r>
            <a:r>
              <a:rPr lang="en-US" altLang="ko-KR" sz="1200" dirty="0" err="1">
                <a:effectLst/>
                <a:latin typeface="+mn-ea"/>
                <a:cs typeface="Lato" panose="020F0502020204030203" pitchFamily="34" charset="0"/>
              </a:rPr>
              <a:t>Streamlit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에서 선수 이름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("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손흥민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") 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검색</a:t>
            </a:r>
            <a:endParaRPr lang="en-US" altLang="ko-KR" sz="1200" dirty="0">
              <a:effectLst/>
              <a:latin typeface="+mn-ea"/>
              <a:cs typeface="Lato" panose="020F0502020204030203" pitchFamily="34" charset="0"/>
            </a:endParaRPr>
          </a:p>
          <a:p>
            <a:endParaRPr lang="ko-KR" altLang="en-US" sz="1200" dirty="0">
              <a:effectLst/>
              <a:latin typeface="+mn-ea"/>
              <a:cs typeface="Lato" panose="020F0502020204030203" pitchFamily="34" charset="0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문제점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: 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에러 없이 요청은 정상 처리되는데 검색 결과가 항상 비어 나옴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. </a:t>
            </a:r>
          </a:p>
          <a:p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    `docker exec`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로 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DB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에 직접 접속해 확인해보니 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`players`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 테이블 행이 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0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개였음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. `</a:t>
            </a:r>
            <a:r>
              <a:rPr lang="en-US" altLang="ko-KR" sz="1200" dirty="0" err="1">
                <a:effectLst/>
                <a:latin typeface="+mn-ea"/>
                <a:cs typeface="Lato" panose="020F0502020204030203" pitchFamily="34" charset="0"/>
              </a:rPr>
              <a:t>schema.sql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`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은 테이블 구조만 자동 생성할 뿐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, </a:t>
            </a:r>
          </a:p>
          <a:p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    실제 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CSV 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데이터는 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`setup_database.py`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로 별도 적재해야 하는데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, 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이 스크립트를 그동안 로컬 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PostgreSQL(localhost:5432)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을 </a:t>
            </a:r>
            <a:endParaRPr lang="en-US" altLang="ko-KR" sz="1200" dirty="0">
              <a:effectLst/>
              <a:latin typeface="+mn-ea"/>
              <a:cs typeface="Lato" panose="020F0502020204030203" pitchFamily="34" charset="0"/>
            </a:endParaRPr>
          </a:p>
          <a:p>
            <a:r>
              <a:rPr lang="en-US" altLang="ko-KR" sz="1200" dirty="0">
                <a:latin typeface="+mn-ea"/>
                <a:cs typeface="Lato" panose="020F0502020204030203" pitchFamily="34" charset="0"/>
              </a:rPr>
              <a:t>    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향해서만 실행해왔던 것이 원인</a:t>
            </a:r>
            <a:endParaRPr lang="en-US" altLang="ko-KR" sz="1200" dirty="0">
              <a:effectLst/>
              <a:latin typeface="+mn-ea"/>
              <a:cs typeface="Lato" panose="020F0502020204030203" pitchFamily="34" charset="0"/>
            </a:endParaRPr>
          </a:p>
          <a:p>
            <a:pPr marL="171450" indent="-171450">
              <a:buFontTx/>
              <a:buChar char="-"/>
            </a:pPr>
            <a:endParaRPr lang="ko-KR" altLang="en-US" sz="1200" dirty="0">
              <a:effectLst/>
              <a:latin typeface="+mn-ea"/>
              <a:cs typeface="Lato" panose="020F0502020204030203" pitchFamily="34" charset="0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해결방법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: Docker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의 </a:t>
            </a:r>
            <a:r>
              <a:rPr lang="en-US" altLang="ko-KR" sz="1200" dirty="0" err="1">
                <a:effectLst/>
                <a:latin typeface="+mn-ea"/>
                <a:cs typeface="Lato" panose="020F0502020204030203" pitchFamily="34" charset="0"/>
              </a:rPr>
              <a:t>db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 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컨테이너에 접속하려면 호스트에서 컨테이너 내부 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DB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로 들어갈 통로가 필요했음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. </a:t>
            </a:r>
          </a:p>
          <a:p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    로컬에 이미 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PostgreSQL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이 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5432 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포트를 쓰고 있어 충돌이 났기 때문에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, docker-</a:t>
            </a:r>
            <a:r>
              <a:rPr lang="en-US" altLang="ko-KR" sz="1200" dirty="0" err="1">
                <a:effectLst/>
                <a:latin typeface="+mn-ea"/>
                <a:cs typeface="Lato" panose="020F0502020204030203" pitchFamily="34" charset="0"/>
              </a:rPr>
              <a:t>compose.yml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의 </a:t>
            </a:r>
            <a:r>
              <a:rPr lang="en-US" altLang="ko-KR" sz="1200" dirty="0" err="1">
                <a:effectLst/>
                <a:latin typeface="+mn-ea"/>
                <a:cs typeface="Lato" panose="020F0502020204030203" pitchFamily="34" charset="0"/>
              </a:rPr>
              <a:t>db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 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서비스에 </a:t>
            </a:r>
            <a:endParaRPr lang="en-US" altLang="ko-KR" sz="1200" dirty="0">
              <a:effectLst/>
              <a:latin typeface="+mn-ea"/>
              <a:cs typeface="Lato" panose="020F0502020204030203" pitchFamily="34" charset="0"/>
            </a:endParaRPr>
          </a:p>
          <a:p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    `ports: - "5433:5432"`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를 추가해 포트를 분리</a:t>
            </a:r>
            <a:r>
              <a:rPr lang="en-US" altLang="ko-KR" sz="1200" dirty="0">
                <a:latin typeface="+mn-ea"/>
                <a:cs typeface="Lato" panose="020F0502020204030203" pitchFamily="34" charset="0"/>
              </a:rPr>
              <a:t>,</a:t>
            </a:r>
            <a:endParaRPr lang="en-US" altLang="ko-KR" sz="1200" dirty="0">
              <a:effectLst/>
              <a:latin typeface="+mn-ea"/>
              <a:cs typeface="Lato" panose="020F0502020204030203" pitchFamily="34" charset="0"/>
            </a:endParaRPr>
          </a:p>
          <a:p>
            <a:r>
              <a:rPr lang="en-US" altLang="ko-KR" sz="1200" dirty="0">
                <a:latin typeface="+mn-ea"/>
                <a:cs typeface="Lato" panose="020F0502020204030203" pitchFamily="34" charset="0"/>
              </a:rPr>
              <a:t>    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`DATABASE_URL="postgresql+psycopg2://postgres:1234@localhost:5433/</a:t>
            </a:r>
            <a:r>
              <a:rPr lang="en-US" altLang="ko-KR" sz="1200" dirty="0" err="1">
                <a:effectLst/>
                <a:latin typeface="+mn-ea"/>
                <a:cs typeface="Lato" panose="020F0502020204030203" pitchFamily="34" charset="0"/>
              </a:rPr>
              <a:t>worldcup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" python setup_database.py`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를 </a:t>
            </a:r>
            <a:endParaRPr lang="en-US" altLang="ko-KR" sz="1200" dirty="0">
              <a:effectLst/>
              <a:latin typeface="+mn-ea"/>
              <a:cs typeface="Lato" panose="020F0502020204030203" pitchFamily="34" charset="0"/>
            </a:endParaRPr>
          </a:p>
          <a:p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     실행해 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Docker DB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에 데이터 적재 성공</a:t>
            </a:r>
          </a:p>
          <a:p>
            <a:pPr marL="285750" indent="-285750" algn="l">
              <a:buFontTx/>
              <a:buChar char="-"/>
            </a:pPr>
            <a:endParaRPr lang="ko-KR" altLang="en-US" sz="1200" i="0" dirty="0">
              <a:effectLst/>
              <a:latin typeface="+mn-ea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966" y="68909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altLang="ko-KR" sz="26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TROUBLESHOOTING(</a:t>
            </a:r>
            <a:r>
              <a:rPr lang="ko-KR" altLang="en-US" sz="26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트러블 슈팅</a:t>
            </a:r>
            <a:r>
              <a:rPr lang="en-US" altLang="ko-KR" sz="26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)</a:t>
            </a:r>
            <a:r>
              <a:rPr lang="ko-KR" altLang="en-US" sz="26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기록</a:t>
            </a:r>
            <a:endParaRPr lang="ko-KR" sz="2600" dirty="0">
              <a:latin typeface="+mj-ea"/>
              <a:ea typeface="+mj-ea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DD939291-06FC-42D0-AF37-A56A537A8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822" y="1543497"/>
            <a:ext cx="10444889" cy="2504522"/>
          </a:xfrm>
          <a:prstGeom prst="rect">
            <a:avLst/>
          </a:prstGeom>
        </p:spPr>
      </p:pic>
      <p:sp>
        <p:nvSpPr>
          <p:cNvPr id="11" name="Text 12">
            <a:extLst>
              <a:ext uri="{FF2B5EF4-FFF2-40B4-BE49-F238E27FC236}">
                <a16:creationId xmlns:a16="http://schemas.microsoft.com/office/drawing/2014/main" id="{C6DBFA53-E9E5-4C02-8195-639390AE5086}"/>
              </a:ext>
            </a:extLst>
          </p:cNvPr>
          <p:cNvSpPr/>
          <p:nvPr/>
        </p:nvSpPr>
        <p:spPr>
          <a:xfrm>
            <a:off x="1085482" y="1733189"/>
            <a:ext cx="6096154" cy="347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altLang="ko-KR" sz="1400" b="1" dirty="0">
                <a:effectLst/>
                <a:latin typeface="+mj-ea"/>
                <a:ea typeface="+mj-ea"/>
              </a:rPr>
              <a:t>Docker</a:t>
            </a:r>
            <a:r>
              <a:rPr lang="ko-KR" altLang="en-US" sz="1400" b="1" dirty="0" err="1">
                <a:effectLst/>
                <a:latin typeface="+mj-ea"/>
                <a:ea typeface="+mj-ea"/>
              </a:rPr>
              <a:t>도커를</a:t>
            </a:r>
            <a:r>
              <a:rPr lang="ko-KR" altLang="en-US" sz="1400" b="1" dirty="0">
                <a:effectLst/>
                <a:latin typeface="+mj-ea"/>
                <a:ea typeface="+mj-ea"/>
              </a:rPr>
              <a:t> 통해 </a:t>
            </a:r>
            <a:r>
              <a:rPr lang="en-US" altLang="ko-KR" sz="1400" b="1" dirty="0" err="1">
                <a:effectLst/>
                <a:latin typeface="+mj-ea"/>
                <a:ea typeface="+mj-ea"/>
              </a:rPr>
              <a:t>Streamlit</a:t>
            </a:r>
            <a:r>
              <a:rPr lang="en-US" altLang="ko-KR" sz="1400" b="1" dirty="0">
                <a:effectLst/>
                <a:latin typeface="+mj-ea"/>
                <a:ea typeface="+mj-ea"/>
              </a:rPr>
              <a:t> </a:t>
            </a:r>
            <a:r>
              <a:rPr lang="ko-KR" altLang="en-US" sz="1400" b="1" dirty="0">
                <a:effectLst/>
                <a:latin typeface="+mj-ea"/>
                <a:ea typeface="+mj-ea"/>
              </a:rPr>
              <a:t>실행 시 </a:t>
            </a:r>
            <a:r>
              <a:rPr lang="en-US" altLang="ko-KR" sz="1400" b="1" dirty="0" err="1">
                <a:effectLst/>
                <a:latin typeface="+mj-ea"/>
                <a:ea typeface="+mj-ea"/>
              </a:rPr>
              <a:t>FastAPI</a:t>
            </a:r>
            <a:r>
              <a:rPr lang="ko-KR" altLang="en-US" sz="1400" b="1" dirty="0">
                <a:effectLst/>
                <a:latin typeface="+mj-ea"/>
                <a:ea typeface="+mj-ea"/>
              </a:rPr>
              <a:t>가 연결이 안 되는 오류 발생</a:t>
            </a:r>
            <a:endParaRPr lang="ko-KR" altLang="en-US" sz="1400" b="0" dirty="0">
              <a:effectLst/>
              <a:latin typeface="+mj-ea"/>
              <a:ea typeface="+mj-ea"/>
            </a:endParaRPr>
          </a:p>
          <a:p>
            <a:endParaRPr lang="ko-KR" altLang="en-US" sz="1400" b="0" dirty="0">
              <a:effectLst/>
              <a:latin typeface="+mj-ea"/>
              <a:ea typeface="+mj-ea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DE3C07F-433C-4B0F-BF78-6D5509AE927D}"/>
              </a:ext>
            </a:extLst>
          </p:cNvPr>
          <p:cNvSpPr/>
          <p:nvPr/>
        </p:nvSpPr>
        <p:spPr>
          <a:xfrm>
            <a:off x="1085481" y="2099927"/>
            <a:ext cx="8099616" cy="2235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- </a:t>
            </a:r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시도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: </a:t>
            </a:r>
            <a:r>
              <a:rPr lang="en-US" altLang="ko-KR" sz="1200" b="0" dirty="0">
                <a:effectLst/>
                <a:latin typeface="+mn-ea"/>
              </a:rPr>
              <a:t>`docker-compose up --build` </a:t>
            </a:r>
            <a:r>
              <a:rPr lang="ko-KR" altLang="en-US" sz="1200" b="0" dirty="0">
                <a:effectLst/>
                <a:latin typeface="+mn-ea"/>
              </a:rPr>
              <a:t>실행 후 </a:t>
            </a:r>
            <a:r>
              <a:rPr lang="en-US" altLang="ko-KR" sz="1200" b="0" dirty="0">
                <a:effectLst/>
                <a:latin typeface="+mn-ea"/>
              </a:rPr>
              <a:t>`http://localhost:8501/` </a:t>
            </a:r>
            <a:r>
              <a:rPr lang="ko-KR" altLang="en-US" sz="1200" b="0" dirty="0">
                <a:effectLst/>
                <a:latin typeface="+mn-ea"/>
              </a:rPr>
              <a:t>접속</a:t>
            </a:r>
            <a:endParaRPr lang="en-US" altLang="ko-KR" sz="1200" dirty="0">
              <a:effectLst/>
              <a:latin typeface="+mn-ea"/>
              <a:cs typeface="Lato" panose="020F0502020204030203" pitchFamily="34" charset="0"/>
            </a:endParaRPr>
          </a:p>
          <a:p>
            <a:endParaRPr lang="ko-KR" altLang="en-US" sz="1200" dirty="0">
              <a:effectLst/>
              <a:latin typeface="+mn-ea"/>
              <a:cs typeface="Lato" panose="020F0502020204030203" pitchFamily="34" charset="0"/>
            </a:endParaRPr>
          </a:p>
          <a:p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문제점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: </a:t>
            </a:r>
            <a:r>
              <a:rPr lang="en-US" altLang="ko-KR" sz="1200" dirty="0">
                <a:effectLst/>
                <a:latin typeface="+mn-ea"/>
              </a:rPr>
              <a:t>"</a:t>
            </a:r>
            <a:r>
              <a:rPr lang="en-US" altLang="ko-KR" sz="1200" dirty="0" err="1">
                <a:effectLst/>
                <a:latin typeface="+mn-ea"/>
              </a:rPr>
              <a:t>FastAPI</a:t>
            </a:r>
            <a:r>
              <a:rPr lang="en-US" altLang="ko-KR" sz="1200" dirty="0">
                <a:effectLst/>
                <a:latin typeface="+mn-ea"/>
              </a:rPr>
              <a:t> </a:t>
            </a:r>
            <a:r>
              <a:rPr lang="ko-KR" altLang="en-US" sz="1200" dirty="0">
                <a:effectLst/>
                <a:latin typeface="+mn-ea"/>
              </a:rPr>
              <a:t>서버가 실행되어 있지 않습니다</a:t>
            </a:r>
            <a:r>
              <a:rPr lang="en-US" altLang="ko-KR" sz="1200" dirty="0">
                <a:effectLst/>
                <a:latin typeface="+mn-ea"/>
              </a:rPr>
              <a:t>" </a:t>
            </a:r>
            <a:r>
              <a:rPr lang="ko-KR" altLang="en-US" sz="1200" dirty="0">
                <a:effectLst/>
                <a:latin typeface="+mn-ea"/>
              </a:rPr>
              <a:t>에러 발생</a:t>
            </a:r>
            <a:r>
              <a:rPr lang="en-US" altLang="ko-KR" sz="1200" dirty="0">
                <a:effectLst/>
                <a:latin typeface="+mn-ea"/>
              </a:rPr>
              <a:t>. </a:t>
            </a:r>
            <a:r>
              <a:rPr lang="en-US" altLang="ko-KR" sz="1200" dirty="0" err="1">
                <a:effectLst/>
                <a:latin typeface="+mn-ea"/>
              </a:rPr>
              <a:t>Streamlit</a:t>
            </a:r>
            <a:r>
              <a:rPr lang="en-US" altLang="ko-KR" sz="1200" dirty="0">
                <a:effectLst/>
                <a:latin typeface="+mn-ea"/>
              </a:rPr>
              <a:t>(web) </a:t>
            </a:r>
            <a:r>
              <a:rPr lang="ko-KR" altLang="en-US" sz="1200" dirty="0">
                <a:effectLst/>
                <a:latin typeface="+mn-ea"/>
              </a:rPr>
              <a:t>컨테이너 안에서 </a:t>
            </a:r>
            <a:endParaRPr lang="en-US" altLang="ko-KR" sz="1200" dirty="0">
              <a:effectLst/>
              <a:latin typeface="+mn-ea"/>
            </a:endParaRPr>
          </a:p>
          <a:p>
            <a:r>
              <a:rPr lang="en-US" altLang="ko-KR" sz="1200" dirty="0" err="1">
                <a:effectLst/>
                <a:latin typeface="+mn-ea"/>
              </a:rPr>
              <a:t>FastAPI</a:t>
            </a:r>
            <a:r>
              <a:rPr lang="en-US" altLang="ko-KR" sz="1200" dirty="0">
                <a:effectLst/>
                <a:latin typeface="+mn-ea"/>
              </a:rPr>
              <a:t> </a:t>
            </a:r>
            <a:r>
              <a:rPr lang="ko-KR" altLang="en-US" sz="1200" dirty="0">
                <a:effectLst/>
                <a:latin typeface="+mn-ea"/>
              </a:rPr>
              <a:t>주소를 </a:t>
            </a:r>
            <a:r>
              <a:rPr lang="en-US" altLang="ko-KR" sz="1200" dirty="0">
                <a:effectLst/>
                <a:latin typeface="+mn-ea"/>
              </a:rPr>
              <a:t>`localhost`</a:t>
            </a:r>
            <a:r>
              <a:rPr lang="ko-KR" altLang="en-US" sz="1200" dirty="0">
                <a:effectLst/>
                <a:latin typeface="+mn-ea"/>
              </a:rPr>
              <a:t>로 호출하고 있었는데</a:t>
            </a:r>
            <a:r>
              <a:rPr lang="en-US" altLang="ko-KR" sz="1200" dirty="0">
                <a:effectLst/>
                <a:latin typeface="+mn-ea"/>
              </a:rPr>
              <a:t>, </a:t>
            </a:r>
            <a:r>
              <a:rPr lang="ko-KR" altLang="en-US" sz="1200" dirty="0">
                <a:effectLst/>
                <a:latin typeface="+mn-ea"/>
              </a:rPr>
              <a:t>컨테이너 안에서 </a:t>
            </a:r>
            <a:r>
              <a:rPr lang="en-US" altLang="ko-KR" sz="1200" dirty="0">
                <a:effectLst/>
                <a:latin typeface="+mn-ea"/>
              </a:rPr>
              <a:t>`localhost`</a:t>
            </a:r>
            <a:r>
              <a:rPr lang="ko-KR" altLang="en-US" sz="1200" dirty="0">
                <a:effectLst/>
                <a:latin typeface="+mn-ea"/>
              </a:rPr>
              <a:t>는 </a:t>
            </a:r>
            <a:r>
              <a:rPr lang="en-US" altLang="ko-KR" sz="1200" dirty="0">
                <a:effectLst/>
                <a:latin typeface="+mn-ea"/>
              </a:rPr>
              <a:t>web </a:t>
            </a:r>
            <a:r>
              <a:rPr lang="ko-KR" altLang="en-US" sz="1200" dirty="0">
                <a:effectLst/>
                <a:latin typeface="+mn-ea"/>
              </a:rPr>
              <a:t>컨테이너 자기 자신을 가리켜 </a:t>
            </a:r>
            <a:endParaRPr lang="en-US" altLang="ko-KR" sz="1200" dirty="0">
              <a:effectLst/>
              <a:latin typeface="+mn-ea"/>
            </a:endParaRPr>
          </a:p>
          <a:p>
            <a:r>
              <a:rPr lang="ko-KR" altLang="en-US" sz="1200" dirty="0">
                <a:effectLst/>
                <a:latin typeface="+mn-ea"/>
              </a:rPr>
              <a:t>별도 컨테이너인 </a:t>
            </a:r>
            <a:r>
              <a:rPr lang="en-US" altLang="ko-KR" sz="1200" dirty="0" err="1">
                <a:effectLst/>
                <a:latin typeface="+mn-ea"/>
              </a:rPr>
              <a:t>api</a:t>
            </a:r>
            <a:r>
              <a:rPr lang="ko-KR" altLang="en-US" sz="1200" dirty="0" err="1">
                <a:effectLst/>
                <a:latin typeface="+mn-ea"/>
              </a:rPr>
              <a:t>를</a:t>
            </a:r>
            <a:r>
              <a:rPr lang="ko-KR" altLang="en-US" sz="1200" dirty="0">
                <a:effectLst/>
                <a:latin typeface="+mn-ea"/>
              </a:rPr>
              <a:t> 찾지 못함</a:t>
            </a:r>
          </a:p>
          <a:p>
            <a:endParaRPr lang="ko-KR" altLang="en-US" sz="1200" dirty="0">
              <a:effectLst/>
              <a:latin typeface="+mn-ea"/>
              <a:cs typeface="Lato" panose="020F0502020204030203" pitchFamily="34" charset="0"/>
            </a:endParaRPr>
          </a:p>
          <a:p>
            <a:r>
              <a:rPr lang="ko-KR" altLang="en-US" sz="1200" dirty="0">
                <a:effectLst/>
                <a:latin typeface="+mn-ea"/>
                <a:cs typeface="Lato" panose="020F0502020204030203" pitchFamily="34" charset="0"/>
              </a:rPr>
              <a:t>해결방법</a:t>
            </a:r>
            <a:r>
              <a:rPr lang="en-US" altLang="ko-KR" sz="1200" dirty="0">
                <a:effectLst/>
                <a:latin typeface="+mn-ea"/>
                <a:cs typeface="Lato" panose="020F0502020204030203" pitchFamily="34" charset="0"/>
              </a:rPr>
              <a:t>: </a:t>
            </a:r>
            <a:r>
              <a:rPr lang="en-US" altLang="ko-KR" sz="1200" b="0" dirty="0">
                <a:effectLst/>
                <a:latin typeface="+mn-ea"/>
              </a:rPr>
              <a:t>docker-</a:t>
            </a:r>
            <a:r>
              <a:rPr lang="en-US" altLang="ko-KR" sz="1200" b="0" dirty="0" err="1">
                <a:effectLst/>
                <a:latin typeface="+mn-ea"/>
              </a:rPr>
              <a:t>compose.yml</a:t>
            </a:r>
            <a:r>
              <a:rPr lang="ko-KR" altLang="en-US" sz="1200" b="0" dirty="0">
                <a:effectLst/>
                <a:latin typeface="+mn-ea"/>
              </a:rPr>
              <a:t>의 </a:t>
            </a:r>
            <a:r>
              <a:rPr lang="en-US" altLang="ko-KR" sz="1200" b="0" dirty="0">
                <a:effectLst/>
                <a:latin typeface="+mn-ea"/>
              </a:rPr>
              <a:t>web </a:t>
            </a:r>
            <a:r>
              <a:rPr lang="ko-KR" altLang="en-US" sz="1200" b="0" dirty="0">
                <a:effectLst/>
                <a:latin typeface="+mn-ea"/>
              </a:rPr>
              <a:t>서비스에 </a:t>
            </a:r>
            <a:r>
              <a:rPr lang="en-US" altLang="ko-KR" sz="1200" b="0" dirty="0">
                <a:effectLst/>
                <a:latin typeface="+mn-ea"/>
              </a:rPr>
              <a:t>`API_URL: http://api:8000`</a:t>
            </a:r>
            <a:r>
              <a:rPr lang="ko-KR" altLang="en-US" sz="1200" b="0" dirty="0">
                <a:effectLst/>
                <a:latin typeface="+mn-ea"/>
              </a:rPr>
              <a:t>을 환경변수로 넘기고</a:t>
            </a:r>
            <a:r>
              <a:rPr lang="en-US" altLang="ko-KR" sz="1200" b="0" dirty="0">
                <a:effectLst/>
                <a:latin typeface="+mn-ea"/>
              </a:rPr>
              <a:t>, </a:t>
            </a:r>
          </a:p>
          <a:p>
            <a:r>
              <a:rPr lang="ko-KR" altLang="en-US" sz="1200" b="0" dirty="0">
                <a:effectLst/>
                <a:latin typeface="+mn-ea"/>
              </a:rPr>
              <a:t>코드에서 이 환경변수를 읽어 </a:t>
            </a:r>
            <a:r>
              <a:rPr lang="en-US" altLang="ko-KR" sz="1200" b="0" dirty="0">
                <a:effectLst/>
                <a:latin typeface="+mn-ea"/>
              </a:rPr>
              <a:t>BASE_URL</a:t>
            </a:r>
            <a:r>
              <a:rPr lang="ko-KR" altLang="en-US" sz="1200" b="0" dirty="0">
                <a:effectLst/>
                <a:latin typeface="+mn-ea"/>
              </a:rPr>
              <a:t>로 사용하도록 수정</a:t>
            </a:r>
            <a:r>
              <a:rPr lang="en-US" altLang="ko-KR" sz="1200" b="0" dirty="0">
                <a:effectLst/>
                <a:latin typeface="+mn-ea"/>
              </a:rPr>
              <a:t>. </a:t>
            </a:r>
          </a:p>
          <a:p>
            <a:r>
              <a:rPr lang="ko-KR" altLang="en-US" sz="1200" b="0" dirty="0">
                <a:effectLst/>
                <a:latin typeface="+mn-ea"/>
              </a:rPr>
              <a:t>컨테이너 간 통신은 서비스명</a:t>
            </a:r>
            <a:r>
              <a:rPr lang="en-US" altLang="ko-KR" sz="1200" b="0" dirty="0">
                <a:effectLst/>
                <a:latin typeface="+mn-ea"/>
              </a:rPr>
              <a:t>(`</a:t>
            </a:r>
            <a:r>
              <a:rPr lang="en-US" altLang="ko-KR" sz="1200" b="0" dirty="0" err="1">
                <a:effectLst/>
                <a:latin typeface="+mn-ea"/>
              </a:rPr>
              <a:t>api</a:t>
            </a:r>
            <a:r>
              <a:rPr lang="en-US" altLang="ko-KR" sz="1200" b="0" dirty="0">
                <a:effectLst/>
                <a:latin typeface="+mn-ea"/>
              </a:rPr>
              <a:t>`)</a:t>
            </a:r>
            <a:r>
              <a:rPr lang="ko-KR" altLang="en-US" sz="1200" b="0" dirty="0">
                <a:effectLst/>
                <a:latin typeface="+mn-ea"/>
              </a:rPr>
              <a:t>으로 해야 한다는 것을 확인함</a:t>
            </a:r>
          </a:p>
          <a:p>
            <a:pPr algn="l"/>
            <a:endParaRPr lang="ko-KR" altLang="en-US" sz="1200" i="0" dirty="0">
              <a:effectLst/>
              <a:latin typeface="+mn-ea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386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256103A-5071-4B3F-B9B9-C7C7C7BE5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4" y="682305"/>
            <a:ext cx="8887146" cy="39820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8FC8C49-F035-43EC-8674-FB13CB48F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65" y="4996735"/>
            <a:ext cx="6934200" cy="16002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41D77F7-67FF-41CA-BFCB-2211618CB187}"/>
              </a:ext>
            </a:extLst>
          </p:cNvPr>
          <p:cNvCxnSpPr>
            <a:cxnSpLocks/>
          </p:cNvCxnSpPr>
          <p:nvPr/>
        </p:nvCxnSpPr>
        <p:spPr>
          <a:xfrm flipH="1">
            <a:off x="133565" y="4849402"/>
            <a:ext cx="91029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86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79D72F3-E8BB-4D63-B041-5C97D7372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87" y="399991"/>
            <a:ext cx="5715712" cy="51583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2C40DEF-DE94-495D-800E-2EEB9C3BD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990" y="399991"/>
            <a:ext cx="3852647" cy="5763802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2912A50-0FED-425D-A368-2E4CAB924E65}"/>
              </a:ext>
            </a:extLst>
          </p:cNvPr>
          <p:cNvCxnSpPr>
            <a:cxnSpLocks/>
          </p:cNvCxnSpPr>
          <p:nvPr/>
        </p:nvCxnSpPr>
        <p:spPr>
          <a:xfrm>
            <a:off x="6482994" y="307880"/>
            <a:ext cx="0" cy="5855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2834" y="987041"/>
            <a:ext cx="370793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dirty="0">
                <a:solidFill>
                  <a:srgbClr val="282824"/>
                </a:solidFill>
                <a:latin typeface="+mj-ea"/>
                <a:ea typeface="+mj-ea"/>
                <a:cs typeface="Lato Bold" pitchFamily="34" charset="-120"/>
              </a:rPr>
              <a:t>팀원별 작업 내용</a:t>
            </a:r>
            <a:endParaRPr lang="ko-KR" sz="3700" dirty="0">
              <a:latin typeface="+mj-ea"/>
              <a:ea typeface="+mj-e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6746" y="2030637"/>
            <a:ext cx="3496877" cy="155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32750" y="217180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>
                <a:solidFill>
                  <a:srgbClr val="4A4A45"/>
                </a:solidFill>
                <a:latin typeface="+mn-ea"/>
                <a:cs typeface="Lato Bold" pitchFamily="34" charset="-120"/>
              </a:rPr>
              <a:t>태두혁</a:t>
            </a:r>
            <a:endParaRPr lang="ko-KR" sz="1850" dirty="0">
              <a:latin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1832750" y="2467079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b="1" dirty="0">
                <a:solidFill>
                  <a:srgbClr val="4A4A45"/>
                </a:solidFill>
                <a:latin typeface="+mn-ea"/>
                <a:cs typeface="Lato Bold" pitchFamily="34" charset="-120"/>
              </a:rPr>
              <a:t>작업 내용:</a:t>
            </a:r>
            <a:endParaRPr lang="ko-KR" sz="1450" dirty="0">
              <a:latin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1781949" y="2685593"/>
            <a:ext cx="2966467" cy="900794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latin typeface="+mn-ea"/>
              </a:rPr>
              <a:t>Docker </a:t>
            </a:r>
            <a:r>
              <a:rPr lang="ko-KR" altLang="en-US" sz="1200" dirty="0">
                <a:latin typeface="+mn-ea"/>
              </a:rPr>
              <a:t>컨테이너 연계</a:t>
            </a:r>
            <a:endParaRPr lang="en-US" altLang="ko-KR" sz="1200" dirty="0">
              <a:latin typeface="+mn-ea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altLang="ko-KR" sz="1200" dirty="0">
                <a:solidFill>
                  <a:srgbClr val="282824"/>
                </a:solidFill>
                <a:latin typeface="+mn-ea"/>
                <a:cs typeface="Lato Bold" pitchFamily="34" charset="-120"/>
              </a:rPr>
              <a:t>TROUBLESHOOTING </a:t>
            </a:r>
            <a:r>
              <a:rPr lang="ko-KR" altLang="en-US" sz="1200" dirty="0">
                <a:solidFill>
                  <a:srgbClr val="282824"/>
                </a:solidFill>
                <a:latin typeface="+mn-ea"/>
                <a:cs typeface="Lato Bold" pitchFamily="34" charset="-120"/>
              </a:rPr>
              <a:t>검토 및 수정</a:t>
            </a:r>
            <a:endParaRPr lang="en-US" altLang="ko-KR" sz="1200" dirty="0">
              <a:solidFill>
                <a:srgbClr val="282824"/>
              </a:solidFill>
              <a:latin typeface="+mn-ea"/>
              <a:cs typeface="Lato Bold" pitchFamily="34" charset="-12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82824"/>
                </a:solidFill>
                <a:latin typeface="+mn-ea"/>
              </a:rPr>
              <a:t>READMD.md</a:t>
            </a:r>
            <a:r>
              <a:rPr lang="ko-KR" altLang="en-US" sz="1200" dirty="0">
                <a:solidFill>
                  <a:srgbClr val="282824"/>
                </a:solidFill>
                <a:latin typeface="+mn-ea"/>
              </a:rPr>
              <a:t> 작성 </a:t>
            </a:r>
            <a:endParaRPr lang="en-US" sz="1200" dirty="0">
              <a:latin typeface="+mn-ea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0809" y="2030637"/>
            <a:ext cx="3496877" cy="155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16813" y="224504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 err="1">
                <a:solidFill>
                  <a:srgbClr val="4A4A45"/>
                </a:solidFill>
                <a:latin typeface="+mn-ea"/>
                <a:cs typeface="Lato Bold" pitchFamily="34" charset="-120"/>
              </a:rPr>
              <a:t>장호균</a:t>
            </a:r>
            <a:endParaRPr lang="ko-KR" sz="1850" dirty="0">
              <a:latin typeface="+mn-ea"/>
            </a:endParaRPr>
          </a:p>
        </p:txBody>
      </p:sp>
      <p:sp>
        <p:nvSpPr>
          <p:cNvPr id="9" name="Text 5"/>
          <p:cNvSpPr/>
          <p:nvPr/>
        </p:nvSpPr>
        <p:spPr>
          <a:xfrm>
            <a:off x="6916813" y="2648440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b="1" dirty="0">
                <a:solidFill>
                  <a:srgbClr val="4A4A45"/>
                </a:solidFill>
                <a:latin typeface="+mn-ea"/>
                <a:cs typeface="Lato Bold" pitchFamily="34" charset="-120"/>
              </a:rPr>
              <a:t>작업 내용:</a:t>
            </a:r>
            <a:endParaRPr lang="ko-KR" sz="1450" dirty="0">
              <a:latin typeface="+mn-ea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916813" y="2946235"/>
            <a:ext cx="2966467" cy="516831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altLang="ko-KR" sz="1200" dirty="0">
                <a:latin typeface="+mn-ea"/>
              </a:rPr>
              <a:t>Docker </a:t>
            </a:r>
            <a:r>
              <a:rPr lang="ko-KR" altLang="en-US" sz="1200" dirty="0">
                <a:latin typeface="+mn-ea"/>
              </a:rPr>
              <a:t>컨테이너 연계 코드 검토</a:t>
            </a:r>
            <a:endParaRPr lang="en-US" altLang="ko-KR" sz="1200" dirty="0">
              <a:latin typeface="+mn-ea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altLang="ko-KR" sz="1200" dirty="0">
                <a:latin typeface="+mn-ea"/>
              </a:rPr>
              <a:t>PPT</a:t>
            </a:r>
            <a:r>
              <a:rPr lang="ko-KR" altLang="en-US" sz="1200" dirty="0">
                <a:latin typeface="+mn-ea"/>
              </a:rPr>
              <a:t>제작</a:t>
            </a:r>
            <a:endParaRPr lang="en-US" altLang="ko-KR" sz="1200" dirty="0">
              <a:latin typeface="+mn-ea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6746" y="3927521"/>
            <a:ext cx="3496877" cy="155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32749" y="414193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>
                <a:solidFill>
                  <a:srgbClr val="4A4A45"/>
                </a:solidFill>
                <a:latin typeface="+mn-ea"/>
                <a:cs typeface="Lato Bold" pitchFamily="34" charset="-120"/>
              </a:rPr>
              <a:t>김수완</a:t>
            </a:r>
            <a:endParaRPr lang="ko-KR" sz="1850" dirty="0">
              <a:latin typeface="+mn-ea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832750" y="4475922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b="1" dirty="0">
                <a:solidFill>
                  <a:srgbClr val="4A4A45"/>
                </a:solidFill>
                <a:latin typeface="+mn-ea"/>
                <a:cs typeface="Lato Bold" pitchFamily="34" charset="-120"/>
              </a:rPr>
              <a:t>작업 내용:</a:t>
            </a:r>
            <a:endParaRPr lang="ko-KR" sz="1450" dirty="0">
              <a:latin typeface="+mn-ea"/>
            </a:endParaRPr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E0AD6196-13F4-4880-9E94-4DA50ED84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0403" y="3882605"/>
            <a:ext cx="3496877" cy="1555750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42CD7EFA-67AC-442D-AB6D-7B28A66548A6}"/>
              </a:ext>
            </a:extLst>
          </p:cNvPr>
          <p:cNvSpPr/>
          <p:nvPr/>
        </p:nvSpPr>
        <p:spPr>
          <a:xfrm>
            <a:off x="6916813" y="414193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>
                <a:solidFill>
                  <a:srgbClr val="4A4A45"/>
                </a:solidFill>
                <a:latin typeface="+mn-ea"/>
                <a:cs typeface="Lato Bold" pitchFamily="34" charset="-120"/>
              </a:rPr>
              <a:t>공동작업</a:t>
            </a:r>
            <a:endParaRPr lang="ko-KR" sz="1850" dirty="0">
              <a:latin typeface="+mn-ea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DA16863-2C38-48B4-BE20-27BFCC02E876}"/>
              </a:ext>
            </a:extLst>
          </p:cNvPr>
          <p:cNvSpPr/>
          <p:nvPr/>
        </p:nvSpPr>
        <p:spPr>
          <a:xfrm>
            <a:off x="6916813" y="4457070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b="1" dirty="0">
                <a:solidFill>
                  <a:srgbClr val="4A4A45"/>
                </a:solidFill>
                <a:latin typeface="+mn-ea"/>
                <a:cs typeface="Lato Bold" pitchFamily="34" charset="-120"/>
              </a:rPr>
              <a:t>작업 내용:</a:t>
            </a:r>
            <a:endParaRPr lang="ko-KR" sz="1450" dirty="0">
              <a:latin typeface="+mn-ea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BF685CA7-A81B-4348-9E13-B0525ECD5491}"/>
              </a:ext>
            </a:extLst>
          </p:cNvPr>
          <p:cNvSpPr/>
          <p:nvPr/>
        </p:nvSpPr>
        <p:spPr>
          <a:xfrm>
            <a:off x="6916812" y="4779352"/>
            <a:ext cx="2966467" cy="552936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A4A45"/>
                </a:solidFill>
                <a:latin typeface="+mn-ea"/>
                <a:cs typeface="Lato" pitchFamily="34" charset="-120"/>
              </a:rPr>
              <a:t>코드 검토 및 오류 수정</a:t>
            </a:r>
            <a:endParaRPr lang="en-US" altLang="ko-KR" sz="1200" dirty="0">
              <a:solidFill>
                <a:srgbClr val="4A4A45"/>
              </a:solidFill>
              <a:latin typeface="+mn-ea"/>
              <a:cs typeface="Lato" pitchFamily="34" charset="-12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altLang="ko-KR" sz="1200" dirty="0">
                <a:solidFill>
                  <a:srgbClr val="4A4A45"/>
                </a:solidFill>
                <a:latin typeface="+mn-ea"/>
                <a:cs typeface="Lato" pitchFamily="34" charset="-120"/>
              </a:rPr>
              <a:t>PPT </a:t>
            </a:r>
            <a:r>
              <a:rPr lang="ko-KR" altLang="en-US" sz="1200" dirty="0">
                <a:solidFill>
                  <a:srgbClr val="4A4A45"/>
                </a:solidFill>
                <a:latin typeface="+mn-ea"/>
                <a:cs typeface="Lato" pitchFamily="34" charset="-120"/>
              </a:rPr>
              <a:t>검토</a:t>
            </a:r>
            <a:r>
              <a:rPr lang="en-US" altLang="ko-KR" sz="1200" dirty="0">
                <a:solidFill>
                  <a:srgbClr val="4A4A45"/>
                </a:solidFill>
                <a:latin typeface="+mn-ea"/>
                <a:cs typeface="Lato" pitchFamily="34" charset="-120"/>
              </a:rPr>
              <a:t> </a:t>
            </a:r>
            <a:r>
              <a:rPr lang="ko-KR" altLang="en-US" sz="1200" dirty="0">
                <a:solidFill>
                  <a:srgbClr val="4A4A45"/>
                </a:solidFill>
                <a:latin typeface="+mn-ea"/>
                <a:cs typeface="Lato" pitchFamily="34" charset="-120"/>
              </a:rPr>
              <a:t>및 내용 추가</a:t>
            </a:r>
            <a:endParaRPr lang="en-US" altLang="ko-KR" sz="1200" dirty="0">
              <a:solidFill>
                <a:srgbClr val="4A4A45"/>
              </a:solidFill>
              <a:latin typeface="+mn-ea"/>
              <a:cs typeface="Lato" pitchFamily="34" charset="-12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200" dirty="0">
              <a:latin typeface="+mn-ea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9BD1F560-1736-4986-B9DE-27423D8C9F05}"/>
              </a:ext>
            </a:extLst>
          </p:cNvPr>
          <p:cNvSpPr/>
          <p:nvPr/>
        </p:nvSpPr>
        <p:spPr>
          <a:xfrm>
            <a:off x="1781950" y="4779352"/>
            <a:ext cx="2966467" cy="71618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latin typeface="+mn-ea"/>
              </a:rPr>
              <a:t>Docker </a:t>
            </a:r>
            <a:r>
              <a:rPr lang="ko-KR" altLang="en-US" sz="1200" dirty="0">
                <a:latin typeface="+mn-ea"/>
              </a:rPr>
              <a:t>컨테이너 연계 코드 검토</a:t>
            </a:r>
            <a:endParaRPr lang="en-US" altLang="ko-KR" sz="1200" dirty="0">
              <a:latin typeface="+mn-ea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altLang="ko-KR" sz="1200" dirty="0">
                <a:solidFill>
                  <a:srgbClr val="282824"/>
                </a:solidFill>
                <a:latin typeface="+mn-ea"/>
                <a:cs typeface="Lato Bold" pitchFamily="34" charset="-120"/>
              </a:rPr>
              <a:t>TROUBLESHOOTING </a:t>
            </a:r>
            <a:r>
              <a:rPr lang="ko-KR" altLang="en-US" sz="1200" dirty="0">
                <a:solidFill>
                  <a:srgbClr val="282824"/>
                </a:solidFill>
                <a:latin typeface="+mn-ea"/>
                <a:cs typeface="Lato Bold" pitchFamily="34" charset="-120"/>
              </a:rPr>
              <a:t>검토 및 수정</a:t>
            </a:r>
            <a:endParaRPr lang="en-US" sz="1200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36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팀 프로젝트 느낀점</a:t>
            </a:r>
            <a:endParaRPr lang="ko-KR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372" y="1857375"/>
            <a:ext cx="10133525" cy="34800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009278"/>
            <a:ext cx="10338335" cy="2532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ko-KR" altLang="en-US" sz="145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느낀점</a:t>
            </a: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</a:t>
            </a:r>
            <a:endParaRPr lang="ko-KR" sz="14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504A4D-E2A7-42DD-99E0-E3EFDDB1D573}"/>
              </a:ext>
            </a:extLst>
          </p:cNvPr>
          <p:cNvSpPr/>
          <p:nvPr/>
        </p:nvSpPr>
        <p:spPr>
          <a:xfrm>
            <a:off x="977479" y="2440613"/>
            <a:ext cx="9817521" cy="2532757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algn="l">
              <a:lnSpc>
                <a:spcPct val="133000"/>
              </a:lnSpc>
              <a:buSzPct val="100000"/>
            </a:pPr>
            <a:r>
              <a:rPr lang="ko-KR" altLang="en-US" sz="1200" dirty="0"/>
              <a:t>이번 프로젝트를 통해 단순히 </a:t>
            </a:r>
            <a:r>
              <a:rPr lang="en-US" altLang="ko-KR" sz="1200" dirty="0"/>
              <a:t>Docker</a:t>
            </a:r>
            <a:r>
              <a:rPr lang="ko-KR" altLang="en-US" sz="1200" dirty="0"/>
              <a:t>로 컨테이너를 실행하는 것 뿐만 아니라 컨테이너 간 통신과 데이터 및 </a:t>
            </a:r>
            <a:endParaRPr lang="en-US" altLang="ko-KR" sz="1200" dirty="0"/>
          </a:p>
          <a:p>
            <a:pPr algn="l">
              <a:lnSpc>
                <a:spcPct val="133000"/>
              </a:lnSpc>
              <a:buSzPct val="100000"/>
            </a:pPr>
            <a:r>
              <a:rPr lang="ko-KR" altLang="en-US" sz="1200" dirty="0"/>
              <a:t>파일 경로 관리가 중요하다는 것을 배웠다</a:t>
            </a:r>
            <a:r>
              <a:rPr lang="en-US" altLang="ko-KR" sz="1200" dirty="0"/>
              <a:t>.</a:t>
            </a: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200" dirty="0" err="1"/>
              <a:t>Streamlit</a:t>
            </a:r>
            <a:r>
              <a:rPr lang="ko-KR" altLang="en-US" sz="1200" dirty="0"/>
              <a:t>과 </a:t>
            </a:r>
            <a:r>
              <a:rPr lang="en-US" altLang="ko-KR" sz="1200" dirty="0" err="1"/>
              <a:t>FastAPI</a:t>
            </a:r>
            <a:r>
              <a:rPr lang="en-US" altLang="ko-KR" sz="1200" dirty="0"/>
              <a:t> </a:t>
            </a:r>
            <a:r>
              <a:rPr lang="ko-KR" altLang="en-US" sz="1200" dirty="0"/>
              <a:t>연결 과정에서는 </a:t>
            </a:r>
            <a:r>
              <a:rPr lang="en-US" altLang="ko-KR" sz="1200" dirty="0"/>
              <a:t>localhost</a:t>
            </a:r>
            <a:r>
              <a:rPr lang="ko-KR" altLang="en-US" sz="1200" dirty="0"/>
              <a:t>가 아닌</a:t>
            </a:r>
            <a:r>
              <a:rPr lang="en-US" altLang="ko-KR" sz="1200" dirty="0"/>
              <a:t> Docker </a:t>
            </a:r>
            <a:r>
              <a:rPr lang="ko-KR" altLang="en-US" sz="1200" dirty="0"/>
              <a:t>서비스명으로 통신해야 한다는 점을  다시 상기시켰고</a:t>
            </a:r>
            <a:r>
              <a:rPr lang="en-US" altLang="ko-KR" sz="1200" dirty="0"/>
              <a:t>, </a:t>
            </a:r>
            <a:r>
              <a:rPr lang="ko-KR" altLang="en-US" sz="1200" dirty="0"/>
              <a:t>선수 검색 오류를</a:t>
            </a:r>
            <a:endParaRPr lang="en-US" altLang="ko-KR" sz="1200" dirty="0"/>
          </a:p>
          <a:p>
            <a:pPr algn="l">
              <a:lnSpc>
                <a:spcPct val="133000"/>
              </a:lnSpc>
              <a:buSzPct val="100000"/>
            </a:pPr>
            <a:r>
              <a:rPr lang="ko-KR" altLang="en-US" sz="1200" dirty="0"/>
              <a:t>해결하면서 로컬</a:t>
            </a:r>
            <a:r>
              <a:rPr lang="en-US" altLang="ko-KR" sz="1200" dirty="0"/>
              <a:t>DB</a:t>
            </a:r>
            <a:r>
              <a:rPr lang="ko-KR" altLang="en-US" sz="1200" dirty="0"/>
              <a:t>와 </a:t>
            </a:r>
            <a:r>
              <a:rPr lang="en-US" altLang="ko-KR" sz="1200" dirty="0"/>
              <a:t>Docker DB</a:t>
            </a:r>
            <a:r>
              <a:rPr lang="ko-KR" altLang="en-US" sz="1200" dirty="0"/>
              <a:t>가 서로 다른 환경이라는 점과 </a:t>
            </a:r>
            <a:r>
              <a:rPr lang="ko-KR" altLang="en-US" sz="1200" dirty="0" err="1"/>
              <a:t>포트매핑의</a:t>
            </a:r>
            <a:r>
              <a:rPr lang="ko-KR" altLang="en-US" sz="1200" dirty="0"/>
              <a:t> 역학을 이해할 수 있었습니다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또한 통계 데이터의 </a:t>
            </a:r>
            <a:r>
              <a:rPr lang="en-US" altLang="ko-KR" sz="1200" dirty="0"/>
              <a:t>CSV </a:t>
            </a:r>
            <a:r>
              <a:rPr lang="ko-KR" altLang="en-US" sz="1200" dirty="0"/>
              <a:t>파일 경로</a:t>
            </a:r>
            <a:endParaRPr lang="en-US" altLang="ko-KR" sz="1200" dirty="0"/>
          </a:p>
          <a:p>
            <a:pPr algn="l">
              <a:lnSpc>
                <a:spcPct val="133000"/>
              </a:lnSpc>
              <a:buSzPct val="100000"/>
            </a:pPr>
            <a:r>
              <a:rPr lang="ko-KR" altLang="en-US" sz="1200" dirty="0"/>
              <a:t>오류를 해결하면서 컨테이너 내부 경로와 </a:t>
            </a:r>
            <a:r>
              <a:rPr lang="en-US" altLang="ko-KR" sz="1200" dirty="0"/>
              <a:t>Volume</a:t>
            </a:r>
            <a:r>
              <a:rPr lang="ko-KR" altLang="en-US" sz="1200" dirty="0"/>
              <a:t>의 필요성도 직접 확인할 수 있었다</a:t>
            </a:r>
            <a:r>
              <a:rPr lang="en-US" altLang="ko-KR" sz="1200" dirty="0"/>
              <a:t>.</a:t>
            </a:r>
          </a:p>
          <a:p>
            <a:pPr algn="l">
              <a:lnSpc>
                <a:spcPct val="133000"/>
              </a:lnSpc>
              <a:buSzPct val="100000"/>
            </a:pPr>
            <a:endParaRPr lang="en-US" altLang="ko-KR" sz="1200" dirty="0"/>
          </a:p>
          <a:p>
            <a:pPr algn="l">
              <a:lnSpc>
                <a:spcPct val="133000"/>
              </a:lnSpc>
              <a:buSzPct val="100000"/>
            </a:pPr>
            <a:r>
              <a:rPr lang="ko-KR" altLang="en-US" sz="1200" dirty="0"/>
              <a:t>여러 오류의 원인을 하나씩 확인하고 해결하는 과정을 통해 </a:t>
            </a:r>
            <a:r>
              <a:rPr lang="en-US" altLang="ko-KR" sz="1200" dirty="0"/>
              <a:t>Docker</a:t>
            </a:r>
            <a:r>
              <a:rPr lang="ko-KR" altLang="en-US" sz="1200" dirty="0"/>
              <a:t>의 동작 방식을 이전보다 구체적으로 이해할 수 있었고</a:t>
            </a:r>
            <a:r>
              <a:rPr lang="en-US" altLang="ko-KR" sz="1200" dirty="0"/>
              <a:t>, </a:t>
            </a:r>
            <a:r>
              <a:rPr lang="ko-KR" altLang="en-US" sz="1200" dirty="0"/>
              <a:t>문제가 발생했을 때 </a:t>
            </a:r>
            <a:endParaRPr lang="en-US" altLang="ko-KR" sz="1200" dirty="0"/>
          </a:p>
          <a:p>
            <a:pPr algn="l">
              <a:lnSpc>
                <a:spcPct val="133000"/>
              </a:lnSpc>
              <a:buSzPct val="100000"/>
            </a:pPr>
            <a:r>
              <a:rPr lang="ko-KR" altLang="en-US" sz="1200" dirty="0"/>
              <a:t>실행 환경과 연결 구조를 먼저 확인하는 습관의 중요성을 느꼈다</a:t>
            </a:r>
            <a:r>
              <a:rPr lang="en-US" altLang="ko-KR" sz="1200" dirty="0"/>
              <a:t>.</a:t>
            </a:r>
          </a:p>
          <a:p>
            <a:pPr>
              <a:lnSpc>
                <a:spcPct val="133000"/>
              </a:lnSpc>
              <a:buSzPct val="100000"/>
            </a:pPr>
            <a:r>
              <a:rPr lang="ko-KR" altLang="en-US" sz="1200" dirty="0"/>
              <a:t>마지막으로 공동작업으로 </a:t>
            </a:r>
            <a:r>
              <a:rPr lang="en-US" altLang="ko-KR" sz="1200" dirty="0">
                <a:latin typeface="+mn-ea"/>
              </a:rPr>
              <a:t>Docker </a:t>
            </a:r>
            <a:r>
              <a:rPr lang="ko-KR" altLang="en-US" sz="1200" dirty="0">
                <a:latin typeface="+mn-ea"/>
              </a:rPr>
              <a:t>컨테이너 연계 코드 검토와 </a:t>
            </a:r>
            <a:r>
              <a:rPr lang="en-US" altLang="ko-KR" sz="1200" dirty="0">
                <a:latin typeface="+mn-ea"/>
              </a:rPr>
              <a:t>PPT</a:t>
            </a:r>
            <a:r>
              <a:rPr lang="ko-KR" altLang="en-US" sz="1200" dirty="0">
                <a:latin typeface="+mn-ea"/>
              </a:rPr>
              <a:t>검토를 하여 추가적인 오류를 줄이고 프로젝트의 완성도를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33000"/>
              </a:lnSpc>
              <a:buSzPct val="100000"/>
            </a:pPr>
            <a:r>
              <a:rPr lang="ko-KR" altLang="en-US" sz="1200" dirty="0">
                <a:latin typeface="+mn-ea"/>
              </a:rPr>
              <a:t>높이기 위해 노력했다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algn="l">
              <a:lnSpc>
                <a:spcPct val="133000"/>
              </a:lnSpc>
              <a:buSzPct val="100000"/>
            </a:pPr>
            <a:endParaRPr lang="en-US" altLang="ko-KR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1078</Words>
  <Application>Microsoft Office PowerPoint</Application>
  <PresentationFormat>와이드스크린</PresentationFormat>
  <Paragraphs>153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Lato Bold</vt:lpstr>
      <vt:lpstr>Calibri</vt:lpstr>
      <vt:lpstr>맑은 고딕</vt:lpstr>
      <vt:lpstr>Lato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Administrator</dc:creator>
  <cp:lastModifiedBy>FullName</cp:lastModifiedBy>
  <cp:revision>27</cp:revision>
  <dcterms:created xsi:type="dcterms:W3CDTF">2026-08-27T07:08:35Z</dcterms:created>
  <dcterms:modified xsi:type="dcterms:W3CDTF">2026-09-07T08:08:55Z</dcterms:modified>
</cp:coreProperties>
</file>