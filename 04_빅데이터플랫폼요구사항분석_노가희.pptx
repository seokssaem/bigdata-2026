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1" r:id="rId4"/>
    <p:sldId id="263" r:id="rId5"/>
    <p:sldId id="264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8DA-2407-8F64-4305-B7EB6588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24333-70B4-0486-5471-71B39E7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17CF-0E0A-70FD-1EEF-25D856E4A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C01A-1F23-561C-B26D-FDD3E5919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6A81-DB18-197C-7AC5-3739139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2EBCF-7446-CCBB-9B01-02923DEE1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05962-16C3-12EA-47FD-089F49E7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D05D9-BA22-692C-91AB-F1C2EE450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F3F-70D5-48DB-FBE3-2C40F446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91A8-A2D0-610A-DD99-FA652F31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F791-81FD-4EBE-7FA5-9C94E032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CFD6-258C-A543-024B-2BDDBDCFC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ata.go.k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  (2001020428_23v4)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 업로드 및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04_빅데이터플랫폼요구사항분석_이름.pptx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요구사항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주제 </a:t>
            </a:r>
            <a:r>
              <a:rPr lang="en-US" altLang="ko-KR" dirty="0"/>
              <a:t>: </a:t>
            </a:r>
            <a:r>
              <a:rPr lang="ko-KR" altLang="en-US" dirty="0"/>
              <a:t>영화 박스오피스 분석 플랫폼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영화 일별 박스오피스 데이터를 수집 및 분석하고</a:t>
            </a:r>
            <a:r>
              <a:rPr lang="en-US" altLang="ko-KR" dirty="0"/>
              <a:t>,</a:t>
            </a:r>
            <a:r>
              <a:rPr lang="ko-KR" altLang="en-US" dirty="0"/>
              <a:t> 영화 관람을 계획 중인 사람들에게 직관적인 순위 및 상세 정보를 제공하여 영화 선택에 도움을 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사용자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사용자</a:t>
            </a:r>
            <a:r>
              <a:rPr lang="en-US" altLang="ko-KR" dirty="0"/>
              <a:t>1 : </a:t>
            </a:r>
            <a:r>
              <a:rPr lang="ko-KR" altLang="en-US" dirty="0"/>
              <a:t>관람할 영화를 선택하기 위해 현재 영화 순위가 궁금한 사람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사용자</a:t>
            </a:r>
            <a:r>
              <a:rPr lang="en-US" altLang="ko-KR" dirty="0"/>
              <a:t>2 : </a:t>
            </a:r>
            <a:r>
              <a:rPr lang="ko-KR" altLang="en-US" dirty="0"/>
              <a:t>현재 영화 트렌드와 흥행 추이를 확인하고 싶은 영화 관계자 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6351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EE4-DD75-F1DF-FC17-B026F014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FE38E-C593-1C2B-BB44-9768F830FA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FAC46-4564-9E6D-C662-8C4A033EF75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8E3C6-682F-1E66-2974-E29DA66EBC6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15F270-0BDE-A747-3B77-6429DF7FD678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7A78B7-8EFA-139A-7D49-61601D9DBD3C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68E452-A242-0CA9-7B22-6A0A7F9252ED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37109B-D614-0589-8477-6BBAB5F0DA55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BF5471-488E-8FA9-0D09-A2D104FF0CC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[Must Have]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영화진흥위원회 박스오피스 </a:t>
            </a:r>
            <a:r>
              <a:rPr lang="en-US" altLang="ko-KR" dirty="0"/>
              <a:t>API</a:t>
            </a:r>
            <a:r>
              <a:rPr lang="ko-KR" altLang="en-US" dirty="0"/>
              <a:t>를 활용하여 일별 박스오피스 데이터를 수집할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수집된 데이터를 바탕으로 영화 순위</a:t>
            </a:r>
            <a:r>
              <a:rPr lang="en-US" altLang="ko-KR" dirty="0"/>
              <a:t>,</a:t>
            </a:r>
            <a:r>
              <a:rPr lang="ko-KR" altLang="en-US" dirty="0"/>
              <a:t> 제목</a:t>
            </a:r>
            <a:r>
              <a:rPr lang="en-US" altLang="ko-KR" dirty="0"/>
              <a:t>, </a:t>
            </a:r>
            <a:r>
              <a:rPr lang="ko-KR" altLang="en-US" dirty="0"/>
              <a:t>관객 수의 정보를 표로 조회할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특정 영화 클릭 시</a:t>
            </a:r>
            <a:r>
              <a:rPr lang="en-US" altLang="ko-KR" dirty="0"/>
              <a:t>, </a:t>
            </a:r>
            <a:r>
              <a:rPr lang="ko-KR" altLang="en-US" dirty="0"/>
              <a:t>개봉일과 장르 등과 같은 상세 정보를 확인할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[Should Have]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날짜 선택 기능을 이용하여 과거 박스오피스 순위를 조회할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관객 수 순으로 데이터를 정렬하거나 특정 관객 수 이상의 영화만 필터링할 수 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분석 결과를 </a:t>
            </a:r>
            <a:r>
              <a:rPr lang="en-US" altLang="ko-KR" dirty="0"/>
              <a:t>CSV </a:t>
            </a:r>
            <a:r>
              <a:rPr lang="ko-KR" altLang="en-US" dirty="0"/>
              <a:t>파일로 다운로드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645FAC-B216-72F6-FADD-94549E43171A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AE1E599-3B81-5810-07DA-60F854530287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F0E69B-B5C7-7C87-8F7D-D6083BE0778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0874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B85-57A8-FFAA-CA5F-A9AEF89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6D403A-2425-A9F4-92EB-51568BE55DC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EA2A03-C0E8-FB4A-5B8C-E586AF8A698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930780-7BDB-1CA3-FB30-335A5A85D78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FD16C9-4678-E15B-5E44-56BA86491837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B96CE-3EF2-42BB-D26D-7DDCF194B115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비기능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02F2A3-0874-431C-A47C-E1E42C72A21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76E76-EDFA-A628-B599-D92550F5D45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9B09326-88B7-18C1-375A-B4B966228DAD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응답시간 → </a:t>
            </a:r>
            <a:r>
              <a:rPr lang="en-US" altLang="ko-KR" dirty="0"/>
              <a:t>3</a:t>
            </a:r>
            <a:r>
              <a:rPr lang="ko-KR" altLang="en-US" dirty="0"/>
              <a:t>초 이내 </a:t>
            </a:r>
            <a:r>
              <a:rPr lang="en-US" altLang="ko-KR" dirty="0"/>
              <a:t>: </a:t>
            </a:r>
            <a:r>
              <a:rPr lang="ko-KR" altLang="en-US" dirty="0"/>
              <a:t>실시간 정보가 필요한 서비스가 아니므로 일반 웹서비스 기준을 적용한다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처리량 → </a:t>
            </a:r>
            <a:r>
              <a:rPr lang="en-US" altLang="ko-KR" dirty="0"/>
              <a:t>10,000</a:t>
            </a:r>
            <a:r>
              <a:rPr lang="ko-KR" altLang="en-US" dirty="0"/>
              <a:t>건</a:t>
            </a:r>
            <a:r>
              <a:rPr lang="en-US" altLang="ko-KR" dirty="0"/>
              <a:t>/</a:t>
            </a:r>
            <a:r>
              <a:rPr lang="ko-KR" altLang="en-US" dirty="0"/>
              <a:t>일 </a:t>
            </a:r>
            <a:r>
              <a:rPr lang="en-US" altLang="ko-KR" dirty="0"/>
              <a:t>: </a:t>
            </a:r>
            <a:r>
              <a:rPr lang="ko-KR" altLang="en-US" dirty="0"/>
              <a:t>특정 요일이나 시간대에 요청이 집중적으로 발생하지는 않지만</a:t>
            </a:r>
            <a:r>
              <a:rPr lang="en-US" altLang="ko-KR" dirty="0"/>
              <a:t>, </a:t>
            </a:r>
            <a:r>
              <a:rPr lang="ko-KR" altLang="en-US" dirty="0"/>
              <a:t>영화를 관람하기 전이나 영화를 검색할 때 수시로 접속할 것을 고려하여 중규모 기준을 적용한다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가용성 → </a:t>
            </a:r>
            <a:r>
              <a:rPr lang="en-US" altLang="ko-KR" dirty="0"/>
              <a:t>99% : </a:t>
            </a:r>
            <a:r>
              <a:rPr lang="ko-KR" altLang="en-US" dirty="0"/>
              <a:t>실시간으로 계속 가동되어야 하는 긴급 서비스가 아니므로 </a:t>
            </a:r>
            <a:r>
              <a:rPr lang="en-US" altLang="ko-KR" dirty="0"/>
              <a:t>1</a:t>
            </a:r>
            <a:r>
              <a:rPr lang="ko-KR" altLang="en-US" dirty="0"/>
              <a:t>년에 약 </a:t>
            </a:r>
            <a:r>
              <a:rPr lang="en-US" altLang="ko-KR" dirty="0"/>
              <a:t>3.6</a:t>
            </a:r>
            <a:r>
              <a:rPr lang="ko-KR" altLang="en-US" dirty="0"/>
              <a:t>일 정도의 중단은 허용 가능하다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데이터 갱신 주기 → </a:t>
            </a:r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1</a:t>
            </a:r>
            <a:r>
              <a:rPr lang="ko-KR" altLang="en-US" dirty="0"/>
              <a:t>회 </a:t>
            </a:r>
            <a:r>
              <a:rPr lang="en-US" altLang="ko-KR" dirty="0"/>
              <a:t>: </a:t>
            </a:r>
            <a:r>
              <a:rPr lang="ko-KR" altLang="en-US" dirty="0"/>
              <a:t>일별 박스오피스는 </a:t>
            </a:r>
            <a:r>
              <a:rPr lang="en-US" altLang="ko-KR" dirty="0"/>
              <a:t>1</a:t>
            </a:r>
            <a:r>
              <a:rPr lang="ko-KR" altLang="en-US" dirty="0"/>
              <a:t>일 기준으로 집계되므로 매일 오전 데이터가 갱신되는 시점에 맞춰 </a:t>
            </a:r>
            <a:r>
              <a:rPr lang="en-US" altLang="ko-KR" dirty="0"/>
              <a:t>1</a:t>
            </a:r>
            <a:r>
              <a:rPr lang="ko-KR" altLang="en-US" dirty="0"/>
              <a:t>회 동기화 한다</a:t>
            </a:r>
            <a:r>
              <a:rPr lang="en-US" altLang="ko-KR" dirty="0"/>
              <a:t>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FFFFE6-1463-9D3D-421E-876A78C4978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84BB34-C503-BCFA-7787-990B1A7F40FA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412FB0-3CC2-964B-79BE-F0F099F91C7D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4278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수집 </a:t>
            </a:r>
            <a:r>
              <a:rPr lang="en-US" altLang="ko-KR" dirty="0"/>
              <a:t>: </a:t>
            </a:r>
            <a:r>
              <a:rPr lang="en-US" altLang="ko-KR" u="sng" dirty="0">
                <a:effectLst/>
                <a:hlinkClick r:id="rId3"/>
              </a:rPr>
              <a:t>data.go.kr</a:t>
            </a:r>
            <a:r>
              <a:rPr lang="en-US" altLang="ko-KR" dirty="0"/>
              <a:t> </a:t>
            </a:r>
            <a:r>
              <a:rPr lang="ko-KR" altLang="en-US" dirty="0"/>
              <a:t>영화진흥위원회</a:t>
            </a:r>
            <a:r>
              <a:rPr lang="en-US" altLang="ko-KR" dirty="0"/>
              <a:t>_</a:t>
            </a:r>
            <a:r>
              <a:rPr lang="ko-KR" altLang="en-US" dirty="0"/>
              <a:t>영화박스오피스 </a:t>
            </a:r>
            <a:r>
              <a:rPr lang="en-US" altLang="ko-KR" dirty="0"/>
              <a:t>API</a:t>
            </a:r>
            <a:r>
              <a:rPr lang="ko-KR" altLang="en-US" dirty="0"/>
              <a:t>에서 </a:t>
            </a:r>
            <a:r>
              <a:rPr lang="en-US" altLang="ko-KR" dirty="0"/>
              <a:t>JSON </a:t>
            </a:r>
            <a:r>
              <a:rPr lang="ko-KR" altLang="en-US" dirty="0"/>
              <a:t>형식으로 수집한다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저장 </a:t>
            </a:r>
            <a:r>
              <a:rPr lang="en-US" altLang="ko-KR" dirty="0"/>
              <a:t>: DB</a:t>
            </a:r>
            <a:r>
              <a:rPr lang="ko-KR" altLang="en-US" dirty="0"/>
              <a:t>에 저장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처리 </a:t>
            </a:r>
            <a:r>
              <a:rPr lang="en-US" altLang="ko-KR" dirty="0"/>
              <a:t>: </a:t>
            </a:r>
            <a:r>
              <a:rPr lang="ko-KR" altLang="en-US" dirty="0"/>
              <a:t>데이터 형식을 날짜로 변환하고</a:t>
            </a:r>
            <a:r>
              <a:rPr lang="en-US" altLang="ko-KR" dirty="0"/>
              <a:t>, </a:t>
            </a:r>
            <a:r>
              <a:rPr lang="ko-KR" altLang="en-US" dirty="0"/>
              <a:t>불필요한 필드 및 </a:t>
            </a:r>
            <a:r>
              <a:rPr lang="ko-KR" altLang="en-US" dirty="0" err="1"/>
              <a:t>결측치를</a:t>
            </a:r>
            <a:r>
              <a:rPr lang="ko-KR" altLang="en-US" dirty="0"/>
              <a:t> 제거한다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분석 </a:t>
            </a:r>
            <a:r>
              <a:rPr lang="en-US" altLang="ko-KR" dirty="0"/>
              <a:t>: </a:t>
            </a:r>
            <a:r>
              <a:rPr lang="ko-KR" altLang="en-US" dirty="0"/>
              <a:t>일일 관객수를 집계하고</a:t>
            </a:r>
            <a:r>
              <a:rPr lang="en-US" altLang="ko-KR" dirty="0"/>
              <a:t>, </a:t>
            </a:r>
            <a:r>
              <a:rPr lang="ko-KR" altLang="en-US" dirty="0"/>
              <a:t>상위 </a:t>
            </a:r>
            <a:r>
              <a:rPr lang="en-US" altLang="ko-KR" dirty="0"/>
              <a:t>10</a:t>
            </a:r>
            <a:r>
              <a:rPr lang="ko-KR" altLang="en-US" dirty="0"/>
              <a:t>개 영화의 순위를 추출한다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제공 </a:t>
            </a:r>
            <a:r>
              <a:rPr lang="en-US" altLang="ko-KR" dirty="0"/>
              <a:t>: </a:t>
            </a:r>
            <a:r>
              <a:rPr lang="ko-KR" altLang="en-US" dirty="0"/>
              <a:t>웹 화면에서 표로 </a:t>
            </a:r>
            <a:r>
              <a:rPr lang="ko-KR" altLang="en-US" dirty="0" err="1"/>
              <a:t>시각화하여</a:t>
            </a:r>
            <a:r>
              <a:rPr lang="ko-KR" altLang="en-US" dirty="0"/>
              <a:t> 정보를 제공한다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389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E299-EECC-161F-1E2C-C8D5CFF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155508-B1A4-35AC-1C1A-8B864281141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B41FA6-8DE3-8055-4E59-F326547C9DA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E83824-D5F3-5C9B-7C1B-C440343CA75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B624-2F7A-FACB-5815-5F7AC26A16D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C6C95-B234-8C1D-B61F-BE7BF3D527A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369B1-9837-2629-5DA3-26E568056BA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F17D2-B52F-9B7F-2136-961DEB01BEBD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D5B606-A75E-0CC2-3E24-AB5B16ACB190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[</a:t>
            </a:r>
            <a:r>
              <a:rPr lang="ko-KR" altLang="en-US" dirty="0"/>
              <a:t>개인정보</a:t>
            </a:r>
            <a:r>
              <a:rPr lang="en-US" altLang="ko-KR" dirty="0"/>
              <a:t>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해당여부 </a:t>
            </a:r>
            <a:r>
              <a:rPr lang="en-US" altLang="ko-KR" dirty="0"/>
              <a:t>: </a:t>
            </a:r>
            <a:r>
              <a:rPr lang="ko-KR" altLang="en-US" dirty="0"/>
              <a:t>없음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수집 데이터는 영화 정보로만 구성되어</a:t>
            </a:r>
            <a:r>
              <a:rPr lang="en-US" altLang="ko-KR" dirty="0"/>
              <a:t>, </a:t>
            </a:r>
            <a:r>
              <a:rPr lang="ko-KR" altLang="en-US" dirty="0" err="1"/>
              <a:t>개인을</a:t>
            </a:r>
            <a:r>
              <a:rPr lang="ko-KR" altLang="en-US" dirty="0"/>
              <a:t> 식별할 수 있는 정보는 포함되지 않는다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[</a:t>
            </a:r>
            <a:r>
              <a:rPr lang="ko-KR" altLang="en-US" dirty="0"/>
              <a:t>품질 기준</a:t>
            </a:r>
            <a:r>
              <a:rPr lang="en-US" altLang="ko-KR" dirty="0"/>
              <a:t>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결측치</a:t>
            </a:r>
            <a:r>
              <a:rPr lang="ko-KR" altLang="en-US" dirty="0"/>
              <a:t> 허용 비율 </a:t>
            </a:r>
            <a:r>
              <a:rPr lang="en-US" altLang="ko-KR" dirty="0"/>
              <a:t>: 1% </a:t>
            </a:r>
            <a:r>
              <a:rPr lang="ko-KR" altLang="en-US" dirty="0"/>
              <a:t>이하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1%</a:t>
            </a:r>
            <a:r>
              <a:rPr lang="ko-KR" altLang="en-US" dirty="0"/>
              <a:t>를 초과할 시</a:t>
            </a:r>
            <a:r>
              <a:rPr lang="en-US" altLang="ko-KR" dirty="0"/>
              <a:t>,</a:t>
            </a:r>
            <a:r>
              <a:rPr lang="ko-KR" altLang="en-US" dirty="0"/>
              <a:t> 해당 일자의 데이터는 노출하지 않고 예외 처리한다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중복 데이터 기준 </a:t>
            </a:r>
            <a:r>
              <a:rPr lang="en-US" altLang="ko-KR" dirty="0"/>
              <a:t>: 0</a:t>
            </a:r>
            <a:r>
              <a:rPr lang="ko-KR" altLang="en-US" dirty="0"/>
              <a:t>건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동일한 날짜</a:t>
            </a:r>
            <a:r>
              <a:rPr lang="en-US" altLang="ko-KR" dirty="0"/>
              <a:t>/</a:t>
            </a:r>
            <a:r>
              <a:rPr lang="ko-KR" altLang="en-US" dirty="0"/>
              <a:t>순위의 데이터가 중복 수집될 시</a:t>
            </a:r>
            <a:r>
              <a:rPr lang="en-US" altLang="ko-KR" dirty="0"/>
              <a:t>, </a:t>
            </a:r>
            <a:r>
              <a:rPr lang="ko-KR" altLang="en-US" dirty="0"/>
              <a:t>최신 데이터를 우선하여 중복 행을 제거한다</a:t>
            </a:r>
            <a:r>
              <a:rPr lang="en-US" altLang="ko-KR" dirty="0"/>
              <a:t>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D069DC-B8F3-A49B-BD2C-B4C7304E7BD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C9F856-C2BE-123C-28FC-F96A0ED4AF9B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A385-73C4-1E4B-958C-691B8D5633A0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4808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660</Words>
  <Application>Microsoft Office PowerPoint</Application>
  <PresentationFormat>와이드스크린</PresentationFormat>
  <Paragraphs>83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24</cp:revision>
  <dcterms:created xsi:type="dcterms:W3CDTF">2026-03-10T17:23:29Z</dcterms:created>
  <dcterms:modified xsi:type="dcterms:W3CDTF">2026-06-09T00:50:14Z</dcterms:modified>
</cp:coreProperties>
</file>