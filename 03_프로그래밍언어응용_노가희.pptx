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3" r:id="rId4"/>
    <p:sldId id="258" r:id="rId5"/>
    <p:sldId id="259" r:id="rId6"/>
    <p:sldId id="264" r:id="rId7"/>
    <p:sldId id="260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55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68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1837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66CD1-BD61-514B-617E-459C183CD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566C46-28DE-8E88-B951-5AA111D0F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2B25C-2AC8-8F1B-4B36-9BE036C881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6CE69D-AB8A-DBE8-831F-5DB5B15C36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7342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E3806-ABBD-E3F3-0D55-A3688900B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060CF0-7FF1-07BD-2A10-E69164895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7F2B5-AE30-F26D-11DE-1EB0D6F33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9797C-5682-5396-810B-2300EEF30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67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74552" cy="1188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11064240" cy="1152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 언어 응용</a:t>
            </a:r>
            <a:endParaRPr lang="en-US" sz="2400" dirty="0"/>
          </a:p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 가 작 업 지 시 서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 언어 응용  (2001020233_23v5)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</a:t>
            </a:r>
            <a:r>
              <a:rPr lang="en-US" altLang="ko-KR" sz="1200" b="1" dirty="0" err="1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200" b="1" dirty="0" err="1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</a:t>
            </a:r>
            <a:r>
              <a:rPr lang="ko-KR" alt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학사게시판에 첨부파일로 올리고 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-&gt; </a:t>
            </a:r>
            <a:r>
              <a:rPr lang="ko-KR" alt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-&gt; </a:t>
            </a:r>
            <a:r>
              <a:rPr lang="ko-KR" altLang="en-US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시험종료버튼 누르기 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GitHub Repository  →  </a:t>
            </a:r>
            <a:r>
              <a:rPr lang="en-US" altLang="ko-KR" sz="1200" b="1" dirty="0" err="1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</a:t>
            </a:r>
            <a:r>
              <a:rPr lang="en-US" altLang="ko-KR" sz="12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Branch Push</a:t>
            </a:r>
            <a:endParaRPr lang="en-US" altLang="ko-KR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520440"/>
            <a:ext cx="5212080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897880" y="3520440"/>
            <a:ext cx="5852160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352044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</a:t>
            </a:r>
            <a:r>
              <a:rPr lang="ko-KR" alt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노가희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035040" y="3520440"/>
            <a:ext cx="5577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수행날짜</a:t>
            </a: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2026-06-01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206240"/>
            <a:ext cx="11274552" cy="53035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94360" y="42062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</a:t>
            </a:r>
            <a:r>
              <a:rPr lang="en-US" sz="1300" b="1" dirty="0" err="1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NoGaHee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892040"/>
            <a:ext cx="11274552" cy="68580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94360" y="4892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📂 업로드 파일  </a:t>
            </a:r>
            <a:r>
              <a:rPr 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03_프로그래밍언어응용_이름.pptx, 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03_프로그래밍언어응용_</a:t>
            </a:r>
            <a:r>
              <a:rPr lang="ko-KR" alt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코드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1_</a:t>
            </a:r>
            <a:r>
              <a:rPr lang="ko-KR" alt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이름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altLang="ko-KR" sz="1100" dirty="0" err="1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03_프로그래밍언어응용_</a:t>
            </a:r>
            <a:r>
              <a:rPr lang="ko-KR" alt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코드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2_</a:t>
            </a:r>
            <a:r>
              <a:rPr lang="ko-KR" altLang="en-US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이름</a:t>
            </a:r>
            <a:r>
              <a:rPr lang="en-US" altLang="ko-KR" sz="1100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altLang="ko-KR" sz="1100" dirty="0" err="1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523036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🔗 Repository  </a:t>
            </a:r>
            <a:r>
              <a:rPr lang="en-US" sz="1000" dirty="0">
                <a:solidFill>
                  <a:srgbClr val="2E75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https://github.com/seokssaem/bigdata-2026.git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）빅데이터 분석 플랫폼 개발자 양성과정  |  프로그래밍 언어 응용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74320" y="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문항  1.  WordManager 클래스  —  코드 빈칸 채우기  (1)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①~④를 완성하고, 각 단계별 실행 결과를 캡처하여 </a:t>
            </a:r>
            <a:r>
              <a:rPr lang="en-US" sz="1150" i="1" dirty="0" err="1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</a:t>
            </a:r>
            <a:r>
              <a:rPr lang="en-US" sz="115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50" i="1" dirty="0" err="1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붙여넣으시오</a:t>
            </a:r>
            <a:r>
              <a:rPr lang="en-US" sz="115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15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E77B611-6CA0-8EF0-4D6A-0681E3A245D9}"/>
              </a:ext>
            </a:extLst>
          </p:cNvPr>
          <p:cNvGrpSpPr/>
          <p:nvPr/>
        </p:nvGrpSpPr>
        <p:grpSpPr>
          <a:xfrm>
            <a:off x="113956" y="950976"/>
            <a:ext cx="3066241" cy="2943591"/>
            <a:chOff x="137160" y="1005840"/>
            <a:chExt cx="2286000" cy="2194560"/>
          </a:xfrm>
        </p:grpSpPr>
        <p:sp>
          <p:nvSpPr>
            <p:cNvPr id="7" name="Shape 5"/>
            <p:cNvSpPr/>
            <p:nvPr/>
          </p:nvSpPr>
          <p:spPr>
            <a:xfrm>
              <a:off x="137160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137160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210312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210312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①</a:t>
              </a:r>
              <a:endParaRPr lang="en-US" sz="1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30352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빈 리스트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초기화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210312" y="1417319"/>
              <a:ext cx="2139696" cy="1690057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301752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C07B2C12-5CE7-E8C1-4E58-AA2CEFFC6C3C}"/>
              </a:ext>
            </a:extLst>
          </p:cNvPr>
          <p:cNvGrpSpPr/>
          <p:nvPr/>
        </p:nvGrpSpPr>
        <p:grpSpPr>
          <a:xfrm>
            <a:off x="3040139" y="2952605"/>
            <a:ext cx="3066241" cy="2943591"/>
            <a:chOff x="2544318" y="1005840"/>
            <a:chExt cx="2286000" cy="2194560"/>
          </a:xfrm>
        </p:grpSpPr>
        <p:sp>
          <p:nvSpPr>
            <p:cNvPr id="16" name="Shape 14"/>
            <p:cNvSpPr/>
            <p:nvPr/>
          </p:nvSpPr>
          <p:spPr>
            <a:xfrm>
              <a:off x="2544318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2544318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2617470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2617470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②</a:t>
              </a:r>
              <a:endParaRPr lang="en-US" sz="1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937510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단어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추가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2617470" y="1417320"/>
              <a:ext cx="2139696" cy="1690056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2708910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EAF650-8009-AB00-9837-321490CB12B3}"/>
              </a:ext>
            </a:extLst>
          </p:cNvPr>
          <p:cNvGrpSpPr/>
          <p:nvPr/>
        </p:nvGrpSpPr>
        <p:grpSpPr>
          <a:xfrm>
            <a:off x="5966322" y="969264"/>
            <a:ext cx="3142154" cy="3016467"/>
            <a:chOff x="4951476" y="1005840"/>
            <a:chExt cx="2286000" cy="2194560"/>
          </a:xfrm>
        </p:grpSpPr>
        <p:sp>
          <p:nvSpPr>
            <p:cNvPr id="25" name="Shape 23"/>
            <p:cNvSpPr/>
            <p:nvPr/>
          </p:nvSpPr>
          <p:spPr>
            <a:xfrm>
              <a:off x="4951476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4951476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5024628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5024628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③</a:t>
              </a:r>
              <a:endParaRPr lang="en-US" sz="16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344668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인덱스+값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순회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24628" y="1417320"/>
              <a:ext cx="2139696" cy="1690056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5116068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46FEA11-F7A3-D762-D943-76E704D219F9}"/>
              </a:ext>
            </a:extLst>
          </p:cNvPr>
          <p:cNvGrpSpPr/>
          <p:nvPr/>
        </p:nvGrpSpPr>
        <p:grpSpPr>
          <a:xfrm>
            <a:off x="8968417" y="2689164"/>
            <a:ext cx="3156966" cy="3030687"/>
            <a:chOff x="7358634" y="1005840"/>
            <a:chExt cx="2286000" cy="2194560"/>
          </a:xfrm>
        </p:grpSpPr>
        <p:sp>
          <p:nvSpPr>
            <p:cNvPr id="34" name="Shape 32"/>
            <p:cNvSpPr/>
            <p:nvPr/>
          </p:nvSpPr>
          <p:spPr>
            <a:xfrm>
              <a:off x="7358634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7358634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7431786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7431786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④</a:t>
              </a:r>
              <a:endParaRPr lang="en-US" sz="16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7751826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내림차순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정렬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431786" y="1417320"/>
              <a:ext cx="2139696" cy="1690056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7523226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sp>
        <p:nvSpPr>
          <p:cNvPr id="46" name="Text 44"/>
          <p:cNvSpPr/>
          <p:nvPr/>
        </p:nvSpPr>
        <p:spPr>
          <a:xfrm>
            <a:off x="9838944" y="1042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82880" y="6007527"/>
            <a:ext cx="11795760" cy="41148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320040" y="6007527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구문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오류(Syntax Error) 없이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실행되어야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양성과정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</a:t>
            </a:r>
            <a:endParaRPr lang="en-US" altLang="ko-KR" sz="800" dirty="0"/>
          </a:p>
        </p:txBody>
      </p:sp>
      <p:sp>
        <p:nvSpPr>
          <p:cNvPr id="58" name="Text 56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850" dirty="0"/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1E6D54DB-0C8E-4C8E-953C-0A008F24E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62" y="2142206"/>
            <a:ext cx="2238375" cy="73342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E020A3CE-2FF3-43D5-B6CE-D2EE76CFD5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7123" y="4182804"/>
            <a:ext cx="2552272" cy="978828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759E8592-C7BC-4EEA-A72C-34772D01F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134" y="2135371"/>
            <a:ext cx="2826528" cy="98314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3236885C-C067-46C7-BB22-3DC7CC6BA1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7740" y="4036242"/>
            <a:ext cx="2838319" cy="752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F3AA5-BA9B-36A3-E5B0-C97AEFE0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4E4191-6E9B-6497-E851-1CF19F69B961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9F6F8D1-F4F5-5548-2877-16A5C3A078AA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3DA3550-17EF-1892-7D3D-7EB00F589A87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BEE88D-7D31-9537-F74F-436D683CC822}"/>
              </a:ext>
            </a:extLst>
          </p:cNvPr>
          <p:cNvSpPr/>
          <p:nvPr/>
        </p:nvSpPr>
        <p:spPr>
          <a:xfrm>
            <a:off x="274320" y="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문항  1.  WordManager 클래스  —  </a:t>
            </a:r>
            <a:r>
              <a:rPr lang="ko-KR" alt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코드 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180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E96A9B5D-8793-9537-5B50-DB0E1DBD0D34}"/>
              </a:ext>
            </a:extLst>
          </p:cNvPr>
          <p:cNvSpPr/>
          <p:nvPr/>
        </p:nvSpPr>
        <p:spPr>
          <a:xfrm>
            <a:off x="274320" y="759033"/>
            <a:ext cx="11795760" cy="5155469"/>
          </a:xfrm>
          <a:prstGeom prst="rect">
            <a:avLst/>
          </a:prstGeom>
          <a:solidFill>
            <a:srgbClr val="F0F4F8"/>
          </a:solidFill>
          <a:ln w="12700">
            <a:solidFill>
              <a:srgbClr val="2E75B6"/>
            </a:solidFill>
            <a:prstDash val="lg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645AC520-3002-4251-0180-8426A475167C}"/>
              </a:ext>
            </a:extLst>
          </p:cNvPr>
          <p:cNvSpPr/>
          <p:nvPr/>
        </p:nvSpPr>
        <p:spPr>
          <a:xfrm>
            <a:off x="274320" y="759033"/>
            <a:ext cx="11795760" cy="5155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6A80B5D7-1EF2-2353-BC46-92FF73A32EA0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FED6005-B15E-FA44-0CAB-6E0DD2BBE359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양성과정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</a:t>
            </a:r>
            <a:endParaRPr lang="en-US" altLang="ko-KR" sz="8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69637423-4BC8-4591-B715-DFABEC5B85F1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850" dirty="0"/>
          </a:p>
        </p:txBody>
      </p:sp>
      <p:sp>
        <p:nvSpPr>
          <p:cNvPr id="24" name="Shape 52">
            <a:extLst>
              <a:ext uri="{FF2B5EF4-FFF2-40B4-BE49-F238E27FC236}">
                <a16:creationId xmlns:a16="http://schemas.microsoft.com/office/drawing/2014/main" id="{41F06ECF-9189-8642-3381-456259D343F8}"/>
              </a:ext>
            </a:extLst>
          </p:cNvPr>
          <p:cNvSpPr/>
          <p:nvPr/>
        </p:nvSpPr>
        <p:spPr>
          <a:xfrm>
            <a:off x="182880" y="6007527"/>
            <a:ext cx="11795760" cy="41148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53">
            <a:extLst>
              <a:ext uri="{FF2B5EF4-FFF2-40B4-BE49-F238E27FC236}">
                <a16:creationId xmlns:a16="http://schemas.microsoft.com/office/drawing/2014/main" id="{A0588F1F-6274-0038-4979-7CF2D2E3A309}"/>
              </a:ext>
            </a:extLst>
          </p:cNvPr>
          <p:cNvSpPr/>
          <p:nvPr/>
        </p:nvSpPr>
        <p:spPr>
          <a:xfrm>
            <a:off x="320040" y="6007527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구문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오류(Syntax Error) 없이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실행되어야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D34BDF6-B935-45B5-9B4B-6F7BCBBBE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5230" y="804441"/>
            <a:ext cx="407670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829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74320" y="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문항  1.  WordManager 클래스  —  실행 </a:t>
            </a:r>
            <a:r>
              <a:rPr lang="en-US" sz="18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(3)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 3개 추가 → 목록 확인 → 내림차순 Z→A 정렬 결과를 캡처하여 붙여넣으시오.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82880" y="1005840"/>
            <a:ext cx="58064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74320" y="1005840"/>
            <a:ext cx="5623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과정  —  단어 추가 &amp; 목록 확인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408176"/>
            <a:ext cx="5806440" cy="423367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lg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74320" y="3020074"/>
            <a:ext cx="562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단어 추가 &amp; 목록 확인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결과 캡처를 붙여넣으시오.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53912" y="1005840"/>
            <a:ext cx="580644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245352" y="1005840"/>
            <a:ext cx="5623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과정  —  내림차순 정렬 (Z→A)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1408176"/>
            <a:ext cx="5806440" cy="423367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lg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245352" y="3020074"/>
            <a:ext cx="562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내림차순 정렬 실행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붙여넣으시오.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5733288"/>
            <a:ext cx="11795760" cy="41148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20040" y="5733288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두 실행 결과 모두 캡처하여 붙여넣어야 합니다.  reverse=True가 올바르게 동작해야 만점 인정.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양성과정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</a:t>
            </a:r>
            <a:endParaRPr lang="en-US" alt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85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5E01996-F7BA-4937-B40A-41CBF68BE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9530" y="2510005"/>
            <a:ext cx="2571750" cy="160972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EC6FA6D9-AC0D-45D2-9817-220BC8597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0175" y="1637157"/>
            <a:ext cx="3371850" cy="36480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74320" y="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문항  2.  CSV 파일 저장 / 읽기  —  코드 빈칸 채우기  (1)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 ⑤~⑧를 완성하고, 각 단계별 실행 결과를 캡처하여 순서대로 붙여넣으시오.  |  배점 50점</a:t>
            </a:r>
            <a:endParaRPr lang="en-US" sz="115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9478F28-58FD-A4E0-0890-6A9E9F538163}"/>
              </a:ext>
            </a:extLst>
          </p:cNvPr>
          <p:cNvGrpSpPr>
            <a:grpSpLocks/>
          </p:cNvGrpSpPr>
          <p:nvPr/>
        </p:nvGrpSpPr>
        <p:grpSpPr>
          <a:xfrm>
            <a:off x="204216" y="3320822"/>
            <a:ext cx="3240582" cy="2623962"/>
            <a:chOff x="137160" y="1005840"/>
            <a:chExt cx="2286000" cy="2194560"/>
          </a:xfrm>
        </p:grpSpPr>
        <p:sp>
          <p:nvSpPr>
            <p:cNvPr id="7" name="Shape 5"/>
            <p:cNvSpPr/>
            <p:nvPr/>
          </p:nvSpPr>
          <p:spPr>
            <a:xfrm>
              <a:off x="137160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137160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210312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210312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⑤</a:t>
              </a:r>
              <a:endParaRPr lang="en-US" sz="1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530352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컬럼명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자동 추출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210312" y="1417319"/>
              <a:ext cx="2139696" cy="1674223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301752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DE381F2-8395-81B6-CCA9-D810518ECA7D}"/>
              </a:ext>
            </a:extLst>
          </p:cNvPr>
          <p:cNvGrpSpPr/>
          <p:nvPr/>
        </p:nvGrpSpPr>
        <p:grpSpPr>
          <a:xfrm>
            <a:off x="2544318" y="1005840"/>
            <a:ext cx="2743200" cy="2633472"/>
            <a:chOff x="2544318" y="1005840"/>
            <a:chExt cx="2286000" cy="2194560"/>
          </a:xfrm>
        </p:grpSpPr>
        <p:sp>
          <p:nvSpPr>
            <p:cNvPr id="16" name="Shape 14"/>
            <p:cNvSpPr/>
            <p:nvPr/>
          </p:nvSpPr>
          <p:spPr>
            <a:xfrm>
              <a:off x="2544318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2544318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Shape 16"/>
            <p:cNvSpPr/>
            <p:nvPr/>
          </p:nvSpPr>
          <p:spPr>
            <a:xfrm>
              <a:off x="2617470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7"/>
            <p:cNvSpPr/>
            <p:nvPr/>
          </p:nvSpPr>
          <p:spPr>
            <a:xfrm>
              <a:off x="2617470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⑥</a:t>
              </a:r>
              <a:endParaRPr lang="en-US" sz="1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2937510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전체 데이터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저장</a:t>
              </a:r>
              <a:endParaRPr lang="en-US" sz="9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2617470" y="1417320"/>
              <a:ext cx="2139696" cy="1674222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2708910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CC680ACC-628C-FAAE-83F6-E939063998B5}"/>
              </a:ext>
            </a:extLst>
          </p:cNvPr>
          <p:cNvGrpSpPr/>
          <p:nvPr/>
        </p:nvGrpSpPr>
        <p:grpSpPr>
          <a:xfrm>
            <a:off x="4951474" y="3311312"/>
            <a:ext cx="3093567" cy="2633472"/>
            <a:chOff x="4951476" y="1005840"/>
            <a:chExt cx="2286000" cy="2194560"/>
          </a:xfrm>
        </p:grpSpPr>
        <p:sp>
          <p:nvSpPr>
            <p:cNvPr id="25" name="Shape 23"/>
            <p:cNvSpPr/>
            <p:nvPr/>
          </p:nvSpPr>
          <p:spPr>
            <a:xfrm>
              <a:off x="4951476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4951476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Shape 25"/>
            <p:cNvSpPr/>
            <p:nvPr/>
          </p:nvSpPr>
          <p:spPr>
            <a:xfrm>
              <a:off x="5024628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 26"/>
            <p:cNvSpPr/>
            <p:nvPr/>
          </p:nvSpPr>
          <p:spPr>
            <a:xfrm>
              <a:off x="5024628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⑦</a:t>
              </a:r>
              <a:endParaRPr lang="en-US" sz="16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5344668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파일 객체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전달</a:t>
              </a:r>
              <a:endParaRPr lang="en-US" sz="90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5024628" y="1417320"/>
              <a:ext cx="2139696" cy="1674222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9"/>
            <p:cNvSpPr/>
            <p:nvPr/>
          </p:nvSpPr>
          <p:spPr>
            <a:xfrm>
              <a:off x="5116068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4762D7-49F6-3B12-3E2E-1C848077D563}"/>
              </a:ext>
            </a:extLst>
          </p:cNvPr>
          <p:cNvGrpSpPr/>
          <p:nvPr/>
        </p:nvGrpSpPr>
        <p:grpSpPr>
          <a:xfrm>
            <a:off x="7358634" y="1005840"/>
            <a:ext cx="2743200" cy="2633472"/>
            <a:chOff x="7358634" y="1005840"/>
            <a:chExt cx="2286000" cy="2194560"/>
          </a:xfrm>
        </p:grpSpPr>
        <p:sp>
          <p:nvSpPr>
            <p:cNvPr id="34" name="Shape 32"/>
            <p:cNvSpPr/>
            <p:nvPr/>
          </p:nvSpPr>
          <p:spPr>
            <a:xfrm>
              <a:off x="7358634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3"/>
            <p:cNvSpPr/>
            <p:nvPr/>
          </p:nvSpPr>
          <p:spPr>
            <a:xfrm>
              <a:off x="7358634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34"/>
            <p:cNvSpPr/>
            <p:nvPr/>
          </p:nvSpPr>
          <p:spPr>
            <a:xfrm>
              <a:off x="7431786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35"/>
            <p:cNvSpPr/>
            <p:nvPr/>
          </p:nvSpPr>
          <p:spPr>
            <a:xfrm>
              <a:off x="7431786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⑧</a:t>
              </a:r>
              <a:endParaRPr lang="en-US" sz="16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7751826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리스트로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변환 반환</a:t>
              </a:r>
              <a:endParaRPr lang="en-US" sz="900" dirty="0"/>
            </a:p>
          </p:txBody>
        </p:sp>
        <p:sp>
          <p:nvSpPr>
            <p:cNvPr id="39" name="Shape 37"/>
            <p:cNvSpPr/>
            <p:nvPr/>
          </p:nvSpPr>
          <p:spPr>
            <a:xfrm>
              <a:off x="7431786" y="1417320"/>
              <a:ext cx="2139696" cy="1674222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8"/>
            <p:cNvSpPr/>
            <p:nvPr/>
          </p:nvSpPr>
          <p:spPr>
            <a:xfrm>
              <a:off x="7523226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sp>
        <p:nvSpPr>
          <p:cNvPr id="54" name="Shape 52"/>
          <p:cNvSpPr/>
          <p:nvPr/>
        </p:nvSpPr>
        <p:spPr>
          <a:xfrm>
            <a:off x="182880" y="5991688"/>
            <a:ext cx="11887200" cy="41148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320040" y="5991688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students.csv 파일이 정상 생성되고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읽혀야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양성과정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</a:t>
            </a:r>
            <a:endParaRPr lang="en-US" altLang="ko-KR" sz="800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CD90A88-F928-C9F7-CFDA-406371301EC4}"/>
              </a:ext>
            </a:extLst>
          </p:cNvPr>
          <p:cNvGrpSpPr/>
          <p:nvPr/>
        </p:nvGrpSpPr>
        <p:grpSpPr>
          <a:xfrm>
            <a:off x="8850985" y="3311312"/>
            <a:ext cx="3093567" cy="2633472"/>
            <a:chOff x="9765792" y="1005840"/>
            <a:chExt cx="2286000" cy="2194560"/>
          </a:xfrm>
        </p:grpSpPr>
        <p:sp>
          <p:nvSpPr>
            <p:cNvPr id="43" name="Shape 41"/>
            <p:cNvSpPr/>
            <p:nvPr/>
          </p:nvSpPr>
          <p:spPr>
            <a:xfrm>
              <a:off x="9765792" y="1005840"/>
              <a:ext cx="2286000" cy="2194560"/>
            </a:xfrm>
            <a:prstGeom prst="rect">
              <a:avLst/>
            </a:prstGeom>
            <a:solidFill>
              <a:srgbClr val="F0F4F8"/>
            </a:solidFill>
            <a:ln w="12700">
              <a:solidFill>
                <a:srgbClr val="2E75B6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42"/>
            <p:cNvSpPr/>
            <p:nvPr/>
          </p:nvSpPr>
          <p:spPr>
            <a:xfrm>
              <a:off x="9765792" y="1005840"/>
              <a:ext cx="2286000" cy="347472"/>
            </a:xfrm>
            <a:prstGeom prst="rect">
              <a:avLst/>
            </a:prstGeom>
            <a:solidFill>
              <a:srgbClr val="1F3864"/>
            </a:solidFill>
            <a:ln w="1270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Shape 43"/>
            <p:cNvSpPr/>
            <p:nvPr/>
          </p:nvSpPr>
          <p:spPr>
            <a:xfrm>
              <a:off x="9838944" y="1042416"/>
              <a:ext cx="274320" cy="274320"/>
            </a:xfrm>
            <a:prstGeom prst="ellipse">
              <a:avLst/>
            </a:prstGeom>
            <a:solidFill>
              <a:srgbClr val="2E75B6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 44"/>
            <p:cNvSpPr/>
            <p:nvPr/>
          </p:nvSpPr>
          <p:spPr>
            <a:xfrm>
              <a:off x="9838944" y="104241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⑨</a:t>
              </a:r>
              <a:endParaRPr lang="en-US" sz="1600" dirty="0"/>
            </a:p>
          </p:txBody>
        </p:sp>
        <p:sp>
          <p:nvSpPr>
            <p:cNvPr id="47" name="Text 45"/>
            <p:cNvSpPr/>
            <p:nvPr/>
          </p:nvSpPr>
          <p:spPr>
            <a:xfrm>
              <a:off x="10158984" y="1005840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전체 코드</a:t>
              </a:r>
              <a:endParaRPr lang="en-US" sz="900" dirty="0"/>
            </a:p>
            <a:p>
              <a:pPr marL="0" indent="0" algn="l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실행 확인</a:t>
              </a:r>
              <a:endParaRPr lang="en-US" sz="900" dirty="0"/>
            </a:p>
          </p:txBody>
        </p:sp>
        <p:sp>
          <p:nvSpPr>
            <p:cNvPr id="48" name="Shape 46"/>
            <p:cNvSpPr/>
            <p:nvPr/>
          </p:nvSpPr>
          <p:spPr>
            <a:xfrm>
              <a:off x="9838944" y="1417320"/>
              <a:ext cx="2139696" cy="1674222"/>
            </a:xfrm>
            <a:prstGeom prst="rect">
              <a:avLst/>
            </a:prstGeom>
            <a:solidFill>
              <a:srgbClr val="EBF3FB"/>
            </a:solidFill>
            <a:ln w="12700">
              <a:solidFill>
                <a:srgbClr val="2E75B6"/>
              </a:solidFill>
              <a:prstDash val="lgDash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 47"/>
            <p:cNvSpPr/>
            <p:nvPr/>
          </p:nvSpPr>
          <p:spPr>
            <a:xfrm>
              <a:off x="9930384" y="1961388"/>
              <a:ext cx="1956816" cy="3291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i="1" dirty="0">
                  <a:solidFill>
                    <a:srgbClr val="2E75B6"/>
                  </a:solidFill>
                  <a:latin typeface="맑은 고딕" pitchFamily="34" charset="0"/>
                  <a:ea typeface="맑은 고딕" pitchFamily="34" charset="-122"/>
                  <a:cs typeface="맑은 고딕" pitchFamily="34" charset="-120"/>
                </a:rPr>
                <a:t>📷 캡처 이미지</a:t>
              </a:r>
              <a:endParaRPr lang="en-US" sz="1100" dirty="0"/>
            </a:p>
          </p:txBody>
        </p:sp>
      </p:grpSp>
      <p:sp>
        <p:nvSpPr>
          <p:cNvPr id="58" name="Text 56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850" dirty="0"/>
          </a:p>
        </p:txBody>
      </p:sp>
      <p:pic>
        <p:nvPicPr>
          <p:cNvPr id="50" name="그림 49">
            <a:extLst>
              <a:ext uri="{FF2B5EF4-FFF2-40B4-BE49-F238E27FC236}">
                <a16:creationId xmlns:a16="http://schemas.microsoft.com/office/drawing/2014/main" id="{718389FF-88EB-4F1C-9714-8E855876F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038" y="4573534"/>
            <a:ext cx="3030942" cy="348478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FCC459D-F47E-49AC-88BE-D27C8342D5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3004" y="2141326"/>
            <a:ext cx="2352675" cy="495300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2C3550D5-3482-4BEA-B58E-EADEC63D8E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764" y="4558507"/>
            <a:ext cx="2904000" cy="378115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7F1FAF50-C06F-48EB-9A9D-FAAD21E653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3470" y="2222309"/>
            <a:ext cx="1533525" cy="390525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599B161C-4D3A-4AD1-8656-7817133013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8317" y="4325718"/>
            <a:ext cx="2858902" cy="10216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CEC67-2D1F-7CA5-E24A-2C5AB82B8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DA6F623-BD68-AEEA-01B7-CD8A1CF02527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9DF684F-FE5F-8E2C-A422-455E55B8E220}"/>
              </a:ext>
            </a:extLst>
          </p:cNvPr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F8FE94C-3796-6163-E5D4-64DDE889C8F1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7F1325-E308-DF16-E4EC-3A4F9EDDA87A}"/>
              </a:ext>
            </a:extLst>
          </p:cNvPr>
          <p:cNvSpPr/>
          <p:nvPr/>
        </p:nvSpPr>
        <p:spPr>
          <a:xfrm>
            <a:off x="274320" y="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r>
              <a:rPr lang="en-US" altLang="ko-KR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altLang="ko-KR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2.  CSV </a:t>
            </a:r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</a:t>
            </a:r>
            <a:r>
              <a:rPr lang="en-US" altLang="ko-KR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</a:t>
            </a:r>
            <a:r>
              <a:rPr lang="en-US" altLang="ko-KR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/ </a:t>
            </a:r>
            <a:r>
              <a:rPr lang="en-US" altLang="ko-KR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r>
              <a:rPr lang="en-US" altLang="ko-KR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— </a:t>
            </a:r>
            <a:r>
              <a:rPr lang="ko-KR" alt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코드 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180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0EE66363-07C7-8EA6-817F-D255B951E0A9}"/>
              </a:ext>
            </a:extLst>
          </p:cNvPr>
          <p:cNvSpPr/>
          <p:nvPr/>
        </p:nvSpPr>
        <p:spPr>
          <a:xfrm>
            <a:off x="274320" y="759033"/>
            <a:ext cx="11795760" cy="5155469"/>
          </a:xfrm>
          <a:prstGeom prst="rect">
            <a:avLst/>
          </a:prstGeom>
          <a:solidFill>
            <a:srgbClr val="F0F4F8"/>
          </a:solidFill>
          <a:ln w="12700">
            <a:solidFill>
              <a:srgbClr val="2E75B6"/>
            </a:solidFill>
            <a:prstDash val="lg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5BB37B95-1F6F-7D5E-2A46-74FAB6F1FCA3}"/>
              </a:ext>
            </a:extLst>
          </p:cNvPr>
          <p:cNvSpPr/>
          <p:nvPr/>
        </p:nvSpPr>
        <p:spPr>
          <a:xfrm>
            <a:off x="274320" y="759033"/>
            <a:ext cx="11795760" cy="51554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FCA49B15-5C09-B9BD-A56C-8F2D9077A515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E239865A-666E-F607-593B-B367F1EA71D1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양성과정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</a:t>
            </a:r>
            <a:endParaRPr lang="en-US" altLang="ko-KR" sz="80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30664954-A77E-1FC9-CD4D-4AE11510D1A6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850" dirty="0"/>
          </a:p>
        </p:txBody>
      </p:sp>
      <p:sp>
        <p:nvSpPr>
          <p:cNvPr id="24" name="Shape 52">
            <a:extLst>
              <a:ext uri="{FF2B5EF4-FFF2-40B4-BE49-F238E27FC236}">
                <a16:creationId xmlns:a16="http://schemas.microsoft.com/office/drawing/2014/main" id="{E36EB857-B069-64E9-F6DF-198F98D8DFB2}"/>
              </a:ext>
            </a:extLst>
          </p:cNvPr>
          <p:cNvSpPr/>
          <p:nvPr/>
        </p:nvSpPr>
        <p:spPr>
          <a:xfrm>
            <a:off x="182880" y="6007527"/>
            <a:ext cx="11795760" cy="41148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53">
            <a:extLst>
              <a:ext uri="{FF2B5EF4-FFF2-40B4-BE49-F238E27FC236}">
                <a16:creationId xmlns:a16="http://schemas.microsoft.com/office/drawing/2014/main" id="{DAC5E380-8EF8-5118-595F-5220ACD0092E}"/>
              </a:ext>
            </a:extLst>
          </p:cNvPr>
          <p:cNvSpPr/>
          <p:nvPr/>
        </p:nvSpPr>
        <p:spPr>
          <a:xfrm>
            <a:off x="320040" y="6007527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구문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오류(Syntax Error) 없이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실행되어야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b="1" dirty="0" err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</a:t>
            </a: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D9E8DC6-AB51-48DA-9603-848A3A2BB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229" y="885673"/>
            <a:ext cx="5200650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512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274320" y="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문항  2.  CSV 파일 저장 / 읽기  —  실행 </a:t>
            </a:r>
            <a:r>
              <a:rPr lang="en-US" sz="18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(</a:t>
            </a:r>
            <a:r>
              <a:rPr lang="en-US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students.csv 파일 생성 확인 + 콘솔 출력(읽기 결과)를 캡처하여 붙여넣으시오.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82880" y="1005840"/>
            <a:ext cx="5806440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74320" y="1005840"/>
            <a:ext cx="5623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결과 (1)  —  students.csv 파일 저장 확인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408176"/>
            <a:ext cx="5806440" cy="423367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lg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153912" y="1005840"/>
            <a:ext cx="5806440" cy="34747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245352" y="1005840"/>
            <a:ext cx="5623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결과 (2)  —  콘솔 출력 (읽기 결과)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53912" y="1408176"/>
            <a:ext cx="5806440" cy="4233672"/>
          </a:xfrm>
          <a:prstGeom prst="rect">
            <a:avLst/>
          </a:prstGeom>
          <a:solidFill>
            <a:srgbClr val="EBF3FB"/>
          </a:solidFill>
          <a:ln w="12700">
            <a:solidFill>
              <a:srgbClr val="2E75B6"/>
            </a:solidFill>
            <a:prstDash val="lg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245352" y="3206120"/>
            <a:ext cx="5623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콘솔 출력 실행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캡처를 붙여넣으시오.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5733288"/>
            <a:ext cx="11795760" cy="411480"/>
          </a:xfrm>
          <a:prstGeom prst="rect">
            <a:avLst/>
          </a:prstGeom>
          <a:solidFill>
            <a:srgbClr val="FFF9C4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320040" y="5733288"/>
            <a:ext cx="11521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CSV 저장 결과와 읽기 결과 모두 캡처하여 붙여넣어야 합니다.  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（</a:t>
            </a:r>
            <a:r>
              <a:rPr lang="ko-KR" altLang="en-US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빅데이터전문가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）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빅데이터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양성과정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| 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프로그래밍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</a:t>
            </a:r>
            <a:r>
              <a:rPr lang="en-US" altLang="ko-KR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800" dirty="0" err="1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</a:t>
            </a:r>
            <a:endParaRPr lang="en-US" alt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85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F83CCEE-3348-42C8-AB04-15201CE4C4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787" y="2503937"/>
            <a:ext cx="1952625" cy="173355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42D82D4-B13D-4052-8EB0-CC8FD9A3C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2413" y="2805527"/>
            <a:ext cx="3489437" cy="12469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559</Words>
  <Application>Microsoft Office PowerPoint</Application>
  <PresentationFormat>와이드스크린</PresentationFormat>
  <Paragraphs>92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03_프로그래밍언어응용</dc:title>
  <dc:subject>PptxGenJS Presentation</dc:subject>
  <dc:creator>PptxGenJS</dc:creator>
  <cp:lastModifiedBy>FullName</cp:lastModifiedBy>
  <cp:revision>35</cp:revision>
  <dcterms:created xsi:type="dcterms:W3CDTF">2026-03-10T17:23:29Z</dcterms:created>
  <dcterms:modified xsi:type="dcterms:W3CDTF">2026-06-01T00:54:51Z</dcterms:modified>
</cp:coreProperties>
</file>