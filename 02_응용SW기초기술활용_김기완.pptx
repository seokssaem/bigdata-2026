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2" r:id="rId6"/>
    <p:sldId id="260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638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BFFBE-257F-EFA6-C3C0-D593F6E04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A91E67-2AB1-69E1-BC41-5F6195A0BF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9385B2-5882-F2C6-CEA6-4559770625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1228DC-F478-F05B-B67B-01FE323AA6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135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1274552" cy="11887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응용SW 기초 기술 활용</a:t>
            </a:r>
            <a:endParaRPr lang="en-US" sz="24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 가 작 업 지 시 서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응용SW 기초 기술 활용  (2001020233_23v5)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제출 방법 :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학사게시판에 첨부파일로 올리고 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-&gt;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 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-&gt;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시험종료버튼 누르기 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 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 Repository  →  본인 Branch Push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0060" y="3528829"/>
            <a:ext cx="52120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9" name="Shape 7"/>
          <p:cNvSpPr/>
          <p:nvPr/>
        </p:nvSpPr>
        <p:spPr>
          <a:xfrm>
            <a:off x="5897880" y="3520440"/>
            <a:ext cx="585216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김기완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352044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수행날짜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2026-05-21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74552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 </a:t>
            </a: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KIMgiwan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892040"/>
            <a:ext cx="11274552" cy="68580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94360" y="4892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업로드 파일  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02_응용SW기초기술활용_이름.pptx   |   02_test_이름.py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52303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Repository  </a:t>
            </a:r>
            <a:r>
              <a:rPr lang="en-US" sz="10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https://github.com/seokssaem/bigdata-2026.git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분석 플랫폼 개발자 양성과정  |  응용SW 기초 기술 활용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📝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문항  1.  미들웨어(Middleware) 개념 서술  (1)  — 배점 10점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미들웨어(Middleware)의 개념을 자신의 말로 설명하시오.  |  이론 지식 확인 서술형 문항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82880" y="1097279"/>
            <a:ext cx="5806440" cy="5298077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74320" y="3566160"/>
            <a:ext cx="5623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✏️  개념 서술 답안을 직접 텍스트로 작성하거나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 손글씨 촬영 이미지를 붙여넣으시오.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53912" y="1097280"/>
            <a:ext cx="5806440" cy="5298076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r>
              <a:rPr lang="ko-KR" altLang="en-US" dirty="0"/>
              <a:t>미들웨어</a:t>
            </a:r>
            <a:r>
              <a:rPr lang="en-US" altLang="ko-KR" dirty="0"/>
              <a:t>: </a:t>
            </a:r>
            <a:r>
              <a:rPr lang="ko-KR" altLang="en-US" dirty="0"/>
              <a:t>서로 다른 </a:t>
            </a:r>
            <a:r>
              <a:rPr lang="ko-KR" altLang="en-US" dirty="0" err="1"/>
              <a:t>에플리케이션이</a:t>
            </a:r>
            <a:r>
              <a:rPr lang="ko-KR" altLang="en-US" dirty="0"/>
              <a:t> 서로 통신하는데 사용되는 소프트웨어입니다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단일 시스템에 원활하게 통합할 수 있도록 다양한 기술</a:t>
            </a:r>
            <a:r>
              <a:rPr lang="en-US" altLang="ko-KR" dirty="0"/>
              <a:t>, </a:t>
            </a:r>
            <a:r>
              <a:rPr lang="ko-KR" altLang="en-US" dirty="0"/>
              <a:t>도구</a:t>
            </a:r>
            <a:r>
              <a:rPr lang="en-US" altLang="ko-KR" dirty="0"/>
              <a:t>, </a:t>
            </a:r>
            <a:r>
              <a:rPr lang="ko-KR" altLang="en-US" dirty="0"/>
              <a:t>데이터베이스 간에 다리 역할을 수행하며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서로 다른 운영체제 및 언어로 개발된 프로그램들이 하나의 시스템처럼 통합된 서비스를 제공할 수 있도록 지능적이고 효율적으로 연결해주는 소프트웨어입니다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2" name="Text 10"/>
          <p:cNvSpPr/>
          <p:nvPr/>
        </p:nvSpPr>
        <p:spPr>
          <a:xfrm>
            <a:off x="6245352" y="3566160"/>
            <a:ext cx="5623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 작성한 답안의 캡처 화면 또는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추가 설명 이미지를 첨부하시오.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분석 플랫폼 개발자 양성과정  |  응용SW 기초 기술 활용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6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📝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문항  1.  미들웨어(Middleware) 개념 서술  (2)  — 배점 10점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미들웨어가 필요한 이유를 두 가지 작성하시오.  (각 5점 × 2)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82880" y="1067316"/>
            <a:ext cx="580644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74320" y="1067316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이유 1  (5점)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53912" y="1067316"/>
            <a:ext cx="580644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245352" y="1067316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이유 2  (5점)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82880" y="1414788"/>
            <a:ext cx="5806440" cy="4419084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r>
              <a:rPr lang="ko-KR" altLang="en-US" dirty="0"/>
              <a:t>현대적 </a:t>
            </a:r>
            <a:r>
              <a:rPr lang="ko-KR" altLang="en-US" dirty="0" err="1"/>
              <a:t>에플리캐이션은</a:t>
            </a:r>
            <a:r>
              <a:rPr lang="ko-KR" altLang="en-US" dirty="0"/>
              <a:t> 여러 </a:t>
            </a:r>
            <a:r>
              <a:rPr lang="ko-KR" altLang="en-US" dirty="0" err="1"/>
              <a:t>마이크로서비스로</a:t>
            </a:r>
            <a:r>
              <a:rPr lang="ko-KR" altLang="en-US" dirty="0"/>
              <a:t> 구성되어 통신구조 구축이 어렵지만</a:t>
            </a:r>
            <a:r>
              <a:rPr lang="en-US" altLang="ko-KR" dirty="0"/>
              <a:t>, </a:t>
            </a:r>
            <a:r>
              <a:rPr lang="ko-KR" altLang="en-US" dirty="0"/>
              <a:t>미들웨어는 표준 </a:t>
            </a:r>
            <a:r>
              <a:rPr lang="en-US" altLang="ko-KR" dirty="0"/>
              <a:t>API</a:t>
            </a:r>
            <a:r>
              <a:rPr lang="ko-KR" altLang="en-US" dirty="0"/>
              <a:t>를 통해 디자인 프로세스를 단순화하여 개발 효율성을 </a:t>
            </a:r>
            <a:r>
              <a:rPr lang="ko-KR" altLang="en-US" dirty="0" err="1"/>
              <a:t>높여주기</a:t>
            </a:r>
            <a:r>
              <a:rPr lang="ko-KR" altLang="en-US" dirty="0"/>
              <a:t> 때문에 필요합니다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4" name="Text 12"/>
          <p:cNvSpPr/>
          <p:nvPr/>
        </p:nvSpPr>
        <p:spPr>
          <a:xfrm>
            <a:off x="274320" y="3717036"/>
            <a:ext cx="5623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✏️  이유 1을 직접 작성하거나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 손글씨 이미지를 붙여넣으시오.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53912" y="1414788"/>
            <a:ext cx="5806440" cy="4419084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r>
              <a:rPr lang="ko-KR" altLang="en-US" dirty="0"/>
              <a:t>소프트웨어 구성 요소 사이를 직접 연결하는 복잡한 통신 관리를 미들웨어가 전담하므로</a:t>
            </a:r>
            <a:r>
              <a:rPr lang="en-US" altLang="ko-KR" dirty="0"/>
              <a:t>, </a:t>
            </a:r>
            <a:r>
              <a:rPr lang="ko-KR" altLang="en-US" dirty="0"/>
              <a:t>개발자는 다른 작업에 시간을 쓰지 않고 핵심 비즈니스 로직과 기능 개발에만 온전히 집중할 수 있어 필요합니다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6" name="Text 14"/>
          <p:cNvSpPr/>
          <p:nvPr/>
        </p:nvSpPr>
        <p:spPr>
          <a:xfrm>
            <a:off x="6245352" y="3717036"/>
            <a:ext cx="5623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✏️  이유 2를 직접 작성하거나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 손글씨 이미지를 붙여넣으시오.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82880" y="5980176"/>
            <a:ext cx="11795760" cy="41148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20040" y="5980176"/>
            <a:ext cx="11521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각 이유는 한 문장 이상으로 구체적으로 서술해야 합니다.  단순히 "편리하다" 수준의 답변은 인정되지 않습니다.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분석 플랫폼 개발자 양성과정  |  응용SW 기초 기술 활용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6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07" y="-3401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🐍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문항  2.  놀이공원 입장 시스템  —  코드 작성  (1)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5단계 코드 구현 과정을 완성하고, 각 단계 결과를 캡처하여 순서대로 붙여넣으시오.  |  배점 80점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544318" y="1083564"/>
            <a:ext cx="2286000" cy="2194560"/>
          </a:xfrm>
          <a:prstGeom prst="rect">
            <a:avLst/>
          </a:prstGeom>
          <a:solidFill>
            <a:srgbClr val="F0F4F8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2542032" y="1101142"/>
            <a:ext cx="228600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2617470" y="1120140"/>
            <a:ext cx="274320" cy="27432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617470" y="11201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937510" y="108356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check_safety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함수 정의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617470" y="1495044"/>
            <a:ext cx="2139696" cy="1682140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2708910" y="2039112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이미지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51476" y="1083564"/>
            <a:ext cx="2286000" cy="2194560"/>
          </a:xfrm>
          <a:prstGeom prst="rect">
            <a:avLst/>
          </a:prstGeom>
          <a:solidFill>
            <a:srgbClr val="F0F4F8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4951476" y="1083564"/>
            <a:ext cx="228600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5024628" y="1120140"/>
            <a:ext cx="274320" cy="27432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024628" y="11201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344668" y="108356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 비교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(if 문 작성)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24628" y="1495044"/>
            <a:ext cx="2139696" cy="1682140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116068" y="2039112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이미지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58634" y="1083564"/>
            <a:ext cx="2286000" cy="2194560"/>
          </a:xfrm>
          <a:prstGeom prst="rect">
            <a:avLst/>
          </a:prstGeom>
          <a:solidFill>
            <a:srgbClr val="F0F4F8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7358634" y="1083564"/>
            <a:ext cx="228600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7431786" y="1120140"/>
            <a:ext cx="274320" cy="27432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7431786" y="11201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751826" y="108356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반환값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431786" y="1495044"/>
            <a:ext cx="2139696" cy="1682140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7523226" y="2039112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이미지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522726" y="3570732"/>
            <a:ext cx="2286000" cy="2194560"/>
          </a:xfrm>
          <a:prstGeom prst="rect">
            <a:avLst/>
          </a:prstGeom>
          <a:solidFill>
            <a:srgbClr val="F0F4F8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3522726" y="3570732"/>
            <a:ext cx="228600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3595878" y="3607308"/>
            <a:ext cx="274320" cy="27432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3595878" y="36073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915918" y="35707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main 코드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미들웨어 호출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595878" y="3982212"/>
            <a:ext cx="2139696" cy="1682140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3687318" y="4526280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이미지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929884" y="3570732"/>
            <a:ext cx="2286000" cy="2194560"/>
          </a:xfrm>
          <a:prstGeom prst="rect">
            <a:avLst/>
          </a:prstGeom>
          <a:solidFill>
            <a:srgbClr val="F0F4F8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5929884" y="3570732"/>
            <a:ext cx="228600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6003036" y="3607308"/>
            <a:ext cx="274320" cy="27432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6003036" y="36073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323076" y="35707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코드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확인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003036" y="3982212"/>
            <a:ext cx="2139696" cy="1682140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6094476" y="4526280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이미지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182880" y="6035224"/>
            <a:ext cx="11795760" cy="41148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/>
          <p:nvPr/>
        </p:nvSpPr>
        <p:spPr>
          <a:xfrm>
            <a:off x="320040" y="6035224"/>
            <a:ext cx="11521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각 단계별 결과를 캡처하여 순서에 맞게 붙여넣으시오.  </a:t>
            </a:r>
            <a:r>
              <a:rPr lang="ko-KR" altLang="en-US" sz="10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캡쳐이미지는</a:t>
            </a:r>
            <a:r>
              <a:rPr lang="ko-KR" alt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네모 상자에 튀어나와도 됩니다</a:t>
            </a:r>
            <a:r>
              <a:rPr lang="en-US" altLang="ko-KR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</a:t>
            </a:r>
            <a:r>
              <a:rPr lang="ko-KR" alt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네모 상자 크기를 조절해도 됩니다</a:t>
            </a:r>
            <a:r>
              <a:rPr lang="en-US" altLang="ko-KR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분석 플랫폼 개발자 양성과정  |  응용SW 기초 기술 활용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6</a:t>
            </a:r>
            <a:endParaRPr lang="en-US" sz="850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63BA4B57-B9EA-473E-85D9-759DE989DC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9546" y="1443059"/>
            <a:ext cx="3034606" cy="541097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A047793B-FBDE-4C7B-900A-E0C90A8F51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6999" y="1431036"/>
            <a:ext cx="2911373" cy="720391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32C16ED3-AFC3-4203-BD10-A63EC584F9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9812" y="1453398"/>
            <a:ext cx="2531466" cy="753966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63B0D122-4E00-4E0A-98D3-BD8903D6F1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9812" y="2210836"/>
            <a:ext cx="2894205" cy="837956"/>
          </a:xfrm>
          <a:prstGeom prst="rect">
            <a:avLst/>
          </a:prstGeom>
        </p:spPr>
      </p:pic>
      <p:pic>
        <p:nvPicPr>
          <p:cNvPr id="51" name="그림 50">
            <a:extLst>
              <a:ext uri="{FF2B5EF4-FFF2-40B4-BE49-F238E27FC236}">
                <a16:creationId xmlns:a16="http://schemas.microsoft.com/office/drawing/2014/main" id="{0BE44B06-D1CE-4CBF-8AAF-14CCD873C1F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8793" y="3972884"/>
            <a:ext cx="4496427" cy="1057423"/>
          </a:xfrm>
          <a:prstGeom prst="rect">
            <a:avLst/>
          </a:prstGeom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7DCA676F-3826-48DF-A796-D5C04787C0D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44719" y="3881628"/>
            <a:ext cx="4045234" cy="2083373"/>
          </a:xfrm>
          <a:prstGeom prst="rect">
            <a:avLst/>
          </a:prstGeom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B0C550CB-30FF-4926-AA8A-CA5AF99C475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45626" y="4814816"/>
            <a:ext cx="2333074" cy="109627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D7DC4-74AA-514A-14DD-82F962916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CC4F579-0BE5-1685-1F87-51B8AD9D25D4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0C71AAC-4657-E0E0-A9B0-0BB5565B38B4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66C24AA-350D-4ACF-443C-95E9F82BA1AF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B568DBF-A0E1-28D8-4ACD-A74FC01E4495}"/>
              </a:ext>
            </a:extLst>
          </p:cNvPr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🐍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문항  2.  놀이공원 입장 시스템  —  코드 </a:t>
            </a:r>
            <a:r>
              <a:rPr lang="en-US" sz="18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(2)</a:t>
            </a:r>
            <a:endParaRPr lang="en-US" sz="1800" dirty="0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EA734388-892D-FB3D-EA80-D247B5D93928}"/>
              </a:ext>
            </a:extLst>
          </p:cNvPr>
          <p:cNvSpPr/>
          <p:nvPr/>
        </p:nvSpPr>
        <p:spPr>
          <a:xfrm>
            <a:off x="137159" y="680357"/>
            <a:ext cx="11886111" cy="5217707"/>
          </a:xfrm>
          <a:prstGeom prst="rect">
            <a:avLst/>
          </a:prstGeom>
          <a:solidFill>
            <a:srgbClr val="F0F4F8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32F0BE5C-225C-0784-5028-797F07053AFF}"/>
              </a:ext>
            </a:extLst>
          </p:cNvPr>
          <p:cNvSpPr/>
          <p:nvPr/>
        </p:nvSpPr>
        <p:spPr>
          <a:xfrm>
            <a:off x="274320" y="3337560"/>
            <a:ext cx="11521440" cy="2560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</a:t>
            </a:r>
            <a:r>
              <a:rPr lang="en-US" sz="12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코드 작성 화면 캡처</a:t>
            </a:r>
            <a:r>
              <a:rPr lang="en-US" sz="10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(VS Code 또는 IDE에서 작성한 전체 코드를 여기에 붙여넣으시오)</a:t>
            </a:r>
            <a:endParaRPr lang="en-US" sz="1400" dirty="0"/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34EFD3BF-EDE7-76E9-76A8-EB439E9FD565}"/>
              </a:ext>
            </a:extLst>
          </p:cNvPr>
          <p:cNvSpPr/>
          <p:nvPr/>
        </p:nvSpPr>
        <p:spPr>
          <a:xfrm>
            <a:off x="182880" y="6035224"/>
            <a:ext cx="11795760" cy="41148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319ADAC7-0584-DA6A-A2AB-91093A9A6D80}"/>
              </a:ext>
            </a:extLst>
          </p:cNvPr>
          <p:cNvSpPr/>
          <p:nvPr/>
        </p:nvSpPr>
        <p:spPr>
          <a:xfrm>
            <a:off x="320040" y="6035224"/>
            <a:ext cx="11521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</a:t>
            </a:r>
            <a:r>
              <a:rPr lang="en-US" sz="10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</a:t>
            </a: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코드는 구문 오류(Syntax Error) 없이 실행되어야 합니다.</a:t>
            </a:r>
            <a:endParaRPr lang="en-US" sz="1000" dirty="0"/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EE8428C5-73C4-A37A-319D-37D99A3A772F}"/>
              </a:ext>
            </a:extLst>
          </p:cNvPr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EC1A1688-DFE3-31BD-ADE8-D57BFEF5F1D2}"/>
              </a:ext>
            </a:extLst>
          </p:cNvPr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분석 플랫폼 개발자 양성과정  |  응용SW 기초 기술 활용</a:t>
            </a:r>
            <a:endParaRPr lang="en-US" sz="800" dirty="0"/>
          </a:p>
        </p:txBody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590334E9-3BBC-9557-A47D-E8B9656DA77E}"/>
              </a:ext>
            </a:extLst>
          </p:cNvPr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6</a:t>
            </a:r>
            <a:endParaRPr lang="en-US" sz="85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ECC3760-6104-425A-A790-95EE021B65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680357"/>
            <a:ext cx="9631485" cy="5066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814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🐍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문항  2.  놀이공원 입장 시스템  —  실행 </a:t>
            </a:r>
            <a:r>
              <a:rPr lang="en-US" sz="18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(3)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[실행예시 1] 키 = 140  →  안전 확인 + 롤러코스터 출발  |  [실행예시 2] 키 = 130  →  탑승 불가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82880" y="1005840"/>
            <a:ext cx="580644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274320" y="1005840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[실행예시 1]  키 = 140  →  탑승 가능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2880" y="1353312"/>
            <a:ext cx="580644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74320" y="1353312"/>
            <a:ext cx="5623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키를 입력하세요: 140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[미들웨어] 안전 확인 완료: 키가 140cm 이상입니다.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🎢 롤러코스터가 출발합니다! 즐거운 시간 되세요.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82880" y="2029968"/>
            <a:ext cx="5806440" cy="433273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74320" y="4101302"/>
            <a:ext cx="5623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실행예시 1 캡처 이미지를 붙여넣으시오.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(키 입력 → 안전 확인 완료 → 롤러코스터 출발)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53912" y="1005840"/>
            <a:ext cx="5806440" cy="347472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245352" y="1005840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[실행예시 2]  키 = 130  →  탑승 불가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53912" y="1353312"/>
            <a:ext cx="5806440" cy="621792"/>
          </a:xfrm>
          <a:prstGeom prst="rect">
            <a:avLst/>
          </a:prstGeom>
          <a:solidFill>
            <a:srgbClr val="FFF0F0"/>
          </a:solidFill>
          <a:ln w="12700">
            <a:solidFill>
              <a:srgbClr val="FF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245352" y="1353312"/>
            <a:ext cx="5623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키를 입력하세요: 130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[미들웨어] 탑승 불가: 키가 너무 작습니다.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153912" y="2029968"/>
            <a:ext cx="5806440" cy="433273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245352" y="4101302"/>
            <a:ext cx="5623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실행예시 2 캡처 이미지를 붙여넣으시오.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(키 입력 → 탑승 불가 출력)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분석 플랫폼 개발자 양성과정  |  응용SW 기초 기술 활용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/ 6</a:t>
            </a:r>
            <a:endParaRPr lang="en-US" sz="850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8B481045-BE4A-4412-B456-FC4616DC39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647" y="2060602"/>
            <a:ext cx="5420537" cy="961708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78F7EEE0-C8DC-45C6-9740-701720EE03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2682" y="2079654"/>
            <a:ext cx="5711088" cy="113332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702</Words>
  <Application>Microsoft Office PowerPoint</Application>
  <PresentationFormat>와이드스크린</PresentationFormat>
  <Paragraphs>86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02_응용SW기초기술활용</dc:title>
  <dc:subject>PptxGenJS Presentation</dc:subject>
  <dc:creator>PptxGenJS</dc:creator>
  <cp:lastModifiedBy>FullName</cp:lastModifiedBy>
  <cp:revision>19</cp:revision>
  <dcterms:created xsi:type="dcterms:W3CDTF">2026-03-10T16:20:31Z</dcterms:created>
  <dcterms:modified xsi:type="dcterms:W3CDTF">2026-05-21T00:41:40Z</dcterms:modified>
</cp:coreProperties>
</file>