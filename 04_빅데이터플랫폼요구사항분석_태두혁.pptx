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61" r:id="rId4"/>
    <p:sldId id="263" r:id="rId5"/>
    <p:sldId id="264" r:id="rId6"/>
    <p:sldId id="265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12C4D-32F2-230B-1FF2-BCF099930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1DFF6B-F8B7-30AE-8315-E61C33DBBF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19BDE6-E546-40EB-8BD7-0C6C2CF8E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E365D-1677-4834-EDA5-AED44E8950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0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6C8DA-2407-8F64-4305-B7EB65889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24333-70B4-0486-5471-71B39E739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5017CF-0E0A-70FD-1EEF-25D856E4AC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31C01A-1F23-561C-B26D-FDD3E5919D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732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36A81-DB18-197C-7AC5-373913986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B2EBCF-7446-CCBB-9B01-02923DEE1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F05962-16C3-12EA-47FD-089F49E7C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BD05D9-BA22-692C-91AB-F1C2EE4504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0244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39DF8-A185-9FF7-DE1C-B50A8C43E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3CCCA0-BE68-2891-6D14-E1C5A99957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F28475-5ADB-8A4D-6644-856CFA771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00B40-0A8C-BFCF-81E8-6051DB715E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1205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CAF3F-70D5-48DB-FBE3-2C40F446B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5291A8-A2D0-610A-DD99-FA652F31E9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8F791-81FD-4EBE-7FA5-9C94E0328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5CFD6-258C-A543-024B-2BDDBDCFCB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907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sz="24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 가 작 업 지 시 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  (2001020428_23v4)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방법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학사게시판 업로드 및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</a:t>
            </a:r>
            <a:r>
              <a:rPr lang="ko-KR" altLang="en-US" dirty="0" err="1"/>
              <a:t>태두혁</a:t>
            </a:r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2026-06-09</a:t>
            </a:r>
            <a:endParaRPr lang="ko-KR" altLang="en-US" dirty="0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 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r>
              <a:rPr lang="en-US" altLang="ko-KR" dirty="0"/>
              <a:t>			</a:t>
            </a:r>
            <a:r>
              <a:rPr lang="en-US" altLang="ko-KR" dirty="0" err="1"/>
              <a:t>TaeDoohyeok</a:t>
            </a:r>
            <a:endParaRPr lang="ko-KR" altLang="en-US" dirty="0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4892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업로드 파일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04_빅데이터플랫폼요구사항분석_이름.pptx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플랫폼 요구사항 분석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4F0A0-D598-5FCD-224F-B06380B9F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48E2191-7532-0762-ECF5-F9803C4155D0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BBA80C4-1459-622D-40FC-28FE33E90783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C96330B-970A-FF36-5676-B85BB624CE76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8033E57-16AA-A90D-BADC-15BDA5AC5510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1.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</a:t>
            </a: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800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D93CD0D-B0EB-E64D-CEE5-3EB40EEFE450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공공데이터 API를 활용한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개요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(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많아서 슬라이드가 부족하면 추가해서 진행합니다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.)</a:t>
            </a:r>
            <a:endParaRPr lang="en-US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87DD3EE-F7EF-D940-C6A1-A9ADA47FF39F}"/>
              </a:ext>
            </a:extLst>
          </p:cNvPr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8952D5B-1BDB-F598-0ECC-0C431D407C74}"/>
              </a:ext>
            </a:extLst>
          </p:cNvPr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099515B9-0022-AA0F-39D7-458615D45757}"/>
              </a:ext>
            </a:extLst>
          </p:cNvPr>
          <p:cNvSpPr/>
          <p:nvPr/>
        </p:nvSpPr>
        <p:spPr>
          <a:xfrm>
            <a:off x="182880" y="1408175"/>
            <a:ext cx="11795760" cy="5025281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pPr marL="342900" indent="-342900">
              <a:buAutoNum type="arabicPeriod"/>
            </a:pPr>
            <a:r>
              <a:rPr lang="ko-KR" altLang="en-US" dirty="0"/>
              <a:t>목적 </a:t>
            </a:r>
            <a:r>
              <a:rPr lang="en-US" altLang="ko-KR" dirty="0"/>
              <a:t>: 	</a:t>
            </a:r>
          </a:p>
          <a:p>
            <a:pPr lvl="1"/>
            <a:r>
              <a:rPr lang="en-US" altLang="ko-KR" dirty="0"/>
              <a:t>1. </a:t>
            </a:r>
            <a:r>
              <a:rPr lang="ko-KR" altLang="en-US" dirty="0"/>
              <a:t>복권을 구매할 수 있는 판매점 이름과 지역을 알 수 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2. </a:t>
            </a:r>
            <a:r>
              <a:rPr lang="ko-KR" altLang="en-US" dirty="0"/>
              <a:t>지역별 자동으로 발급된 복권의 </a:t>
            </a:r>
            <a:r>
              <a:rPr lang="en-US" altLang="ko-KR" dirty="0"/>
              <a:t>1</a:t>
            </a:r>
            <a:r>
              <a:rPr lang="ko-KR" altLang="en-US" dirty="0"/>
              <a:t>등 당첨 횟수를 알 수 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3. </a:t>
            </a:r>
            <a:r>
              <a:rPr lang="ko-KR" altLang="en-US" dirty="0"/>
              <a:t>판매점별 자동 발급 권권 </a:t>
            </a:r>
            <a:r>
              <a:rPr lang="en-US" altLang="ko-KR" dirty="0"/>
              <a:t>1</a:t>
            </a:r>
            <a:r>
              <a:rPr lang="ko-KR" altLang="en-US" dirty="0"/>
              <a:t>등 당첨 횟수를 알 수 있다</a:t>
            </a:r>
            <a:r>
              <a:rPr lang="en-US" altLang="ko-KR" dirty="0"/>
              <a:t>.</a:t>
            </a:r>
          </a:p>
          <a:p>
            <a:pPr marL="1257300" lvl="2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사용자 </a:t>
            </a:r>
            <a:r>
              <a:rPr lang="en-US" altLang="ko-KR" dirty="0"/>
              <a:t>: </a:t>
            </a:r>
          </a:p>
          <a:p>
            <a:pPr lvl="1"/>
            <a:r>
              <a:rPr lang="en-US" altLang="ko-KR" dirty="0"/>
              <a:t>1. 1</a:t>
            </a:r>
            <a:r>
              <a:rPr lang="ko-KR" altLang="en-US" dirty="0"/>
              <a:t>등 당첨의 가능성이 조금이라도 높은 판매점을 알고 싶은 사람</a:t>
            </a:r>
            <a:endParaRPr lang="en-US" altLang="ko-KR" dirty="0"/>
          </a:p>
          <a:p>
            <a:pPr lvl="1"/>
            <a:r>
              <a:rPr lang="en-US" altLang="ko-KR" dirty="0"/>
              <a:t>2. </a:t>
            </a:r>
            <a:r>
              <a:rPr lang="ko-KR" altLang="en-US" dirty="0"/>
              <a:t>복권 판매점을 창업하고 싶은 사람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1C2ECAEC-8899-6C30-4847-3F054DA664A5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22DD11C-F92E-2E75-D820-ADE1B1E6DDD4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altLang="ko-KR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B7885B9-111F-F4CD-3A64-DC5C167D2945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2163514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3BEE4-DD75-F1DF-FC17-B026F0145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C5FE38E-C593-1C2B-BB44-9768F830FA38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64FAC46-4564-9E6D-C662-8C4A033EF759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418E3C6-682F-1E66-2974-E29DA66EBC69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615F270-0BDE-A747-3B77-6429DF7FD678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2.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67A78B7-8EFA-139A-7D49-61601D9DBD3C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공공데이터 API를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활용한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가능 요구사항을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많아서 슬라이드가 부족하면 추가해서 진행합니다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.)</a:t>
            </a:r>
            <a:endParaRPr lang="en-US" altLang="ko-KR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068E452-A242-0CA9-7B22-6A0A7F9252ED}"/>
              </a:ext>
            </a:extLst>
          </p:cNvPr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337109B-D614-0589-8477-6BBAB5F0DA55}"/>
              </a:ext>
            </a:extLst>
          </p:cNvPr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4DBF5471-488E-8FA9-0D09-A2D104FF0CC7}"/>
              </a:ext>
            </a:extLst>
          </p:cNvPr>
          <p:cNvSpPr/>
          <p:nvPr/>
        </p:nvSpPr>
        <p:spPr>
          <a:xfrm>
            <a:off x="182880" y="1408175"/>
            <a:ext cx="11795760" cy="5025281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r>
              <a:rPr lang="en-US" altLang="ko-KR" dirty="0"/>
              <a:t>Must</a:t>
            </a:r>
            <a:r>
              <a:rPr lang="ko-KR" altLang="en-US" dirty="0"/>
              <a:t> </a:t>
            </a:r>
            <a:r>
              <a:rPr lang="en-US" altLang="ko-KR" dirty="0"/>
              <a:t>Have</a:t>
            </a:r>
          </a:p>
          <a:p>
            <a:r>
              <a:rPr lang="en-US" altLang="ko-KR" dirty="0"/>
              <a:t>	1. </a:t>
            </a:r>
            <a:r>
              <a:rPr lang="ko-KR" altLang="en-US" dirty="0"/>
              <a:t>지역별 복권 당첨 횟수를 조회할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	2. </a:t>
            </a:r>
            <a:r>
              <a:rPr lang="ko-KR" altLang="en-US" dirty="0"/>
              <a:t>자동 복권 </a:t>
            </a:r>
            <a:r>
              <a:rPr lang="en-US" altLang="ko-KR" dirty="0"/>
              <a:t>1</a:t>
            </a:r>
            <a:r>
              <a:rPr lang="ko-KR" altLang="en-US" dirty="0"/>
              <a:t>등 당첨 횟수가 많은 판매점을 조회할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	3. </a:t>
            </a:r>
            <a:r>
              <a:rPr lang="ko-KR" altLang="en-US" dirty="0"/>
              <a:t>원하는 판매점의 자동 복권 </a:t>
            </a:r>
            <a:r>
              <a:rPr lang="en-US" altLang="ko-KR" dirty="0"/>
              <a:t>1</a:t>
            </a:r>
            <a:r>
              <a:rPr lang="ko-KR" altLang="en-US" dirty="0"/>
              <a:t>등 당첨 횟수를 알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Should</a:t>
            </a:r>
            <a:r>
              <a:rPr lang="ko-KR" altLang="en-US" dirty="0"/>
              <a:t> </a:t>
            </a:r>
            <a:r>
              <a:rPr lang="en-US" altLang="ko-KR" dirty="0"/>
              <a:t>Have</a:t>
            </a:r>
          </a:p>
          <a:p>
            <a:r>
              <a:rPr lang="en-US" altLang="ko-KR" dirty="0"/>
              <a:t>	1. </a:t>
            </a:r>
            <a:r>
              <a:rPr lang="ko-KR" altLang="en-US" dirty="0"/>
              <a:t>분석 결과를 </a:t>
            </a:r>
            <a:r>
              <a:rPr lang="en-US" altLang="ko-KR" dirty="0"/>
              <a:t>CSV </a:t>
            </a:r>
            <a:r>
              <a:rPr lang="ko-KR" altLang="en-US" dirty="0"/>
              <a:t>파일로 다운로드할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	2. </a:t>
            </a:r>
            <a:r>
              <a:rPr lang="ko-KR" altLang="en-US" dirty="0"/>
              <a:t>지역별 자동 복권 </a:t>
            </a:r>
            <a:r>
              <a:rPr lang="en-US" altLang="ko-KR" dirty="0"/>
              <a:t>1</a:t>
            </a:r>
            <a:r>
              <a:rPr lang="ko-KR" altLang="en-US" dirty="0"/>
              <a:t>등 당첨 횟수를 알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B645FAC-B216-72F6-FADD-94549E43171A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AE1E599-3B81-5810-07DA-60F854530287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altLang="ko-KR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FF0E69B-B5C7-7C87-8F7D-D6083BE07788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4008744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EEB85-57A8-FFAA-CA5F-A9AEF89D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66D403A-2425-A9F4-92EB-51568BE55DCF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6EA2A03-C0E8-FB4A-5B8C-E586AF8A6989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6930780-7BDB-1CA3-FB30-335A5A85D78B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FFD16C9-4678-E15B-5E44-56BA86491837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3. </a:t>
            </a: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b="1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65B96CE-3EF2-42BB-D26D-7DDCF194B115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공공데이터 API를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활용한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비가능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요구사항을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많아서 슬라이드가 부족하면 추가해서 진행합니다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.)</a:t>
            </a:r>
            <a:endParaRPr lang="en-US" altLang="ko-KR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D02F2A3-0874-431C-A47C-E1E42C72A21F}"/>
              </a:ext>
            </a:extLst>
          </p:cNvPr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E376E76-EDFA-A628-B599-D92550F5D454}"/>
              </a:ext>
            </a:extLst>
          </p:cNvPr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59B09326-88B7-18C1-375A-B4B966228DAD}"/>
              </a:ext>
            </a:extLst>
          </p:cNvPr>
          <p:cNvSpPr/>
          <p:nvPr/>
        </p:nvSpPr>
        <p:spPr>
          <a:xfrm>
            <a:off x="182880" y="1408175"/>
            <a:ext cx="11795760" cy="5025281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r>
              <a:rPr lang="ko-KR" altLang="en-US" dirty="0"/>
              <a:t>응답시간 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	3</a:t>
            </a:r>
            <a:r>
              <a:rPr lang="ko-KR" altLang="en-US" dirty="0"/>
              <a:t>초 이내  </a:t>
            </a:r>
            <a:r>
              <a:rPr lang="en-US" altLang="ko-KR" dirty="0"/>
              <a:t>(</a:t>
            </a:r>
            <a:r>
              <a:rPr lang="ko-KR" altLang="en-US" dirty="0" err="1"/>
              <a:t>데이터량도</a:t>
            </a:r>
            <a:r>
              <a:rPr lang="ko-KR" altLang="en-US" dirty="0"/>
              <a:t> 많지 않고</a:t>
            </a:r>
            <a:r>
              <a:rPr lang="en-US" altLang="ko-KR" dirty="0"/>
              <a:t>, </a:t>
            </a:r>
            <a:r>
              <a:rPr lang="ko-KR" altLang="en-US" dirty="0"/>
              <a:t>주에 </a:t>
            </a:r>
            <a:r>
              <a:rPr lang="en-US" altLang="ko-KR" dirty="0"/>
              <a:t>1</a:t>
            </a:r>
            <a:r>
              <a:rPr lang="ko-KR" altLang="en-US" dirty="0"/>
              <a:t>회 변동사항이 생기기 때문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처리량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	10,000</a:t>
            </a:r>
            <a:r>
              <a:rPr lang="ko-KR" altLang="en-US" dirty="0"/>
              <a:t>건</a:t>
            </a:r>
            <a:r>
              <a:rPr lang="en-US" altLang="ko-KR" dirty="0"/>
              <a:t>/</a:t>
            </a:r>
            <a:r>
              <a:rPr lang="ko-KR" altLang="en-US" dirty="0"/>
              <a:t>일 </a:t>
            </a:r>
            <a:r>
              <a:rPr lang="en-US" altLang="ko-KR" dirty="0"/>
              <a:t> (</a:t>
            </a:r>
            <a:r>
              <a:rPr lang="ko-KR" altLang="en-US" dirty="0"/>
              <a:t>특정 요일에 인원이 몰릴 것으로 예상됨</a:t>
            </a:r>
            <a:r>
              <a:rPr lang="en-US" altLang="ko-KR" dirty="0"/>
              <a:t>, </a:t>
            </a:r>
            <a:r>
              <a:rPr lang="ko-KR" altLang="en-US" dirty="0"/>
              <a:t>복권 구매자 대상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가용성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	99%  (</a:t>
            </a:r>
            <a:r>
              <a:rPr lang="ko-KR" altLang="en-US" dirty="0"/>
              <a:t>단순 자동 복권의 </a:t>
            </a:r>
            <a:r>
              <a:rPr lang="en-US" altLang="ko-KR" dirty="0"/>
              <a:t>1</a:t>
            </a:r>
            <a:r>
              <a:rPr lang="ko-KR" altLang="en-US" dirty="0"/>
              <a:t>등 당첨 횟수를 알려주는 것이라 작동이 안 되더라도 문제가 되지 않음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데이터 갱신 주기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	1</a:t>
            </a:r>
            <a:r>
              <a:rPr lang="ko-KR" altLang="en-US" dirty="0"/>
              <a:t>주 </a:t>
            </a:r>
            <a:r>
              <a:rPr lang="en-US" altLang="ko-KR" dirty="0"/>
              <a:t>1</a:t>
            </a:r>
            <a:r>
              <a:rPr lang="ko-KR" altLang="en-US" dirty="0"/>
              <a:t>회</a:t>
            </a:r>
            <a:r>
              <a:rPr lang="en-US" altLang="ko-KR" dirty="0"/>
              <a:t>	(</a:t>
            </a:r>
            <a:r>
              <a:rPr lang="ko-KR" altLang="en-US" dirty="0"/>
              <a:t>주에 </a:t>
            </a:r>
            <a:r>
              <a:rPr lang="en-US" altLang="ko-KR" dirty="0"/>
              <a:t> 1</a:t>
            </a:r>
            <a:r>
              <a:rPr lang="ko-KR" altLang="en-US" dirty="0"/>
              <a:t>회 발표되는 복권의 특성상 갱신 주기도 </a:t>
            </a:r>
            <a:r>
              <a:rPr lang="en-US" altLang="ko-KR" dirty="0"/>
              <a:t>1</a:t>
            </a:r>
            <a:r>
              <a:rPr lang="ko-KR" altLang="en-US" dirty="0"/>
              <a:t>주에 </a:t>
            </a:r>
            <a:r>
              <a:rPr lang="en-US" altLang="ko-KR" dirty="0"/>
              <a:t>1</a:t>
            </a:r>
            <a:r>
              <a:rPr lang="ko-KR" altLang="en-US" dirty="0"/>
              <a:t>회 필요 </a:t>
            </a:r>
            <a:r>
              <a:rPr lang="en-US" altLang="ko-KR" dirty="0"/>
              <a:t>)</a:t>
            </a: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4FFFFE6-1463-9D3D-421E-876A78C49783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984BB34-C503-BCFA-7787-990B1A7F40FA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altLang="ko-KR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A412FB0-3CC2-964B-79BE-F0F099F91C7D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4142782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8F0D8-3BE1-B9CD-15CC-E68BCC3AC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CA0BDCB-EF3D-C980-55E8-E72D489F8033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7E3791C-E5C8-A9A3-FF97-3AF15C0D242B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DDFF0A2-26FA-A614-F5E2-6E5772F20286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FF8D7E1-ABD2-5312-AA12-E8183410502E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4. </a:t>
            </a: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흐름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D6B201B-A378-A8B0-A0ED-71CC073ACAD2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공공데이터 API를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활용한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흐름을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많아서 슬라이드가 부족하면 추가해서 진행합니다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.)</a:t>
            </a:r>
            <a:endParaRPr lang="en-US" altLang="ko-KR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C13372F-2D2A-1A89-2660-E530AE368182}"/>
              </a:ext>
            </a:extLst>
          </p:cNvPr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1E5CC28-ECD1-CE49-2573-0F056C08FCB2}"/>
              </a:ext>
            </a:extLst>
          </p:cNvPr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9C4324C-A067-B51C-D7AB-5B0CD212CC2E}"/>
              </a:ext>
            </a:extLst>
          </p:cNvPr>
          <p:cNvSpPr/>
          <p:nvPr/>
        </p:nvSpPr>
        <p:spPr>
          <a:xfrm>
            <a:off x="182880" y="1408175"/>
            <a:ext cx="11795760" cy="5025281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552300F4-2B7E-6517-BBF9-EB3834AFE3DE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F907DEE-EFF5-02BB-F734-1D12AFD18E3D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altLang="ko-KR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BF888D2-84A6-79D5-FB2A-E4032D22A428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B7A0BE7-8E14-402C-A8CE-F486CAB7A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88" y="1353312"/>
            <a:ext cx="5721292" cy="236648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19252B7-69BA-469C-BE21-AE23D625B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725" y="1230465"/>
            <a:ext cx="5711315" cy="261797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EF52E4E-6AD6-4939-9233-7753C93049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" y="3719800"/>
            <a:ext cx="6217656" cy="2832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945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7E299-EECC-161F-1E2C-C8D5CFFE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0155508-B1A4-35AC-1C1A-8B8642811419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2B41FA6-8DE3-8055-4E59-F326547C9DAE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6E83824-D5F3-5C9B-7C1B-C440343CA75E}"/>
              </a:ext>
            </a:extLst>
          </p:cNvPr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94BB624-2F7A-FACB-5815-5F7AC26A16DE}"/>
              </a:ext>
            </a:extLst>
          </p:cNvPr>
          <p:cNvSpPr/>
          <p:nvPr/>
        </p:nvSpPr>
        <p:spPr>
          <a:xfrm>
            <a:off x="274320" y="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📝</a:t>
            </a:r>
            <a:r>
              <a:rPr lang="en-US" altLang="ko-KR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5. </a:t>
            </a:r>
            <a:r>
              <a:rPr lang="ko-KR" altLang="en-US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관리</a:t>
            </a:r>
            <a:endParaRPr lang="en-US" sz="18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8AC6C95-B234-8C1D-B61F-BE7BF3D527AA}"/>
              </a:ext>
            </a:extLst>
          </p:cNvPr>
          <p:cNvSpPr/>
          <p:nvPr/>
        </p:nvSpPr>
        <p:spPr>
          <a:xfrm>
            <a:off x="274320" y="658368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선택한 공공데이터 API를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활용한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관리를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50" i="1" dirty="0" err="1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작성하시오</a:t>
            </a:r>
            <a:r>
              <a:rPr 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</a:t>
            </a:r>
            <a:r>
              <a:rPr lang="ko-KR" altLang="en-US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내용이 많아서 슬라이드가 부족하면 추가해서 진행합니다</a:t>
            </a:r>
            <a:r>
              <a:rPr lang="en-US" altLang="ko-KR" sz="11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.)</a:t>
            </a:r>
            <a:endParaRPr lang="en-US" altLang="ko-KR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49369B1-9837-2629-5DA3-26E568056BA2}"/>
              </a:ext>
            </a:extLst>
          </p:cNvPr>
          <p:cNvSpPr/>
          <p:nvPr/>
        </p:nvSpPr>
        <p:spPr>
          <a:xfrm>
            <a:off x="182880" y="1005840"/>
            <a:ext cx="11795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65F17D2-B52F-9B7F-2136-961DEB01BEBD}"/>
              </a:ext>
            </a:extLst>
          </p:cNvPr>
          <p:cNvSpPr/>
          <p:nvPr/>
        </p:nvSpPr>
        <p:spPr>
          <a:xfrm>
            <a:off x="274320" y="1005840"/>
            <a:ext cx="5623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프로젝트 개요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9D5B606-A75E-0CC2-3E24-AB5B16ACB190}"/>
              </a:ext>
            </a:extLst>
          </p:cNvPr>
          <p:cNvSpPr/>
          <p:nvPr/>
        </p:nvSpPr>
        <p:spPr>
          <a:xfrm>
            <a:off x="182880" y="1408175"/>
            <a:ext cx="11795760" cy="5025281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lgDash"/>
          </a:ln>
        </p:spPr>
        <p:txBody>
          <a:bodyPr/>
          <a:lstStyle/>
          <a:p>
            <a:r>
              <a:rPr lang="ko-KR" altLang="en-US" dirty="0"/>
              <a:t>개인정보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	</a:t>
            </a:r>
            <a:r>
              <a:rPr lang="ko-KR" altLang="en-US" dirty="0"/>
              <a:t>해당 여부</a:t>
            </a:r>
            <a:r>
              <a:rPr lang="en-US" altLang="ko-KR" dirty="0"/>
              <a:t> : </a:t>
            </a:r>
            <a:r>
              <a:rPr lang="ko-KR" altLang="en-US" dirty="0"/>
              <a:t>없음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품질 기준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	</a:t>
            </a:r>
            <a:r>
              <a:rPr lang="ko-KR" altLang="en-US" dirty="0" err="1"/>
              <a:t>결측치</a:t>
            </a:r>
            <a:r>
              <a:rPr lang="ko-KR" altLang="en-US" dirty="0"/>
              <a:t> 허용 비율</a:t>
            </a:r>
            <a:r>
              <a:rPr lang="en-US" altLang="ko-KR" dirty="0"/>
              <a:t>: </a:t>
            </a:r>
            <a:r>
              <a:rPr lang="ko-KR" altLang="en-US" dirty="0"/>
              <a:t>허용 비율 </a:t>
            </a:r>
            <a:r>
              <a:rPr lang="en-US" altLang="ko-KR" dirty="0"/>
              <a:t>1% </a:t>
            </a:r>
            <a:r>
              <a:rPr lang="ko-KR" altLang="en-US" dirty="0"/>
              <a:t>이하</a:t>
            </a:r>
            <a:r>
              <a:rPr lang="en-US" altLang="ko-KR" dirty="0"/>
              <a:t>, </a:t>
            </a:r>
            <a:r>
              <a:rPr lang="ko-KR" altLang="en-US" dirty="0"/>
              <a:t>초과 시 해당 행 제거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중복 데이터 기준</a:t>
            </a:r>
            <a:r>
              <a:rPr lang="en-US" altLang="ko-KR" dirty="0"/>
              <a:t>: </a:t>
            </a:r>
            <a:r>
              <a:rPr lang="ko-KR" altLang="en-US" dirty="0"/>
              <a:t>동일한 당첨 횟수 </a:t>
            </a:r>
            <a:r>
              <a:rPr lang="en-US" altLang="ko-KR" dirty="0"/>
              <a:t>2</a:t>
            </a:r>
            <a:r>
              <a:rPr lang="ko-KR" altLang="en-US" dirty="0"/>
              <a:t>회 이상 수집  </a:t>
            </a:r>
            <a:r>
              <a:rPr lang="en-US" altLang="ko-KR" dirty="0">
                <a:sym typeface="Wingdings" panose="05000000000000000000" pitchFamily="2" charset="2"/>
              </a:rPr>
              <a:t> (</a:t>
            </a:r>
            <a:r>
              <a:rPr lang="ko-KR" altLang="en-US" dirty="0">
                <a:sym typeface="Wingdings" panose="05000000000000000000" pitchFamily="2" charset="2"/>
              </a:rPr>
              <a:t>허용 기준 </a:t>
            </a:r>
            <a:r>
              <a:rPr lang="en-US" altLang="ko-KR" dirty="0">
                <a:sym typeface="Wingdings" panose="05000000000000000000" pitchFamily="2" charset="2"/>
              </a:rPr>
              <a:t>0</a:t>
            </a:r>
            <a:r>
              <a:rPr lang="ko-KR" altLang="en-US" dirty="0">
                <a:sym typeface="Wingdings" panose="05000000000000000000" pitchFamily="2" charset="2"/>
              </a:rPr>
              <a:t>건 </a:t>
            </a:r>
            <a:r>
              <a:rPr lang="en-US" altLang="ko-KR" dirty="0">
                <a:sym typeface="Wingdings" panose="05000000000000000000" pitchFamily="2" charset="2"/>
              </a:rPr>
              <a:t>: 1</a:t>
            </a:r>
            <a:r>
              <a:rPr lang="ko-KR" altLang="en-US" dirty="0">
                <a:sym typeface="Wingdings" panose="05000000000000000000" pitchFamily="2" charset="2"/>
              </a:rPr>
              <a:t>회를 제회한 횟수 회수 삭제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endParaRPr lang="ko-KR" altLang="en-US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BD069DC-B8F3-A49B-BD2C-B4C7304E7BD7}"/>
              </a:ext>
            </a:extLst>
          </p:cNvPr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6C9F856-C2BE-123C-28FC-F96A0ED4AF9B}"/>
              </a:ext>
            </a:extLst>
          </p:cNvPr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개발자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양성과정</a:t>
            </a:r>
            <a:r>
              <a:rPr lang="en-US" altLang="ko-KR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|  </a:t>
            </a:r>
            <a:r>
              <a:rPr lang="en-US" altLang="ko-KR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요구사항 분석</a:t>
            </a:r>
            <a:endParaRPr lang="en-US" altLang="ko-KR" sz="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5EAA385-73C4-1E4B-958C-691B8D5633A0}"/>
              </a:ext>
            </a:extLst>
          </p:cNvPr>
          <p:cNvSpPr/>
          <p:nvPr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6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4248089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579</Words>
  <Application>Microsoft Office PowerPoint</Application>
  <PresentationFormat>와이드스크린</PresentationFormat>
  <Paragraphs>86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13</cp:revision>
  <dcterms:created xsi:type="dcterms:W3CDTF">2026-03-10T17:23:29Z</dcterms:created>
  <dcterms:modified xsi:type="dcterms:W3CDTF">2026-06-09T01:52:43Z</dcterms:modified>
</cp:coreProperties>
</file>