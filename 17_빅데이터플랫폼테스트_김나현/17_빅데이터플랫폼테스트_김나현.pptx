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72" y="1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테스트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김나현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2026-09-11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kimnahyeon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876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>
              <a:lnSpc>
                <a:spcPct val="140000"/>
              </a:lnSpc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17_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빅데이터플랫폼테스트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성함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포함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zip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 플랫폼 테스트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dirty="0"/>
                <a:t>2001020908_24v3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5E5F4ED-9C00-4582-BA8E-757C55DEE8C9}"/>
              </a:ext>
            </a:extLst>
          </p:cNvPr>
          <p:cNvSpPr txBox="1"/>
          <p:nvPr/>
        </p:nvSpPr>
        <p:spPr>
          <a:xfrm>
            <a:off x="1002631" y="489569"/>
            <a:ext cx="1018673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소프트웨어 테스트를 수행하는 근본적인 목적을 설명할 수 있다</a:t>
            </a:r>
            <a:r>
              <a:rPr lang="en-US" altLang="ko-KR" b="1" dirty="0"/>
              <a:t>.</a:t>
            </a:r>
            <a:endParaRPr lang="ko-KR" altLang="en-US" b="1" dirty="0"/>
          </a:p>
          <a:p>
            <a:endParaRPr lang="ko-KR" altLang="en-US" dirty="0"/>
          </a:p>
          <a:p>
            <a:r>
              <a:rPr lang="ko-KR" altLang="en-US" dirty="0"/>
              <a:t>소프트웨어 테스트의 목적은 프로그램이 요구사항대로 동작하는지 확인하고, 결함을 조기에 발견하여 소프트웨어의 품질과 신뢰성을 높이는 것이다. 테스트는 결함이 전혀 없음을 증명하는 것이 아니라, 숨어 있는 결함을 발견하고 장애 위험을 줄이는 과정이다.</a:t>
            </a:r>
          </a:p>
          <a:p>
            <a:endParaRPr lang="ko-KR" altLang="en-US" dirty="0"/>
          </a:p>
          <a:p>
            <a:r>
              <a:rPr lang="en-US" altLang="ko-KR" b="1" dirty="0"/>
              <a:t>2. </a:t>
            </a:r>
            <a:r>
              <a:rPr lang="ko-KR" altLang="en-US" b="1" dirty="0"/>
              <a:t>단위 테스트와 통합 테스트의 개념 차이를 구분하여 설명할 수 있다</a:t>
            </a:r>
            <a:r>
              <a:rPr lang="en-US" altLang="ko-KR" b="1" dirty="0"/>
              <a:t>.</a:t>
            </a:r>
            <a:endParaRPr lang="ko-KR" altLang="en-US" b="1" dirty="0"/>
          </a:p>
          <a:p>
            <a:endParaRPr lang="ko-KR" altLang="en-US" dirty="0"/>
          </a:p>
          <a:p>
            <a:r>
              <a:rPr lang="ko-KR" altLang="en-US" dirty="0"/>
              <a:t>단위 테스트는 함수, 클래스, 모듈처럼 개별 구성요소가 정상적으로 동작하는지 독립적으로 검증하는 테스트이다. </a:t>
            </a:r>
            <a:endParaRPr lang="en-US" altLang="ko-KR" dirty="0"/>
          </a:p>
          <a:p>
            <a:r>
              <a:rPr lang="ko-KR" altLang="en-US" dirty="0"/>
              <a:t>통합 테스트는 여러 구성요소를 연결한 후 구성요소 사이의 인터페이스와 데이터 흐름이 정상적인지 검증하는 테스트이다.</a:t>
            </a:r>
          </a:p>
          <a:p>
            <a:endParaRPr lang="ko-KR" altLang="en-US" dirty="0"/>
          </a:p>
          <a:p>
            <a:r>
              <a:rPr lang="en-US" altLang="ko-KR" b="1" dirty="0"/>
              <a:t>3. </a:t>
            </a:r>
            <a:r>
              <a:rPr lang="ko-KR" altLang="en-US" b="1" dirty="0"/>
              <a:t>성능 테스트가 무엇을 확인하기 위한 테스트인지 설명할 수 있다</a:t>
            </a:r>
            <a:r>
              <a:rPr lang="en-US" altLang="ko-KR" b="1" dirty="0"/>
              <a:t>.</a:t>
            </a:r>
            <a:endParaRPr lang="ko-KR" altLang="en-US" b="1" dirty="0"/>
          </a:p>
          <a:p>
            <a:endParaRPr lang="ko-KR" altLang="en-US" dirty="0"/>
          </a:p>
          <a:p>
            <a:r>
              <a:rPr lang="ko-KR" altLang="en-US" dirty="0"/>
              <a:t>성능 테스트는 일정한 사용자 수나 </a:t>
            </a:r>
            <a:r>
              <a:rPr lang="ko-KR" altLang="en-US" dirty="0" err="1"/>
              <a:t>요청량이</a:t>
            </a:r>
            <a:r>
              <a:rPr lang="ko-KR" altLang="en-US" dirty="0"/>
              <a:t> 발생했을 때 시스템의 응답속도, 처리량, 자원 사용량, 안정성 등이 기준을 만족하는지 확인하는 테스트이다. 이를 통해 병목 구간을 발견하고 시스템이 실제 운영 환경의 부하를 견딜 수 있는지 검증한다.</a:t>
            </a:r>
          </a:p>
        </p:txBody>
      </p: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314206-AE0B-4E9B-A659-8C42BCCC9CEB}"/>
              </a:ext>
            </a:extLst>
          </p:cNvPr>
          <p:cNvSpPr txBox="1"/>
          <p:nvPr/>
        </p:nvSpPr>
        <p:spPr>
          <a:xfrm>
            <a:off x="344905" y="612844"/>
            <a:ext cx="1150218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4. Python </a:t>
            </a:r>
            <a:r>
              <a:rPr lang="ko-KR" altLang="en-US" b="1" dirty="0"/>
              <a:t>테스트 코드 작성에 사용하는 대표 프레임워크 이름을 말할 수 있다</a:t>
            </a:r>
            <a:r>
              <a:rPr lang="en-US" altLang="ko-KR" b="1" dirty="0"/>
              <a:t>.</a:t>
            </a:r>
          </a:p>
          <a:p>
            <a:endParaRPr lang="ko-KR" altLang="en-US" dirty="0"/>
          </a:p>
          <a:p>
            <a:r>
              <a:rPr lang="ko-KR" altLang="en-US" dirty="0" err="1"/>
              <a:t>Python의</a:t>
            </a:r>
            <a:r>
              <a:rPr lang="ko-KR" altLang="en-US" dirty="0"/>
              <a:t> 대표적인 테스트 프레임워크로는 </a:t>
            </a:r>
            <a:r>
              <a:rPr lang="ko-KR" altLang="en-US" dirty="0" err="1"/>
              <a:t>pytest와</a:t>
            </a:r>
            <a:r>
              <a:rPr lang="ko-KR" altLang="en-US" dirty="0"/>
              <a:t> 기본 내장 모듈인 </a:t>
            </a:r>
            <a:r>
              <a:rPr lang="ko-KR" altLang="en-US" dirty="0" err="1"/>
              <a:t>unittest가</a:t>
            </a:r>
            <a:r>
              <a:rPr lang="ko-KR" altLang="en-US" dirty="0"/>
              <a:t> 있다. 일반적으로 간결한 문법과 다양한 플러그인을 지원하는 </a:t>
            </a:r>
            <a:r>
              <a:rPr lang="ko-KR" altLang="en-US" dirty="0" err="1"/>
              <a:t>pytest가</a:t>
            </a:r>
            <a:r>
              <a:rPr lang="ko-KR" altLang="en-US" dirty="0"/>
              <a:t> 많이 사용된다.</a:t>
            </a:r>
          </a:p>
          <a:p>
            <a:endParaRPr lang="ko-KR" altLang="en-US" b="1" dirty="0"/>
          </a:p>
          <a:p>
            <a:r>
              <a:rPr lang="en-US" altLang="ko-KR" b="1" dirty="0"/>
              <a:t>5. </a:t>
            </a:r>
            <a:r>
              <a:rPr lang="ko-KR" altLang="en-US" b="1" dirty="0" err="1"/>
              <a:t>FastAPI</a:t>
            </a:r>
            <a:r>
              <a:rPr lang="ko-KR" altLang="en-US" b="1" dirty="0"/>
              <a:t> 엔드 포인트를 서버 구동 없이 테스트하는 방법</a:t>
            </a:r>
            <a:r>
              <a:rPr lang="en-US" altLang="ko-KR" b="1" dirty="0"/>
              <a:t>(</a:t>
            </a:r>
            <a:r>
              <a:rPr lang="ko-KR" altLang="en-US" b="1" dirty="0"/>
              <a:t>도구</a:t>
            </a:r>
            <a:r>
              <a:rPr lang="en-US" altLang="ko-KR" b="1" dirty="0"/>
              <a:t>)</a:t>
            </a:r>
            <a:r>
              <a:rPr lang="ko-KR" altLang="en-US" b="1" dirty="0"/>
              <a:t>을 말할 수 있다</a:t>
            </a:r>
            <a:r>
              <a:rPr lang="en-US" altLang="ko-KR" b="1" dirty="0"/>
              <a:t>.</a:t>
            </a:r>
          </a:p>
          <a:p>
            <a:endParaRPr lang="ko-KR" altLang="en-US" dirty="0"/>
          </a:p>
          <a:p>
            <a:r>
              <a:rPr lang="ko-KR" altLang="en-US" dirty="0" err="1"/>
              <a:t>FastAPI가</a:t>
            </a:r>
            <a:r>
              <a:rPr lang="ko-KR" altLang="en-US" dirty="0"/>
              <a:t> 제공하는 </a:t>
            </a:r>
            <a:r>
              <a:rPr lang="ko-KR" altLang="en-US" dirty="0" err="1"/>
              <a:t>TestClient를</a:t>
            </a:r>
            <a:r>
              <a:rPr lang="ko-KR" altLang="en-US" dirty="0"/>
              <a:t> 사용한다. 실제 서버를 별도로 실행하지 않고도 GET, POST 등의 HTTP 요청을 보내 </a:t>
            </a:r>
            <a:r>
              <a:rPr lang="ko-KR" altLang="en-US" dirty="0" err="1"/>
              <a:t>엔드포인트의</a:t>
            </a:r>
            <a:r>
              <a:rPr lang="ko-KR" altLang="en-US" dirty="0"/>
              <a:t> 응답을 검사할 수 있다.</a:t>
            </a:r>
          </a:p>
          <a:p>
            <a:endParaRPr lang="ko-KR" altLang="en-US" dirty="0"/>
          </a:p>
          <a:p>
            <a:r>
              <a:rPr lang="en-US" altLang="ko-KR" b="1" dirty="0"/>
              <a:t>6. </a:t>
            </a:r>
            <a:r>
              <a:rPr lang="ko-KR" altLang="en-US" b="1" dirty="0"/>
              <a:t>요청 성공</a:t>
            </a:r>
            <a:r>
              <a:rPr lang="en-US" altLang="ko-KR" b="1" dirty="0"/>
              <a:t>/</a:t>
            </a:r>
            <a:r>
              <a:rPr lang="ko-KR" altLang="en-US" b="1" dirty="0"/>
              <a:t>리소스 없음에 해당하는 </a:t>
            </a:r>
            <a:r>
              <a:rPr lang="en-US" altLang="ko-KR" b="1" dirty="0"/>
              <a:t>HTTP </a:t>
            </a:r>
            <a:r>
              <a:rPr lang="ko-KR" altLang="en-US" b="1" dirty="0"/>
              <a:t>상태 코드를 각각 말할 수 있다</a:t>
            </a:r>
            <a:r>
              <a:rPr lang="en-US" altLang="ko-KR" b="1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요청 성공</a:t>
            </a:r>
            <a:r>
              <a:rPr lang="en-US" altLang="ko-KR" dirty="0"/>
              <a:t>: 200 OK</a:t>
            </a:r>
          </a:p>
          <a:p>
            <a:r>
              <a:rPr lang="ko-KR" altLang="en-US" dirty="0"/>
              <a:t>리소스 없음</a:t>
            </a:r>
            <a:r>
              <a:rPr lang="en-US" altLang="ko-KR" dirty="0"/>
              <a:t>: 404 Not Found</a:t>
            </a:r>
          </a:p>
          <a:p>
            <a:endParaRPr lang="en-US" altLang="ko-KR" dirty="0"/>
          </a:p>
          <a:p>
            <a:r>
              <a:rPr lang="en-US" altLang="ko-KR" b="1" dirty="0"/>
              <a:t>7. </a:t>
            </a:r>
            <a:r>
              <a:rPr lang="ko-KR" altLang="en-US" b="1" dirty="0"/>
              <a:t>테스트 케이스에 반드시 포함되어야 하는 </a:t>
            </a:r>
            <a:r>
              <a:rPr lang="en-US" altLang="ko-KR" b="1" dirty="0"/>
              <a:t>3</a:t>
            </a:r>
            <a:r>
              <a:rPr lang="ko-KR" altLang="en-US" b="1" dirty="0"/>
              <a:t>가지 구성요소를 말할 수 있다</a:t>
            </a:r>
            <a:r>
              <a:rPr lang="en-US" altLang="ko-KR" b="1" dirty="0"/>
              <a:t>.</a:t>
            </a:r>
            <a:endParaRPr lang="ko-KR" altLang="en-US" b="1" dirty="0"/>
          </a:p>
          <a:p>
            <a:endParaRPr lang="en-US" altLang="ko-KR" dirty="0"/>
          </a:p>
          <a:p>
            <a:r>
              <a:rPr lang="ko-KR" altLang="en-US" dirty="0" err="1"/>
              <a:t>입력값</a:t>
            </a:r>
            <a:r>
              <a:rPr lang="ko-KR" altLang="en-US" dirty="0"/>
              <a:t> 및 테스트 조건: 테스트에 사용할 데이터와 사전 조건</a:t>
            </a:r>
          </a:p>
          <a:p>
            <a:r>
              <a:rPr lang="ko-KR" altLang="en-US" dirty="0"/>
              <a:t>실행 절차: 어떤 기능을 어떤 순서로 실행할 것인지</a:t>
            </a:r>
          </a:p>
          <a:p>
            <a:r>
              <a:rPr lang="ko-KR" altLang="en-US" dirty="0"/>
              <a:t>기대 결과: 실행 후 나와야 하는 정상적인 결과</a:t>
            </a:r>
          </a:p>
        </p:txBody>
      </p:sp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D81F90-DD23-4CD7-819E-83665814C7E8}"/>
              </a:ext>
            </a:extLst>
          </p:cNvPr>
          <p:cNvSpPr txBox="1"/>
          <p:nvPr/>
        </p:nvSpPr>
        <p:spPr>
          <a:xfrm>
            <a:off x="866274" y="335845"/>
            <a:ext cx="1087654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8. </a:t>
            </a:r>
            <a:r>
              <a:rPr lang="ko-KR" altLang="en-US" b="1" dirty="0"/>
              <a:t>결함보고서에 포함되어야 할 항목 </a:t>
            </a:r>
            <a:r>
              <a:rPr lang="en-US" altLang="ko-KR" b="1" dirty="0"/>
              <a:t>3</a:t>
            </a:r>
            <a:r>
              <a:rPr lang="ko-KR" altLang="en-US" b="1" dirty="0"/>
              <a:t>가지 이상 말할 수 있다</a:t>
            </a:r>
            <a:r>
              <a:rPr lang="en-US" altLang="ko-KR" b="1" dirty="0"/>
              <a:t>.</a:t>
            </a:r>
            <a:endParaRPr lang="ko-KR" altLang="en-US" b="1" dirty="0"/>
          </a:p>
          <a:p>
            <a:endParaRPr lang="ko-KR" altLang="en-US" dirty="0"/>
          </a:p>
          <a:p>
            <a:r>
              <a:rPr lang="ko-KR" altLang="en-US" dirty="0"/>
              <a:t>결함 제목과 결함 내용</a:t>
            </a:r>
          </a:p>
          <a:p>
            <a:r>
              <a:rPr lang="ko-KR" altLang="en-US" dirty="0"/>
              <a:t>결함 발생 환경</a:t>
            </a:r>
          </a:p>
          <a:p>
            <a:r>
              <a:rPr lang="ko-KR" altLang="en-US" dirty="0"/>
              <a:t>결함 재현 절차</a:t>
            </a:r>
          </a:p>
          <a:p>
            <a:r>
              <a:rPr lang="ko-KR" altLang="en-US" dirty="0"/>
              <a:t>기대 결과와 실제 결과</a:t>
            </a:r>
          </a:p>
          <a:p>
            <a:r>
              <a:rPr lang="ko-KR" altLang="en-US" dirty="0"/>
              <a:t>결함 심각도 및 우선순위</a:t>
            </a:r>
          </a:p>
          <a:p>
            <a:endParaRPr lang="en-US" altLang="ko-KR" dirty="0"/>
          </a:p>
          <a:p>
            <a:r>
              <a:rPr lang="en-US" altLang="ko-KR" b="1" dirty="0"/>
              <a:t>9. CI(</a:t>
            </a:r>
            <a:r>
              <a:rPr lang="ko-KR" altLang="en-US" b="1" dirty="0"/>
              <a:t>지속적 통합</a:t>
            </a:r>
            <a:r>
              <a:rPr lang="en-US" altLang="ko-KR" b="1" dirty="0"/>
              <a:t>)</a:t>
            </a:r>
            <a:r>
              <a:rPr lang="ko-KR" altLang="en-US" b="1" dirty="0"/>
              <a:t>의 개념을 설명할 수 있다</a:t>
            </a:r>
            <a:r>
              <a:rPr lang="en-US" altLang="ko-KR" b="1" dirty="0"/>
              <a:t>.</a:t>
            </a:r>
          </a:p>
          <a:p>
            <a:endParaRPr lang="ko-KR" altLang="en-US" dirty="0"/>
          </a:p>
          <a:p>
            <a:r>
              <a:rPr lang="ko-KR" altLang="en-US" dirty="0" err="1"/>
              <a:t>CI는</a:t>
            </a:r>
            <a:r>
              <a:rPr lang="ko-KR" altLang="en-US" dirty="0"/>
              <a:t> 개발자가 변경한 코드를 공동 저장소에 자주 통합하고, 빌드와 테스트를 자동으로 실행하는 개발 방식이다. 이를 통해 코드 충돌과 결함을 조기에 발견하고 소프트웨어의 품질을 지속적으로 유지할 수 있다.</a:t>
            </a:r>
          </a:p>
          <a:p>
            <a:endParaRPr lang="ko-KR" altLang="en-US" b="1" dirty="0"/>
          </a:p>
          <a:p>
            <a:r>
              <a:rPr lang="en-US" altLang="ko-KR" b="1" dirty="0"/>
              <a:t>10. </a:t>
            </a:r>
            <a:r>
              <a:rPr lang="ko-KR" altLang="en-US" b="1" dirty="0"/>
              <a:t>블랙박스 테스트가 무엇인지 설명할 수 있다</a:t>
            </a:r>
            <a:r>
              <a:rPr lang="en-US" altLang="ko-KR" b="1" dirty="0"/>
              <a:t>.</a:t>
            </a:r>
            <a:endParaRPr lang="ko-KR" altLang="en-US" b="1" dirty="0"/>
          </a:p>
          <a:p>
            <a:endParaRPr lang="ko-KR" altLang="en-US" dirty="0"/>
          </a:p>
          <a:p>
            <a:r>
              <a:rPr lang="ko-KR" altLang="en-US" dirty="0"/>
              <a:t>블랙박스 테스트는 프로그램의 내부 코드나 구현 구조를 확인하지 않고, 요구사항을 기준으로 입력에 대해 올바른 출력이 나오는지 검증하는 테스트이다. 대표적인 기법에는 동등 분할, </a:t>
            </a:r>
            <a:r>
              <a:rPr lang="ko-KR" altLang="en-US" dirty="0" err="1"/>
              <a:t>경계값</a:t>
            </a:r>
            <a:r>
              <a:rPr lang="ko-KR" altLang="en-US" dirty="0"/>
              <a:t> 분석, 결정 테이블 등이 있다.</a:t>
            </a:r>
          </a:p>
        </p:txBody>
      </p:sp>
    </p:spTree>
    <p:extLst>
      <p:ext uri="{BB962C8B-B14F-4D97-AF65-F5344CB8AC3E}">
        <p14:creationId xmlns:p14="http://schemas.microsoft.com/office/powerpoint/2010/main" val="3477806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E531B6B-7044-4061-ADBF-81FC8BE19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86" y="301919"/>
            <a:ext cx="5649113" cy="176237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47C6745-9EC3-4179-929F-936BF0FFA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896" y="2235339"/>
            <a:ext cx="4963218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734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35EB421-59AB-481C-A036-8EF166308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833" y="271899"/>
            <a:ext cx="6893191" cy="1123764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A8B4759-03D1-442F-BD6E-2617B23DFC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284767"/>
              </p:ext>
            </p:extLst>
          </p:nvPr>
        </p:nvGraphicFramePr>
        <p:xfrm>
          <a:off x="838200" y="1781067"/>
          <a:ext cx="10515600" cy="3749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10853">
                  <a:extLst>
                    <a:ext uri="{9D8B030D-6E8A-4147-A177-3AD203B41FA5}">
                      <a16:colId xmlns:a16="http://schemas.microsoft.com/office/drawing/2014/main" val="400050449"/>
                    </a:ext>
                  </a:extLst>
                </a:gridCol>
                <a:gridCol w="7904747">
                  <a:extLst>
                    <a:ext uri="{9D8B030D-6E8A-4147-A177-3AD203B41FA5}">
                      <a16:colId xmlns:a16="http://schemas.microsoft.com/office/drawing/2014/main" val="12397644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작성 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6639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결함 </a:t>
                      </a:r>
                      <a:r>
                        <a:rPr lang="en-US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BUG-home-library-001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528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결함 제목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동일 </a:t>
                      </a:r>
                      <a:r>
                        <a:rPr lang="en-US" altLang="ko-KR"/>
                        <a:t>ISBN </a:t>
                      </a:r>
                      <a:r>
                        <a:rPr lang="ko-KR" altLang="en-US"/>
                        <a:t>도서 재등록 시 </a:t>
                      </a:r>
                      <a:r>
                        <a:rPr lang="en-US" altLang="ko-KR"/>
                        <a:t>409</a:t>
                      </a:r>
                      <a:r>
                        <a:rPr lang="ko-KR" altLang="en-US"/>
                        <a:t>가 아닌 </a:t>
                      </a:r>
                      <a:r>
                        <a:rPr lang="en-US" altLang="ko-KR"/>
                        <a:t>500 </a:t>
                      </a:r>
                      <a:r>
                        <a:rPr lang="ko-KR" altLang="en-US"/>
                        <a:t>오류 발생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7188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재현 절차</a:t>
                      </a:r>
                      <a:r>
                        <a:rPr lang="en-US" altLang="ko-KR" dirty="0"/>
                        <a:t>(3</a:t>
                      </a:r>
                      <a:r>
                        <a:rPr lang="ko-KR" altLang="en-US" dirty="0"/>
                        <a:t>단계 이상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① 도서 등록 </a:t>
                      </a:r>
                      <a:r>
                        <a:rPr lang="en-US" altLang="ko-KR"/>
                        <a:t>API</a:t>
                      </a:r>
                      <a:r>
                        <a:rPr lang="ko-KR" altLang="en-US"/>
                        <a:t>를 실행한다</a:t>
                      </a:r>
                      <a:r>
                        <a:rPr lang="en-US" altLang="ko-KR"/>
                        <a:t>. ② </a:t>
                      </a:r>
                      <a:r>
                        <a:rPr lang="ko-KR" altLang="en-US"/>
                        <a:t>이미 등록된 </a:t>
                      </a:r>
                      <a:r>
                        <a:rPr lang="en-US" altLang="ko-KR"/>
                        <a:t>ISBN</a:t>
                      </a:r>
                      <a:r>
                        <a:rPr lang="ko-KR" altLang="en-US"/>
                        <a:t>을 입력한다</a:t>
                      </a:r>
                      <a:r>
                        <a:rPr lang="en-US" altLang="ko-KR"/>
                        <a:t>. ③ </a:t>
                      </a:r>
                      <a:r>
                        <a:rPr lang="ko-KR" altLang="en-US"/>
                        <a:t>도서 등록 요청을 전송한다</a:t>
                      </a:r>
                      <a:r>
                        <a:rPr lang="en-US" altLang="ko-KR"/>
                        <a:t>. ④ </a:t>
                      </a:r>
                      <a:r>
                        <a:rPr lang="ko-KR" altLang="en-US"/>
                        <a:t>응답 상태 코드와 오류 메시지를 확인한다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109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기대 결과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HTTP </a:t>
                      </a:r>
                      <a:r>
                        <a:rPr lang="ko-KR" altLang="en-US"/>
                        <a:t>상태 코드 </a:t>
                      </a:r>
                      <a:r>
                        <a:rPr lang="en-US" altLang="ko-KR"/>
                        <a:t>409 Conflict</a:t>
                      </a:r>
                      <a:r>
                        <a:rPr lang="ko-KR" altLang="en-US"/>
                        <a:t>와 함께 </a:t>
                      </a:r>
                      <a:r>
                        <a:rPr lang="en-US" altLang="ko-KR"/>
                        <a:t>"</a:t>
                      </a:r>
                      <a:r>
                        <a:rPr lang="ko-KR" altLang="en-US"/>
                        <a:t>이미 등록된 </a:t>
                      </a:r>
                      <a:r>
                        <a:rPr lang="en-US" altLang="ko-KR"/>
                        <a:t>ISBN</a:t>
                      </a:r>
                      <a:r>
                        <a:rPr lang="ko-KR" altLang="en-US"/>
                        <a:t>입니다</a:t>
                      </a:r>
                      <a:r>
                        <a:rPr lang="en-US" altLang="ko-KR"/>
                        <a:t>" </a:t>
                      </a:r>
                      <a:r>
                        <a:rPr lang="ko-KR" altLang="en-US"/>
                        <a:t>메시지가 반환되어야 한다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3319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실제 결과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HTTP </a:t>
                      </a:r>
                      <a:r>
                        <a:rPr lang="ko-KR" altLang="en-US" dirty="0"/>
                        <a:t>상태 코드 </a:t>
                      </a:r>
                      <a:r>
                        <a:rPr lang="en-US" altLang="ko-KR" dirty="0"/>
                        <a:t>500 Internal Server Error</a:t>
                      </a:r>
                      <a:r>
                        <a:rPr lang="ko-KR" altLang="en-US" dirty="0"/>
                        <a:t>와 함께 </a:t>
                      </a:r>
                      <a:r>
                        <a:rPr lang="en-US" altLang="ko-KR" dirty="0"/>
                        <a:t>"</a:t>
                      </a:r>
                      <a:r>
                        <a:rPr lang="ko-KR" altLang="en-US" dirty="0"/>
                        <a:t>서버 오류</a:t>
                      </a:r>
                      <a:r>
                        <a:rPr lang="en-US" altLang="ko-KR" dirty="0"/>
                        <a:t>" </a:t>
                      </a:r>
                      <a:r>
                        <a:rPr lang="ko-KR" altLang="en-US" dirty="0"/>
                        <a:t>메시지가 반환된다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0374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심각도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상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중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하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7050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우선순위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상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중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하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8019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7483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D71530A-35BD-4385-A19A-8D48C3A7B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11" y="212000"/>
            <a:ext cx="7031817" cy="1023242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B957C2F-4461-4013-8E6E-E82F54DDA8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578490"/>
              </p:ext>
            </p:extLst>
          </p:nvPr>
        </p:nvGraphicFramePr>
        <p:xfrm>
          <a:off x="513347" y="2148840"/>
          <a:ext cx="11197390" cy="1737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6949">
                  <a:extLst>
                    <a:ext uri="{9D8B030D-6E8A-4147-A177-3AD203B41FA5}">
                      <a16:colId xmlns:a16="http://schemas.microsoft.com/office/drawing/2014/main" val="1906972752"/>
                    </a:ext>
                  </a:extLst>
                </a:gridCol>
                <a:gridCol w="1147262">
                  <a:extLst>
                    <a:ext uri="{9D8B030D-6E8A-4147-A177-3AD203B41FA5}">
                      <a16:colId xmlns:a16="http://schemas.microsoft.com/office/drawing/2014/main" val="1173727626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983252097"/>
                    </a:ext>
                  </a:extLst>
                </a:gridCol>
                <a:gridCol w="3689684">
                  <a:extLst>
                    <a:ext uri="{9D8B030D-6E8A-4147-A177-3AD203B41FA5}">
                      <a16:colId xmlns:a16="http://schemas.microsoft.com/office/drawing/2014/main" val="1468574350"/>
                    </a:ext>
                  </a:extLst>
                </a:gridCol>
                <a:gridCol w="2626978">
                  <a:extLst>
                    <a:ext uri="{9D8B030D-6E8A-4147-A177-3AD203B41FA5}">
                      <a16:colId xmlns:a16="http://schemas.microsoft.com/office/drawing/2014/main" val="3452987780"/>
                    </a:ext>
                  </a:extLst>
                </a:gridCol>
                <a:gridCol w="1447717">
                  <a:extLst>
                    <a:ext uri="{9D8B030D-6E8A-4147-A177-3AD203B41FA5}">
                      <a16:colId xmlns:a16="http://schemas.microsoft.com/office/drawing/2014/main" val="21392743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err="1"/>
                        <a:t>입력값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기대 결과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실제 결과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Pass/Fail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2884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err="1"/>
                        <a:t>정상값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Abcd12345 (9</a:t>
                      </a:r>
                      <a:r>
                        <a:rPr lang="ko-KR" altLang="en-US"/>
                        <a:t>자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회원가입 성공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회원가입 성공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1784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/>
                        <a:t>경계값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Abcd1234 (8</a:t>
                      </a:r>
                      <a:r>
                        <a:rPr lang="ko-KR" altLang="en-US" dirty="0"/>
                        <a:t>자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회원가입 성공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회원가입 성공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4793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/>
                        <a:t>예외값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Abcd123 (7</a:t>
                      </a:r>
                      <a:r>
                        <a:rPr lang="ko-KR" altLang="en-US" dirty="0"/>
                        <a:t>자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회원가입 실패 및 </a:t>
                      </a:r>
                      <a:r>
                        <a:rPr lang="en-US" altLang="ko-KR"/>
                        <a:t>"</a:t>
                      </a:r>
                      <a:r>
                        <a:rPr lang="ko-KR" altLang="en-US"/>
                        <a:t>비밀번호는 </a:t>
                      </a:r>
                      <a:r>
                        <a:rPr lang="en-US" altLang="ko-KR"/>
                        <a:t>8</a:t>
                      </a:r>
                      <a:r>
                        <a:rPr lang="ko-KR" altLang="en-US"/>
                        <a:t>자 이상이어야 합니다</a:t>
                      </a:r>
                      <a:r>
                        <a:rPr lang="en-US" altLang="ko-KR"/>
                        <a:t>" </a:t>
                      </a:r>
                      <a:r>
                        <a:rPr lang="ko-KR" altLang="en-US"/>
                        <a:t>메시지 반환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회원가입 실패 및 해당 오류 메시지 반환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8052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9312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641</Words>
  <Application>Microsoft Office PowerPoint</Application>
  <PresentationFormat>와이드스크린</PresentationFormat>
  <Paragraphs>94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35</cp:revision>
  <dcterms:created xsi:type="dcterms:W3CDTF">2026-03-10T17:23:29Z</dcterms:created>
  <dcterms:modified xsi:type="dcterms:W3CDTF">2026-09-11T00:43:42Z</dcterms:modified>
</cp:coreProperties>
</file>