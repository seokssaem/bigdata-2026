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B69BFC-E813-4585-AF80-C0F86983F1F7}"/>
              </a:ext>
            </a:extLst>
          </p:cNvPr>
          <p:cNvSpPr txBox="1"/>
          <p:nvPr/>
        </p:nvSpPr>
        <p:spPr>
          <a:xfrm>
            <a:off x="499620" y="331207"/>
            <a:ext cx="115523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연결</a:t>
            </a:r>
          </a:p>
          <a:p>
            <a:r>
              <a:rPr lang="en-US" altLang="ko-KR" dirty="0"/>
              <a:t>config.py</a:t>
            </a:r>
            <a:r>
              <a:rPr lang="ko-KR" altLang="en-US" dirty="0"/>
              <a:t>에서는 환경 변수 또는 기본 </a:t>
            </a:r>
            <a:r>
              <a:rPr lang="en-US" altLang="ko-KR" dirty="0"/>
              <a:t>URL</a:t>
            </a:r>
            <a:r>
              <a:rPr lang="ko-KR" altLang="en-US" dirty="0"/>
              <a:t>을 이용하여 </a:t>
            </a:r>
            <a:r>
              <a:rPr lang="en-US" altLang="ko-KR" dirty="0"/>
              <a:t>PostgreSQL </a:t>
            </a:r>
            <a:r>
              <a:rPr lang="ko-KR" altLang="en-US" dirty="0"/>
              <a:t>접속 정보를 설정한다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database.py</a:t>
            </a:r>
            <a:r>
              <a:rPr lang="ko-KR" altLang="en-US" dirty="0"/>
              <a:t>에서는 </a:t>
            </a:r>
            <a:r>
              <a:rPr lang="en-US" altLang="ko-KR" dirty="0" err="1"/>
              <a:t>SQLAlchemy</a:t>
            </a:r>
            <a:r>
              <a:rPr lang="en-US" altLang="ko-KR" dirty="0"/>
              <a:t> Engine</a:t>
            </a:r>
            <a:r>
              <a:rPr lang="ko-KR" altLang="en-US" dirty="0"/>
              <a:t>을 생성하고 공통적으로 사용하는 데이터베이스 유틸리티 함수를 제공한다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주요 기능은 다음과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PostgreSQL </a:t>
            </a:r>
            <a:r>
              <a:rPr lang="ko-KR" altLang="en-US" dirty="0"/>
              <a:t>연결</a:t>
            </a:r>
          </a:p>
          <a:p>
            <a:r>
              <a:rPr lang="ko-KR" altLang="en-US" dirty="0"/>
              <a:t>테이블 존재 여부 확인</a:t>
            </a:r>
          </a:p>
          <a:p>
            <a:r>
              <a:rPr lang="ko-KR" altLang="en-US" dirty="0"/>
              <a:t>테이블 행 수 조회</a:t>
            </a:r>
          </a:p>
          <a:p>
            <a:r>
              <a:rPr lang="en-US" altLang="ko-KR" dirty="0"/>
              <a:t>SQL </a:t>
            </a:r>
            <a:r>
              <a:rPr lang="ko-KR" altLang="en-US" dirty="0"/>
              <a:t>스크립트 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DA9A3C-DE27-4386-B2E0-20A760C3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94" y="3245184"/>
            <a:ext cx="3848637" cy="16956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9878D5-584E-40A5-AB2D-2C582D27C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55" y="3188025"/>
            <a:ext cx="5849166" cy="1810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406752-876A-44F7-9A83-592671A7EFB3}"/>
              </a:ext>
            </a:extLst>
          </p:cNvPr>
          <p:cNvSpPr txBox="1"/>
          <p:nvPr/>
        </p:nvSpPr>
        <p:spPr>
          <a:xfrm>
            <a:off x="1937857" y="4907531"/>
            <a:ext cx="106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Config.py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BA5ED6-F2E7-431E-8C11-431D99247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21" y="321715"/>
            <a:ext cx="7282766" cy="5970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0CB62C-3B1F-4B1C-98D7-A90C28B12DA7}"/>
              </a:ext>
            </a:extLst>
          </p:cNvPr>
          <p:cNvSpPr txBox="1"/>
          <p:nvPr/>
        </p:nvSpPr>
        <p:spPr>
          <a:xfrm>
            <a:off x="8296712" y="964734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행 수 조회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53E97-FA43-4CE9-AF75-25BA29701EEA}"/>
              </a:ext>
            </a:extLst>
          </p:cNvPr>
          <p:cNvSpPr txBox="1"/>
          <p:nvPr/>
        </p:nvSpPr>
        <p:spPr>
          <a:xfrm>
            <a:off x="8410027" y="4798394"/>
            <a:ext cx="2034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SQL </a:t>
            </a:r>
            <a:r>
              <a:rPr lang="ko-KR" altLang="en-US" dirty="0"/>
              <a:t>스크립트 실행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CC20F-94A1-488F-B129-18935CE89EFC}"/>
              </a:ext>
            </a:extLst>
          </p:cNvPr>
          <p:cNvSpPr txBox="1"/>
          <p:nvPr/>
        </p:nvSpPr>
        <p:spPr>
          <a:xfrm>
            <a:off x="8296712" y="2754089"/>
            <a:ext cx="2845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테이블 존재 여부 확인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F6C1B-334E-45EF-952B-F4AC4C11017E}"/>
              </a:ext>
            </a:extLst>
          </p:cNvPr>
          <p:cNvSpPr txBox="1"/>
          <p:nvPr/>
        </p:nvSpPr>
        <p:spPr>
          <a:xfrm>
            <a:off x="795372" y="492893"/>
            <a:ext cx="107467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배치 처리</a:t>
            </a:r>
          </a:p>
          <a:p>
            <a:endParaRPr lang="ko-KR" altLang="en-US" dirty="0"/>
          </a:p>
          <a:p>
            <a:r>
              <a:rPr lang="ko-KR" altLang="en-US" dirty="0"/>
              <a:t>배치 처리는 전체 기술 데이터를 대상으로 집계 테이블을 생성한다</a:t>
            </a:r>
            <a:r>
              <a:rPr lang="en-US" altLang="ko-KR" dirty="0"/>
              <a:t>. </a:t>
            </a:r>
            <a:r>
              <a:rPr lang="ko-KR" altLang="en-US" dirty="0"/>
              <a:t>데이터 계산은 </a:t>
            </a:r>
            <a:r>
              <a:rPr lang="en-US" altLang="ko-KR" dirty="0"/>
              <a:t>Python</a:t>
            </a:r>
            <a:r>
              <a:rPr lang="ko-KR" altLang="en-US" dirty="0"/>
              <a:t>이 아닌 </a:t>
            </a:r>
            <a:r>
              <a:rPr lang="en-US" altLang="ko-KR" dirty="0"/>
              <a:t>PostgreSQL</a:t>
            </a:r>
            <a:r>
              <a:rPr lang="ko-KR" altLang="en-US" dirty="0"/>
              <a:t>에서 수행하도록 구현하여 대용량 데이터 처리 효율을 높였다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생성되는 집계 테이블은 다음과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배치 처리 과정은 다음과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원본 테이블 존재 여부 확인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지역별 집계 생성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진행상태별 집계 생성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처리 완료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C7DD45F4-7B0E-47F4-AB63-3F47D7A59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321825"/>
              </p:ext>
            </p:extLst>
          </p:nvPr>
        </p:nvGraphicFramePr>
        <p:xfrm>
          <a:off x="1016932" y="229791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004">
                  <a:extLst>
                    <a:ext uri="{9D8B030D-6E8A-4147-A177-3AD203B41FA5}">
                      <a16:colId xmlns:a16="http://schemas.microsoft.com/office/drawing/2014/main" val="1061105331"/>
                    </a:ext>
                  </a:extLst>
                </a:gridCol>
                <a:gridCol w="5285996">
                  <a:extLst>
                    <a:ext uri="{9D8B030D-6E8A-4147-A177-3AD203B41FA5}">
                      <a16:colId xmlns:a16="http://schemas.microsoft.com/office/drawing/2014/main" val="2183370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21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tech_region_summary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지역별 기술 수요 건수 및 평균 정보충실도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4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tech_status_summary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진행상태별 기술 수요 건수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2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35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B575B2-BDA7-4E2F-8ECC-9048A87C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62" y="652211"/>
            <a:ext cx="6077798" cy="4848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F4921B-0A70-45E6-879B-0B679AF8AA1C}"/>
              </a:ext>
            </a:extLst>
          </p:cNvPr>
          <p:cNvSpPr txBox="1"/>
          <p:nvPr/>
        </p:nvSpPr>
        <p:spPr>
          <a:xfrm>
            <a:off x="7321491" y="355405"/>
            <a:ext cx="4314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지역별 집계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지역별 기술을 분류하고 정보충실도의 평균을 계산한다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1AE557-7F3C-490A-A59E-8ECA27FEA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087" y="1555734"/>
            <a:ext cx="3562847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6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D8F457-40EC-40F5-AA81-4CD32034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72" y="305338"/>
            <a:ext cx="4620270" cy="35628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81ECFAF-C482-41DC-B088-42E1DC253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72" y="4494838"/>
            <a:ext cx="2991267" cy="1257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01CD99-5010-4CA7-9D81-9A7981DA7727}"/>
              </a:ext>
            </a:extLst>
          </p:cNvPr>
          <p:cNvSpPr txBox="1"/>
          <p:nvPr/>
        </p:nvSpPr>
        <p:spPr>
          <a:xfrm>
            <a:off x="4511180" y="4494838"/>
            <a:ext cx="6102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원본 테이블 존재 여부 확인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지역별 집계 생성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진행상태별 집계 생성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처리 완료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56C5C-8041-4F23-973F-3286DFC20960}"/>
              </a:ext>
            </a:extLst>
          </p:cNvPr>
          <p:cNvSpPr txBox="1"/>
          <p:nvPr/>
        </p:nvSpPr>
        <p:spPr>
          <a:xfrm>
            <a:off x="5764298" y="513643"/>
            <a:ext cx="6102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진행상태별 집계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진행 상태 별 기술의 개수를 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F33D4C-FF8C-4331-9F56-D05E01763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298" y="1624735"/>
            <a:ext cx="2324424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70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B12ECD-602C-4207-B2F8-9A382B008EA4}"/>
              </a:ext>
            </a:extLst>
          </p:cNvPr>
          <p:cNvSpPr txBox="1"/>
          <p:nvPr/>
        </p:nvSpPr>
        <p:spPr>
          <a:xfrm>
            <a:off x="434407" y="197346"/>
            <a:ext cx="108316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이벤트 처리</a:t>
            </a:r>
          </a:p>
          <a:p>
            <a:endParaRPr lang="ko-KR" altLang="en-US" dirty="0"/>
          </a:p>
          <a:p>
            <a:r>
              <a:rPr lang="ko-KR" altLang="en-US" dirty="0"/>
              <a:t>이벤트 처리는 데이터 품질 관리 및 이상 상황 탐지를 목적으로 수행한다</a:t>
            </a:r>
            <a:r>
              <a:rPr lang="en-US" altLang="ko-KR" dirty="0"/>
              <a:t>. </a:t>
            </a:r>
            <a:r>
              <a:rPr lang="ko-KR" altLang="en-US" dirty="0"/>
              <a:t>조건을 만족하는 데이터를 탐지하여 이벤트 알림 테이블에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구현한 이벤트는 다음과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이벤트 발생 시 다음 정보를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이벤트 종류</a:t>
            </a:r>
          </a:p>
          <a:p>
            <a:r>
              <a:rPr lang="ko-KR" altLang="en-US" dirty="0"/>
              <a:t>* 수요기술번호</a:t>
            </a:r>
          </a:p>
          <a:p>
            <a:r>
              <a:rPr lang="ko-KR" altLang="en-US" dirty="0"/>
              <a:t>* 수요기술명</a:t>
            </a:r>
          </a:p>
          <a:p>
            <a:r>
              <a:rPr lang="ko-KR" altLang="en-US" dirty="0"/>
              <a:t>* 이벤트 상세 내용</a:t>
            </a:r>
          </a:p>
          <a:p>
            <a:r>
              <a:rPr lang="ko-KR" altLang="en-US" dirty="0"/>
              <a:t>* 탐지 시각</a:t>
            </a:r>
          </a:p>
          <a:p>
            <a:endParaRPr lang="ko-KR" altLang="en-US" dirty="0"/>
          </a:p>
          <a:p>
            <a:r>
              <a:rPr lang="ko-KR" altLang="en-US" dirty="0"/>
              <a:t>기존 이벤트를 삭제한 후 다시 생성하는 방식으로 구현하여 동일한 처리를 반복 수행하더라도 결과가 일관되도록 </a:t>
            </a:r>
            <a:r>
              <a:rPr lang="ko-KR" altLang="en-US" dirty="0" err="1"/>
              <a:t>멱등성을</a:t>
            </a:r>
            <a:r>
              <a:rPr lang="ko-KR" altLang="en-US" dirty="0"/>
              <a:t> 보장하였다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733604FE-FC2A-44D7-B4D2-6517457AF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153349"/>
              </p:ext>
            </p:extLst>
          </p:nvPr>
        </p:nvGraphicFramePr>
        <p:xfrm>
          <a:off x="925902" y="2079802"/>
          <a:ext cx="91589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470">
                  <a:extLst>
                    <a:ext uri="{9D8B030D-6E8A-4147-A177-3AD203B41FA5}">
                      <a16:colId xmlns:a16="http://schemas.microsoft.com/office/drawing/2014/main" val="1061105331"/>
                    </a:ext>
                  </a:extLst>
                </a:gridCol>
                <a:gridCol w="5956444">
                  <a:extLst>
                    <a:ext uri="{9D8B030D-6E8A-4147-A177-3AD203B41FA5}">
                      <a16:colId xmlns:a16="http://schemas.microsoft.com/office/drawing/2014/main" val="2183370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21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TECH_FEE_NEGOTIATION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정액기술료</a:t>
                      </a:r>
                      <a:r>
                        <a:rPr lang="ko-KR" altLang="en-US" dirty="0"/>
                        <a:t> 또는 </a:t>
                      </a:r>
                      <a:r>
                        <a:rPr lang="ko-KR" altLang="en-US" dirty="0" err="1"/>
                        <a:t>경상기술료가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'</a:t>
                      </a:r>
                      <a:r>
                        <a:rPr lang="ko-KR" altLang="en-US" dirty="0" err="1"/>
                        <a:t>협의후</a:t>
                      </a:r>
                      <a:r>
                        <a:rPr lang="ko-KR" altLang="en-US" dirty="0"/>
                        <a:t> 결정</a:t>
                      </a:r>
                      <a:r>
                        <a:rPr lang="en-US" altLang="ko-KR" dirty="0"/>
                        <a:t>'</a:t>
                      </a:r>
                      <a:r>
                        <a:rPr lang="ko-KR" altLang="en-US" dirty="0"/>
                        <a:t>인 기술 탐지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4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LOW_INFORMATION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정보충실도가 </a:t>
                      </a:r>
                      <a:r>
                        <a:rPr lang="ko-KR" altLang="en-US" dirty="0" err="1"/>
                        <a:t>임계값</a:t>
                      </a:r>
                      <a:r>
                        <a:rPr lang="ko-KR" altLang="en-US" dirty="0"/>
                        <a:t> 이하인 기술 탐지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2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57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434BAA-864F-4A09-BEC5-4525E6EEC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4" y="1463942"/>
            <a:ext cx="4267796" cy="41820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EC1C8E-7F86-4E63-8D55-02AFEC3C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71" y="909996"/>
            <a:ext cx="4572638" cy="4887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DAD014-2D38-4A44-AFB2-2EE027772C92}"/>
              </a:ext>
            </a:extLst>
          </p:cNvPr>
          <p:cNvSpPr txBox="1"/>
          <p:nvPr/>
        </p:nvSpPr>
        <p:spPr>
          <a:xfrm>
            <a:off x="947956" y="436228"/>
            <a:ext cx="3911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이벤트 처리 결과 저장 테이블 초기화</a:t>
            </a:r>
          </a:p>
        </p:txBody>
      </p:sp>
    </p:spTree>
    <p:extLst>
      <p:ext uri="{BB962C8B-B14F-4D97-AF65-F5344CB8AC3E}">
        <p14:creationId xmlns:p14="http://schemas.microsoft.com/office/powerpoint/2010/main" val="237377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019F21-9EAA-4172-A561-893597B21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0" y="75501"/>
            <a:ext cx="4918310" cy="6358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FF1D8B-25D1-431C-9CC4-B72EA689ADE0}"/>
              </a:ext>
            </a:extLst>
          </p:cNvPr>
          <p:cNvSpPr txBox="1"/>
          <p:nvPr/>
        </p:nvSpPr>
        <p:spPr>
          <a:xfrm>
            <a:off x="5585539" y="494842"/>
            <a:ext cx="607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 err="1"/>
              <a:t>정액기술료</a:t>
            </a:r>
            <a:r>
              <a:rPr lang="ko-KR" altLang="en-US" dirty="0"/>
              <a:t> 또는 </a:t>
            </a:r>
            <a:r>
              <a:rPr lang="ko-KR" altLang="en-US" dirty="0" err="1"/>
              <a:t>경상기술료가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 err="1"/>
              <a:t>협의후</a:t>
            </a:r>
            <a:r>
              <a:rPr lang="ko-KR" altLang="en-US" dirty="0"/>
              <a:t> 결정</a:t>
            </a:r>
            <a:r>
              <a:rPr lang="en-US" altLang="ko-KR" dirty="0"/>
              <a:t>'</a:t>
            </a:r>
            <a:r>
              <a:rPr lang="ko-KR" altLang="en-US" dirty="0"/>
              <a:t>인 기술 탐지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08E6C-B76D-42ED-B0BE-F34ED7B90104}"/>
              </a:ext>
            </a:extLst>
          </p:cNvPr>
          <p:cNvSpPr txBox="1"/>
          <p:nvPr/>
        </p:nvSpPr>
        <p:spPr>
          <a:xfrm>
            <a:off x="5585539" y="5516182"/>
            <a:ext cx="607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이벤트 실행 시간 기록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3BE379-28E7-445D-A54F-91F77816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674" y="1044502"/>
            <a:ext cx="7731915" cy="306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6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24780D-D6B9-42FF-8FF8-3542EF16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98" y="359854"/>
            <a:ext cx="3575829" cy="22992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898803-9557-4396-91C9-A8FFD3D1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8" y="2679460"/>
            <a:ext cx="3735218" cy="3818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A146E-5DC8-4375-8F9B-6E3A2A8BD63C}"/>
              </a:ext>
            </a:extLst>
          </p:cNvPr>
          <p:cNvSpPr txBox="1"/>
          <p:nvPr/>
        </p:nvSpPr>
        <p:spPr>
          <a:xfrm>
            <a:off x="4671139" y="5700848"/>
            <a:ext cx="607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이벤트 실행 시간 기록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15CEC-1D5C-4510-9FEA-0FD1C7CA5293}"/>
              </a:ext>
            </a:extLst>
          </p:cNvPr>
          <p:cNvSpPr txBox="1"/>
          <p:nvPr/>
        </p:nvSpPr>
        <p:spPr>
          <a:xfrm>
            <a:off x="4899171" y="2818701"/>
            <a:ext cx="511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주어진 </a:t>
            </a:r>
            <a:r>
              <a:rPr lang="ko-KR" altLang="en-US" dirty="0" err="1"/>
              <a:t>임계값보다</a:t>
            </a:r>
            <a:r>
              <a:rPr lang="ko-KR" altLang="en-US" dirty="0"/>
              <a:t> 정보 충실도가 작은 기술 탐지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44E0AB9-CDCC-4F3C-B89B-48C06C174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720" y="3278043"/>
            <a:ext cx="7594769" cy="78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2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33E9D4-17B7-4BF5-AE53-C6970356A128}"/>
              </a:ext>
            </a:extLst>
          </p:cNvPr>
          <p:cNvSpPr txBox="1"/>
          <p:nvPr/>
        </p:nvSpPr>
        <p:spPr>
          <a:xfrm>
            <a:off x="6358855" y="553673"/>
            <a:ext cx="54780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결과 검증</a:t>
            </a:r>
          </a:p>
          <a:p>
            <a:endParaRPr lang="ko-KR" altLang="en-US" dirty="0"/>
          </a:p>
          <a:p>
            <a:r>
              <a:rPr lang="ko-KR" altLang="en-US" dirty="0"/>
              <a:t>배치 처리와 이벤트 처리 완료 후 생성된 테이블을 검증한다</a:t>
            </a:r>
            <a:r>
              <a:rPr lang="en-US" altLang="ko-KR" dirty="0"/>
              <a:t>. </a:t>
            </a:r>
            <a:r>
              <a:rPr lang="ko-KR" altLang="en-US" dirty="0"/>
              <a:t>검증 단계에서는 각 테이블의 존재 여부와 데이터 건수를 확인하며</a:t>
            </a:r>
            <a:r>
              <a:rPr lang="en-US" altLang="ko-KR" dirty="0"/>
              <a:t>, </a:t>
            </a:r>
            <a:r>
              <a:rPr lang="ko-KR" altLang="en-US" dirty="0"/>
              <a:t>하나라도 조회에 실패하면 전체 결과를 </a:t>
            </a:r>
            <a:r>
              <a:rPr lang="en-US" altLang="ko-KR" dirty="0"/>
              <a:t>FAIL</a:t>
            </a:r>
            <a:r>
              <a:rPr lang="ko-KR" altLang="en-US" dirty="0"/>
              <a:t>로 판정한다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검증 대상은 다음과 같다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tech_region_summary</a:t>
            </a:r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tech_status_summary</a:t>
            </a:r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missing_fee_event_alerts</a:t>
            </a:r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low_information_event_alerts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DF6FB3-C5FC-44E0-8E84-2AAA8B14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93" y="474991"/>
            <a:ext cx="5873692" cy="60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4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E4C52C-AE1E-4E83-ADBB-589C460D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9" y="1228127"/>
            <a:ext cx="4182059" cy="3562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1771FF-3D67-4F25-9620-E28494F32755}"/>
              </a:ext>
            </a:extLst>
          </p:cNvPr>
          <p:cNvSpPr txBox="1"/>
          <p:nvPr/>
        </p:nvSpPr>
        <p:spPr>
          <a:xfrm>
            <a:off x="5586443" y="293615"/>
            <a:ext cx="56709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처리 흐름</a:t>
            </a:r>
          </a:p>
          <a:p>
            <a:r>
              <a:rPr lang="ko-KR" altLang="en-US" dirty="0"/>
              <a:t>기술은행 데이터</a:t>
            </a:r>
            <a:r>
              <a:rPr lang="en-US" altLang="ko-KR" dirty="0"/>
              <a:t>(tech)</a:t>
            </a:r>
          </a:p>
          <a:p>
            <a:r>
              <a:rPr lang="en-US" altLang="ko-KR" dirty="0"/>
              <a:t>        │</a:t>
            </a:r>
          </a:p>
          <a:p>
            <a:r>
              <a:rPr lang="en-US" altLang="ko-KR" dirty="0"/>
              <a:t>        ▼</a:t>
            </a:r>
          </a:p>
          <a:p>
            <a:r>
              <a:rPr lang="ko-KR" altLang="en-US" dirty="0"/>
              <a:t>원본 테이블 확인</a:t>
            </a:r>
          </a:p>
          <a:p>
            <a:r>
              <a:rPr lang="ko-KR" altLang="en-US" dirty="0"/>
              <a:t>        │</a:t>
            </a:r>
          </a:p>
          <a:p>
            <a:r>
              <a:rPr lang="ko-KR" altLang="en-US" dirty="0"/>
              <a:t>        ▼</a:t>
            </a:r>
          </a:p>
          <a:p>
            <a:r>
              <a:rPr lang="ko-KR" altLang="en-US" dirty="0"/>
              <a:t>배치 처리</a:t>
            </a:r>
          </a:p>
          <a:p>
            <a:r>
              <a:rPr lang="ko-KR" altLang="en-US" dirty="0"/>
              <a:t> ├─ 지역별 집계</a:t>
            </a:r>
          </a:p>
          <a:p>
            <a:r>
              <a:rPr lang="ko-KR" altLang="en-US" dirty="0"/>
              <a:t> └─ 진행상태별 집계</a:t>
            </a:r>
          </a:p>
          <a:p>
            <a:r>
              <a:rPr lang="ko-KR" altLang="en-US" dirty="0"/>
              <a:t>        │</a:t>
            </a:r>
          </a:p>
          <a:p>
            <a:r>
              <a:rPr lang="ko-KR" altLang="en-US" dirty="0"/>
              <a:t>        ▼</a:t>
            </a:r>
          </a:p>
          <a:p>
            <a:r>
              <a:rPr lang="ko-KR" altLang="en-US" dirty="0"/>
              <a:t>이벤트 처리</a:t>
            </a:r>
          </a:p>
          <a:p>
            <a:r>
              <a:rPr lang="ko-KR" altLang="en-US" dirty="0"/>
              <a:t> ├─ 기술료 </a:t>
            </a:r>
            <a:r>
              <a:rPr lang="ko-KR" altLang="en-US" dirty="0" err="1"/>
              <a:t>미기재</a:t>
            </a:r>
            <a:r>
              <a:rPr lang="ko-KR" altLang="en-US" dirty="0"/>
              <a:t> 탐지</a:t>
            </a:r>
          </a:p>
          <a:p>
            <a:r>
              <a:rPr lang="ko-KR" altLang="en-US" dirty="0"/>
              <a:t> └─ 정보충실도 부족 탐지</a:t>
            </a:r>
          </a:p>
          <a:p>
            <a:r>
              <a:rPr lang="ko-KR" altLang="en-US" dirty="0"/>
              <a:t>        │</a:t>
            </a:r>
          </a:p>
          <a:p>
            <a:r>
              <a:rPr lang="ko-KR" altLang="en-US" dirty="0"/>
              <a:t>        ▼</a:t>
            </a:r>
          </a:p>
          <a:p>
            <a:r>
              <a:rPr lang="ko-KR" altLang="en-US" dirty="0"/>
              <a:t>결과 검증</a:t>
            </a:r>
          </a:p>
          <a:p>
            <a:r>
              <a:rPr lang="ko-KR" altLang="en-US" dirty="0"/>
              <a:t>        │</a:t>
            </a:r>
          </a:p>
          <a:p>
            <a:r>
              <a:rPr lang="ko-KR" altLang="en-US" dirty="0"/>
              <a:t>        ▼</a:t>
            </a:r>
          </a:p>
          <a:p>
            <a:r>
              <a:rPr lang="ko-KR" altLang="en-US" dirty="0"/>
              <a:t>처리 완료</a:t>
            </a:r>
          </a:p>
        </p:txBody>
      </p:sp>
    </p:spTree>
    <p:extLst>
      <p:ext uri="{BB962C8B-B14F-4D97-AF65-F5344CB8AC3E}">
        <p14:creationId xmlns:p14="http://schemas.microsoft.com/office/powerpoint/2010/main" val="67733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377DA-684C-4C60-84F0-6379587EA155}"/>
              </a:ext>
            </a:extLst>
          </p:cNvPr>
          <p:cNvSpPr txBox="1"/>
          <p:nvPr/>
        </p:nvSpPr>
        <p:spPr>
          <a:xfrm>
            <a:off x="427839" y="293614"/>
            <a:ext cx="794320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프로젝트 특징</a:t>
            </a:r>
          </a:p>
          <a:p>
            <a:endParaRPr lang="ko-KR" altLang="en-US" dirty="0"/>
          </a:p>
          <a:p>
            <a:r>
              <a:rPr lang="ko-KR" altLang="en-US" dirty="0"/>
              <a:t>* </a:t>
            </a:r>
            <a:r>
              <a:rPr lang="en-US" altLang="ko-KR" dirty="0"/>
              <a:t>PostgreSQL </a:t>
            </a:r>
            <a:r>
              <a:rPr lang="ko-KR" altLang="en-US" dirty="0"/>
              <a:t>기반 배치 처리 구현</a:t>
            </a:r>
          </a:p>
          <a:p>
            <a:r>
              <a:rPr lang="ko-KR" altLang="en-US" dirty="0"/>
              <a:t>* </a:t>
            </a:r>
            <a:r>
              <a:rPr lang="en-US" altLang="ko-KR" dirty="0" err="1"/>
              <a:t>SQLAlchemy</a:t>
            </a:r>
            <a:r>
              <a:rPr lang="ko-KR" altLang="en-US" dirty="0"/>
              <a:t>를 활용한 데이터베이스 연동</a:t>
            </a:r>
          </a:p>
          <a:p>
            <a:r>
              <a:rPr lang="ko-KR" altLang="en-US" dirty="0"/>
              <a:t>* </a:t>
            </a:r>
            <a:r>
              <a:rPr lang="en-US" altLang="ko-KR" dirty="0"/>
              <a:t>SQL </a:t>
            </a:r>
            <a:r>
              <a:rPr lang="ko-KR" altLang="en-US" dirty="0"/>
              <a:t>기반 집계 처리로 대용량 데이터 처리 효율 향상</a:t>
            </a:r>
          </a:p>
          <a:p>
            <a:r>
              <a:rPr lang="ko-KR" altLang="en-US" dirty="0"/>
              <a:t>* 데이터 품질 이상 탐지 이벤트 구현</a:t>
            </a:r>
          </a:p>
          <a:p>
            <a:r>
              <a:rPr lang="ko-KR" altLang="en-US" dirty="0"/>
              <a:t>* </a:t>
            </a:r>
            <a:r>
              <a:rPr lang="ko-KR" altLang="en-US" dirty="0" err="1"/>
              <a:t>멱등성을</a:t>
            </a:r>
            <a:r>
              <a:rPr lang="ko-KR" altLang="en-US" dirty="0"/>
              <a:t> 고려한 이벤트 처리 방식 적용</a:t>
            </a:r>
          </a:p>
          <a:p>
            <a:r>
              <a:rPr lang="ko-KR" altLang="en-US" dirty="0"/>
              <a:t>* 처리 결과 자동 검증 기능 구현</a:t>
            </a:r>
          </a:p>
          <a:p>
            <a:r>
              <a:rPr lang="ko-KR" altLang="en-US" dirty="0"/>
              <a:t>* 데이터 엔지니어링의 </a:t>
            </a:r>
            <a:r>
              <a:rPr lang="en-US" altLang="ko-KR" dirty="0"/>
              <a:t>ETL </a:t>
            </a:r>
            <a:r>
              <a:rPr lang="ko-KR" altLang="en-US" dirty="0"/>
              <a:t>후처리</a:t>
            </a:r>
            <a:r>
              <a:rPr lang="en-US" altLang="ko-KR" dirty="0"/>
              <a:t>(</a:t>
            </a:r>
            <a:r>
              <a:rPr lang="ko-KR" altLang="en-US" dirty="0"/>
              <a:t>집계</a:t>
            </a:r>
            <a:r>
              <a:rPr lang="en-US" altLang="ko-KR" dirty="0"/>
              <a:t>·</a:t>
            </a:r>
            <a:r>
              <a:rPr lang="ko-KR" altLang="en-US" dirty="0"/>
              <a:t>이벤트</a:t>
            </a:r>
            <a:r>
              <a:rPr lang="en-US" altLang="ko-KR" dirty="0"/>
              <a:t>·</a:t>
            </a:r>
            <a:r>
              <a:rPr lang="ko-KR" altLang="en-US" dirty="0"/>
              <a:t>검증</a:t>
            </a:r>
            <a:r>
              <a:rPr lang="en-US" altLang="ko-KR" dirty="0"/>
              <a:t>) </a:t>
            </a:r>
            <a:r>
              <a:rPr lang="ko-KR" altLang="en-US" dirty="0"/>
              <a:t>구조를 반영한 프로젝트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느낀 점</a:t>
            </a:r>
            <a:endParaRPr lang="en-US" altLang="ko-KR" b="0" i="0" dirty="0">
              <a:solidFill>
                <a:srgbClr val="212529"/>
              </a:solidFill>
              <a:effectLst/>
              <a:latin typeface="ChosunGu"/>
            </a:endParaRPr>
          </a:p>
          <a:p>
            <a:r>
              <a:rPr lang="ko-KR" altLang="en-US" dirty="0"/>
              <a:t>* 요구사항에 맞는 집계 테이블을 구성하는 방법에 대한 고민이 많았다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필요한 데이터셋을 추가</a:t>
            </a:r>
            <a:r>
              <a:rPr lang="en-US" altLang="ko-KR" dirty="0"/>
              <a:t>,</a:t>
            </a:r>
            <a:r>
              <a:rPr lang="ko-KR" altLang="en-US" dirty="0"/>
              <a:t> 연결하여 확장하는 방식을 사용해보고자 함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미기재된</a:t>
            </a:r>
            <a:r>
              <a:rPr lang="ko-KR" altLang="en-US" dirty="0"/>
              <a:t> 상태로 제공된 데이터로부터 제공할 수 있는 기능에 대한 고민</a:t>
            </a: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 err="1"/>
              <a:t>협의후</a:t>
            </a:r>
            <a:r>
              <a:rPr lang="ko-KR" altLang="en-US" dirty="0"/>
              <a:t> 결정에 대하여 협의 요청을 발송할 수 있는 기능을 추가할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56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671</Words>
  <Application>Microsoft Office PowerPoint</Application>
  <PresentationFormat>와이드스크린</PresentationFormat>
  <Paragraphs>137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29</cp:revision>
  <dcterms:created xsi:type="dcterms:W3CDTF">2026-03-10T17:23:29Z</dcterms:created>
  <dcterms:modified xsi:type="dcterms:W3CDTF">2026-07-20T07:14:30Z</dcterms:modified>
</cp:coreProperties>
</file>