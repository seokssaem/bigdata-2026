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  <p:sldId id="265" r:id="rId9"/>
    <p:sldId id="261" r:id="rId10"/>
    <p:sldId id="262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모델링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2026-08-04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12_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빅데이터분석모델링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모델링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2001010513_21v1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254E1A-BBDE-4C06-82B1-832B4B56C7BD}"/>
              </a:ext>
            </a:extLst>
          </p:cNvPr>
          <p:cNvSpPr txBox="1"/>
          <p:nvPr/>
        </p:nvSpPr>
        <p:spPr>
          <a:xfrm>
            <a:off x="394282" y="302004"/>
            <a:ext cx="2149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데이터셋 주제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251F1-379E-487C-AE88-4A870A7FF891}"/>
              </a:ext>
            </a:extLst>
          </p:cNvPr>
          <p:cNvSpPr txBox="1"/>
          <p:nvPr/>
        </p:nvSpPr>
        <p:spPr>
          <a:xfrm>
            <a:off x="394282" y="1489005"/>
            <a:ext cx="10324711" cy="323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>
                <a:latin typeface="+mn-ea"/>
              </a:rPr>
              <a:t>데이터 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b="1" dirty="0" err="1">
                <a:latin typeface="+mn-ea"/>
              </a:rPr>
              <a:t>소방청</a:t>
            </a:r>
            <a:r>
              <a:rPr lang="ko-KR" altLang="en-US" b="1" dirty="0">
                <a:latin typeface="+mn-ea"/>
              </a:rPr>
              <a:t> 화재 발생 정보</a:t>
            </a: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n-ea"/>
              </a:rPr>
              <a:t>원본 파일 컬럼 </a:t>
            </a:r>
            <a:r>
              <a:rPr lang="en-US" altLang="ko-KR" sz="1500" dirty="0">
                <a:latin typeface="+mn-ea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[‘</a:t>
            </a:r>
            <a:r>
              <a:rPr lang="ko-KR" altLang="en-US" sz="1500" i="0" dirty="0" err="1">
                <a:effectLst/>
                <a:latin typeface="+mn-ea"/>
              </a:rPr>
              <a:t>화재발생년원일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시도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 err="1">
                <a:effectLst/>
                <a:latin typeface="+mn-ea"/>
              </a:rPr>
              <a:t>시군구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화재유형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 err="1">
                <a:effectLst/>
                <a:latin typeface="+mn-ea"/>
              </a:rPr>
              <a:t>발화요인대분류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 err="1">
                <a:effectLst/>
                <a:latin typeface="+mn-ea"/>
              </a:rPr>
              <a:t>발화요인소분류</a:t>
            </a:r>
            <a:r>
              <a:rPr lang="en-US" altLang="ko-KR" sz="1500" i="0" dirty="0">
                <a:effectLst/>
                <a:latin typeface="+mn-ea"/>
              </a:rPr>
              <a:t>’, </a:t>
            </a:r>
            <a:r>
              <a:rPr lang="ko-KR" altLang="en-US" sz="1500" i="0" dirty="0">
                <a:effectLst/>
                <a:latin typeface="+mn-ea"/>
              </a:rPr>
              <a:t> </a:t>
            </a:r>
            <a:r>
              <a:rPr lang="en-US" altLang="ko-KR" sz="1500" i="0" dirty="0">
                <a:effectLst/>
                <a:latin typeface="+mn-ea"/>
              </a:rPr>
              <a:t>‘</a:t>
            </a:r>
            <a:r>
              <a:rPr lang="ko-KR" altLang="en-US" sz="1500" i="0" dirty="0">
                <a:effectLst/>
                <a:latin typeface="+mn-ea"/>
              </a:rPr>
              <a:t>인명피해</a:t>
            </a:r>
            <a:r>
              <a:rPr lang="en-US" altLang="ko-KR" sz="1500" i="0" dirty="0">
                <a:effectLst/>
                <a:latin typeface="+mn-ea"/>
              </a:rPr>
              <a:t>(</a:t>
            </a:r>
            <a:r>
              <a:rPr lang="ko-KR" altLang="en-US" sz="1500" i="0" dirty="0">
                <a:effectLst/>
                <a:latin typeface="+mn-ea"/>
              </a:rPr>
              <a:t>명</a:t>
            </a:r>
            <a:r>
              <a:rPr lang="en-US" altLang="ko-KR" sz="1500" i="0" dirty="0">
                <a:effectLst/>
                <a:latin typeface="+mn-ea"/>
              </a:rPr>
              <a:t>)</a:t>
            </a:r>
            <a:r>
              <a:rPr lang="ko-KR" altLang="en-US" sz="1500" i="0" dirty="0">
                <a:effectLst/>
                <a:latin typeface="+mn-ea"/>
              </a:rPr>
              <a:t>소계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사망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부상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 err="1">
                <a:effectLst/>
                <a:latin typeface="+mn-ea"/>
              </a:rPr>
              <a:t>재산피해소계</a:t>
            </a:r>
            <a:r>
              <a:rPr lang="en-US" altLang="ko-KR" sz="1500" i="0" dirty="0">
                <a:effectLst/>
                <a:latin typeface="+mn-ea"/>
              </a:rPr>
              <a:t>’</a:t>
            </a:r>
            <a:r>
              <a:rPr lang="en-US" altLang="ko-KR" sz="1500" dirty="0">
                <a:latin typeface="+mn-ea"/>
              </a:rPr>
              <a:t>,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‘</a:t>
            </a:r>
            <a:r>
              <a:rPr lang="ko-KR" altLang="en-US" sz="1500" i="0" dirty="0">
                <a:effectLst/>
                <a:latin typeface="+mn-ea"/>
              </a:rPr>
              <a:t>부동산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동산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장소대분류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 err="1">
                <a:effectLst/>
                <a:latin typeface="+mn-ea"/>
              </a:rPr>
              <a:t>장소중분류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 err="1">
                <a:effectLst/>
                <a:latin typeface="+mn-ea"/>
              </a:rPr>
              <a:t>장소소분류</a:t>
            </a:r>
            <a:r>
              <a:rPr lang="en-US" altLang="ko-KR" sz="1500" i="0" dirty="0">
                <a:effectLst/>
                <a:latin typeface="+mn-ea"/>
              </a:rPr>
              <a:t>’]</a:t>
            </a:r>
          </a:p>
          <a:p>
            <a:pPr lvl="1">
              <a:lnSpc>
                <a:spcPct val="150000"/>
              </a:lnSpc>
            </a:pPr>
            <a:endParaRPr lang="en-US" altLang="ko-KR" sz="1500" i="0" dirty="0">
              <a:effectLst/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err="1">
                <a:latin typeface="+mn-ea"/>
              </a:rPr>
              <a:t>전처리</a:t>
            </a:r>
            <a:r>
              <a:rPr lang="ko-KR" altLang="en-US" sz="1500" dirty="0">
                <a:latin typeface="+mn-ea"/>
              </a:rPr>
              <a:t> 후 컬럼 </a:t>
            </a:r>
            <a:r>
              <a:rPr lang="en-US" altLang="ko-KR" sz="1500" dirty="0">
                <a:latin typeface="+mn-ea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[</a:t>
            </a:r>
            <a:r>
              <a:rPr lang="en-US" altLang="ko-KR" sz="1500" i="0" dirty="0">
                <a:effectLst/>
                <a:latin typeface="+mn-ea"/>
              </a:rPr>
              <a:t>‘</a:t>
            </a:r>
            <a:r>
              <a:rPr lang="ko-KR" altLang="en-US" sz="1500" i="0" dirty="0">
                <a:effectLst/>
                <a:latin typeface="+mn-ea"/>
              </a:rPr>
              <a:t>시도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화재유형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 err="1">
                <a:effectLst/>
                <a:latin typeface="+mn-ea"/>
              </a:rPr>
              <a:t>발화요인대분류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 err="1">
                <a:effectLst/>
                <a:latin typeface="+mn-ea"/>
              </a:rPr>
              <a:t>발화요인소분류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장소대분류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인명피해</a:t>
            </a:r>
            <a:r>
              <a:rPr lang="en-US" altLang="ko-KR" sz="1500" i="0" dirty="0">
                <a:effectLst/>
                <a:latin typeface="+mn-ea"/>
              </a:rPr>
              <a:t>_</a:t>
            </a:r>
            <a:r>
              <a:rPr lang="ko-KR" altLang="en-US" sz="1500" i="0" dirty="0">
                <a:effectLst/>
                <a:latin typeface="+mn-ea"/>
              </a:rPr>
              <a:t>발생여부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발생</a:t>
            </a:r>
            <a:r>
              <a:rPr lang="en-US" altLang="ko-KR" sz="1500" i="0" dirty="0">
                <a:effectLst/>
                <a:latin typeface="+mn-ea"/>
              </a:rPr>
              <a:t>_</a:t>
            </a:r>
            <a:r>
              <a:rPr lang="ko-KR" altLang="en-US" sz="1500" i="0" dirty="0">
                <a:effectLst/>
                <a:latin typeface="+mn-ea"/>
              </a:rPr>
              <a:t>월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발생</a:t>
            </a:r>
            <a:r>
              <a:rPr lang="en-US" altLang="ko-KR" sz="1500" i="0" dirty="0">
                <a:effectLst/>
                <a:latin typeface="+mn-ea"/>
              </a:rPr>
              <a:t>_</a:t>
            </a:r>
            <a:r>
              <a:rPr lang="ko-KR" altLang="en-US" sz="1500" dirty="0">
                <a:latin typeface="+mn-ea"/>
              </a:rPr>
              <a:t>시간</a:t>
            </a:r>
            <a:r>
              <a:rPr lang="en-US" altLang="ko-KR" sz="1500" dirty="0">
                <a:latin typeface="+mn-ea"/>
              </a:rPr>
              <a:t>’</a:t>
            </a:r>
            <a:r>
              <a:rPr lang="en-US" altLang="ko-KR" sz="1500" i="0" dirty="0">
                <a:effectLst/>
                <a:latin typeface="+mn-ea"/>
              </a:rPr>
              <a:t>, ‘</a:t>
            </a:r>
            <a:r>
              <a:rPr lang="ko-KR" altLang="en-US" sz="1500" i="0" dirty="0">
                <a:effectLst/>
                <a:latin typeface="+mn-ea"/>
              </a:rPr>
              <a:t>발생</a:t>
            </a:r>
            <a:r>
              <a:rPr lang="en-US" altLang="ko-KR" sz="1500" i="0" dirty="0">
                <a:effectLst/>
                <a:latin typeface="+mn-ea"/>
              </a:rPr>
              <a:t>_</a:t>
            </a:r>
            <a:r>
              <a:rPr lang="ko-KR" altLang="en-US" sz="1500" i="0" dirty="0">
                <a:effectLst/>
                <a:latin typeface="+mn-ea"/>
              </a:rPr>
              <a:t>요일</a:t>
            </a:r>
            <a:r>
              <a:rPr lang="en-US" altLang="ko-KR" sz="1500" i="0" dirty="0">
                <a:effectLst/>
                <a:latin typeface="+mn-ea"/>
              </a:rPr>
              <a:t>’]</a:t>
            </a:r>
            <a:endParaRPr lang="ko-KR" altLang="en-US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3750C8-8490-4550-88C0-C48A3CF2F0CA}"/>
              </a:ext>
            </a:extLst>
          </p:cNvPr>
          <p:cNvSpPr txBox="1"/>
          <p:nvPr/>
        </p:nvSpPr>
        <p:spPr>
          <a:xfrm>
            <a:off x="394282" y="302004"/>
            <a:ext cx="2149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데이터셋 주제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8B23D9-2FDE-4B35-8BA5-A57EB8294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74" y="1092982"/>
            <a:ext cx="7580227" cy="53387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D22649E-501D-448F-895B-502183E6E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044" y="2928937"/>
            <a:ext cx="141922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A228F5-C91A-404F-8187-E93C4CA492FC}"/>
              </a:ext>
            </a:extLst>
          </p:cNvPr>
          <p:cNvSpPr txBox="1"/>
          <p:nvPr/>
        </p:nvSpPr>
        <p:spPr>
          <a:xfrm>
            <a:off x="394282" y="302004"/>
            <a:ext cx="2576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가설 및 문제 정의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8D5C5-5F40-4439-8BC1-0456973CACF8}"/>
              </a:ext>
            </a:extLst>
          </p:cNvPr>
          <p:cNvSpPr txBox="1"/>
          <p:nvPr/>
        </p:nvSpPr>
        <p:spPr>
          <a:xfrm>
            <a:off x="394282" y="1478141"/>
            <a:ext cx="9151864" cy="330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>
                <a:latin typeface="+mn-ea"/>
              </a:rPr>
              <a:t>분석 목적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500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n-ea"/>
              </a:rPr>
              <a:t>화재 발생 시 수집되는 정보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발화요인</a:t>
            </a:r>
            <a:r>
              <a:rPr lang="en-US" altLang="ko-KR" sz="1500" dirty="0">
                <a:latin typeface="+mn-ea"/>
              </a:rPr>
              <a:t>·</a:t>
            </a:r>
            <a:r>
              <a:rPr lang="ko-KR" altLang="en-US" sz="1500" dirty="0">
                <a:latin typeface="+mn-ea"/>
              </a:rPr>
              <a:t>장소</a:t>
            </a:r>
            <a:r>
              <a:rPr lang="en-US" altLang="ko-KR" sz="1500" dirty="0">
                <a:latin typeface="+mn-ea"/>
              </a:rPr>
              <a:t>·</a:t>
            </a:r>
            <a:r>
              <a:rPr lang="ko-KR" altLang="en-US" sz="1500" dirty="0">
                <a:latin typeface="+mn-ea"/>
              </a:rPr>
              <a:t>발생시점</a:t>
            </a:r>
            <a:r>
              <a:rPr lang="en-US" altLang="ko-KR" sz="1500" dirty="0">
                <a:latin typeface="+mn-ea"/>
              </a:rPr>
              <a:t>)</a:t>
            </a:r>
            <a:r>
              <a:rPr lang="ko-KR" altLang="en-US" sz="1500" dirty="0">
                <a:latin typeface="+mn-ea"/>
              </a:rPr>
              <a:t>만으로</a:t>
            </a: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           </a:t>
            </a:r>
            <a:r>
              <a:rPr lang="ko-KR" altLang="en-US" sz="1500" dirty="0">
                <a:latin typeface="+mn-ea"/>
              </a:rPr>
              <a:t>사람이 다치거나 사망하는 인명피해가 발생할 확률을 사전에 예측할 수 있는지 확인한다</a:t>
            </a:r>
            <a:r>
              <a:rPr lang="en-US" altLang="ko-KR" sz="15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>
                <a:latin typeface="+mn-ea"/>
              </a:rPr>
              <a:t>가설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500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n-ea"/>
              </a:rPr>
              <a:t>발화요인과 화재 발생 장소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발생 시간대</a:t>
            </a:r>
            <a:r>
              <a:rPr lang="en-US" altLang="ko-KR" sz="1500" dirty="0">
                <a:latin typeface="+mn-ea"/>
              </a:rPr>
              <a:t>·</a:t>
            </a:r>
            <a:r>
              <a:rPr lang="ko-KR" altLang="en-US" sz="1500" dirty="0">
                <a:latin typeface="+mn-ea"/>
              </a:rPr>
              <a:t>요일</a:t>
            </a:r>
            <a:r>
              <a:rPr lang="en-US" altLang="ko-KR" sz="1500" dirty="0">
                <a:latin typeface="+mn-ea"/>
              </a:rPr>
              <a:t>·</a:t>
            </a:r>
            <a:r>
              <a:rPr lang="ko-KR" altLang="en-US" sz="1500" dirty="0">
                <a:latin typeface="+mn-ea"/>
              </a:rPr>
              <a:t>계절에 따라 인명피해 발생 확률이 달라질 것이다</a:t>
            </a:r>
            <a:r>
              <a:rPr lang="en-US" altLang="ko-KR" sz="1500" dirty="0">
                <a:latin typeface="+mn-ea"/>
              </a:rPr>
              <a:t>.</a:t>
            </a:r>
            <a:endParaRPr lang="ko-KR" altLang="en-US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1D9EA1-A5BF-4CE4-A920-A22BB65C1FF0}"/>
              </a:ext>
            </a:extLst>
          </p:cNvPr>
          <p:cNvSpPr txBox="1"/>
          <p:nvPr/>
        </p:nvSpPr>
        <p:spPr>
          <a:xfrm>
            <a:off x="394282" y="302004"/>
            <a:ext cx="27478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3. </a:t>
            </a:r>
            <a:r>
              <a:rPr lang="ko-KR" altLang="en-US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데이터셋 분할 전략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62574-4CF9-4532-9897-18707354EF0A}"/>
              </a:ext>
            </a:extLst>
          </p:cNvPr>
          <p:cNvSpPr txBox="1"/>
          <p:nvPr/>
        </p:nvSpPr>
        <p:spPr>
          <a:xfrm>
            <a:off x="394282" y="1397675"/>
            <a:ext cx="8328562" cy="260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>
                <a:latin typeface="+mn-ea"/>
              </a:rPr>
              <a:t>변수 설정</a:t>
            </a: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>
                <a:latin typeface="+mn-ea"/>
              </a:rPr>
              <a:t>FEATURES</a:t>
            </a:r>
            <a:r>
              <a:rPr lang="en-US" altLang="ko-KR" sz="1500" dirty="0">
                <a:latin typeface="+mn-ea"/>
              </a:rPr>
              <a:t> = [‘</a:t>
            </a:r>
            <a:r>
              <a:rPr lang="ko-KR" altLang="en-US" sz="1500" i="0" dirty="0">
                <a:effectLst/>
                <a:latin typeface="+mn-ea"/>
              </a:rPr>
              <a:t>시도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 err="1">
                <a:effectLst/>
                <a:latin typeface="+mn-ea"/>
              </a:rPr>
              <a:t>발화요인소분류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장소대분류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발생</a:t>
            </a:r>
            <a:r>
              <a:rPr lang="en-US" altLang="ko-KR" sz="1500" i="0" dirty="0">
                <a:effectLst/>
                <a:latin typeface="+mn-ea"/>
              </a:rPr>
              <a:t>_</a:t>
            </a:r>
            <a:r>
              <a:rPr lang="ko-KR" altLang="en-US" sz="1500" i="0" dirty="0">
                <a:effectLst/>
                <a:latin typeface="+mn-ea"/>
              </a:rPr>
              <a:t>월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발생</a:t>
            </a:r>
            <a:r>
              <a:rPr lang="en-US" altLang="ko-KR" sz="1500" i="0" dirty="0">
                <a:effectLst/>
                <a:latin typeface="+mn-ea"/>
              </a:rPr>
              <a:t>_</a:t>
            </a:r>
            <a:r>
              <a:rPr lang="ko-KR" altLang="en-US" sz="1500" dirty="0">
                <a:latin typeface="+mn-ea"/>
              </a:rPr>
              <a:t>시간</a:t>
            </a:r>
            <a:r>
              <a:rPr lang="en-US" altLang="ko-KR" sz="1500" i="0" dirty="0">
                <a:effectLst/>
                <a:latin typeface="+mn-ea"/>
              </a:rPr>
              <a:t>’, ‘</a:t>
            </a:r>
            <a:r>
              <a:rPr lang="ko-KR" altLang="en-US" sz="1500" i="0" dirty="0">
                <a:effectLst/>
                <a:latin typeface="+mn-ea"/>
              </a:rPr>
              <a:t>발생</a:t>
            </a:r>
            <a:r>
              <a:rPr lang="en-US" altLang="ko-KR" sz="1500" i="0" dirty="0">
                <a:effectLst/>
                <a:latin typeface="+mn-ea"/>
              </a:rPr>
              <a:t>_</a:t>
            </a:r>
            <a:r>
              <a:rPr lang="ko-KR" altLang="en-US" sz="1500" dirty="0">
                <a:latin typeface="+mn-ea"/>
              </a:rPr>
              <a:t>요일</a:t>
            </a:r>
            <a:r>
              <a:rPr lang="en-US" altLang="ko-KR" sz="1500" i="0" dirty="0">
                <a:effectLst/>
                <a:latin typeface="+mn-ea"/>
              </a:rPr>
              <a:t>’]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	- </a:t>
            </a:r>
            <a:r>
              <a:rPr lang="ko-KR" altLang="en-US" sz="1500" dirty="0">
                <a:latin typeface="+mn-ea"/>
              </a:rPr>
              <a:t>범주형 컬럼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i="0" dirty="0">
                <a:effectLst/>
                <a:latin typeface="+mn-ea"/>
              </a:rPr>
              <a:t>시도</a:t>
            </a:r>
            <a:r>
              <a:rPr lang="en-US" altLang="ko-KR" sz="1500" i="0" dirty="0">
                <a:effectLst/>
                <a:latin typeface="+mn-ea"/>
              </a:rPr>
              <a:t>, </a:t>
            </a:r>
            <a:r>
              <a:rPr lang="ko-KR" altLang="en-US" sz="1500" i="0" dirty="0" err="1">
                <a:effectLst/>
                <a:latin typeface="+mn-ea"/>
              </a:rPr>
              <a:t>발화요인소분류</a:t>
            </a:r>
            <a:r>
              <a:rPr lang="en-US" altLang="ko-KR" sz="1500" i="0" dirty="0">
                <a:effectLst/>
                <a:latin typeface="+mn-ea"/>
              </a:rPr>
              <a:t>, </a:t>
            </a:r>
            <a:r>
              <a:rPr lang="ko-KR" altLang="en-US" sz="1500" i="0" dirty="0">
                <a:effectLst/>
                <a:latin typeface="+mn-ea"/>
              </a:rPr>
              <a:t>장소대분류</a:t>
            </a:r>
            <a:r>
              <a:rPr lang="en-US" altLang="ko-KR" sz="1500" i="0" dirty="0">
                <a:effectLst/>
                <a:latin typeface="+mn-ea"/>
              </a:rPr>
              <a:t>): </a:t>
            </a:r>
            <a:r>
              <a:rPr lang="ko-KR" altLang="en-US" sz="1500" i="0" dirty="0" err="1">
                <a:effectLst/>
                <a:latin typeface="+mn-ea"/>
              </a:rPr>
              <a:t>원핫</a:t>
            </a:r>
            <a:r>
              <a:rPr lang="ko-KR" altLang="en-US" sz="1500" i="0" dirty="0">
                <a:effectLst/>
                <a:latin typeface="+mn-ea"/>
              </a:rPr>
              <a:t> 인코딩</a:t>
            </a:r>
            <a:endParaRPr lang="en-US" altLang="ko-KR" sz="150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	- </a:t>
            </a:r>
            <a:r>
              <a:rPr lang="ko-KR" altLang="en-US" sz="1500" dirty="0">
                <a:latin typeface="+mn-ea"/>
              </a:rPr>
              <a:t>수치형 컬럼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i="0" dirty="0">
                <a:effectLst/>
                <a:latin typeface="+mn-ea"/>
              </a:rPr>
              <a:t>발생</a:t>
            </a:r>
            <a:r>
              <a:rPr lang="en-US" altLang="ko-KR" sz="1500" i="0" dirty="0">
                <a:effectLst/>
                <a:latin typeface="+mn-ea"/>
              </a:rPr>
              <a:t>_</a:t>
            </a:r>
            <a:r>
              <a:rPr lang="ko-KR" altLang="en-US" sz="1500" i="0" dirty="0">
                <a:effectLst/>
                <a:latin typeface="+mn-ea"/>
              </a:rPr>
              <a:t>월</a:t>
            </a:r>
            <a:r>
              <a:rPr lang="en-US" altLang="ko-KR" sz="1500" i="0" dirty="0">
                <a:effectLst/>
                <a:latin typeface="+mn-ea"/>
              </a:rPr>
              <a:t>, </a:t>
            </a:r>
            <a:r>
              <a:rPr lang="ko-KR" altLang="en-US" sz="1500" i="0" dirty="0">
                <a:effectLst/>
                <a:latin typeface="+mn-ea"/>
              </a:rPr>
              <a:t>발생</a:t>
            </a:r>
            <a:r>
              <a:rPr lang="en-US" altLang="ko-KR" sz="1500" i="0" dirty="0">
                <a:effectLst/>
                <a:latin typeface="+mn-ea"/>
              </a:rPr>
              <a:t>_</a:t>
            </a:r>
            <a:r>
              <a:rPr lang="ko-KR" altLang="en-US" sz="1500" dirty="0">
                <a:latin typeface="+mn-ea"/>
              </a:rPr>
              <a:t>시간</a:t>
            </a:r>
            <a:r>
              <a:rPr lang="en-US" altLang="ko-KR" sz="1500" i="0" dirty="0">
                <a:effectLst/>
                <a:latin typeface="+mn-ea"/>
              </a:rPr>
              <a:t>, </a:t>
            </a:r>
            <a:r>
              <a:rPr lang="ko-KR" altLang="en-US" sz="1500" i="0" dirty="0">
                <a:effectLst/>
                <a:latin typeface="+mn-ea"/>
              </a:rPr>
              <a:t>발생</a:t>
            </a:r>
            <a:r>
              <a:rPr lang="en-US" altLang="ko-KR" sz="1500" i="0" dirty="0">
                <a:effectLst/>
                <a:latin typeface="+mn-ea"/>
              </a:rPr>
              <a:t>_</a:t>
            </a:r>
            <a:r>
              <a:rPr lang="ko-KR" altLang="en-US" sz="1500" dirty="0">
                <a:latin typeface="+mn-ea"/>
              </a:rPr>
              <a:t>요일</a:t>
            </a:r>
            <a:r>
              <a:rPr lang="en-US" altLang="ko-KR" sz="1500" dirty="0">
                <a:latin typeface="+mn-ea"/>
              </a:rPr>
              <a:t>): </a:t>
            </a:r>
            <a:r>
              <a:rPr lang="ko-KR" altLang="en-US" sz="1500" dirty="0">
                <a:latin typeface="+mn-ea"/>
              </a:rPr>
              <a:t>중앙값 대체 </a:t>
            </a:r>
            <a:r>
              <a:rPr lang="en-US" altLang="ko-KR" sz="1500" dirty="0">
                <a:latin typeface="+mn-ea"/>
              </a:rPr>
              <a:t>+ </a:t>
            </a:r>
            <a:r>
              <a:rPr lang="ko-KR" altLang="en-US" sz="1500" dirty="0">
                <a:latin typeface="+mn-ea"/>
              </a:rPr>
              <a:t>스케일링</a:t>
            </a: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500" i="0" dirty="0">
              <a:effectLst/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>
                <a:latin typeface="+mn-ea"/>
              </a:rPr>
              <a:t>TARGET</a:t>
            </a:r>
            <a:r>
              <a:rPr lang="en-US" altLang="ko-KR" sz="1500" dirty="0">
                <a:latin typeface="+mn-ea"/>
              </a:rPr>
              <a:t> = ‘</a:t>
            </a:r>
            <a:r>
              <a:rPr lang="ko-KR" altLang="en-US" sz="1500" i="0" dirty="0">
                <a:effectLst/>
                <a:latin typeface="+mn-ea"/>
              </a:rPr>
              <a:t>인명피해</a:t>
            </a:r>
            <a:r>
              <a:rPr lang="en-US" altLang="ko-KR" sz="1500" i="0" dirty="0">
                <a:effectLst/>
                <a:latin typeface="+mn-ea"/>
              </a:rPr>
              <a:t>_</a:t>
            </a:r>
            <a:r>
              <a:rPr lang="ko-KR" altLang="en-US" sz="1500" i="0" dirty="0">
                <a:effectLst/>
                <a:latin typeface="+mn-ea"/>
              </a:rPr>
              <a:t>발생여부</a:t>
            </a:r>
            <a:r>
              <a:rPr lang="en-US" altLang="ko-KR" sz="1500" dirty="0">
                <a:latin typeface="+mn-ea"/>
              </a:rPr>
              <a:t>’</a:t>
            </a:r>
            <a:endParaRPr lang="ko-KR" altLang="en-US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7311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6E47F-8CD4-4F94-B0E9-61C3F96F84DC}"/>
              </a:ext>
            </a:extLst>
          </p:cNvPr>
          <p:cNvSpPr txBox="1"/>
          <p:nvPr/>
        </p:nvSpPr>
        <p:spPr>
          <a:xfrm>
            <a:off x="394282" y="302004"/>
            <a:ext cx="27478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3. </a:t>
            </a:r>
            <a:r>
              <a:rPr lang="ko-KR" altLang="en-US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데이터셋 분할 전략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F20D1D-ADCB-48AE-9762-3C36F0DF346A}"/>
              </a:ext>
            </a:extLst>
          </p:cNvPr>
          <p:cNvSpPr txBox="1"/>
          <p:nvPr/>
        </p:nvSpPr>
        <p:spPr>
          <a:xfrm>
            <a:off x="394282" y="1397675"/>
            <a:ext cx="6495689" cy="2956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>
                <a:latin typeface="+mn-ea"/>
              </a:rPr>
              <a:t>데이터셋 분할</a:t>
            </a: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</a:rPr>
              <a:t>Train/Test </a:t>
            </a:r>
            <a:r>
              <a:rPr lang="ko-KR" altLang="en-US" sz="1500" dirty="0">
                <a:latin typeface="+mn-ea"/>
              </a:rPr>
              <a:t>비율 →</a:t>
            </a:r>
            <a:r>
              <a:rPr lang="en-US" altLang="ko-KR" sz="1500" dirty="0">
                <a:latin typeface="+mn-ea"/>
              </a:rPr>
              <a:t> 75:25</a:t>
            </a:r>
            <a:endParaRPr lang="en-US" altLang="ko-KR" sz="150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	- </a:t>
            </a:r>
            <a:r>
              <a:rPr lang="en-US" altLang="ko-KR" sz="1500" dirty="0" err="1">
                <a:latin typeface="+mn-ea"/>
              </a:rPr>
              <a:t>test_size</a:t>
            </a:r>
            <a:r>
              <a:rPr lang="en-US" altLang="ko-KR" sz="1500" dirty="0">
                <a:latin typeface="+mn-ea"/>
              </a:rPr>
              <a:t>=0.25</a:t>
            </a:r>
            <a:endParaRPr lang="en-US" altLang="ko-KR" sz="150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	- stratify=y : </a:t>
            </a:r>
            <a:r>
              <a:rPr lang="ko-KR" altLang="en-US" sz="1500" dirty="0">
                <a:latin typeface="+mn-ea"/>
              </a:rPr>
              <a:t>데이터 쏠림 방지</a:t>
            </a: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500" i="0" dirty="0">
              <a:effectLst/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n-ea"/>
              </a:rPr>
              <a:t>교차검증 불필요</a:t>
            </a:r>
            <a:endParaRPr lang="en-US" altLang="ko-KR" sz="15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	- </a:t>
            </a:r>
            <a:r>
              <a:rPr lang="ko-KR" altLang="en-US" sz="1500" dirty="0">
                <a:latin typeface="+mn-ea"/>
              </a:rPr>
              <a:t>데이터가 </a:t>
            </a:r>
            <a:r>
              <a:rPr lang="en-US" altLang="ko-KR" sz="1500" dirty="0">
                <a:latin typeface="+mn-ea"/>
              </a:rPr>
              <a:t>19</a:t>
            </a:r>
            <a:r>
              <a:rPr lang="ko-KR" altLang="en-US" sz="1500" dirty="0">
                <a:latin typeface="+mn-ea"/>
              </a:rPr>
              <a:t>만 건으로 충분히 크기 때문에 한 번만 나눠도 됨</a:t>
            </a:r>
          </a:p>
        </p:txBody>
      </p:sp>
    </p:spTree>
    <p:extLst>
      <p:ext uri="{BB962C8B-B14F-4D97-AF65-F5344CB8AC3E}">
        <p14:creationId xmlns:p14="http://schemas.microsoft.com/office/powerpoint/2010/main" val="2907073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459264-7339-47FB-8271-86444B76D20D}"/>
              </a:ext>
            </a:extLst>
          </p:cNvPr>
          <p:cNvSpPr txBox="1"/>
          <p:nvPr/>
        </p:nvSpPr>
        <p:spPr>
          <a:xfrm>
            <a:off x="394282" y="302004"/>
            <a:ext cx="1636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4. </a:t>
            </a:r>
            <a:r>
              <a:rPr lang="ko-KR" altLang="en-US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모델 개발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97F47-89E9-4990-AE3C-0CF4387A79E2}"/>
              </a:ext>
            </a:extLst>
          </p:cNvPr>
          <p:cNvSpPr txBox="1"/>
          <p:nvPr/>
        </p:nvSpPr>
        <p:spPr>
          <a:xfrm>
            <a:off x="394282" y="1370354"/>
            <a:ext cx="10224274" cy="2956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>
                <a:latin typeface="+mn-ea"/>
              </a:rPr>
              <a:t>사용 모델 </a:t>
            </a:r>
            <a:r>
              <a:rPr lang="en-US" altLang="ko-KR" b="1" dirty="0">
                <a:latin typeface="+mn-ea"/>
              </a:rPr>
              <a:t>: </a:t>
            </a:r>
            <a:r>
              <a:rPr lang="en-US" altLang="ko-KR" b="1" dirty="0" err="1">
                <a:latin typeface="+mn-ea"/>
              </a:rPr>
              <a:t>RandomForestClassifier</a:t>
            </a: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i="0" dirty="0">
                <a:effectLst/>
                <a:latin typeface="+mn-ea"/>
              </a:rPr>
              <a:t>선정 이유</a:t>
            </a:r>
            <a:endParaRPr lang="en-US" altLang="ko-KR" sz="150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	- </a:t>
            </a:r>
            <a:r>
              <a:rPr lang="ko-KR" altLang="en-US" sz="1500" dirty="0">
                <a:latin typeface="+mn-ea"/>
              </a:rPr>
              <a:t>분석 하려는 데이터는 인명 피해 값이 </a:t>
            </a:r>
            <a:r>
              <a:rPr lang="en-US" altLang="ko-KR" sz="1500" dirty="0">
                <a:latin typeface="+mn-ea"/>
              </a:rPr>
              <a:t>4.4%</a:t>
            </a:r>
            <a:r>
              <a:rPr lang="ko-KR" altLang="en-US" sz="1500" dirty="0">
                <a:latin typeface="+mn-ea"/>
              </a:rPr>
              <a:t>로 불균형하고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범주형 변수가 여러 개 섞여 있는 구조이다</a:t>
            </a:r>
            <a:r>
              <a:rPr lang="en-US" altLang="ko-KR" sz="1500" dirty="0">
                <a:latin typeface="+mn-ea"/>
              </a:rPr>
              <a:t>.</a:t>
            </a:r>
            <a:endParaRPr lang="en-US" altLang="ko-KR" sz="150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	- </a:t>
            </a:r>
            <a:r>
              <a:rPr lang="ko-KR" altLang="en-US" sz="1500" dirty="0">
                <a:latin typeface="+mn-ea"/>
              </a:rPr>
              <a:t>따라서 과적합에 강하고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소수 클래스도 안정적으로 학습할 수 있는 </a:t>
            </a:r>
            <a:r>
              <a:rPr lang="ko-KR" altLang="en-US" sz="1500" dirty="0" err="1">
                <a:latin typeface="+mn-ea"/>
              </a:rPr>
              <a:t>랜덤포레스트</a:t>
            </a:r>
            <a:r>
              <a:rPr lang="ko-KR" altLang="en-US" sz="1500" dirty="0">
                <a:latin typeface="+mn-ea"/>
              </a:rPr>
              <a:t> 분류 모델을 사용한다</a:t>
            </a:r>
            <a:r>
              <a:rPr lang="en-US" altLang="ko-KR" sz="1500" dirty="0">
                <a:latin typeface="+mn-ea"/>
              </a:rPr>
              <a:t>.</a:t>
            </a:r>
            <a:endParaRPr lang="en-US" altLang="ko-KR" sz="150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500" i="0" dirty="0">
              <a:effectLst/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+mn-ea"/>
              </a:rPr>
              <a:t>class_weight</a:t>
            </a:r>
            <a:r>
              <a:rPr lang="en-US" altLang="ko-KR" sz="1500" dirty="0">
                <a:latin typeface="+mn-ea"/>
              </a:rPr>
              <a:t>=‘balanced’</a:t>
            </a:r>
          </a:p>
          <a:p>
            <a:pPr lvl="1"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	- </a:t>
            </a:r>
            <a:r>
              <a:rPr lang="ko-KR" altLang="en-US" sz="1500" dirty="0">
                <a:latin typeface="+mn-ea"/>
              </a:rPr>
              <a:t>데이터 불균형 보정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5DFA96-74AB-4FD7-B50C-9EE9A42A3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99" y="4705198"/>
            <a:ext cx="3079583" cy="106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02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459264-7339-47FB-8271-86444B76D20D}"/>
              </a:ext>
            </a:extLst>
          </p:cNvPr>
          <p:cNvSpPr txBox="1"/>
          <p:nvPr/>
        </p:nvSpPr>
        <p:spPr>
          <a:xfrm>
            <a:off x="394282" y="302004"/>
            <a:ext cx="1636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4. </a:t>
            </a:r>
            <a:r>
              <a:rPr lang="ko-KR" altLang="en-US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모델 개발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D6CC4F-B018-48B4-9699-D6A4A248C588}"/>
              </a:ext>
            </a:extLst>
          </p:cNvPr>
          <p:cNvSpPr txBox="1"/>
          <p:nvPr/>
        </p:nvSpPr>
        <p:spPr>
          <a:xfrm>
            <a:off x="394282" y="1412177"/>
            <a:ext cx="4547976" cy="19174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>
                <a:latin typeface="+mn-ea"/>
              </a:rPr>
              <a:t>예측</a:t>
            </a: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+mn-ea"/>
              </a:rPr>
              <a:t>p</a:t>
            </a:r>
            <a:r>
              <a:rPr lang="en-US" altLang="ko-KR" sz="1500" i="0" dirty="0" err="1">
                <a:effectLst/>
                <a:latin typeface="+mn-ea"/>
              </a:rPr>
              <a:t>redict_proba</a:t>
            </a:r>
            <a:r>
              <a:rPr lang="en-US" altLang="ko-KR" sz="1500" i="0" dirty="0">
                <a:effectLst/>
                <a:latin typeface="+mn-ea"/>
              </a:rPr>
              <a:t>() : </a:t>
            </a:r>
            <a:r>
              <a:rPr lang="ko-KR" altLang="en-US" sz="1500" i="0" dirty="0">
                <a:effectLst/>
                <a:latin typeface="+mn-ea"/>
              </a:rPr>
              <a:t>인명 피해가 발생할 확률</a:t>
            </a:r>
            <a:endParaRPr lang="en-US" altLang="ko-KR" sz="150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	- 0.3</a:t>
            </a:r>
            <a:r>
              <a:rPr lang="ko-KR" altLang="en-US" sz="1500" dirty="0">
                <a:latin typeface="+mn-ea"/>
              </a:rPr>
              <a:t> 이상 → 인명 피해 발생</a:t>
            </a:r>
            <a:r>
              <a:rPr lang="en-US" altLang="ko-KR" sz="1500" dirty="0">
                <a:latin typeface="+mn-ea"/>
              </a:rPr>
              <a:t>(1)</a:t>
            </a:r>
          </a:p>
          <a:p>
            <a:pPr>
              <a:lnSpc>
                <a:spcPct val="150000"/>
              </a:lnSpc>
            </a:pPr>
            <a:r>
              <a:rPr lang="en-US" altLang="ko-KR" sz="1500" i="0" dirty="0">
                <a:effectLst/>
                <a:latin typeface="+mn-ea"/>
              </a:rPr>
              <a:t>	</a:t>
            </a:r>
            <a:r>
              <a:rPr lang="en-US" altLang="ko-KR" sz="1500" dirty="0">
                <a:latin typeface="+mn-ea"/>
              </a:rPr>
              <a:t>- 0.3 </a:t>
            </a:r>
            <a:r>
              <a:rPr lang="ko-KR" altLang="en-US" sz="1500" dirty="0">
                <a:latin typeface="+mn-ea"/>
              </a:rPr>
              <a:t>미만 → 인명 피해 </a:t>
            </a:r>
            <a:r>
              <a:rPr lang="ko-KR" altLang="en-US" sz="1500" dirty="0" err="1">
                <a:latin typeface="+mn-ea"/>
              </a:rPr>
              <a:t>미발생</a:t>
            </a:r>
            <a:r>
              <a:rPr lang="en-US" altLang="ko-KR" sz="1500" dirty="0">
                <a:latin typeface="+mn-ea"/>
              </a:rPr>
              <a:t>(0)</a:t>
            </a:r>
            <a:endParaRPr lang="en-US" altLang="ko-KR" sz="1500" i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6041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30B614-55C4-4E9D-A901-C9031AC14952}"/>
              </a:ext>
            </a:extLst>
          </p:cNvPr>
          <p:cNvSpPr txBox="1"/>
          <p:nvPr/>
        </p:nvSpPr>
        <p:spPr>
          <a:xfrm>
            <a:off x="394282" y="302004"/>
            <a:ext cx="1636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5. </a:t>
            </a:r>
            <a:r>
              <a:rPr lang="ko-KR" altLang="en-US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성능 평가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389A7-65EA-4F4A-A11C-B46AE026CA73}"/>
              </a:ext>
            </a:extLst>
          </p:cNvPr>
          <p:cNvSpPr txBox="1"/>
          <p:nvPr/>
        </p:nvSpPr>
        <p:spPr>
          <a:xfrm>
            <a:off x="394282" y="1397675"/>
            <a:ext cx="4541051" cy="260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>
                <a:latin typeface="+mn-ea"/>
              </a:rPr>
              <a:t>평가 지표</a:t>
            </a: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+mn-ea"/>
              </a:rPr>
              <a:t>c</a:t>
            </a:r>
            <a:r>
              <a:rPr lang="en-US" altLang="ko-KR" sz="1500" i="0" dirty="0" err="1">
                <a:effectLst/>
                <a:latin typeface="+mn-ea"/>
              </a:rPr>
              <a:t>lassification_report</a:t>
            </a:r>
            <a:r>
              <a:rPr lang="en-US" altLang="ko-KR" sz="1500" i="0" dirty="0">
                <a:effectLst/>
                <a:latin typeface="+mn-ea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	- </a:t>
            </a:r>
            <a:r>
              <a:rPr lang="ko-KR" altLang="en-US" sz="1500" dirty="0">
                <a:latin typeface="+mn-ea"/>
              </a:rPr>
              <a:t>정밀도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 err="1">
                <a:latin typeface="+mn-ea"/>
              </a:rPr>
              <a:t>재현율</a:t>
            </a:r>
            <a:r>
              <a:rPr lang="en-US" altLang="ko-KR" sz="1500" dirty="0">
                <a:latin typeface="+mn-ea"/>
              </a:rPr>
              <a:t>, f1-score, roc-</a:t>
            </a:r>
            <a:r>
              <a:rPr lang="en-US" altLang="ko-KR" sz="1500" dirty="0" err="1">
                <a:latin typeface="+mn-ea"/>
              </a:rPr>
              <a:t>auc</a:t>
            </a:r>
            <a:r>
              <a:rPr lang="en-US" altLang="ko-KR" sz="1500" dirty="0">
                <a:latin typeface="+mn-ea"/>
              </a:rPr>
              <a:t> </a:t>
            </a:r>
            <a:r>
              <a:rPr lang="ko-KR" altLang="en-US" sz="1500" dirty="0">
                <a:latin typeface="+mn-ea"/>
              </a:rPr>
              <a:t>확인</a:t>
            </a:r>
            <a:endParaRPr lang="en-US" altLang="ko-KR" sz="150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500" i="0" dirty="0">
              <a:effectLst/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+mn-ea"/>
              </a:rPr>
              <a:t>feature_importances</a:t>
            </a:r>
            <a:r>
              <a:rPr lang="en-US" altLang="ko-KR" sz="1500" dirty="0">
                <a:latin typeface="+mn-ea"/>
              </a:rPr>
              <a:t>_</a:t>
            </a:r>
          </a:p>
          <a:p>
            <a:pPr lvl="1"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	- </a:t>
            </a:r>
            <a:r>
              <a:rPr lang="ko-KR" altLang="en-US" sz="1500" dirty="0" err="1">
                <a:latin typeface="+mn-ea"/>
              </a:rPr>
              <a:t>변수별</a:t>
            </a:r>
            <a:r>
              <a:rPr lang="ko-KR" altLang="en-US" sz="1500" dirty="0">
                <a:latin typeface="+mn-ea"/>
              </a:rPr>
              <a:t> 중요도 확인</a:t>
            </a:r>
          </a:p>
        </p:txBody>
      </p:sp>
    </p:spTree>
    <p:extLst>
      <p:ext uri="{BB962C8B-B14F-4D97-AF65-F5344CB8AC3E}">
        <p14:creationId xmlns:p14="http://schemas.microsoft.com/office/powerpoint/2010/main" val="4128697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9BF38E-10F7-4D2E-A1C5-5F8D9E0B0B75}"/>
              </a:ext>
            </a:extLst>
          </p:cNvPr>
          <p:cNvSpPr txBox="1"/>
          <p:nvPr/>
        </p:nvSpPr>
        <p:spPr>
          <a:xfrm>
            <a:off x="394282" y="302004"/>
            <a:ext cx="2491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6</a:t>
            </a:r>
            <a:r>
              <a:rPr lang="en-US" altLang="ko-KR" sz="2000" i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. </a:t>
            </a:r>
            <a:r>
              <a:rPr lang="ko-KR" altLang="en-US" sz="2000" i="0" dirty="0" err="1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팀원별</a:t>
            </a:r>
            <a:r>
              <a:rPr lang="ko-KR" altLang="en-US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 담당 역할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FD97C8-19A1-4EC9-8FCA-7E4918143A8D}"/>
              </a:ext>
            </a:extLst>
          </p:cNvPr>
          <p:cNvSpPr txBox="1"/>
          <p:nvPr/>
        </p:nvSpPr>
        <p:spPr>
          <a:xfrm>
            <a:off x="394282" y="1397675"/>
            <a:ext cx="2214068" cy="11557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err="1">
                <a:latin typeface="+mn-ea"/>
              </a:rPr>
              <a:t>김기완</a:t>
            </a:r>
            <a:endParaRPr lang="en-US" altLang="ko-KR" sz="1500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atin typeface="+mn-ea"/>
              </a:rPr>
              <a:t>가설 설정</a:t>
            </a:r>
            <a:endParaRPr lang="en-US" altLang="ko-KR" sz="15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atin typeface="+mn-ea"/>
              </a:rPr>
              <a:t>모델 설계 의견 제공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40A1C-30FA-46AC-A24B-86475A37E062}"/>
              </a:ext>
            </a:extLst>
          </p:cNvPr>
          <p:cNvSpPr txBox="1"/>
          <p:nvPr/>
        </p:nvSpPr>
        <p:spPr>
          <a:xfrm>
            <a:off x="394282" y="2902688"/>
            <a:ext cx="2406428" cy="11557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err="1">
                <a:latin typeface="+mn-ea"/>
              </a:rPr>
              <a:t>노가희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atin typeface="+mn-ea"/>
              </a:rPr>
              <a:t>데이터 수집 및 </a:t>
            </a:r>
            <a:r>
              <a:rPr lang="ko-KR" altLang="en-US" sz="1500" dirty="0" err="1">
                <a:latin typeface="+mn-ea"/>
              </a:rPr>
              <a:t>전처리</a:t>
            </a:r>
            <a:endParaRPr lang="en-US" altLang="ko-KR" sz="15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atin typeface="+mn-ea"/>
              </a:rPr>
              <a:t>모델 설계 의견 제공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2D330-4BDB-4558-A50D-D5906BA10DC4}"/>
              </a:ext>
            </a:extLst>
          </p:cNvPr>
          <p:cNvSpPr txBox="1"/>
          <p:nvPr/>
        </p:nvSpPr>
        <p:spPr>
          <a:xfrm>
            <a:off x="394282" y="4407701"/>
            <a:ext cx="2214068" cy="11557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err="1">
                <a:latin typeface="+mn-ea"/>
              </a:rPr>
              <a:t>태두혁</a:t>
            </a:r>
            <a:endParaRPr lang="en-US" altLang="ko-KR" sz="1500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atin typeface="+mn-ea"/>
              </a:rPr>
              <a:t>가설 설정</a:t>
            </a:r>
            <a:endParaRPr lang="en-US" altLang="ko-KR" sz="15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atin typeface="+mn-ea"/>
              </a:rPr>
              <a:t>모델 설계 의견 제공</a:t>
            </a:r>
          </a:p>
        </p:txBody>
      </p:sp>
    </p:spTree>
    <p:extLst>
      <p:ext uri="{BB962C8B-B14F-4D97-AF65-F5344CB8AC3E}">
        <p14:creationId xmlns:p14="http://schemas.microsoft.com/office/powerpoint/2010/main" val="2083571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9BF38E-10F7-4D2E-A1C5-5F8D9E0B0B75}"/>
              </a:ext>
            </a:extLst>
          </p:cNvPr>
          <p:cNvSpPr txBox="1"/>
          <p:nvPr/>
        </p:nvSpPr>
        <p:spPr>
          <a:xfrm>
            <a:off x="394282" y="302004"/>
            <a:ext cx="1636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21252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7</a:t>
            </a:r>
            <a:r>
              <a:rPr lang="en-US" altLang="ko-KR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. </a:t>
            </a:r>
            <a:r>
              <a:rPr lang="ko-KR" altLang="en-US" sz="2000" dirty="0">
                <a:solidFill>
                  <a:srgbClr val="21252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의견 대립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FD97C8-19A1-4EC9-8FCA-7E4918143A8D}"/>
              </a:ext>
            </a:extLst>
          </p:cNvPr>
          <p:cNvSpPr txBox="1"/>
          <p:nvPr/>
        </p:nvSpPr>
        <p:spPr>
          <a:xfrm>
            <a:off x="394282" y="1397675"/>
            <a:ext cx="8844088" cy="3648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>
                <a:latin typeface="+mn-ea"/>
              </a:rPr>
              <a:t>수치형 컬럼 </a:t>
            </a:r>
            <a:r>
              <a:rPr lang="ko-KR" altLang="en-US" b="1" dirty="0" err="1">
                <a:latin typeface="+mn-ea"/>
              </a:rPr>
              <a:t>전처리</a:t>
            </a:r>
            <a:r>
              <a:rPr lang="ko-KR" altLang="en-US" b="1" dirty="0">
                <a:latin typeface="+mn-ea"/>
              </a:rPr>
              <a:t> 문제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500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n-ea"/>
              </a:rPr>
              <a:t>제안 의견 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>
                <a:latin typeface="+mn-ea"/>
              </a:rPr>
              <a:t>현재 데이터에 </a:t>
            </a:r>
            <a:r>
              <a:rPr lang="ko-KR" altLang="en-US" sz="1500" dirty="0" err="1">
                <a:latin typeface="+mn-ea"/>
              </a:rPr>
              <a:t>결측치가</a:t>
            </a:r>
            <a:r>
              <a:rPr lang="ko-KR" altLang="en-US" sz="1500" dirty="0">
                <a:latin typeface="+mn-ea"/>
              </a:rPr>
              <a:t> 없어서 중앙값 대체 과정은 생략</a:t>
            </a:r>
            <a:endParaRPr lang="en-US" altLang="ko-KR" sz="15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n-ea"/>
              </a:rPr>
              <a:t>토의 결과 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>
                <a:latin typeface="+mn-ea"/>
              </a:rPr>
              <a:t>나중에 새로운 데이터가 추가 될 때를 대비하여 중앙값 대체를 넣는 것으로 결정</a:t>
            </a:r>
            <a:endParaRPr lang="en-US" altLang="ko-KR" sz="15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dirty="0" err="1">
                <a:latin typeface="+mn-ea"/>
              </a:rPr>
              <a:t>predict_proba</a:t>
            </a:r>
            <a:r>
              <a:rPr lang="en-US" altLang="ko-KR" b="1" dirty="0">
                <a:latin typeface="+mn-ea"/>
              </a:rPr>
              <a:t>() </a:t>
            </a:r>
            <a:r>
              <a:rPr lang="ko-KR" altLang="en-US" b="1" dirty="0" err="1">
                <a:latin typeface="+mn-ea"/>
              </a:rPr>
              <a:t>임계값</a:t>
            </a:r>
            <a:r>
              <a:rPr lang="ko-KR" altLang="en-US" b="1" dirty="0">
                <a:latin typeface="+mn-ea"/>
              </a:rPr>
              <a:t> 설정 문제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500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</a:rPr>
              <a:t>0.5 VS 0.3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n-ea"/>
              </a:rPr>
              <a:t>토의 결과 </a:t>
            </a:r>
            <a:r>
              <a:rPr lang="en-US" altLang="ko-KR" sz="1500" dirty="0">
                <a:latin typeface="+mn-ea"/>
              </a:rPr>
              <a:t>: 0.3</a:t>
            </a:r>
            <a:r>
              <a:rPr lang="ko-KR" altLang="en-US" sz="1500" dirty="0">
                <a:latin typeface="+mn-ea"/>
              </a:rPr>
              <a:t>으로 낮추어 </a:t>
            </a:r>
            <a:r>
              <a:rPr lang="en-US" altLang="ko-KR" sz="1500" dirty="0">
                <a:latin typeface="+mn-ea"/>
              </a:rPr>
              <a:t>recall</a:t>
            </a:r>
            <a:r>
              <a:rPr lang="ko-KR" altLang="en-US" sz="1500" dirty="0">
                <a:latin typeface="+mn-ea"/>
              </a:rPr>
              <a:t>을 우선 조정 하는 것으로 결정</a:t>
            </a:r>
          </a:p>
        </p:txBody>
      </p:sp>
    </p:spTree>
    <p:extLst>
      <p:ext uri="{BB962C8B-B14F-4D97-AF65-F5344CB8AC3E}">
        <p14:creationId xmlns:p14="http://schemas.microsoft.com/office/powerpoint/2010/main" val="2098773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9BF38E-10F7-4D2E-A1C5-5F8D9E0B0B75}"/>
              </a:ext>
            </a:extLst>
          </p:cNvPr>
          <p:cNvSpPr txBox="1"/>
          <p:nvPr/>
        </p:nvSpPr>
        <p:spPr>
          <a:xfrm>
            <a:off x="394282" y="302004"/>
            <a:ext cx="1636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21252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7</a:t>
            </a:r>
            <a:r>
              <a:rPr lang="en-US" altLang="ko-KR" sz="200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. </a:t>
            </a:r>
            <a:r>
              <a:rPr lang="ko-KR" altLang="en-US" sz="2000">
                <a:solidFill>
                  <a:srgbClr val="21252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의견 대립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FD97C8-19A1-4EC9-8FCA-7E4918143A8D}"/>
              </a:ext>
            </a:extLst>
          </p:cNvPr>
          <p:cNvSpPr txBox="1"/>
          <p:nvPr/>
        </p:nvSpPr>
        <p:spPr>
          <a:xfrm>
            <a:off x="394282" y="1397675"/>
            <a:ext cx="11017760" cy="4271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dirty="0">
                <a:latin typeface="+mn-ea"/>
              </a:rPr>
              <a:t>FEATURES</a:t>
            </a:r>
            <a:r>
              <a:rPr lang="ko-KR" altLang="en-US" b="1" dirty="0">
                <a:latin typeface="+mn-ea"/>
              </a:rPr>
              <a:t> 컬럼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발생</a:t>
            </a:r>
            <a:r>
              <a:rPr lang="en-US" altLang="ko-KR" b="1" dirty="0">
                <a:latin typeface="+mn-ea"/>
              </a:rPr>
              <a:t>_</a:t>
            </a:r>
            <a:r>
              <a:rPr lang="ko-KR" altLang="en-US" b="1" dirty="0">
                <a:latin typeface="+mn-ea"/>
              </a:rPr>
              <a:t>월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발생</a:t>
            </a:r>
            <a:r>
              <a:rPr lang="en-US" altLang="ko-KR" b="1" dirty="0">
                <a:latin typeface="+mn-ea"/>
              </a:rPr>
              <a:t>_</a:t>
            </a:r>
            <a:r>
              <a:rPr lang="ko-KR" altLang="en-US" b="1" dirty="0">
                <a:latin typeface="+mn-ea"/>
              </a:rPr>
              <a:t>시간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 문제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500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n-ea"/>
              </a:rPr>
              <a:t>제안 의견</a:t>
            </a:r>
            <a:endParaRPr lang="en-US" altLang="ko-KR" sz="1500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>
                <a:latin typeface="+mn-ea"/>
              </a:rPr>
              <a:t>계절은 봄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여름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가을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겨울로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시간은 오전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오후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새벽으로 묶은 후 </a:t>
            </a:r>
            <a:r>
              <a:rPr lang="ko-KR" altLang="en-US" sz="1500" dirty="0" err="1">
                <a:latin typeface="+mn-ea"/>
              </a:rPr>
              <a:t>원핫</a:t>
            </a:r>
            <a:r>
              <a:rPr lang="ko-KR" altLang="en-US" sz="1500" dirty="0">
                <a:latin typeface="+mn-ea"/>
              </a:rPr>
              <a:t> 인코딩</a:t>
            </a:r>
            <a:endParaRPr lang="en-US" altLang="ko-KR" sz="1500" dirty="0">
              <a:latin typeface="+mn-ea"/>
            </a:endParaRPr>
          </a:p>
          <a:p>
            <a:pPr marL="1657350" lvl="3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atin typeface="+mn-ea"/>
              </a:rPr>
              <a:t>근거 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 err="1">
                <a:latin typeface="+mn-ea"/>
              </a:rPr>
              <a:t>파이썬이</a:t>
            </a:r>
            <a:r>
              <a:rPr lang="ko-KR" altLang="en-US" sz="1500" dirty="0">
                <a:latin typeface="+mn-ea"/>
              </a:rPr>
              <a:t> 이 변수들을 글자가 아니라 숫자로 인식하고 있는 상태에서 </a:t>
            </a:r>
            <a:r>
              <a:rPr lang="en-US" altLang="ko-KR" sz="1500" dirty="0" err="1">
                <a:latin typeface="+mn-ea"/>
              </a:rPr>
              <a:t>pd.get_dummies</a:t>
            </a:r>
            <a:r>
              <a:rPr lang="en-US" altLang="ko-KR" sz="1500" dirty="0">
                <a:latin typeface="+mn-ea"/>
              </a:rPr>
              <a:t>() </a:t>
            </a:r>
            <a:r>
              <a:rPr lang="ko-KR" altLang="en-US" sz="1500" dirty="0">
                <a:latin typeface="+mn-ea"/>
              </a:rPr>
              <a:t>실행 시</a:t>
            </a:r>
            <a:r>
              <a:rPr lang="en-US" altLang="ko-KR" sz="1500" dirty="0">
                <a:latin typeface="+mn-ea"/>
              </a:rPr>
              <a:t>,</a:t>
            </a:r>
          </a:p>
          <a:p>
            <a:pPr lvl="3"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    </a:t>
            </a:r>
            <a:r>
              <a:rPr lang="ko-KR" altLang="en-US" sz="1500" dirty="0">
                <a:latin typeface="+mn-ea"/>
              </a:rPr>
              <a:t>새벽 </a:t>
            </a:r>
            <a:r>
              <a:rPr lang="en-US" altLang="ko-KR" sz="1500" dirty="0">
                <a:latin typeface="+mn-ea"/>
              </a:rPr>
              <a:t>23</a:t>
            </a:r>
            <a:r>
              <a:rPr lang="ko-KR" altLang="en-US" sz="1500" dirty="0">
                <a:latin typeface="+mn-ea"/>
              </a:rPr>
              <a:t>시가 새벽 </a:t>
            </a:r>
            <a:r>
              <a:rPr lang="en-US" altLang="ko-KR" sz="1500" dirty="0">
                <a:latin typeface="+mn-ea"/>
              </a:rPr>
              <a:t>1</a:t>
            </a:r>
            <a:r>
              <a:rPr lang="ko-KR" altLang="en-US" sz="1500" dirty="0">
                <a:latin typeface="+mn-ea"/>
              </a:rPr>
              <a:t>시보다 </a:t>
            </a:r>
            <a:r>
              <a:rPr lang="en-US" altLang="ko-KR" sz="1500" dirty="0">
                <a:latin typeface="+mn-ea"/>
              </a:rPr>
              <a:t>23</a:t>
            </a:r>
            <a:r>
              <a:rPr lang="ko-KR" altLang="en-US" sz="1500" dirty="0">
                <a:latin typeface="+mn-ea"/>
              </a:rPr>
              <a:t>배 더 큰 숫자라고 인식할 가능성 존재</a:t>
            </a:r>
            <a:endParaRPr lang="en-US" altLang="ko-KR" sz="1500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>
                <a:latin typeface="+mn-ea"/>
              </a:rPr>
              <a:t>분석 돌릴 때는 수치형 값 그대로 두고</a:t>
            </a:r>
            <a:r>
              <a:rPr lang="en-US" altLang="ko-KR" sz="1500" dirty="0">
                <a:latin typeface="+mn-ea"/>
              </a:rPr>
              <a:t>,</a:t>
            </a:r>
            <a:r>
              <a:rPr lang="ko-KR" altLang="en-US" sz="1500" dirty="0">
                <a:latin typeface="+mn-ea"/>
              </a:rPr>
              <a:t> 결과가 나왔을 때 값을 보고 해석</a:t>
            </a:r>
            <a:endParaRPr lang="en-US" altLang="ko-KR" sz="1500" dirty="0">
              <a:latin typeface="+mn-ea"/>
            </a:endParaRPr>
          </a:p>
          <a:p>
            <a:pPr marL="1657350" lvl="3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atin typeface="+mn-ea"/>
              </a:rPr>
              <a:t>근거 </a:t>
            </a:r>
            <a:r>
              <a:rPr lang="en-US" altLang="ko-KR" sz="1500" dirty="0">
                <a:latin typeface="+mn-ea"/>
              </a:rPr>
              <a:t>: </a:t>
            </a:r>
            <a:r>
              <a:rPr lang="en-US" altLang="ko-KR" sz="1500" dirty="0" err="1">
                <a:latin typeface="+mn-ea"/>
              </a:rPr>
              <a:t>pd.get_dummies</a:t>
            </a:r>
            <a:r>
              <a:rPr lang="en-US" altLang="ko-KR" sz="1500" dirty="0">
                <a:latin typeface="+mn-ea"/>
              </a:rPr>
              <a:t>()</a:t>
            </a:r>
            <a:r>
              <a:rPr lang="ko-KR" altLang="en-US" sz="1500" dirty="0">
                <a:latin typeface="+mn-ea"/>
              </a:rPr>
              <a:t>가 아니라 인코딩할 범주형 컬럼을 리스트로 직접 지정해서 </a:t>
            </a:r>
            <a:r>
              <a:rPr lang="en-US" altLang="ko-KR" sz="1500" dirty="0" err="1">
                <a:latin typeface="+mn-ea"/>
              </a:rPr>
              <a:t>OneHotEncoder</a:t>
            </a:r>
            <a:r>
              <a:rPr lang="ko-KR" altLang="en-US" sz="1500" dirty="0">
                <a:latin typeface="+mn-ea"/>
              </a:rPr>
              <a:t>를</a:t>
            </a:r>
            <a:endParaRPr lang="en-US" altLang="ko-KR" sz="1500" dirty="0">
              <a:latin typeface="+mn-ea"/>
            </a:endParaRPr>
          </a:p>
          <a:p>
            <a:pPr lvl="3"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    </a:t>
            </a:r>
            <a:r>
              <a:rPr lang="ko-KR" altLang="en-US" sz="1500" dirty="0">
                <a:latin typeface="+mn-ea"/>
              </a:rPr>
              <a:t>적용하고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 err="1">
                <a:latin typeface="+mn-ea"/>
              </a:rPr>
              <a:t>랜덤포레스트는</a:t>
            </a:r>
            <a:r>
              <a:rPr lang="ko-KR" altLang="en-US" sz="1500" dirty="0">
                <a:latin typeface="+mn-ea"/>
              </a:rPr>
              <a:t> </a:t>
            </a:r>
            <a:r>
              <a:rPr lang="ko-KR" altLang="en-US" sz="1500" dirty="0" err="1">
                <a:latin typeface="+mn-ea"/>
              </a:rPr>
              <a:t>임계값으로</a:t>
            </a:r>
            <a:r>
              <a:rPr lang="ko-KR" altLang="en-US" sz="1500" dirty="0">
                <a:latin typeface="+mn-ea"/>
              </a:rPr>
              <a:t> 데이터를 쪼개는 방식이므로 </a:t>
            </a:r>
            <a:r>
              <a:rPr lang="en-US" altLang="ko-KR" sz="1500" dirty="0">
                <a:latin typeface="+mn-ea"/>
              </a:rPr>
              <a:t>23</a:t>
            </a:r>
            <a:r>
              <a:rPr lang="ko-KR" altLang="en-US" sz="1500" dirty="0">
                <a:latin typeface="+mn-ea"/>
              </a:rPr>
              <a:t>과 </a:t>
            </a:r>
            <a:r>
              <a:rPr lang="en-US" altLang="ko-KR" sz="1500" dirty="0">
                <a:latin typeface="+mn-ea"/>
              </a:rPr>
              <a:t>1</a:t>
            </a:r>
            <a:r>
              <a:rPr lang="ko-KR" altLang="en-US" sz="1500" dirty="0">
                <a:latin typeface="+mn-ea"/>
              </a:rPr>
              <a:t>의 배수 차이가 계산에 직접적인</a:t>
            </a:r>
            <a:endParaRPr lang="en-US" altLang="ko-KR" sz="1500" dirty="0">
              <a:latin typeface="+mn-ea"/>
            </a:endParaRPr>
          </a:p>
          <a:p>
            <a:pPr lvl="3"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    </a:t>
            </a:r>
            <a:r>
              <a:rPr lang="ko-KR" altLang="en-US" sz="1500" dirty="0">
                <a:latin typeface="+mn-ea"/>
              </a:rPr>
              <a:t>영향을 미치지 않는다</a:t>
            </a:r>
            <a:endParaRPr lang="en-US" altLang="ko-KR" sz="1500" dirty="0">
              <a:latin typeface="+mn-ea"/>
            </a:endParaRPr>
          </a:p>
          <a:p>
            <a:pPr lvl="3"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n-ea"/>
              </a:rPr>
              <a:t>토의 결과 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>
                <a:latin typeface="+mn-ea"/>
              </a:rPr>
              <a:t>수치형 값 그대로 두고 분석을 실행하는 것으로 결정</a:t>
            </a:r>
            <a:endParaRPr lang="en-US" altLang="ko-KR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8430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691</Words>
  <Application>Microsoft Office PowerPoint</Application>
  <PresentationFormat>와이드스크린</PresentationFormat>
  <Paragraphs>103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HY견고딕</vt:lpstr>
      <vt:lpstr>맑은 고딕</vt:lpstr>
      <vt:lpstr>Arial</vt:lpstr>
      <vt:lpstr>Calibri</vt:lpstr>
      <vt:lpstr>Consolas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63</cp:revision>
  <dcterms:created xsi:type="dcterms:W3CDTF">2026-03-10T17:23:29Z</dcterms:created>
  <dcterms:modified xsi:type="dcterms:W3CDTF">2026-08-04T02:14:52Z</dcterms:modified>
</cp:coreProperties>
</file>