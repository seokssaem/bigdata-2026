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2" r:id="rId3"/>
    <p:sldId id="261" r:id="rId4"/>
    <p:sldId id="266" r:id="rId5"/>
    <p:sldId id="264" r:id="rId6"/>
    <p:sldId id="265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-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12C4D-32F2-230B-1FF2-BCF099930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1DFF6B-F8B7-30AE-8315-E61C33DBBF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19BDE6-E546-40EB-8BD7-0C6C2CF8E9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BE365D-1677-4834-EDA5-AED44E8950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09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6C8DA-2407-8F64-4305-B7EB65889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24333-70B4-0486-5471-71B39E7395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5017CF-0E0A-70FD-1EEF-25D856E4AC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31C01A-1F23-561C-B26D-FDD3E5919D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7329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39DF8-A185-9FF7-DE1C-B50A8C43E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3CCCA0-BE68-2891-6D14-E1C5A99957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F28475-5ADB-8A4D-6644-856CFA7718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300B40-0A8C-BFCF-81E8-6051DB715E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420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39DF8-A185-9FF7-DE1C-B50A8C43E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3CCCA0-BE68-2891-6D14-E1C5A99957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F28475-5ADB-8A4D-6644-856CFA7718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300B40-0A8C-BFCF-81E8-6051DB715E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1205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CAF3F-70D5-48DB-FBE3-2C40F446B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5291A8-A2D0-610A-DD99-FA652F31E9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8F791-81FD-4EBE-7FA5-9C94E0328E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65CFD6-258C-A543-024B-2BDDBDCFCB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907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74552" cy="1188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요구사항 분석</a:t>
            </a:r>
            <a:endParaRPr lang="en-US" sz="24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 가 작 업 지 시 서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요구사항 분석  (2001020428_23v4)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방법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학사게시판 업로드 및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홍은경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2026. 06. 09. </a:t>
            </a:r>
            <a:r>
              <a:rPr lang="ko-KR" alt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HongEunKyeong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892040"/>
            <a:ext cx="11274552" cy="68580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94360" y="4892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업로드 파일  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04_빅데이터플랫폼요구사항분석_이름.pptx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52303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빅데이터 플랫폼 요구사항 분석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4F0A0-D598-5FCD-224F-B06380B9F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48E2191-7532-0762-ECF5-F9803C4155D0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BBA80C4-1459-622D-40FC-28FE33E90783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C96330B-970A-FF36-5676-B85BB624CE76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8033E57-16AA-A90D-BADC-15BDA5AC5510}"/>
              </a:ext>
            </a:extLst>
          </p:cNvPr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1. </a:t>
            </a:r>
            <a:r>
              <a:rPr lang="en-US" sz="18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8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endParaRPr lang="en-US" sz="1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D93CD0D-B0EB-E64D-CEE5-3EB40EEFE450}"/>
              </a:ext>
            </a:extLst>
          </p:cNvPr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선택한 공공데이터 API를 활용한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작성하시오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(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내용이 많아서 슬라이드가 부족하면 추가해서 진행합니다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.)</a:t>
            </a:r>
            <a:endParaRPr lang="en-US" sz="11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87DD3EE-F7EF-D940-C6A1-A9ADA47FF39F}"/>
              </a:ext>
            </a:extLst>
          </p:cNvPr>
          <p:cNvSpPr/>
          <p:nvPr/>
        </p:nvSpPr>
        <p:spPr>
          <a:xfrm>
            <a:off x="182880" y="1005840"/>
            <a:ext cx="1179576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8952D5B-1BDB-F598-0ECC-0C431D407C74}"/>
              </a:ext>
            </a:extLst>
          </p:cNvPr>
          <p:cNvSpPr/>
          <p:nvPr/>
        </p:nvSpPr>
        <p:spPr>
          <a:xfrm>
            <a:off x="274320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프로젝트 개요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99515B9-0022-AA0F-39D7-458615D45757}"/>
              </a:ext>
            </a:extLst>
          </p:cNvPr>
          <p:cNvSpPr/>
          <p:nvPr/>
        </p:nvSpPr>
        <p:spPr>
          <a:xfrm>
            <a:off x="196596" y="1353312"/>
            <a:ext cx="11795760" cy="5025281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1C2ECAEC-8899-6C30-4847-3F054DA664A5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D22DD11C-F92E-2E75-D820-ADE1B1E6DDD4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요구사항 분석</a:t>
            </a:r>
            <a:endParaRPr lang="en-US" altLang="ko-KR" sz="8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7B7885B9-111F-F4CD-3A64-DC5C167D2945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850" dirty="0"/>
          </a:p>
        </p:txBody>
      </p:sp>
      <p:sp>
        <p:nvSpPr>
          <p:cNvPr id="13" name="Rectangle 19">
            <a:extLst>
              <a:ext uri="{FF2B5EF4-FFF2-40B4-BE49-F238E27FC236}">
                <a16:creationId xmlns:a16="http://schemas.microsoft.com/office/drawing/2014/main" id="{864740A5-9FA9-48AD-8D9D-F724EDC95E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623" y="1973217"/>
            <a:ext cx="11500866" cy="2911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</a:t>
            </a:r>
            <a:r>
              <a:rPr kumimoji="0" lang="ko-KR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목적</a:t>
            </a:r>
            <a:r>
              <a:rPr kumimoji="0" lang="en-US" altLang="ko-KR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]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ko-KR" altLang="ko-KR" sz="1500" dirty="0">
                <a:latin typeface="Arial" panose="020B0604020202020204" pitchFamily="34" charset="0"/>
              </a:rPr>
              <a:t>2024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년 12월 개통된 대구 지하철 2호선 하양역의 유동인구 및 </a:t>
            </a:r>
            <a:r>
              <a:rPr kumimoji="0" lang="ko-KR" altLang="ko-KR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승하차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데이터를 분석하여 역세권 성장 가능성을 평가한다.</a:t>
            </a:r>
            <a:endParaRPr kumimoji="0" lang="en-US" altLang="ko-KR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주변 상권 활성화와 신규 아파트 개발 수요를 예측할 수 있는 정보를 제공한다.</a:t>
            </a:r>
            <a:endParaRPr kumimoji="0" lang="en-US" altLang="ko-KR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이를 통해 상인, 부동산 투자자 및 지자체의 의사결정을 지원한다.</a:t>
            </a:r>
            <a:endParaRPr kumimoji="0" lang="en-US" altLang="ko-KR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ko-KR" sz="15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</a:t>
            </a:r>
            <a:r>
              <a:rPr kumimoji="0" lang="ko-KR" altLang="ko-KR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사용자</a:t>
            </a:r>
            <a:r>
              <a:rPr kumimoji="0" lang="en-US" altLang="ko-KR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]</a:t>
            </a:r>
            <a:endParaRPr kumimoji="0" lang="ko-KR" altLang="ko-KR" sz="17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ko-KR" altLang="ko-KR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사용자1: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하양역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인근에서 창업 또는 점포 확장을 고려하는 상인 및 예비 창업자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ko-KR" altLang="ko-KR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사용자2: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하양역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주변 주택 개발 및 투자 가능성을 분석하는 부동산 개발업체 관계자</a:t>
            </a:r>
          </a:p>
        </p:txBody>
      </p:sp>
    </p:spTree>
    <p:extLst>
      <p:ext uri="{BB962C8B-B14F-4D97-AF65-F5344CB8AC3E}">
        <p14:creationId xmlns:p14="http://schemas.microsoft.com/office/powerpoint/2010/main" val="2163514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3BEE4-DD75-F1DF-FC17-B026F0145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C5FE38E-C593-1C2B-BB44-9768F830FA38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64FAC46-4564-9E6D-C662-8C4A033EF759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418E3C6-682F-1E66-2974-E29DA66EBC69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615F270-0BDE-A747-3B77-6429DF7FD678}"/>
              </a:ext>
            </a:extLst>
          </p:cNvPr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2. </a:t>
            </a:r>
            <a:r>
              <a:rPr lang="en-US" altLang="ko-KR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</a:t>
            </a:r>
            <a:endParaRPr lang="en-US" sz="1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67A78B7-8EFA-139A-7D49-61601D9DBD3C}"/>
              </a:ext>
            </a:extLst>
          </p:cNvPr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선택한 공공데이터 API를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활용한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 요구사항을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작성하시오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(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내용이 많아서 슬라이드가 부족하면 추가해서 진행합니다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.)</a:t>
            </a:r>
            <a:endParaRPr lang="en-US" altLang="ko-KR" sz="11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068E452-A242-0CA9-7B22-6A0A7F9252ED}"/>
              </a:ext>
            </a:extLst>
          </p:cNvPr>
          <p:cNvSpPr/>
          <p:nvPr/>
        </p:nvSpPr>
        <p:spPr>
          <a:xfrm>
            <a:off x="182880" y="1005840"/>
            <a:ext cx="1179576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337109B-D614-0589-8477-6BBAB5F0DA55}"/>
              </a:ext>
            </a:extLst>
          </p:cNvPr>
          <p:cNvSpPr/>
          <p:nvPr/>
        </p:nvSpPr>
        <p:spPr>
          <a:xfrm>
            <a:off x="274320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프로젝트 개요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DBF5471-488E-8FA9-0D09-A2D104FF0CC7}"/>
              </a:ext>
            </a:extLst>
          </p:cNvPr>
          <p:cNvSpPr/>
          <p:nvPr/>
        </p:nvSpPr>
        <p:spPr>
          <a:xfrm>
            <a:off x="182880" y="1367993"/>
            <a:ext cx="11795760" cy="5025281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en-US" altLang="ko-KR" sz="1700" b="1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endParaRPr lang="en-US" altLang="ko-KR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2B645FAC-B216-72F6-FADD-94549E43171A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BAE1E599-3B81-5810-07DA-60F854530287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요구사항 분석</a:t>
            </a:r>
            <a:endParaRPr lang="en-US" altLang="ko-KR" sz="8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FF0E69B-B5C7-7C87-8F7D-D6083BE07788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8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D7A1F3-FFD0-4A7F-8044-245DDFFA541E}"/>
              </a:ext>
            </a:extLst>
          </p:cNvPr>
          <p:cNvSpPr txBox="1"/>
          <p:nvPr/>
        </p:nvSpPr>
        <p:spPr>
          <a:xfrm>
            <a:off x="599813" y="2145295"/>
            <a:ext cx="10830187" cy="29115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700" b="1" dirty="0">
                <a:latin typeface="Arial" panose="020B0604020202020204" pitchFamily="34" charset="0"/>
              </a:rPr>
              <a:t>[Must Have]</a:t>
            </a:r>
            <a:endParaRPr lang="ko-KR" altLang="en-US" sz="1700" b="1" dirty="0">
              <a:latin typeface="Arial" panose="020B0604020202020204" pitchFamily="34" charset="0"/>
            </a:endParaRP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500" dirty="0" err="1">
                <a:latin typeface="Arial" panose="020B0604020202020204" pitchFamily="34" charset="0"/>
              </a:rPr>
              <a:t>하양역</a:t>
            </a:r>
            <a:r>
              <a:rPr lang="ko-KR" altLang="en-US" sz="1500" dirty="0">
                <a:latin typeface="Arial" panose="020B0604020202020204" pitchFamily="34" charset="0"/>
              </a:rPr>
              <a:t> </a:t>
            </a:r>
            <a:r>
              <a:rPr lang="ko-KR" altLang="en-US" sz="1500" dirty="0" err="1">
                <a:latin typeface="Arial" panose="020B0604020202020204" pitchFamily="34" charset="0"/>
              </a:rPr>
              <a:t>승하차</a:t>
            </a:r>
            <a:r>
              <a:rPr lang="ko-KR" altLang="en-US" sz="1500" dirty="0">
                <a:latin typeface="Arial" panose="020B0604020202020204" pitchFamily="34" charset="0"/>
              </a:rPr>
              <a:t> 및 유동인구 데이터를 </a:t>
            </a:r>
            <a:r>
              <a:rPr lang="en-US" altLang="ko-KR" sz="1500" dirty="0">
                <a:latin typeface="Arial" panose="020B0604020202020204" pitchFamily="34" charset="0"/>
              </a:rPr>
              <a:t>API</a:t>
            </a:r>
            <a:r>
              <a:rPr lang="ko-KR" altLang="en-US" sz="1500" dirty="0">
                <a:latin typeface="Arial" panose="020B0604020202020204" pitchFamily="34" charset="0"/>
              </a:rPr>
              <a:t>를 통해 수집할 수 있다</a:t>
            </a:r>
            <a:r>
              <a:rPr lang="en-US" altLang="ko-KR" sz="1500" dirty="0">
                <a:latin typeface="Arial" panose="020B0604020202020204" pitchFamily="34" charset="0"/>
              </a:rPr>
              <a:t>. </a:t>
            </a: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500" dirty="0">
                <a:latin typeface="Arial" panose="020B0604020202020204" pitchFamily="34" charset="0"/>
              </a:rPr>
              <a:t>수집된 데이터를 날짜</a:t>
            </a:r>
            <a:r>
              <a:rPr lang="en-US" altLang="ko-KR" sz="1500" dirty="0">
                <a:latin typeface="Arial" panose="020B0604020202020204" pitchFamily="34" charset="0"/>
              </a:rPr>
              <a:t>·</a:t>
            </a:r>
            <a:r>
              <a:rPr lang="ko-KR" altLang="en-US" sz="1500" dirty="0">
                <a:latin typeface="Arial" panose="020B0604020202020204" pitchFamily="34" charset="0"/>
              </a:rPr>
              <a:t>시간</a:t>
            </a:r>
            <a:r>
              <a:rPr lang="en-US" altLang="ko-KR" sz="1500" dirty="0">
                <a:latin typeface="Arial" panose="020B0604020202020204" pitchFamily="34" charset="0"/>
              </a:rPr>
              <a:t>·</a:t>
            </a:r>
            <a:r>
              <a:rPr lang="ko-KR" altLang="en-US" sz="1500" dirty="0">
                <a:latin typeface="Arial" panose="020B0604020202020204" pitchFamily="34" charset="0"/>
              </a:rPr>
              <a:t>요일별로 조회할 수 있다</a:t>
            </a:r>
            <a:r>
              <a:rPr lang="en-US" altLang="ko-KR" sz="1500" dirty="0">
                <a:latin typeface="Arial" panose="020B0604020202020204" pitchFamily="34" charset="0"/>
              </a:rPr>
              <a:t>. </a:t>
            </a: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500" dirty="0">
                <a:latin typeface="Arial" panose="020B0604020202020204" pitchFamily="34" charset="0"/>
              </a:rPr>
              <a:t>유동인구 변화 추이를 시각화 차트로 제공할 수 있다</a:t>
            </a:r>
            <a:r>
              <a:rPr lang="en-US" altLang="ko-KR" sz="1500" dirty="0">
                <a:latin typeface="Arial" panose="020B0604020202020204" pitchFamily="34" charset="0"/>
              </a:rPr>
              <a:t>. </a:t>
            </a: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endParaRPr lang="en-US" altLang="ko-KR" sz="1500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700" b="1" dirty="0">
                <a:latin typeface="Arial" panose="020B0604020202020204" pitchFamily="34" charset="0"/>
              </a:rPr>
              <a:t>[Should Have]</a:t>
            </a:r>
            <a:endParaRPr lang="ko-KR" altLang="en-US" sz="1700" b="1" dirty="0">
              <a:latin typeface="Arial" panose="020B0604020202020204" pitchFamily="34" charset="0"/>
            </a:endParaRP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500" dirty="0">
                <a:latin typeface="Arial" panose="020B0604020202020204" pitchFamily="34" charset="0"/>
              </a:rPr>
              <a:t>특정 기간을 선택하여 유동인구 변화를 비교 분석할 수 있다</a:t>
            </a:r>
            <a:r>
              <a:rPr lang="en-US" altLang="ko-KR" sz="1500" dirty="0">
                <a:latin typeface="Arial" panose="020B0604020202020204" pitchFamily="34" charset="0"/>
              </a:rPr>
              <a:t>. </a:t>
            </a: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500" dirty="0">
                <a:latin typeface="Arial" panose="020B0604020202020204" pitchFamily="34" charset="0"/>
              </a:rPr>
              <a:t>분석 결과를 </a:t>
            </a:r>
            <a:r>
              <a:rPr lang="en-US" altLang="ko-KR" sz="1500" dirty="0">
                <a:latin typeface="Arial" panose="020B0604020202020204" pitchFamily="34" charset="0"/>
              </a:rPr>
              <a:t>CSV </a:t>
            </a:r>
            <a:r>
              <a:rPr lang="ko-KR" altLang="en-US" sz="1500" dirty="0">
                <a:latin typeface="Arial" panose="020B0604020202020204" pitchFamily="34" charset="0"/>
              </a:rPr>
              <a:t>파일로 다운로드할 수 있다</a:t>
            </a:r>
            <a:r>
              <a:rPr lang="en-US" altLang="ko-KR" sz="1500" dirty="0"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08744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8F0D8-3BE1-B9CD-15CC-E68BCC3AC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CA0BDCB-EF3D-C980-55E8-E72D489F8033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7E3791C-E5C8-A9A3-FF97-3AF15C0D242B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DDFF0A2-26FA-A614-F5E2-6E5772F20286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FF8D7E1-ABD2-5312-AA12-E8183410502E}"/>
              </a:ext>
            </a:extLst>
          </p:cNvPr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3. </a:t>
            </a:r>
            <a:r>
              <a:rPr lang="ko-KR" altLang="en-US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비기능</a:t>
            </a:r>
            <a:r>
              <a:rPr lang="ko-KR" alt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요구사항</a:t>
            </a:r>
            <a:endParaRPr lang="en-US" sz="1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D6B201B-A378-A8B0-A0ED-71CC073ACAD2}"/>
              </a:ext>
            </a:extLst>
          </p:cNvPr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선택한 공공데이터 API를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활용한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흐름을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작성하시오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내용이 많아서 슬라이드가 부족하면 추가해서 진행합니다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.)</a:t>
            </a:r>
            <a:endParaRPr lang="en-US" altLang="ko-KR" sz="11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C13372F-2D2A-1A89-2660-E530AE368182}"/>
              </a:ext>
            </a:extLst>
          </p:cNvPr>
          <p:cNvSpPr/>
          <p:nvPr/>
        </p:nvSpPr>
        <p:spPr>
          <a:xfrm>
            <a:off x="182880" y="1005840"/>
            <a:ext cx="1179576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1E5CC28-ECD1-CE49-2573-0F056C08FCB2}"/>
              </a:ext>
            </a:extLst>
          </p:cNvPr>
          <p:cNvSpPr/>
          <p:nvPr/>
        </p:nvSpPr>
        <p:spPr>
          <a:xfrm>
            <a:off x="274320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프로젝트 개요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9C4324C-A067-B51C-D7AB-5B0CD212CC2E}"/>
              </a:ext>
            </a:extLst>
          </p:cNvPr>
          <p:cNvSpPr/>
          <p:nvPr/>
        </p:nvSpPr>
        <p:spPr>
          <a:xfrm>
            <a:off x="182880" y="1408175"/>
            <a:ext cx="11795760" cy="5025281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552300F4-2B7E-6517-BBF9-EB3834AFE3DE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F907DEE-EFF5-02BB-F734-1D12AFD18E3D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요구사항 분석</a:t>
            </a:r>
            <a:endParaRPr lang="en-US" altLang="ko-KR" sz="8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BBF888D2-84A6-79D5-FB2A-E4032D22A428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8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657EA2-8E68-459D-ADA4-5DB57D592859}"/>
              </a:ext>
            </a:extLst>
          </p:cNvPr>
          <p:cNvSpPr txBox="1"/>
          <p:nvPr/>
        </p:nvSpPr>
        <p:spPr>
          <a:xfrm>
            <a:off x="576072" y="1592196"/>
            <a:ext cx="11612880" cy="4657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700" b="1" dirty="0">
                <a:latin typeface="Arial" panose="020B0604020202020204" pitchFamily="34" charset="0"/>
              </a:rPr>
              <a:t>[</a:t>
            </a:r>
            <a:r>
              <a:rPr lang="ko-KR" altLang="en-US" sz="1700" b="1" dirty="0">
                <a:latin typeface="Arial" panose="020B0604020202020204" pitchFamily="34" charset="0"/>
              </a:rPr>
              <a:t>응답시간</a:t>
            </a:r>
            <a:r>
              <a:rPr lang="en-US" altLang="ko-KR" sz="1700" b="1" dirty="0">
                <a:latin typeface="Arial" panose="020B0604020202020204" pitchFamily="34" charset="0"/>
              </a:rPr>
              <a:t>]</a:t>
            </a:r>
            <a:endParaRPr lang="ko-KR" altLang="en-US" sz="1700" b="1" dirty="0"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Arial" panose="020B0604020202020204" pitchFamily="34" charset="0"/>
              </a:rPr>
              <a:t>5</a:t>
            </a:r>
            <a:r>
              <a:rPr lang="ko-KR" altLang="en-US" sz="1500" dirty="0">
                <a:latin typeface="Arial" panose="020B0604020202020204" pitchFamily="34" charset="0"/>
              </a:rPr>
              <a:t>초 이내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Arial" panose="020B0604020202020204" pitchFamily="34" charset="0"/>
              </a:rPr>
              <a:t>이유</a:t>
            </a:r>
            <a:r>
              <a:rPr lang="en-US" altLang="ko-KR" sz="1500" dirty="0">
                <a:latin typeface="Arial" panose="020B0604020202020204" pitchFamily="34" charset="0"/>
              </a:rPr>
              <a:t>: </a:t>
            </a:r>
            <a:r>
              <a:rPr lang="ko-KR" altLang="en-US" sz="1500" dirty="0">
                <a:latin typeface="Arial" panose="020B0604020202020204" pitchFamily="34" charset="0"/>
              </a:rPr>
              <a:t>분석 결과 조회 서비스로서 사용자가 기다릴 수 있는 수준의 응답시간이 필요함</a:t>
            </a:r>
            <a:r>
              <a:rPr lang="en-US" altLang="ko-KR" sz="1500" dirty="0">
                <a:latin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700" b="1" dirty="0">
                <a:latin typeface="Arial" panose="020B0604020202020204" pitchFamily="34" charset="0"/>
              </a:rPr>
              <a:t>[</a:t>
            </a:r>
            <a:r>
              <a:rPr lang="ko-KR" altLang="en-US" sz="1700" b="1" dirty="0">
                <a:latin typeface="Arial" panose="020B0604020202020204" pitchFamily="34" charset="0"/>
              </a:rPr>
              <a:t>처리량</a:t>
            </a:r>
            <a:r>
              <a:rPr lang="en-US" altLang="ko-KR" sz="1700" b="1" dirty="0">
                <a:latin typeface="Arial" panose="020B0604020202020204" pitchFamily="34" charset="0"/>
              </a:rPr>
              <a:t>]</a:t>
            </a:r>
            <a:endParaRPr lang="ko-KR" altLang="en-US" sz="1700" b="1" dirty="0"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Arial" panose="020B0604020202020204" pitchFamily="34" charset="0"/>
              </a:rPr>
              <a:t>10,000</a:t>
            </a:r>
            <a:r>
              <a:rPr lang="ko-KR" altLang="en-US" sz="1500" dirty="0">
                <a:latin typeface="Arial" panose="020B0604020202020204" pitchFamily="34" charset="0"/>
              </a:rPr>
              <a:t>건</a:t>
            </a:r>
            <a:r>
              <a:rPr lang="en-US" altLang="ko-KR" sz="1500" dirty="0">
                <a:latin typeface="Arial" panose="020B0604020202020204" pitchFamily="34" charset="0"/>
              </a:rPr>
              <a:t>/</a:t>
            </a:r>
            <a:r>
              <a:rPr lang="ko-KR" altLang="en-US" sz="1500" dirty="0">
                <a:latin typeface="Arial" panose="020B0604020202020204" pitchFamily="34" charset="0"/>
              </a:rPr>
              <a:t>일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Arial" panose="020B0604020202020204" pitchFamily="34" charset="0"/>
              </a:rPr>
              <a:t>이유</a:t>
            </a:r>
            <a:r>
              <a:rPr lang="en-US" altLang="ko-KR" sz="1500" dirty="0">
                <a:latin typeface="Arial" panose="020B0604020202020204" pitchFamily="34" charset="0"/>
              </a:rPr>
              <a:t>: </a:t>
            </a:r>
            <a:r>
              <a:rPr lang="ko-KR" altLang="en-US" sz="1500" dirty="0">
                <a:latin typeface="Arial" panose="020B0604020202020204" pitchFamily="34" charset="0"/>
              </a:rPr>
              <a:t>지역 단위 이용자를 대상으로 하는 중소 규모 분석 플랫폼에 적합함</a:t>
            </a:r>
            <a:r>
              <a:rPr lang="en-US" altLang="ko-KR" sz="1500" dirty="0">
                <a:latin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700" b="1" dirty="0">
                <a:latin typeface="Arial" panose="020B0604020202020204" pitchFamily="34" charset="0"/>
              </a:rPr>
              <a:t>[</a:t>
            </a:r>
            <a:r>
              <a:rPr lang="ko-KR" altLang="en-US" sz="1700" b="1" dirty="0">
                <a:latin typeface="Arial" panose="020B0604020202020204" pitchFamily="34" charset="0"/>
              </a:rPr>
              <a:t>가용성</a:t>
            </a:r>
            <a:r>
              <a:rPr lang="en-US" altLang="ko-KR" sz="1700" b="1" dirty="0">
                <a:latin typeface="Arial" panose="020B0604020202020204" pitchFamily="34" charset="0"/>
              </a:rPr>
              <a:t>]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>
                <a:latin typeface="Arial" panose="020B0604020202020204" pitchFamily="34" charset="0"/>
              </a:rPr>
              <a:t>99%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>
                <a:latin typeface="Arial" panose="020B0604020202020204" pitchFamily="34" charset="0"/>
              </a:rPr>
              <a:t>이유</a:t>
            </a:r>
            <a:r>
              <a:rPr lang="en-US" altLang="ko-KR" sz="1800" dirty="0">
                <a:latin typeface="Arial" panose="020B0604020202020204" pitchFamily="34" charset="0"/>
              </a:rPr>
              <a:t>: </a:t>
            </a:r>
            <a:r>
              <a:rPr lang="ko-KR" altLang="en-US" sz="1800" dirty="0">
                <a:latin typeface="Arial" panose="020B0604020202020204" pitchFamily="34" charset="0"/>
              </a:rPr>
              <a:t>실시간 교통 안내 서비스가 아니므로 정기 점검 시간을 허용할 수 있음</a:t>
            </a:r>
            <a:r>
              <a:rPr lang="en-US" altLang="ko-KR" sz="1800" dirty="0">
                <a:latin typeface="Arial" panose="020B0604020202020204" pitchFamily="34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1700" b="1" dirty="0">
                <a:latin typeface="Arial" panose="020B0604020202020204" pitchFamily="34" charset="0"/>
              </a:rPr>
              <a:t>[</a:t>
            </a:r>
            <a:r>
              <a:rPr lang="ko-KR" altLang="en-US" sz="1700" b="1" dirty="0">
                <a:latin typeface="Arial" panose="020B0604020202020204" pitchFamily="34" charset="0"/>
              </a:rPr>
              <a:t>데이터 갱신 주기</a:t>
            </a:r>
            <a:r>
              <a:rPr lang="en-US" altLang="ko-KR" sz="1700" b="1" dirty="0">
                <a:latin typeface="Arial" panose="020B0604020202020204" pitchFamily="34" charset="0"/>
              </a:rPr>
              <a:t>]</a:t>
            </a:r>
            <a:endParaRPr lang="ko-KR" altLang="en-US" sz="1700" b="1" dirty="0"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>
                <a:latin typeface="Arial" panose="020B0604020202020204" pitchFamily="34" charset="0"/>
              </a:rPr>
              <a:t>1</a:t>
            </a:r>
            <a:r>
              <a:rPr lang="ko-KR" altLang="en-US" sz="1800" dirty="0">
                <a:latin typeface="Arial" panose="020B0604020202020204" pitchFamily="34" charset="0"/>
              </a:rPr>
              <a:t>일 </a:t>
            </a:r>
            <a:r>
              <a:rPr lang="en-US" altLang="ko-KR" sz="1800" dirty="0">
                <a:latin typeface="Arial" panose="020B0604020202020204" pitchFamily="34" charset="0"/>
              </a:rPr>
              <a:t>1</a:t>
            </a:r>
            <a:r>
              <a:rPr lang="ko-KR" altLang="en-US" sz="1800" dirty="0">
                <a:latin typeface="Arial" panose="020B0604020202020204" pitchFamily="34" charset="0"/>
              </a:rPr>
              <a:t>회 </a:t>
            </a:r>
            <a:endParaRPr lang="en-US" altLang="ko-KR" sz="1800" dirty="0"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>
                <a:latin typeface="Arial" panose="020B0604020202020204" pitchFamily="34" charset="0"/>
              </a:rPr>
              <a:t>이유</a:t>
            </a:r>
            <a:r>
              <a:rPr lang="en-US" altLang="ko-KR" sz="1800" dirty="0">
                <a:latin typeface="Arial" panose="020B0604020202020204" pitchFamily="34" charset="0"/>
              </a:rPr>
              <a:t>: </a:t>
            </a:r>
            <a:r>
              <a:rPr lang="ko-KR" altLang="en-US" sz="1800" dirty="0">
                <a:latin typeface="Arial" panose="020B0604020202020204" pitchFamily="34" charset="0"/>
              </a:rPr>
              <a:t>유동인구 및 상권 변화 분석은 일별 데이터 갱신으로 충분함</a:t>
            </a:r>
            <a:r>
              <a:rPr lang="en-US" altLang="ko-KR" sz="1800" dirty="0"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91500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8F0D8-3BE1-B9CD-15CC-E68BCC3AC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CA0BDCB-EF3D-C980-55E8-E72D489F8033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7E3791C-E5C8-A9A3-FF97-3AF15C0D242B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DDFF0A2-26FA-A614-F5E2-6E5772F20286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FF8D7E1-ABD2-5312-AA12-E8183410502E}"/>
              </a:ext>
            </a:extLst>
          </p:cNvPr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4. </a:t>
            </a:r>
            <a:r>
              <a:rPr lang="ko-KR" alt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흐름</a:t>
            </a:r>
            <a:endParaRPr lang="en-US" sz="1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D6B201B-A378-A8B0-A0ED-71CC073ACAD2}"/>
              </a:ext>
            </a:extLst>
          </p:cNvPr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선택한 공공데이터 API를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활용한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흐름을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작성하시오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내용이 많아서 슬라이드가 부족하면 추가해서 진행합니다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.)</a:t>
            </a:r>
            <a:endParaRPr lang="en-US" altLang="ko-KR" sz="11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C13372F-2D2A-1A89-2660-E530AE368182}"/>
              </a:ext>
            </a:extLst>
          </p:cNvPr>
          <p:cNvSpPr/>
          <p:nvPr/>
        </p:nvSpPr>
        <p:spPr>
          <a:xfrm>
            <a:off x="182880" y="1005840"/>
            <a:ext cx="1179576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1E5CC28-ECD1-CE49-2573-0F056C08FCB2}"/>
              </a:ext>
            </a:extLst>
          </p:cNvPr>
          <p:cNvSpPr/>
          <p:nvPr/>
        </p:nvSpPr>
        <p:spPr>
          <a:xfrm>
            <a:off x="274320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프로젝트 개요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9C4324C-A067-B51C-D7AB-5B0CD212CC2E}"/>
              </a:ext>
            </a:extLst>
          </p:cNvPr>
          <p:cNvSpPr/>
          <p:nvPr/>
        </p:nvSpPr>
        <p:spPr>
          <a:xfrm>
            <a:off x="182880" y="1408175"/>
            <a:ext cx="11795760" cy="5025281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552300F4-2B7E-6517-BBF9-EB3834AFE3DE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F907DEE-EFF5-02BB-F734-1D12AFD18E3D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요구사항 분석</a:t>
            </a:r>
            <a:endParaRPr lang="en-US" altLang="ko-KR" sz="8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BBF888D2-84A6-79D5-FB2A-E4032D22A428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8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FBEA9B-67AE-4003-B7D8-0BA78F5C7193}"/>
              </a:ext>
            </a:extLst>
          </p:cNvPr>
          <p:cNvSpPr txBox="1"/>
          <p:nvPr/>
        </p:nvSpPr>
        <p:spPr>
          <a:xfrm>
            <a:off x="424483" y="1617206"/>
            <a:ext cx="11554157" cy="4440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sz="1700" b="1" dirty="0">
                <a:latin typeface="Arial" panose="020B0604020202020204" pitchFamily="34" charset="0"/>
              </a:rPr>
              <a:t>[</a:t>
            </a:r>
            <a:r>
              <a:rPr lang="ko-KR" altLang="ko-KR" sz="1700" b="1" dirty="0">
                <a:latin typeface="Arial" panose="020B0604020202020204" pitchFamily="34" charset="0"/>
              </a:rPr>
              <a:t>수집</a:t>
            </a:r>
            <a:r>
              <a:rPr lang="en-US" altLang="ko-KR" sz="1700" b="1" dirty="0">
                <a:latin typeface="Arial" panose="020B0604020202020204" pitchFamily="34" charset="0"/>
              </a:rPr>
              <a:t>]</a:t>
            </a:r>
            <a:r>
              <a:rPr lang="ko-KR" altLang="ko-KR" sz="1700" b="1" dirty="0">
                <a:latin typeface="Arial" panose="020B0604020202020204" pitchFamily="34" charset="0"/>
              </a:rPr>
              <a:t> </a:t>
            </a:r>
            <a:endParaRPr lang="en-US" altLang="ko-KR" sz="1700" b="1" dirty="0"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ko-KR" sz="1500" dirty="0" err="1">
                <a:latin typeface="Arial" panose="020B0604020202020204" pitchFamily="34" charset="0"/>
              </a:rPr>
              <a:t>공공데이터포털</a:t>
            </a:r>
            <a:r>
              <a:rPr lang="ko-KR" altLang="ko-KR" sz="1500" dirty="0">
                <a:latin typeface="Arial" panose="020B0604020202020204" pitchFamily="34" charset="0"/>
              </a:rPr>
              <a:t>(</a:t>
            </a:r>
            <a:r>
              <a:rPr lang="ko-KR" altLang="ko-KR" sz="1500" dirty="0" err="1">
                <a:latin typeface="Arial" panose="020B0604020202020204" pitchFamily="34" charset="0"/>
              </a:rPr>
              <a:t>data.go.kr</a:t>
            </a:r>
            <a:r>
              <a:rPr lang="ko-KR" altLang="ko-KR" sz="1500" dirty="0">
                <a:latin typeface="Arial" panose="020B0604020202020204" pitchFamily="34" charset="0"/>
              </a:rPr>
              <a:t>) API</a:t>
            </a:r>
            <a:r>
              <a:rPr lang="en-US" altLang="ko-KR" sz="1500" dirty="0">
                <a:latin typeface="Arial" panose="020B0604020202020204" pitchFamily="34" charset="0"/>
              </a:rPr>
              <a:t> </a:t>
            </a:r>
            <a:r>
              <a:rPr lang="en-US" altLang="ko-KR" sz="1500" dirty="0">
                <a:latin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ko-KR" altLang="ko-KR" sz="1500" dirty="0">
                <a:latin typeface="Arial" panose="020B0604020202020204" pitchFamily="34" charset="0"/>
              </a:rPr>
              <a:t>대구교통공사 </a:t>
            </a:r>
            <a:r>
              <a:rPr lang="ko-KR" altLang="ko-KR" sz="1500" dirty="0" err="1">
                <a:latin typeface="Arial" panose="020B0604020202020204" pitchFamily="34" charset="0"/>
              </a:rPr>
              <a:t>승하차</a:t>
            </a:r>
            <a:r>
              <a:rPr lang="ko-KR" altLang="ko-KR" sz="1500" dirty="0">
                <a:latin typeface="Arial" panose="020B0604020202020204" pitchFamily="34" charset="0"/>
              </a:rPr>
              <a:t> 데이터 API</a:t>
            </a:r>
            <a:endParaRPr lang="en-US" altLang="ko-KR" sz="1500" dirty="0"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ko-KR" sz="1500" dirty="0" err="1">
                <a:latin typeface="Arial" panose="020B0604020202020204" pitchFamily="34" charset="0"/>
              </a:rPr>
              <a:t>소상공인시장진흥공단</a:t>
            </a:r>
            <a:r>
              <a:rPr lang="ko-KR" altLang="ko-KR" sz="1500" dirty="0">
                <a:latin typeface="Arial" panose="020B0604020202020204" pitchFamily="34" charset="0"/>
              </a:rPr>
              <a:t> 상가정보 API</a:t>
            </a:r>
            <a:endParaRPr lang="en-US" altLang="ko-KR" sz="1500" dirty="0"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ko-KR" sz="1500" dirty="0">
                <a:latin typeface="Arial" panose="020B0604020202020204" pitchFamily="34" charset="0"/>
              </a:rPr>
              <a:t>국토교통부 실거래가 API 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700" b="1" dirty="0">
                <a:latin typeface="Arial" panose="020B0604020202020204" pitchFamily="34" charset="0"/>
              </a:rPr>
              <a:t>[</a:t>
            </a:r>
            <a:r>
              <a:rPr lang="ko-KR" altLang="ko-KR" sz="1700" b="1" dirty="0">
                <a:latin typeface="Arial" panose="020B0604020202020204" pitchFamily="34" charset="0"/>
              </a:rPr>
              <a:t>저장</a:t>
            </a:r>
            <a:r>
              <a:rPr lang="en-US" altLang="ko-KR" sz="1700" b="1" dirty="0">
                <a:latin typeface="Arial" panose="020B0604020202020204" pitchFamily="34" charset="0"/>
              </a:rPr>
              <a:t>]</a:t>
            </a:r>
            <a:r>
              <a:rPr lang="ko-KR" altLang="ko-KR" sz="1700" b="1" dirty="0">
                <a:latin typeface="Arial" panose="020B0604020202020204" pitchFamily="34" charset="0"/>
              </a:rPr>
              <a:t> </a:t>
            </a:r>
            <a:endParaRPr lang="en-US" altLang="ko-KR" sz="1700" b="1" dirty="0"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ko-KR" sz="1500" dirty="0" err="1">
                <a:latin typeface="Arial" panose="020B0604020202020204" pitchFamily="34" charset="0"/>
              </a:rPr>
              <a:t>PostgreSQL</a:t>
            </a:r>
            <a:r>
              <a:rPr lang="ko-KR" altLang="ko-KR" sz="1500" dirty="0">
                <a:latin typeface="Arial" panose="020B0604020202020204" pitchFamily="34" charset="0"/>
              </a:rPr>
              <a:t> DB</a:t>
            </a:r>
            <a:r>
              <a:rPr lang="en-US" altLang="ko-KR" sz="1500" dirty="0">
                <a:latin typeface="Arial" panose="020B0604020202020204" pitchFamily="34" charset="0"/>
              </a:rPr>
              <a:t>, </a:t>
            </a:r>
            <a:r>
              <a:rPr lang="ko-KR" altLang="en-US" sz="1500" dirty="0">
                <a:latin typeface="Arial" panose="020B0604020202020204" pitchFamily="34" charset="0"/>
              </a:rPr>
              <a:t> </a:t>
            </a:r>
            <a:r>
              <a:rPr lang="en-US" altLang="ko-KR" sz="1500" dirty="0">
                <a:latin typeface="Arial" panose="020B0604020202020204" pitchFamily="34" charset="0"/>
              </a:rPr>
              <a:t>CSV </a:t>
            </a:r>
            <a:r>
              <a:rPr lang="ko-KR" altLang="en-US" sz="1500" dirty="0">
                <a:latin typeface="Arial" panose="020B0604020202020204" pitchFamily="34" charset="0"/>
              </a:rPr>
              <a:t>파일</a:t>
            </a:r>
            <a:endParaRPr lang="ko-KR" altLang="ko-KR" sz="1500" dirty="0">
              <a:latin typeface="Arial" panose="020B0604020202020204" pitchFamily="34" charset="0"/>
            </a:endParaRPr>
          </a:p>
          <a:p>
            <a:pPr marR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sz="1700" b="1" dirty="0">
                <a:latin typeface="Arial" panose="020B0604020202020204" pitchFamily="34" charset="0"/>
              </a:rPr>
              <a:t>[</a:t>
            </a:r>
            <a:r>
              <a:rPr lang="ko-KR" altLang="ko-KR" sz="1700" b="1" dirty="0">
                <a:latin typeface="Arial" panose="020B0604020202020204" pitchFamily="34" charset="0"/>
              </a:rPr>
              <a:t>처리</a:t>
            </a:r>
            <a:r>
              <a:rPr lang="en-US" altLang="ko-KR" sz="1700" b="1" dirty="0">
                <a:latin typeface="Arial" panose="020B0604020202020204" pitchFamily="34" charset="0"/>
              </a:rPr>
              <a:t>]</a:t>
            </a:r>
            <a:r>
              <a:rPr lang="ko-KR" altLang="ko-KR" sz="1700" b="1" dirty="0">
                <a:latin typeface="Arial" panose="020B0604020202020204" pitchFamily="34" charset="0"/>
              </a:rPr>
              <a:t> </a:t>
            </a:r>
            <a:endParaRPr lang="en-US" altLang="ko-KR" sz="1700" b="1" dirty="0"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ko-KR" sz="1500" dirty="0" err="1">
                <a:latin typeface="Arial" panose="020B0604020202020204" pitchFamily="34" charset="0"/>
              </a:rPr>
              <a:t>결측치·중복</a:t>
            </a:r>
            <a:r>
              <a:rPr lang="ko-KR" altLang="ko-KR" sz="1500" dirty="0">
                <a:latin typeface="Arial" panose="020B0604020202020204" pitchFamily="34" charset="0"/>
              </a:rPr>
              <a:t> 제거, 데이터 형식 통일, 데이터 통합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700" b="1" dirty="0">
                <a:latin typeface="Arial" panose="020B0604020202020204" pitchFamily="34" charset="0"/>
              </a:rPr>
              <a:t>[</a:t>
            </a:r>
            <a:r>
              <a:rPr lang="ko-KR" altLang="ko-KR" sz="1700" b="1" dirty="0">
                <a:latin typeface="Arial" panose="020B0604020202020204" pitchFamily="34" charset="0"/>
              </a:rPr>
              <a:t>분석</a:t>
            </a:r>
            <a:r>
              <a:rPr lang="en-US" altLang="ko-KR" sz="1700" b="1" dirty="0">
                <a:latin typeface="Arial" panose="020B0604020202020204" pitchFamily="34" charset="0"/>
              </a:rPr>
              <a:t>]</a:t>
            </a:r>
            <a:r>
              <a:rPr lang="ko-KR" altLang="ko-KR" sz="1700" b="1" dirty="0">
                <a:latin typeface="Arial" panose="020B0604020202020204" pitchFamily="34" charset="0"/>
              </a:rPr>
              <a:t> </a:t>
            </a:r>
            <a:endParaRPr lang="en-US" altLang="ko-KR" sz="1700" b="1" dirty="0"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ko-KR" sz="1500" dirty="0">
                <a:latin typeface="Arial" panose="020B0604020202020204" pitchFamily="34" charset="0"/>
              </a:rPr>
              <a:t>유동인구 추이 분석, 상권 성장성 분석, 아파트 개발 수요 예측 </a:t>
            </a:r>
          </a:p>
          <a:p>
            <a:pPr marR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sz="1700" b="1" dirty="0">
                <a:latin typeface="Arial" panose="020B0604020202020204" pitchFamily="34" charset="0"/>
              </a:rPr>
              <a:t>[</a:t>
            </a:r>
            <a:r>
              <a:rPr lang="ko-KR" altLang="ko-KR" sz="1700" b="1" dirty="0">
                <a:latin typeface="Arial" panose="020B0604020202020204" pitchFamily="34" charset="0"/>
              </a:rPr>
              <a:t>제공</a:t>
            </a:r>
            <a:r>
              <a:rPr lang="en-US" altLang="ko-KR" sz="1700" b="1" dirty="0">
                <a:latin typeface="Arial" panose="020B0604020202020204" pitchFamily="34" charset="0"/>
              </a:rPr>
              <a:t>]</a:t>
            </a:r>
            <a:r>
              <a:rPr lang="ko-KR" altLang="ko-KR" sz="1700" b="1" dirty="0">
                <a:latin typeface="Arial" panose="020B0604020202020204" pitchFamily="34" charset="0"/>
              </a:rPr>
              <a:t> </a:t>
            </a:r>
            <a:endParaRPr lang="en-US" altLang="ko-KR" sz="1700" b="1" dirty="0"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ko-KR" sz="1500" dirty="0">
                <a:latin typeface="Arial" panose="020B0604020202020204" pitchFamily="34" charset="0"/>
              </a:rPr>
              <a:t>대시보드, 차트, 지도 시각화 제공 </a:t>
            </a:r>
            <a:endParaRPr lang="ko-KR" altLang="en-US" dirty="0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66065336-F453-45C1-8599-35DF30163B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8945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7E299-EECC-161F-1E2C-C8D5CFFED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0155508-B1A4-35AC-1C1A-8B8642811419}"/>
              </a:ext>
            </a:extLst>
          </p:cNvPr>
          <p:cNvSpPr/>
          <p:nvPr/>
        </p:nvSpPr>
        <p:spPr>
          <a:xfrm>
            <a:off x="-13716" y="45720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2B41FA6-8DE3-8055-4E59-F326547C9DAE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6E83824-D5F3-5C9B-7C1B-C440343CA75E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94BB624-2F7A-FACB-5815-5F7AC26A16DE}"/>
              </a:ext>
            </a:extLst>
          </p:cNvPr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5. </a:t>
            </a:r>
            <a:r>
              <a:rPr lang="ko-KR" alt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관리</a:t>
            </a:r>
            <a:endParaRPr lang="en-US" sz="1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8AC6C95-B234-8C1D-B61F-BE7BF3D527AA}"/>
              </a:ext>
            </a:extLst>
          </p:cNvPr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선택한 공공데이터 API를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활용한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관리를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작성하시오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내용이 많아서 슬라이드가 부족하면 추가해서 진행합니다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.)</a:t>
            </a:r>
            <a:endParaRPr lang="en-US" altLang="ko-KR" sz="11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49369B1-9837-2629-5DA3-26E568056BA2}"/>
              </a:ext>
            </a:extLst>
          </p:cNvPr>
          <p:cNvSpPr/>
          <p:nvPr/>
        </p:nvSpPr>
        <p:spPr>
          <a:xfrm>
            <a:off x="182880" y="1005840"/>
            <a:ext cx="1179576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65F17D2-B52F-9B7F-2136-961DEB01BEBD}"/>
              </a:ext>
            </a:extLst>
          </p:cNvPr>
          <p:cNvSpPr/>
          <p:nvPr/>
        </p:nvSpPr>
        <p:spPr>
          <a:xfrm>
            <a:off x="274320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프로젝트 개요</a:t>
            </a:r>
            <a:endParaRPr lang="en-US" sz="11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7BD069DC-B8F3-A49B-BD2C-B4C7304E7BD7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6C9F856-C2BE-123C-28FC-F96A0ED4AF9B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요구사항 분석</a:t>
            </a:r>
            <a:endParaRPr lang="en-US" altLang="ko-KR" sz="8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5EAA385-73C4-1E4B-958C-691B8D5633A0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850" dirty="0"/>
          </a:p>
        </p:txBody>
      </p:sp>
      <p:sp>
        <p:nvSpPr>
          <p:cNvPr id="33" name="Rectangle 20">
            <a:extLst>
              <a:ext uri="{FF2B5EF4-FFF2-40B4-BE49-F238E27FC236}">
                <a16:creationId xmlns:a16="http://schemas.microsoft.com/office/drawing/2014/main" id="{3CE92842-C5DD-4E18-9862-9A9102AF2A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0C80CAA-3BB5-48AB-9131-828858A8A74E}"/>
              </a:ext>
            </a:extLst>
          </p:cNvPr>
          <p:cNvSpPr txBox="1"/>
          <p:nvPr/>
        </p:nvSpPr>
        <p:spPr>
          <a:xfrm>
            <a:off x="274320" y="1476474"/>
            <a:ext cx="10897298" cy="4940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700" b="1" dirty="0">
                <a:latin typeface="Arial" panose="020B0604020202020204" pitchFamily="34" charset="0"/>
              </a:rPr>
              <a:t>[</a:t>
            </a:r>
            <a:r>
              <a:rPr lang="ko-KR" altLang="en-US" sz="1700" b="1" dirty="0">
                <a:latin typeface="Arial" panose="020B0604020202020204" pitchFamily="34" charset="0"/>
              </a:rPr>
              <a:t>개인정보</a:t>
            </a:r>
            <a:r>
              <a:rPr lang="en-US" altLang="ko-KR" sz="1700" b="1" dirty="0">
                <a:latin typeface="Arial" panose="020B0604020202020204" pitchFamily="34" charset="0"/>
              </a:rPr>
              <a:t>]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500" dirty="0">
                <a:latin typeface="Arial" panose="020B0604020202020204" pitchFamily="34" charset="0"/>
              </a:rPr>
              <a:t>비식별화 정책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Arial" panose="020B0604020202020204" pitchFamily="34" charset="0"/>
              </a:rPr>
              <a:t>수집되는 공공데이터 항목 중 이름</a:t>
            </a:r>
            <a:r>
              <a:rPr lang="en-US" altLang="ko-KR" sz="1400" dirty="0">
                <a:latin typeface="Arial" panose="020B0604020202020204" pitchFamily="34" charset="0"/>
              </a:rPr>
              <a:t>, </a:t>
            </a:r>
            <a:r>
              <a:rPr lang="ko-KR" altLang="en-US" sz="1400" dirty="0">
                <a:latin typeface="Arial" panose="020B0604020202020204" pitchFamily="34" charset="0"/>
              </a:rPr>
              <a:t>연락처 등 직접적 개인정보는 포함되지 않음</a:t>
            </a:r>
            <a:r>
              <a:rPr lang="en-US" altLang="ko-KR" sz="1400" dirty="0">
                <a:latin typeface="Arial" panose="020B0604020202020204" pitchFamily="34" charset="0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Arial" panose="020B0604020202020204" pitchFamily="34" charset="0"/>
              </a:rPr>
              <a:t>상세 주소는 제외하고 시</a:t>
            </a:r>
            <a:r>
              <a:rPr lang="en-US" altLang="ko-KR" sz="1400" dirty="0">
                <a:latin typeface="Arial" panose="020B0604020202020204" pitchFamily="34" charset="0"/>
              </a:rPr>
              <a:t>/</a:t>
            </a:r>
            <a:r>
              <a:rPr lang="ko-KR" altLang="en-US" sz="1400" dirty="0">
                <a:latin typeface="Arial" panose="020B0604020202020204" pitchFamily="34" charset="0"/>
              </a:rPr>
              <a:t>군</a:t>
            </a:r>
            <a:r>
              <a:rPr lang="en-US" altLang="ko-KR" sz="1400" dirty="0">
                <a:latin typeface="Arial" panose="020B0604020202020204" pitchFamily="34" charset="0"/>
              </a:rPr>
              <a:t>/</a:t>
            </a:r>
            <a:r>
              <a:rPr lang="ko-KR" altLang="en-US" sz="1400" dirty="0">
                <a:latin typeface="Arial" panose="020B0604020202020204" pitchFamily="34" charset="0"/>
              </a:rPr>
              <a:t>구 </a:t>
            </a:r>
            <a:r>
              <a:rPr lang="ko-KR" altLang="en-US" sz="1400" dirty="0" err="1">
                <a:latin typeface="Arial" panose="020B0604020202020204" pitchFamily="34" charset="0"/>
              </a:rPr>
              <a:t>단위까지만</a:t>
            </a:r>
            <a:r>
              <a:rPr lang="ko-KR" altLang="en-US" sz="1400" dirty="0">
                <a:latin typeface="Arial" panose="020B0604020202020204" pitchFamily="34" charset="0"/>
              </a:rPr>
              <a:t> 수집하여 비식별화 처리</a:t>
            </a:r>
            <a:r>
              <a:rPr lang="en-US" altLang="ko-KR" sz="1400" dirty="0">
                <a:latin typeface="Arial" panose="020B0604020202020204" pitchFamily="34" charset="0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Arial" panose="020B0604020202020204" pitchFamily="34" charset="0"/>
              </a:rPr>
              <a:t>보안 관리</a:t>
            </a:r>
            <a:r>
              <a:rPr lang="en-US" altLang="ko-KR" sz="1400" dirty="0">
                <a:latin typeface="Arial" panose="020B0604020202020204" pitchFamily="34" charset="0"/>
              </a:rPr>
              <a:t>:</a:t>
            </a:r>
            <a:r>
              <a:rPr lang="ko-KR" altLang="en-US" sz="1400" dirty="0">
                <a:latin typeface="Arial" panose="020B0604020202020204" pitchFamily="34" charset="0"/>
              </a:rPr>
              <a:t> 데이터베이스 접근 권한을 엄격히 제한하고 개인정보 보호법 준수 및 정기 점검 실시</a:t>
            </a:r>
            <a:r>
              <a:rPr lang="en-US" altLang="ko-KR" sz="1400" dirty="0">
                <a:latin typeface="Arial" panose="020B0604020202020204" pitchFamily="34" charset="0"/>
              </a:rPr>
              <a:t>.</a:t>
            </a:r>
          </a:p>
          <a:p>
            <a:endParaRPr lang="en-US" altLang="ko-KR" sz="1400" dirty="0"/>
          </a:p>
          <a:p>
            <a:r>
              <a:rPr lang="en-US" altLang="ko-KR" sz="1700" b="1" dirty="0">
                <a:latin typeface="Arial" panose="020B0604020202020204" pitchFamily="34" charset="0"/>
              </a:rPr>
              <a:t>[</a:t>
            </a:r>
            <a:r>
              <a:rPr lang="ko-KR" altLang="en-US" sz="1700" b="1" dirty="0">
                <a:latin typeface="Arial" panose="020B0604020202020204" pitchFamily="34" charset="0"/>
              </a:rPr>
              <a:t>품질기준</a:t>
            </a:r>
            <a:r>
              <a:rPr lang="en-US" altLang="ko-KR" sz="1700" b="1" dirty="0">
                <a:latin typeface="Arial" panose="020B0604020202020204" pitchFamily="34" charset="0"/>
              </a:rPr>
              <a:t>]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500" dirty="0" err="1">
                <a:latin typeface="Arial" panose="020B0604020202020204" pitchFamily="34" charset="0"/>
              </a:rPr>
              <a:t>결측치</a:t>
            </a:r>
            <a:r>
              <a:rPr lang="ko-KR" altLang="en-US" sz="1500" dirty="0">
                <a:latin typeface="Arial" panose="020B0604020202020204" pitchFamily="34" charset="0"/>
              </a:rPr>
              <a:t> 관리 </a:t>
            </a:r>
            <a:r>
              <a:rPr lang="en-US" altLang="ko-KR" sz="1500" dirty="0">
                <a:latin typeface="Arial" panose="020B0604020202020204" pitchFamily="34" charset="0"/>
              </a:rPr>
              <a:t>: &lt; 1% (</a:t>
            </a:r>
            <a:r>
              <a:rPr lang="ko-KR" altLang="en-US" sz="1500" dirty="0" err="1">
                <a:latin typeface="Arial" panose="020B0604020202020204" pitchFamily="34" charset="0"/>
              </a:rPr>
              <a:t>결측치</a:t>
            </a:r>
            <a:r>
              <a:rPr lang="ko-KR" altLang="en-US" sz="1500" dirty="0">
                <a:latin typeface="Arial" panose="020B0604020202020204" pitchFamily="34" charset="0"/>
              </a:rPr>
              <a:t> 허용 기준</a:t>
            </a:r>
            <a:r>
              <a:rPr lang="en-US" altLang="ko-KR" sz="1500" dirty="0">
                <a:latin typeface="Arial" panose="020B0604020202020204" pitchFamily="34" charset="0"/>
              </a:rPr>
              <a:t>)</a:t>
            </a:r>
            <a:endParaRPr lang="ko-KR" altLang="en-US" sz="1500" dirty="0"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500" dirty="0">
                <a:latin typeface="Arial" panose="020B0604020202020204" pitchFamily="34" charset="0"/>
              </a:rPr>
              <a:t>완전성 </a:t>
            </a:r>
            <a:r>
              <a:rPr lang="en-US" altLang="ko-KR" sz="1500" dirty="0">
                <a:latin typeface="Arial" panose="020B0604020202020204" pitchFamily="34" charset="0"/>
              </a:rPr>
              <a:t>(Completeness)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Arial" panose="020B0604020202020204" pitchFamily="34" charset="0"/>
              </a:rPr>
              <a:t>버스 도착 및 하차 노선의 </a:t>
            </a:r>
            <a:r>
              <a:rPr lang="en-US" altLang="ko-KR" sz="1400" dirty="0">
                <a:latin typeface="Arial" panose="020B0604020202020204" pitchFamily="34" charset="0"/>
              </a:rPr>
              <a:t>NULL</a:t>
            </a:r>
            <a:r>
              <a:rPr lang="ko-KR" altLang="en-US" sz="1400" dirty="0">
                <a:latin typeface="Arial" panose="020B0604020202020204" pitchFamily="34" charset="0"/>
              </a:rPr>
              <a:t>값 발생 빈도를 전체 데이터 대비 </a:t>
            </a:r>
            <a:r>
              <a:rPr lang="en-US" altLang="ko-KR" sz="1400" dirty="0">
                <a:latin typeface="Arial" panose="020B0604020202020204" pitchFamily="34" charset="0"/>
              </a:rPr>
              <a:t>1% </a:t>
            </a:r>
            <a:r>
              <a:rPr lang="ko-KR" altLang="en-US" sz="1400" dirty="0">
                <a:latin typeface="Arial" panose="020B0604020202020204" pitchFamily="34" charset="0"/>
              </a:rPr>
              <a:t>미만으로 유지</a:t>
            </a:r>
            <a:r>
              <a:rPr lang="en-US" altLang="ko-KR" sz="1400" dirty="0">
                <a:latin typeface="Arial" panose="020B0604020202020204" pitchFamily="34" charset="0"/>
              </a:rPr>
              <a:t>.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Arial" panose="020B0604020202020204" pitchFamily="34" charset="0"/>
              </a:rPr>
              <a:t>허용 기준 초과 시 해당 데이터 세트는 분석 대상에서 제외하거나 </a:t>
            </a:r>
            <a:r>
              <a:rPr lang="ko-KR" altLang="en-US" sz="1400" dirty="0" err="1">
                <a:latin typeface="Arial" panose="020B0604020202020204" pitchFamily="34" charset="0"/>
              </a:rPr>
              <a:t>재수집</a:t>
            </a:r>
            <a:r>
              <a:rPr lang="ko-KR" altLang="en-US" sz="1400" dirty="0">
                <a:latin typeface="Arial" panose="020B0604020202020204" pitchFamily="34" charset="0"/>
              </a:rPr>
              <a:t> 절차를 진행</a:t>
            </a:r>
            <a:endParaRPr lang="en-US" altLang="ko-KR" sz="1400" dirty="0"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500" dirty="0">
                <a:latin typeface="Arial" panose="020B0604020202020204" pitchFamily="34" charset="0"/>
              </a:rPr>
              <a:t>중복성 </a:t>
            </a:r>
            <a:r>
              <a:rPr lang="en-US" altLang="ko-KR" sz="1500" dirty="0">
                <a:latin typeface="Arial" panose="020B0604020202020204" pitchFamily="34" charset="0"/>
              </a:rPr>
              <a:t>(Duplication)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Arial" panose="020B0604020202020204" pitchFamily="34" charset="0"/>
              </a:rPr>
              <a:t>동일한 버스</a:t>
            </a:r>
            <a:r>
              <a:rPr lang="en-US" altLang="ko-KR" sz="1400" dirty="0">
                <a:latin typeface="Arial" panose="020B0604020202020204" pitchFamily="34" charset="0"/>
              </a:rPr>
              <a:t>/</a:t>
            </a:r>
            <a:r>
              <a:rPr lang="ko-KR" altLang="en-US" sz="1400" dirty="0">
                <a:latin typeface="Arial" panose="020B0604020202020204" pitchFamily="34" charset="0"/>
              </a:rPr>
              <a:t>노선</a:t>
            </a:r>
            <a:r>
              <a:rPr lang="en-US" altLang="ko-KR" sz="1400" dirty="0">
                <a:latin typeface="Arial" panose="020B0604020202020204" pitchFamily="34" charset="0"/>
              </a:rPr>
              <a:t>/</a:t>
            </a:r>
            <a:r>
              <a:rPr lang="ko-KR" altLang="en-US" sz="1400" dirty="0">
                <a:latin typeface="Arial" panose="020B0604020202020204" pitchFamily="34" charset="0"/>
              </a:rPr>
              <a:t>시간대에 대해 중복 수집된 데이터는 유니크 키</a:t>
            </a:r>
            <a:r>
              <a:rPr lang="en-US" altLang="ko-KR" sz="1400" dirty="0">
                <a:latin typeface="Arial" panose="020B0604020202020204" pitchFamily="34" charset="0"/>
              </a:rPr>
              <a:t>(PK) </a:t>
            </a:r>
            <a:r>
              <a:rPr lang="ko-KR" altLang="en-US" sz="1400" dirty="0">
                <a:latin typeface="Arial" panose="020B0604020202020204" pitchFamily="34" charset="0"/>
              </a:rPr>
              <a:t>기반으로 </a:t>
            </a:r>
            <a:r>
              <a:rPr lang="en-US" altLang="ko-KR" sz="1400" dirty="0">
                <a:latin typeface="Arial" panose="020B0604020202020204" pitchFamily="34" charset="0"/>
              </a:rPr>
              <a:t>1% </a:t>
            </a:r>
            <a:r>
              <a:rPr lang="ko-KR" altLang="en-US" sz="1400" dirty="0">
                <a:latin typeface="Arial" panose="020B0604020202020204" pitchFamily="34" charset="0"/>
              </a:rPr>
              <a:t>이내 관리를 목표로 함</a:t>
            </a:r>
            <a:r>
              <a:rPr lang="en-US" altLang="ko-KR" sz="1400" dirty="0">
                <a:latin typeface="Arial" panose="020B0604020202020204" pitchFamily="34" charset="0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500" dirty="0">
                <a:latin typeface="Arial" panose="020B0604020202020204" pitchFamily="34" charset="0"/>
              </a:rPr>
              <a:t>정확성 </a:t>
            </a:r>
            <a:r>
              <a:rPr lang="en-US" altLang="ko-KR" sz="1500" dirty="0">
                <a:latin typeface="Arial" panose="020B0604020202020204" pitchFamily="34" charset="0"/>
              </a:rPr>
              <a:t>(Accuracy) :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Arial" panose="020B0604020202020204" pitchFamily="34" charset="0"/>
              </a:rPr>
              <a:t>출발 시간보다 도착 시간이 빠른 논리적 오류 데이터 등을 사전에 필터링하는 검증 로직을 구현함</a:t>
            </a:r>
            <a:r>
              <a:rPr lang="en-US" altLang="ko-KR" sz="1400" dirty="0">
                <a:latin typeface="Arial" panose="020B0604020202020204" pitchFamily="34" charset="0"/>
              </a:rPr>
              <a:t>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248089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734</Words>
  <Application>Microsoft Office PowerPoint</Application>
  <PresentationFormat>와이드스크린</PresentationFormat>
  <Paragraphs>98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맑은 고딕</vt:lpstr>
      <vt:lpstr>Arial</vt:lpstr>
      <vt:lpstr>Calibri</vt:lpstr>
      <vt:lpstr>Consolas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16</cp:revision>
  <dcterms:created xsi:type="dcterms:W3CDTF">2026-03-10T17:23:29Z</dcterms:created>
  <dcterms:modified xsi:type="dcterms:W3CDTF">2026-06-09T01:19:42Z</dcterms:modified>
</cp:coreProperties>
</file>