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58" r:id="rId6"/>
    <p:sldId id="265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2026-07-28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C554D-AA29-4C9D-9BC3-02CDCD2B4F3D}"/>
              </a:ext>
            </a:extLst>
          </p:cNvPr>
          <p:cNvSpPr txBox="1"/>
          <p:nvPr/>
        </p:nvSpPr>
        <p:spPr>
          <a:xfrm>
            <a:off x="293614" y="184450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1. 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데이터 불러오기 및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결측치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처리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ACC881-629A-40E1-BA09-52BA63524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267" y="1970357"/>
            <a:ext cx="7921351" cy="236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64A17B-696A-4C0E-B14D-BE9E5A0E8969}"/>
              </a:ext>
            </a:extLst>
          </p:cNvPr>
          <p:cNvSpPr txBox="1"/>
          <p:nvPr/>
        </p:nvSpPr>
        <p:spPr>
          <a:xfrm>
            <a:off x="293614" y="184450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1. 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데이터 불러오기 및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결측치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처리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E5A6CA-DFAB-4E4D-BBD2-D96D505F1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10" y="1760633"/>
            <a:ext cx="3140454" cy="333673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869A554-629E-4F3E-AD3B-1731221D6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38" y="2128837"/>
            <a:ext cx="2105025" cy="2600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DB7100-A3DF-478D-9749-E5CCA1E6DF79}"/>
              </a:ext>
            </a:extLst>
          </p:cNvPr>
          <p:cNvSpPr txBox="1"/>
          <p:nvPr/>
        </p:nvSpPr>
        <p:spPr>
          <a:xfrm>
            <a:off x="2194134" y="1325063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info</a:t>
            </a:r>
            <a:endParaRPr lang="ko-KR" altLang="en-US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88007-E25F-4CB6-A6B3-6B466B2997E0}"/>
              </a:ext>
            </a:extLst>
          </p:cNvPr>
          <p:cNvSpPr txBox="1"/>
          <p:nvPr/>
        </p:nvSpPr>
        <p:spPr>
          <a:xfrm>
            <a:off x="8207041" y="1325063"/>
            <a:ext cx="76174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>
                <a:latin typeface="+mn-ea"/>
              </a:rPr>
              <a:t>결측치</a:t>
            </a:r>
            <a:endParaRPr lang="ko-KR" altLang="en-US" sz="1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5449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1A6507-9FE4-45B1-AD90-74FB3987ABB3}"/>
              </a:ext>
            </a:extLst>
          </p:cNvPr>
          <p:cNvSpPr txBox="1"/>
          <p:nvPr/>
        </p:nvSpPr>
        <p:spPr>
          <a:xfrm>
            <a:off x="293614" y="184450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1. 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데이터 불러오기 및 </a:t>
            </a:r>
            <a:r>
              <a:rPr lang="ko-KR" altLang="en-US" b="0" i="0" dirty="0" err="1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결측치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 처리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B97535-C48D-43E2-B211-7AC512DF533A}"/>
              </a:ext>
            </a:extLst>
          </p:cNvPr>
          <p:cNvSpPr txBox="1"/>
          <p:nvPr/>
        </p:nvSpPr>
        <p:spPr>
          <a:xfrm>
            <a:off x="293614" y="794082"/>
            <a:ext cx="67297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0" dirty="0">
                <a:effectLst/>
                <a:latin typeface="+mn-ea"/>
              </a:rPr>
              <a:t>    </a:t>
            </a:r>
            <a:r>
              <a:rPr lang="en-US" altLang="ko-KR" sz="1500" b="0" dirty="0">
                <a:effectLst/>
                <a:latin typeface="+mn-ea"/>
              </a:rPr>
              <a:t>-</a:t>
            </a:r>
            <a:r>
              <a:rPr lang="ko-KR" altLang="en-US" sz="1500" b="0" dirty="0">
                <a:effectLst/>
                <a:latin typeface="+mn-ea"/>
              </a:rPr>
              <a:t> </a:t>
            </a:r>
            <a:r>
              <a:rPr lang="ko-KR" altLang="en-US" sz="1500" b="0" dirty="0" err="1">
                <a:effectLst/>
                <a:latin typeface="+mn-ea"/>
              </a:rPr>
              <a:t>결측치가</a:t>
            </a:r>
            <a:r>
              <a:rPr lang="ko-KR" altLang="en-US" sz="1500" b="0" dirty="0">
                <a:effectLst/>
                <a:latin typeface="+mn-ea"/>
              </a:rPr>
              <a:t> 존재하는 수치형 변수 컬럼 </a:t>
            </a:r>
            <a:r>
              <a:rPr lang="en-US" altLang="ko-KR" sz="1500" b="0" dirty="0">
                <a:effectLst/>
                <a:latin typeface="+mn-ea"/>
              </a:rPr>
              <a:t>['</a:t>
            </a:r>
            <a:r>
              <a:rPr lang="ko-KR" altLang="en-US" sz="1500" b="0" dirty="0">
                <a:effectLst/>
                <a:latin typeface="+mn-ea"/>
              </a:rPr>
              <a:t>나이</a:t>
            </a:r>
            <a:r>
              <a:rPr lang="en-US" altLang="ko-KR" sz="1500" b="0" dirty="0">
                <a:effectLst/>
                <a:latin typeface="+mn-ea"/>
              </a:rPr>
              <a:t>', '</a:t>
            </a:r>
            <a:r>
              <a:rPr lang="ko-KR" altLang="en-US" sz="1500" b="0" dirty="0">
                <a:effectLst/>
                <a:latin typeface="+mn-ea"/>
              </a:rPr>
              <a:t>리뷰점수</a:t>
            </a:r>
            <a:r>
              <a:rPr lang="en-US" altLang="ko-KR" sz="1500" b="0" dirty="0">
                <a:effectLst/>
                <a:latin typeface="+mn-ea"/>
              </a:rPr>
              <a:t>'] → </a:t>
            </a:r>
            <a:r>
              <a:rPr lang="ko-KR" altLang="en-US" sz="1500" b="0" dirty="0">
                <a:effectLst/>
                <a:latin typeface="+mn-ea"/>
              </a:rPr>
              <a:t>평균값 대체</a:t>
            </a:r>
          </a:p>
          <a:p>
            <a:r>
              <a:rPr lang="ko-KR" altLang="en-US" sz="1500" b="0" dirty="0">
                <a:effectLst/>
                <a:latin typeface="+mn-ea"/>
              </a:rPr>
              <a:t>    </a:t>
            </a:r>
            <a:r>
              <a:rPr lang="en-US" altLang="ko-KR" sz="1500" b="0" dirty="0">
                <a:effectLst/>
                <a:latin typeface="+mn-ea"/>
              </a:rPr>
              <a:t>-</a:t>
            </a:r>
            <a:r>
              <a:rPr lang="ko-KR" altLang="en-US" sz="1500" b="0" dirty="0">
                <a:effectLst/>
                <a:latin typeface="+mn-ea"/>
              </a:rPr>
              <a:t> </a:t>
            </a:r>
            <a:r>
              <a:rPr lang="ko-KR" altLang="en-US" sz="1500" b="0" dirty="0" err="1">
                <a:effectLst/>
                <a:latin typeface="+mn-ea"/>
              </a:rPr>
              <a:t>결측치가</a:t>
            </a:r>
            <a:r>
              <a:rPr lang="ko-KR" altLang="en-US" sz="1500" b="0" dirty="0">
                <a:effectLst/>
                <a:latin typeface="+mn-ea"/>
              </a:rPr>
              <a:t> 존재하는 범주형 변수 컬럼 </a:t>
            </a:r>
            <a:r>
              <a:rPr lang="en-US" altLang="ko-KR" sz="1500" b="0" dirty="0">
                <a:effectLst/>
                <a:latin typeface="+mn-ea"/>
              </a:rPr>
              <a:t>['</a:t>
            </a:r>
            <a:r>
              <a:rPr lang="ko-KR" altLang="en-US" sz="1500" b="0" dirty="0">
                <a:effectLst/>
                <a:latin typeface="+mn-ea"/>
              </a:rPr>
              <a:t>성별</a:t>
            </a:r>
            <a:r>
              <a:rPr lang="en-US" altLang="ko-KR" sz="1500" b="0" dirty="0">
                <a:effectLst/>
                <a:latin typeface="+mn-ea"/>
              </a:rPr>
              <a:t>', '</a:t>
            </a:r>
            <a:r>
              <a:rPr lang="ko-KR" altLang="en-US" sz="1500" b="0" dirty="0">
                <a:effectLst/>
                <a:latin typeface="+mn-ea"/>
              </a:rPr>
              <a:t>가입경로</a:t>
            </a:r>
            <a:r>
              <a:rPr lang="en-US" altLang="ko-KR" sz="1500" b="0" dirty="0">
                <a:effectLst/>
                <a:latin typeface="+mn-ea"/>
              </a:rPr>
              <a:t>'] → </a:t>
            </a:r>
            <a:r>
              <a:rPr lang="ko-KR" altLang="en-US" sz="1500" b="0" dirty="0" err="1">
                <a:effectLst/>
                <a:latin typeface="+mn-ea"/>
              </a:rPr>
              <a:t>최빈값</a:t>
            </a:r>
            <a:r>
              <a:rPr lang="ko-KR" altLang="en-US" sz="1500" b="0" dirty="0">
                <a:effectLst/>
                <a:latin typeface="+mn-ea"/>
              </a:rPr>
              <a:t> 대체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771318-4EC0-4DC6-9F58-2464F26135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96" y="3907784"/>
            <a:ext cx="1943100" cy="23812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BCD10AC-1EF0-4703-8E9B-1487C1765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296" y="1479323"/>
            <a:ext cx="3295650" cy="1209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508297-50E8-46A5-A7AC-39DE4D92B650}"/>
              </a:ext>
            </a:extLst>
          </p:cNvPr>
          <p:cNvSpPr txBox="1"/>
          <p:nvPr/>
        </p:nvSpPr>
        <p:spPr>
          <a:xfrm>
            <a:off x="293614" y="3429000"/>
            <a:ext cx="208101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0" dirty="0">
                <a:effectLst/>
                <a:latin typeface="+mn-ea"/>
              </a:rPr>
              <a:t>    </a:t>
            </a:r>
            <a:r>
              <a:rPr lang="en-US" altLang="ko-KR" sz="1500" b="0" dirty="0">
                <a:effectLst/>
                <a:latin typeface="+mn-ea"/>
              </a:rPr>
              <a:t>- </a:t>
            </a:r>
            <a:r>
              <a:rPr lang="ko-KR" altLang="en-US" sz="1500" b="0" dirty="0" err="1">
                <a:effectLst/>
                <a:latin typeface="+mn-ea"/>
              </a:rPr>
              <a:t>결측치</a:t>
            </a:r>
            <a:r>
              <a:rPr lang="ko-KR" altLang="en-US" sz="1500" b="0" dirty="0">
                <a:effectLst/>
                <a:latin typeface="+mn-ea"/>
              </a:rPr>
              <a:t> 제거 확인</a:t>
            </a:r>
          </a:p>
        </p:txBody>
      </p:sp>
    </p:spTree>
    <p:extLst>
      <p:ext uri="{BB962C8B-B14F-4D97-AF65-F5344CB8AC3E}">
        <p14:creationId xmlns:p14="http://schemas.microsoft.com/office/powerpoint/2010/main" val="150052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19AFAC-AEE6-415B-A28C-59D06C69B9FC}"/>
              </a:ext>
            </a:extLst>
          </p:cNvPr>
          <p:cNvSpPr txBox="1"/>
          <p:nvPr/>
        </p:nvSpPr>
        <p:spPr>
          <a:xfrm>
            <a:off x="293614" y="184450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2. 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이상치 탐지 및 처리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E52315-E86E-41C7-9781-87CD2AD3B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93" y="1186606"/>
            <a:ext cx="5457825" cy="39814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4C3B96-8C9C-4797-A0B5-E7995B6E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637" y="5378829"/>
            <a:ext cx="19907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51C03B-3A88-4CBB-9ECF-3958FBF4C4CC}"/>
              </a:ext>
            </a:extLst>
          </p:cNvPr>
          <p:cNvSpPr txBox="1"/>
          <p:nvPr/>
        </p:nvSpPr>
        <p:spPr>
          <a:xfrm>
            <a:off x="293614" y="184450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2. 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이상치 탐지 및 처리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4D9B3-CAD4-43E4-814C-B77F5A47DC53}"/>
              </a:ext>
            </a:extLst>
          </p:cNvPr>
          <p:cNvSpPr txBox="1"/>
          <p:nvPr/>
        </p:nvSpPr>
        <p:spPr>
          <a:xfrm>
            <a:off x="2067127" y="1862356"/>
            <a:ext cx="15279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- </a:t>
            </a:r>
            <a:r>
              <a:rPr lang="ko-KR" altLang="en-US" sz="1500" dirty="0"/>
              <a:t>이상치</a:t>
            </a:r>
            <a:r>
              <a:rPr lang="en-US" altLang="ko-KR" sz="1500" dirty="0"/>
              <a:t> </a:t>
            </a:r>
            <a:r>
              <a:rPr lang="ko-KR" altLang="en-US" sz="1500" dirty="0"/>
              <a:t>처리 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DF323-5C77-4DC4-A123-F3E6CECBB905}"/>
              </a:ext>
            </a:extLst>
          </p:cNvPr>
          <p:cNvSpPr txBox="1"/>
          <p:nvPr/>
        </p:nvSpPr>
        <p:spPr>
          <a:xfrm>
            <a:off x="6889146" y="1862355"/>
            <a:ext cx="26917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- </a:t>
            </a:r>
            <a:r>
              <a:rPr lang="ko-KR" altLang="en-US" sz="1500" dirty="0"/>
              <a:t>이상치</a:t>
            </a:r>
            <a:r>
              <a:rPr lang="en-US" altLang="ko-KR" sz="1500" dirty="0"/>
              <a:t> </a:t>
            </a:r>
            <a:r>
              <a:rPr lang="ko-KR" altLang="en-US" sz="1500" dirty="0"/>
              <a:t>처리 후 </a:t>
            </a:r>
            <a:r>
              <a:rPr lang="en-US" altLang="ko-KR" sz="1500" dirty="0"/>
              <a:t>(</a:t>
            </a:r>
            <a:r>
              <a:rPr lang="ko-KR" altLang="en-US" sz="1500" dirty="0" err="1"/>
              <a:t>경계값</a:t>
            </a:r>
            <a:r>
              <a:rPr lang="ko-KR" altLang="en-US" sz="1500" dirty="0"/>
              <a:t> 대체</a:t>
            </a:r>
            <a:r>
              <a:rPr lang="en-US" altLang="ko-KR" sz="1500" dirty="0"/>
              <a:t>)</a:t>
            </a:r>
            <a:endParaRPr lang="ko-KR" altLang="en-US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0BD1229-1A82-4007-A8A4-916D9ECD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581" y="2500312"/>
            <a:ext cx="2505075" cy="18573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74172B-C66C-4997-BB0F-C55E5E144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201" y="2416731"/>
            <a:ext cx="2505075" cy="18885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938AC1-673F-42DA-88CC-2813F5D65818}"/>
              </a:ext>
            </a:extLst>
          </p:cNvPr>
          <p:cNvSpPr txBox="1"/>
          <p:nvPr/>
        </p:nvSpPr>
        <p:spPr>
          <a:xfrm>
            <a:off x="1578581" y="5410899"/>
            <a:ext cx="688361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effectLst/>
                <a:latin typeface="+mn-ea"/>
              </a:rPr>
              <a:t>판단 근거</a:t>
            </a:r>
            <a:endParaRPr lang="ko-KR" altLang="en-US" sz="1500" b="0" dirty="0">
              <a:effectLst/>
              <a:latin typeface="+mn-ea"/>
            </a:endParaRPr>
          </a:p>
          <a:p>
            <a:r>
              <a:rPr lang="en-US" altLang="ko-KR" sz="1500" b="0" dirty="0">
                <a:effectLst/>
                <a:latin typeface="+mn-ea"/>
              </a:rPr>
              <a:t>- </a:t>
            </a:r>
            <a:r>
              <a:rPr lang="ko-KR" altLang="en-US" sz="1500" b="0" dirty="0">
                <a:effectLst/>
                <a:latin typeface="+mn-ea"/>
              </a:rPr>
              <a:t>아예 말이 안 되는 값이 아니면서</a:t>
            </a:r>
            <a:r>
              <a:rPr lang="en-US" altLang="ko-KR" sz="1500" b="0" dirty="0">
                <a:effectLst/>
                <a:latin typeface="+mn-ea"/>
              </a:rPr>
              <a:t>, </a:t>
            </a:r>
            <a:r>
              <a:rPr lang="ko-KR" altLang="en-US" sz="1500" b="0" dirty="0">
                <a:effectLst/>
                <a:latin typeface="+mn-ea"/>
              </a:rPr>
              <a:t>기존 최대값과 상한의 차이가 적기 때문에</a:t>
            </a:r>
          </a:p>
        </p:txBody>
      </p:sp>
    </p:spTree>
    <p:extLst>
      <p:ext uri="{BB962C8B-B14F-4D97-AF65-F5344CB8AC3E}">
        <p14:creationId xmlns:p14="http://schemas.microsoft.com/office/powerpoint/2010/main" val="158215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994A4-96C3-4107-A86D-DE5EEB1656BF}"/>
              </a:ext>
            </a:extLst>
          </p:cNvPr>
          <p:cNvSpPr txBox="1"/>
          <p:nvPr/>
        </p:nvSpPr>
        <p:spPr>
          <a:xfrm>
            <a:off x="293614" y="18445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3. 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범주형 변수 인코딩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E38BFB-B3CA-4002-AA0D-998CE7088F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5"/>
          <a:stretch/>
        </p:blipFill>
        <p:spPr>
          <a:xfrm>
            <a:off x="723900" y="2558118"/>
            <a:ext cx="10668350" cy="1943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AEE06A-EA12-48E8-8EB4-654722BB7D11}"/>
              </a:ext>
            </a:extLst>
          </p:cNvPr>
          <p:cNvSpPr txBox="1"/>
          <p:nvPr/>
        </p:nvSpPr>
        <p:spPr>
          <a:xfrm>
            <a:off x="5364870" y="1996580"/>
            <a:ext cx="12490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원</a:t>
            </a:r>
            <a:r>
              <a:rPr lang="en-US" altLang="ko-KR" sz="1500" dirty="0"/>
              <a:t>-</a:t>
            </a:r>
            <a:r>
              <a:rPr lang="ko-KR" altLang="en-US" sz="1500" dirty="0"/>
              <a:t>핫 인코딩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C3AA00-B52E-41B9-A8B4-FF30D0FDED60}"/>
              </a:ext>
            </a:extLst>
          </p:cNvPr>
          <p:cNvSpPr txBox="1"/>
          <p:nvPr/>
        </p:nvSpPr>
        <p:spPr>
          <a:xfrm>
            <a:off x="1578581" y="5410899"/>
            <a:ext cx="37449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effectLst/>
                <a:latin typeface="+mn-ea"/>
              </a:rPr>
              <a:t>판단 근거</a:t>
            </a:r>
            <a:endParaRPr lang="ko-KR" altLang="en-US" sz="1500" b="0" dirty="0">
              <a:effectLst/>
              <a:latin typeface="+mn-ea"/>
            </a:endParaRPr>
          </a:p>
          <a:p>
            <a:r>
              <a:rPr lang="en-US" altLang="ko-KR" sz="1500" b="0" dirty="0">
                <a:effectLst/>
                <a:latin typeface="+mn-ea"/>
              </a:rPr>
              <a:t>- 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모두 순서 의미 없는 범주이기 때문에</a:t>
            </a:r>
          </a:p>
        </p:txBody>
      </p:sp>
    </p:spTree>
    <p:extLst>
      <p:ext uri="{BB962C8B-B14F-4D97-AF65-F5344CB8AC3E}">
        <p14:creationId xmlns:p14="http://schemas.microsoft.com/office/powerpoint/2010/main" val="1804072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A93A56-FFBD-442B-9032-D2C4720775A9}"/>
              </a:ext>
            </a:extLst>
          </p:cNvPr>
          <p:cNvSpPr txBox="1"/>
          <p:nvPr/>
        </p:nvSpPr>
        <p:spPr>
          <a:xfrm>
            <a:off x="293614" y="184450"/>
            <a:ext cx="326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4. 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파생변수 생성 및 스케일링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1B77D-0AD7-4DDD-A0BD-C834F9BB91FA}"/>
              </a:ext>
            </a:extLst>
          </p:cNvPr>
          <p:cNvSpPr txBox="1"/>
          <p:nvPr/>
        </p:nvSpPr>
        <p:spPr>
          <a:xfrm>
            <a:off x="553673" y="1168261"/>
            <a:ext cx="442621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0" dirty="0">
                <a:effectLst/>
                <a:latin typeface="+mn-ea"/>
              </a:rPr>
              <a:t>1</a:t>
            </a:r>
            <a:r>
              <a:rPr lang="ko-KR" altLang="en-US" sz="1500" b="0" dirty="0">
                <a:effectLst/>
                <a:latin typeface="+mn-ea"/>
              </a:rPr>
              <a:t>회당평균구매금액 </a:t>
            </a:r>
            <a:r>
              <a:rPr lang="en-US" altLang="ko-KR" sz="1500" b="0" dirty="0">
                <a:effectLst/>
                <a:latin typeface="+mn-ea"/>
              </a:rPr>
              <a:t>= 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월평균구매금액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/</a:t>
            </a:r>
            <a:r>
              <a:rPr lang="ko-KR" altLang="en-US" sz="1500" dirty="0">
                <a:latin typeface="+mn-ea"/>
              </a:rPr>
              <a:t> </a:t>
            </a:r>
            <a:r>
              <a:rPr lang="ko-KR" altLang="en-US" sz="1500" b="0" dirty="0">
                <a:effectLst/>
                <a:latin typeface="Consolas" panose="020B0609020204030204" pitchFamily="49" charset="0"/>
              </a:rPr>
              <a:t>구매횟수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B2AC65-AA21-482E-8B63-254A73A0E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003" y="2642005"/>
            <a:ext cx="1851552" cy="20607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E81764-6A6F-43FA-99E7-4EE5B8679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570" y="2642005"/>
            <a:ext cx="1335293" cy="2060767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6F47EE1-6646-4505-B0EB-0F02A009B3B4}"/>
              </a:ext>
            </a:extLst>
          </p:cNvPr>
          <p:cNvCxnSpPr/>
          <p:nvPr/>
        </p:nvCxnSpPr>
        <p:spPr>
          <a:xfrm>
            <a:off x="4555222" y="3540154"/>
            <a:ext cx="15407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595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58280-0200-45ED-A136-C50B6D177123}"/>
              </a:ext>
            </a:extLst>
          </p:cNvPr>
          <p:cNvSpPr txBox="1"/>
          <p:nvPr/>
        </p:nvSpPr>
        <p:spPr>
          <a:xfrm>
            <a:off x="476242" y="1308683"/>
            <a:ext cx="23233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0" dirty="0">
                <a:effectLst/>
                <a:latin typeface="+mn-ea"/>
              </a:rPr>
              <a:t>- </a:t>
            </a:r>
            <a:r>
              <a:rPr lang="en-US" altLang="ko-KR" sz="1500" b="0" dirty="0" err="1">
                <a:effectLst/>
                <a:latin typeface="+mn-ea"/>
              </a:rPr>
              <a:t>StandardScaler</a:t>
            </a:r>
            <a:r>
              <a:rPr lang="en-US" altLang="ko-KR" sz="1500" b="0" dirty="0">
                <a:effectLst/>
                <a:latin typeface="+mn-ea"/>
              </a:rPr>
              <a:t> </a:t>
            </a:r>
            <a:r>
              <a:rPr lang="ko-KR" altLang="en-US" sz="1500" b="0" dirty="0">
                <a:effectLst/>
                <a:latin typeface="+mn-ea"/>
              </a:rPr>
              <a:t>적용 전</a:t>
            </a:r>
            <a:endParaRPr lang="en-US" altLang="ko-KR" sz="1500" b="0" dirty="0">
              <a:effectLst/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54852-F018-48C4-8C40-17F403505E49}"/>
              </a:ext>
            </a:extLst>
          </p:cNvPr>
          <p:cNvSpPr txBox="1"/>
          <p:nvPr/>
        </p:nvSpPr>
        <p:spPr>
          <a:xfrm>
            <a:off x="293614" y="184450"/>
            <a:ext cx="3262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4. 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파생변수 생성 및 스케일링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013DE-32C3-4D28-8DA4-10F1137059E3}"/>
              </a:ext>
            </a:extLst>
          </p:cNvPr>
          <p:cNvSpPr txBox="1"/>
          <p:nvPr/>
        </p:nvSpPr>
        <p:spPr>
          <a:xfrm>
            <a:off x="476242" y="3833762"/>
            <a:ext cx="23233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0" dirty="0">
                <a:effectLst/>
                <a:latin typeface="+mn-ea"/>
              </a:rPr>
              <a:t>- </a:t>
            </a:r>
            <a:r>
              <a:rPr lang="en-US" altLang="ko-KR" sz="1500" b="0" dirty="0" err="1">
                <a:effectLst/>
                <a:latin typeface="+mn-ea"/>
              </a:rPr>
              <a:t>StandardScaler</a:t>
            </a:r>
            <a:r>
              <a:rPr lang="en-US" altLang="ko-KR" sz="1500" b="0" dirty="0">
                <a:effectLst/>
                <a:latin typeface="+mn-ea"/>
              </a:rPr>
              <a:t> </a:t>
            </a:r>
            <a:r>
              <a:rPr lang="ko-KR" altLang="en-US" sz="1500" b="0" dirty="0">
                <a:effectLst/>
                <a:latin typeface="+mn-ea"/>
              </a:rPr>
              <a:t>적용 후</a:t>
            </a:r>
            <a:endParaRPr lang="en-US" altLang="ko-KR" sz="1500" b="0" dirty="0">
              <a:effectLst/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148F48-5019-42A7-876C-E9427E5D8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14" y="1767624"/>
            <a:ext cx="4933950" cy="933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4B34B7-E73E-40B0-ACC9-CD31BFB5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2" y="4424588"/>
            <a:ext cx="57721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9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237</Words>
  <Application>Microsoft Office PowerPoint</Application>
  <PresentationFormat>와이드스크린</PresentationFormat>
  <Paragraphs>34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31</cp:revision>
  <dcterms:created xsi:type="dcterms:W3CDTF">2026-03-10T17:23:29Z</dcterms:created>
  <dcterms:modified xsi:type="dcterms:W3CDTF">2026-07-28T03:28:11Z</dcterms:modified>
</cp:coreProperties>
</file>